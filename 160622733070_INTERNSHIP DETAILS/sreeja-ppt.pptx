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7"/>
  </p:notesMasterIdLst>
  <p:sldIdLst>
    <p:sldId id="257" r:id="rId3"/>
    <p:sldId id="278" r:id="rId4"/>
    <p:sldId id="260" r:id="rId5"/>
    <p:sldId id="261" r:id="rId6"/>
    <p:sldId id="262" r:id="rId7"/>
    <p:sldId id="263" r:id="rId8"/>
    <p:sldId id="277" r:id="rId9"/>
    <p:sldId id="279" r:id="rId10"/>
    <p:sldId id="280" r:id="rId11"/>
    <p:sldId id="281" r:id="rId12"/>
    <p:sldId id="282" r:id="rId13"/>
    <p:sldId id="283" r:id="rId14"/>
    <p:sldId id="285" r:id="rId15"/>
    <p:sldId id="286" r:id="rId16"/>
    <p:sldId id="294" r:id="rId17"/>
    <p:sldId id="287" r:id="rId18"/>
    <p:sldId id="288" r:id="rId19"/>
    <p:sldId id="290" r:id="rId20"/>
    <p:sldId id="289" r:id="rId21"/>
    <p:sldId id="291" r:id="rId22"/>
    <p:sldId id="292" r:id="rId23"/>
    <p:sldId id="274" r:id="rId24"/>
    <p:sldId id="293" r:id="rId25"/>
    <p:sldId id="276"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notesMaster" Target="notesMasters/notesMaster1.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509A250-FF31-4206-8172-F9D3106AACB1}" type="datetimeFigureOut">
              <a:rPr lang="en-US" smtClean="0"/>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02111984F565}"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509A250-FF31-4206-8172-F9D3106AACB1}" type="datetimeFigureOut">
              <a:rPr lang="en-US" smtClean="0"/>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02111984F565}" type="slidenum">
              <a:rPr lang="en-US" smtClean="0"/>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01699" y="258254"/>
            <a:ext cx="9968230" cy="654685"/>
          </a:xfrm>
          <a:prstGeom prst="rect">
            <a:avLst/>
          </a:prstGeom>
        </p:spPr>
        <p:txBody>
          <a:bodyPr vert="horz" wrap="square" lIns="0" tIns="52705" rIns="0" bIns="0" rtlCol="0">
            <a:spAutoFit/>
          </a:bodyPr>
          <a:lstStyle/>
          <a:p>
            <a:pPr algn="ctr">
              <a:lnSpc>
                <a:spcPct val="100000"/>
              </a:lnSpc>
              <a:spcBef>
                <a:spcPts val="415"/>
              </a:spcBef>
            </a:pPr>
            <a:r>
              <a:rPr sz="1800" b="1" spc="-20" dirty="0">
                <a:latin typeface="Times New Roman" panose="02020603050405020304" pitchFamily="18" charset="0"/>
                <a:cs typeface="Times New Roman" panose="02020603050405020304" pitchFamily="18" charset="0"/>
              </a:rPr>
              <a:t>STANLEY</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COLLEGE</a:t>
            </a:r>
            <a:r>
              <a:rPr sz="1800" b="1" spc="-1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OF</a:t>
            </a:r>
            <a:r>
              <a:rPr sz="1800" b="1" spc="-65" dirty="0">
                <a:latin typeface="Times New Roman" panose="02020603050405020304" pitchFamily="18" charset="0"/>
                <a:cs typeface="Times New Roman" panose="02020603050405020304" pitchFamily="18" charset="0"/>
              </a:rPr>
              <a:t> </a:t>
            </a:r>
            <a:r>
              <a:rPr sz="1800" b="1" spc="-10" dirty="0">
                <a:latin typeface="Times New Roman" panose="02020603050405020304" pitchFamily="18" charset="0"/>
                <a:cs typeface="Times New Roman" panose="02020603050405020304" pitchFamily="18" charset="0"/>
              </a:rPr>
              <a:t>ENGINEERING</a:t>
            </a:r>
            <a:r>
              <a:rPr sz="1800" b="1" spc="-6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AND</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TECHNOLGY</a:t>
            </a:r>
            <a:r>
              <a:rPr sz="1800" b="1" spc="-11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FOR</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WOMEN</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(AUTONOMOUS)</a:t>
            </a:r>
            <a:endParaRPr sz="1800" b="1" dirty="0">
              <a:latin typeface="Times New Roman" panose="02020603050405020304" pitchFamily="18" charset="0"/>
              <a:cs typeface="Times New Roman" panose="02020603050405020304" pitchFamily="18" charset="0"/>
            </a:endParaRPr>
          </a:p>
          <a:p>
            <a:pPr algn="ctr">
              <a:lnSpc>
                <a:spcPct val="100000"/>
              </a:lnSpc>
              <a:spcBef>
                <a:spcPts val="315"/>
              </a:spcBef>
            </a:pPr>
            <a:r>
              <a:rPr sz="1800" dirty="0">
                <a:latin typeface="Times New Roman" panose="02020603050405020304" pitchFamily="18" charset="0"/>
                <a:cs typeface="Times New Roman" panose="02020603050405020304" pitchFamily="18" charset="0"/>
              </a:rPr>
              <a:t>Abids.</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Hyderabad</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500</a:t>
            </a:r>
            <a:r>
              <a:rPr sz="1800" spc="-1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001</a:t>
            </a:r>
            <a:endParaRPr sz="18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3886200" y="900747"/>
            <a:ext cx="5638800" cy="447558"/>
          </a:xfrm>
          <a:prstGeom prst="rect">
            <a:avLst/>
          </a:prstGeom>
        </p:spPr>
        <p:txBody>
          <a:bodyPr vert="horz" wrap="square" lIns="0" tIns="39370" rIns="0" bIns="0" rtlCol="0">
            <a:spAutoFit/>
          </a:bodyPr>
          <a:lstStyle/>
          <a:p>
            <a:pPr marL="7620" algn="ctr">
              <a:lnSpc>
                <a:spcPct val="100000"/>
              </a:lnSpc>
              <a:spcBef>
                <a:spcPts val="310"/>
              </a:spcBef>
            </a:pPr>
            <a:r>
              <a:rPr sz="1200" b="1" i="1" dirty="0">
                <a:latin typeface="Times New Roman" panose="02020603050405020304" pitchFamily="18" charset="0"/>
                <a:cs typeface="Times New Roman" panose="02020603050405020304" pitchFamily="18" charset="0"/>
              </a:rPr>
              <a:t>(Affiliated</a:t>
            </a:r>
            <a:r>
              <a:rPr sz="1200" b="1" i="1" spc="-4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to</a:t>
            </a:r>
            <a:r>
              <a:rPr sz="1200" b="1" i="1" spc="35"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Osmania</a:t>
            </a:r>
            <a:r>
              <a:rPr sz="1200" b="1" i="1" spc="25" dirty="0">
                <a:latin typeface="Times New Roman" panose="02020603050405020304" pitchFamily="18" charset="0"/>
                <a:cs typeface="Times New Roman" panose="02020603050405020304" pitchFamily="18" charset="0"/>
              </a:rPr>
              <a:t> </a:t>
            </a:r>
            <a:r>
              <a:rPr sz="1200" b="1" i="1" spc="-10" dirty="0">
                <a:latin typeface="Times New Roman" panose="02020603050405020304" pitchFamily="18" charset="0"/>
                <a:cs typeface="Times New Roman" panose="02020603050405020304" pitchFamily="18" charset="0"/>
              </a:rPr>
              <a:t>University</a:t>
            </a:r>
            <a:r>
              <a:rPr sz="1200" b="1" i="1" spc="-5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&amp;</a:t>
            </a:r>
            <a:r>
              <a:rPr sz="1200" b="1" i="1" spc="-2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Approved</a:t>
            </a:r>
            <a:r>
              <a:rPr sz="1200" b="1" i="1" spc="-4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by</a:t>
            </a:r>
            <a:r>
              <a:rPr sz="1200" b="1" i="1" spc="-45" dirty="0">
                <a:latin typeface="Times New Roman" panose="02020603050405020304" pitchFamily="18" charset="0"/>
                <a:cs typeface="Times New Roman" panose="02020603050405020304" pitchFamily="18" charset="0"/>
              </a:rPr>
              <a:t> </a:t>
            </a:r>
            <a:r>
              <a:rPr sz="1200" b="1" i="1" spc="-10" dirty="0">
                <a:latin typeface="Times New Roman" panose="02020603050405020304" pitchFamily="18" charset="0"/>
                <a:cs typeface="Times New Roman" panose="02020603050405020304" pitchFamily="18" charset="0"/>
              </a:rPr>
              <a:t>AICTE)</a:t>
            </a:r>
            <a:endParaRPr lang="en-GB" sz="1200" b="1" i="1" spc="-10" dirty="0">
              <a:latin typeface="Times New Roman" panose="02020603050405020304" pitchFamily="18" charset="0"/>
              <a:cs typeface="Times New Roman" panose="02020603050405020304" pitchFamily="18" charset="0"/>
            </a:endParaRPr>
          </a:p>
          <a:p>
            <a:pPr marL="7620" algn="ctr">
              <a:lnSpc>
                <a:spcPct val="100000"/>
              </a:lnSpc>
              <a:spcBef>
                <a:spcPts val="310"/>
              </a:spcBef>
            </a:pPr>
            <a:r>
              <a:rPr lang="en-GB" sz="1200" b="1" i="1" spc="-10" dirty="0">
                <a:latin typeface="Times New Roman" panose="02020603050405020304" pitchFamily="18" charset="0"/>
                <a:cs typeface="Times New Roman" panose="02020603050405020304" pitchFamily="18" charset="0"/>
              </a:rPr>
              <a:t>(</a:t>
            </a:r>
            <a:r>
              <a:rPr lang="en-GB" sz="1200" b="1" spc="-10" dirty="0">
                <a:latin typeface="Times New Roman" panose="02020603050405020304" pitchFamily="18" charset="0"/>
                <a:cs typeface="Times New Roman" panose="02020603050405020304" pitchFamily="18" charset="0"/>
              </a:rPr>
              <a:t>All eligible UGC courses are accredited by NBA &amp; NAAC with ‘A’ Grade)</a:t>
            </a:r>
            <a:endParaRPr sz="12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2098675" y="1769998"/>
            <a:ext cx="8001000" cy="1315553"/>
          </a:xfrm>
          <a:prstGeom prst="rect">
            <a:avLst/>
          </a:prstGeom>
        </p:spPr>
        <p:txBody>
          <a:bodyPr vert="horz" wrap="square" lIns="0" tIns="7620" rIns="0" bIns="0" rtlCol="0">
            <a:spAutoFit/>
          </a:bodyPr>
          <a:lstStyle/>
          <a:p>
            <a:pPr marL="12700" marR="5080" indent="-5080" algn="ctr">
              <a:lnSpc>
                <a:spcPct val="117000"/>
              </a:lnSpc>
              <a:spcBef>
                <a:spcPts val="60"/>
              </a:spcBef>
            </a:pPr>
            <a:r>
              <a:rPr sz="1800" b="1" spc="-10" dirty="0">
                <a:latin typeface="Times New Roman" panose="02020603050405020304"/>
                <a:cs typeface="Times New Roman" panose="02020603050405020304"/>
              </a:rPr>
              <a:t>Department </a:t>
            </a:r>
            <a:r>
              <a:rPr lang="en-US" sz="1800" b="1" spc="-10" dirty="0">
                <a:latin typeface="Times New Roman" panose="02020603050405020304"/>
                <a:cs typeface="Times New Roman" panose="02020603050405020304"/>
              </a:rPr>
              <a:t> of Computer Science and Engineering</a:t>
            </a:r>
            <a:endParaRPr lang="en-US" sz="1800" b="1" spc="-10" dirty="0">
              <a:latin typeface="Times New Roman" panose="02020603050405020304"/>
              <a:cs typeface="Times New Roman" panose="02020603050405020304"/>
            </a:endParaRPr>
          </a:p>
          <a:p>
            <a:pPr marL="12700" marR="5080" indent="-5080" algn="ctr">
              <a:lnSpc>
                <a:spcPct val="117000"/>
              </a:lnSpc>
              <a:spcBef>
                <a:spcPts val="60"/>
              </a:spcBef>
            </a:pPr>
            <a:r>
              <a:rPr sz="1800" b="1" dirty="0">
                <a:latin typeface="Times New Roman" panose="02020603050405020304"/>
                <a:cs typeface="Times New Roman" panose="02020603050405020304"/>
              </a:rPr>
              <a:t>Academic</a:t>
            </a:r>
            <a:r>
              <a:rPr sz="1800" b="1" spc="-135" dirty="0">
                <a:latin typeface="Times New Roman" panose="02020603050405020304"/>
                <a:cs typeface="Times New Roman" panose="02020603050405020304"/>
              </a:rPr>
              <a:t> </a:t>
            </a:r>
            <a:r>
              <a:rPr sz="1800" b="1" spc="-25" dirty="0">
                <a:latin typeface="Times New Roman" panose="02020603050405020304"/>
                <a:cs typeface="Times New Roman" panose="02020603050405020304"/>
              </a:rPr>
              <a:t>Year:</a:t>
            </a:r>
            <a:r>
              <a:rPr sz="1800" b="1" spc="-45" dirty="0">
                <a:latin typeface="Times New Roman" panose="02020603050405020304"/>
                <a:cs typeface="Times New Roman" panose="02020603050405020304"/>
              </a:rPr>
              <a:t> </a:t>
            </a:r>
            <a:r>
              <a:rPr sz="1800" b="1" dirty="0">
                <a:latin typeface="Times New Roman" panose="02020603050405020304"/>
                <a:cs typeface="Times New Roman" panose="02020603050405020304"/>
              </a:rPr>
              <a:t>202</a:t>
            </a:r>
            <a:r>
              <a:rPr lang="en-US" sz="1800" b="1" dirty="0">
                <a:latin typeface="Times New Roman" panose="02020603050405020304"/>
                <a:cs typeface="Times New Roman" panose="02020603050405020304"/>
              </a:rPr>
              <a:t>5</a:t>
            </a:r>
            <a:r>
              <a:rPr sz="1800" b="1" dirty="0">
                <a:latin typeface="Times New Roman" panose="02020603050405020304"/>
                <a:cs typeface="Times New Roman" panose="02020603050405020304"/>
              </a:rPr>
              <a:t>-</a:t>
            </a:r>
            <a:r>
              <a:rPr sz="1800" b="1" spc="-20" dirty="0">
                <a:latin typeface="Times New Roman" panose="02020603050405020304"/>
                <a:cs typeface="Times New Roman" panose="02020603050405020304"/>
              </a:rPr>
              <a:t>202</a:t>
            </a:r>
            <a:r>
              <a:rPr lang="en-US" sz="1800" b="1" spc="-20" dirty="0">
                <a:latin typeface="Times New Roman" panose="02020603050405020304"/>
                <a:cs typeface="Times New Roman" panose="02020603050405020304"/>
              </a:rPr>
              <a:t>6</a:t>
            </a:r>
            <a:endParaRPr lang="en-US" sz="1800" b="1" spc="-20" dirty="0">
              <a:latin typeface="Times New Roman" panose="02020603050405020304"/>
              <a:cs typeface="Times New Roman" panose="02020603050405020304"/>
            </a:endParaRPr>
          </a:p>
          <a:p>
            <a:pPr marL="12700" marR="5080" indent="-5080" algn="ctr">
              <a:lnSpc>
                <a:spcPct val="117000"/>
              </a:lnSpc>
              <a:spcBef>
                <a:spcPts val="60"/>
              </a:spcBef>
            </a:pPr>
            <a:endParaRPr lang="en-US" sz="1800" b="1" spc="-20" dirty="0">
              <a:latin typeface="Times New Roman" panose="02020603050405020304"/>
              <a:cs typeface="Times New Roman" panose="02020603050405020304"/>
            </a:endParaRPr>
          </a:p>
          <a:p>
            <a:pPr marL="12700" marR="5080" indent="-5080" algn="ctr">
              <a:lnSpc>
                <a:spcPct val="117000"/>
              </a:lnSpc>
              <a:spcBef>
                <a:spcPts val="60"/>
              </a:spcBef>
            </a:pPr>
            <a:r>
              <a:rPr lang="en-US" sz="1800" b="1" spc="-20" dirty="0">
                <a:latin typeface="Times New Roman" panose="02020603050405020304"/>
                <a:cs typeface="Times New Roman" panose="02020603050405020304"/>
              </a:rPr>
              <a:t>Internship </a:t>
            </a:r>
            <a:r>
              <a:rPr lang="en-US" b="1" spc="-20" dirty="0">
                <a:latin typeface="Times New Roman" panose="02020603050405020304"/>
                <a:cs typeface="Times New Roman" panose="02020603050405020304"/>
              </a:rPr>
              <a:t>Presentation</a:t>
            </a:r>
            <a:endParaRPr lang="en-US" b="1" spc="-20" dirty="0">
              <a:latin typeface="Times New Roman" panose="02020603050405020304"/>
              <a:cs typeface="Times New Roman" panose="02020603050405020304"/>
            </a:endParaRPr>
          </a:p>
        </p:txBody>
      </p:sp>
      <p:sp>
        <p:nvSpPr>
          <p:cNvPr id="5" name="object 5"/>
          <p:cNvSpPr txBox="1"/>
          <p:nvPr/>
        </p:nvSpPr>
        <p:spPr>
          <a:xfrm>
            <a:off x="2875040" y="3574402"/>
            <a:ext cx="6731479" cy="276860"/>
          </a:xfrm>
          <a:prstGeom prst="rect">
            <a:avLst/>
          </a:prstGeom>
        </p:spPr>
        <p:txBody>
          <a:bodyPr vert="horz" wrap="square" lIns="0" tIns="15875" rIns="0" bIns="0" rtlCol="0">
            <a:spAutoFit/>
          </a:bodyPr>
          <a:lstStyle/>
          <a:p>
            <a:pPr marL="12700" algn="ctr">
              <a:lnSpc>
                <a:spcPct val="100000"/>
              </a:lnSpc>
              <a:spcBef>
                <a:spcPts val="125"/>
              </a:spcBef>
            </a:pPr>
            <a:r>
              <a:rPr lang="en-IN" sz="1700" dirty="0">
                <a:latin typeface="Times New Roman" panose="02020603050405020304"/>
                <a:cs typeface="Times New Roman" panose="02020603050405020304"/>
              </a:rPr>
              <a:t>StoryCrafter:The  A.I-Powered Tale Weaver </a:t>
            </a:r>
            <a:endParaRPr lang="en-IN" sz="1700" dirty="0">
              <a:latin typeface="Times New Roman" panose="02020603050405020304"/>
              <a:cs typeface="Times New Roman" panose="02020603050405020304"/>
            </a:endParaRPr>
          </a:p>
        </p:txBody>
      </p:sp>
      <p:sp>
        <p:nvSpPr>
          <p:cNvPr id="6" name="object 6"/>
          <p:cNvSpPr txBox="1"/>
          <p:nvPr/>
        </p:nvSpPr>
        <p:spPr>
          <a:xfrm>
            <a:off x="1330845" y="4643884"/>
            <a:ext cx="2317497" cy="793115"/>
          </a:xfrm>
          <a:prstGeom prst="rect">
            <a:avLst/>
          </a:prstGeom>
        </p:spPr>
        <p:txBody>
          <a:bodyPr vert="horz" wrap="square" lIns="0" tIns="41910" rIns="0" bIns="0" rtlCol="0">
            <a:spAutoFit/>
          </a:bodyPr>
          <a:lstStyle/>
          <a:p>
            <a:pPr marL="57150">
              <a:lnSpc>
                <a:spcPct val="100000"/>
              </a:lnSpc>
              <a:spcBef>
                <a:spcPts val="230"/>
              </a:spcBef>
            </a:pPr>
            <a:r>
              <a:rPr lang="en-GB" sz="1500" b="1" spc="-20" dirty="0">
                <a:latin typeface="Times New Roman" panose="02020603050405020304"/>
                <a:cs typeface="Times New Roman" panose="02020603050405020304"/>
              </a:rPr>
              <a:t>Mr</a:t>
            </a:r>
            <a:r>
              <a:rPr lang="en-IN" altLang="en-GB" sz="1500" b="1" spc="-20" dirty="0">
                <a:latin typeface="Times New Roman" panose="02020603050405020304"/>
                <a:cs typeface="Times New Roman" panose="02020603050405020304"/>
              </a:rPr>
              <a:t>.M.Sai Ramakrishna</a:t>
            </a:r>
            <a:endParaRPr lang="en-GB" sz="1500" b="1" spc="-20" dirty="0">
              <a:latin typeface="Times New Roman" panose="02020603050405020304"/>
              <a:cs typeface="Times New Roman" panose="02020603050405020304"/>
            </a:endParaRPr>
          </a:p>
          <a:p>
            <a:pPr marL="57150">
              <a:lnSpc>
                <a:spcPct val="100000"/>
              </a:lnSpc>
              <a:spcBef>
                <a:spcPts val="230"/>
              </a:spcBef>
            </a:pPr>
            <a:r>
              <a:rPr lang="en-GB" sz="1500" b="1" spc="-20" dirty="0">
                <a:latin typeface="Times New Roman" panose="02020603050405020304"/>
                <a:cs typeface="Times New Roman" panose="02020603050405020304"/>
              </a:rPr>
              <a:t>Assistant Professor</a:t>
            </a:r>
            <a:endParaRPr lang="en-GB" sz="1500" b="1" spc="-20" dirty="0">
              <a:latin typeface="Times New Roman" panose="02020603050405020304"/>
              <a:cs typeface="Times New Roman" panose="02020603050405020304"/>
            </a:endParaRPr>
          </a:p>
          <a:p>
            <a:pPr marL="57150">
              <a:lnSpc>
                <a:spcPct val="100000"/>
              </a:lnSpc>
              <a:spcBef>
                <a:spcPts val="230"/>
              </a:spcBef>
            </a:pPr>
            <a:r>
              <a:rPr lang="en-GB" sz="1500" b="1" spc="-20" dirty="0">
                <a:latin typeface="Times New Roman" panose="02020603050405020304"/>
                <a:cs typeface="Times New Roman" panose="02020603050405020304"/>
              </a:rPr>
              <a:t>Department </a:t>
            </a:r>
            <a:r>
              <a:rPr lang="en-GB" sz="1500" b="1" dirty="0">
                <a:latin typeface="Times New Roman" panose="02020603050405020304"/>
                <a:cs typeface="Times New Roman" panose="02020603050405020304"/>
              </a:rPr>
              <a:t>of CSE</a:t>
            </a:r>
            <a:endParaRPr sz="1500" b="1" dirty="0">
              <a:latin typeface="Times New Roman" panose="02020603050405020304"/>
              <a:cs typeface="Times New Roman" panose="02020603050405020304"/>
            </a:endParaRPr>
          </a:p>
        </p:txBody>
      </p:sp>
      <p:sp>
        <p:nvSpPr>
          <p:cNvPr id="7" name="object 7"/>
          <p:cNvSpPr txBox="1"/>
          <p:nvPr/>
        </p:nvSpPr>
        <p:spPr>
          <a:xfrm>
            <a:off x="8034655" y="4643755"/>
            <a:ext cx="2703195" cy="794385"/>
          </a:xfrm>
          <a:prstGeom prst="rect">
            <a:avLst/>
          </a:prstGeom>
        </p:spPr>
        <p:txBody>
          <a:bodyPr vert="horz" wrap="square" lIns="0" tIns="41910" rIns="0" bIns="0" rtlCol="0">
            <a:spAutoFit/>
          </a:bodyPr>
          <a:lstStyle/>
          <a:p>
            <a:pPr marL="12700">
              <a:lnSpc>
                <a:spcPct val="100000"/>
              </a:lnSpc>
              <a:spcBef>
                <a:spcPts val="330"/>
              </a:spcBef>
            </a:pPr>
            <a:r>
              <a:rPr sz="1500" b="1" dirty="0">
                <a:latin typeface="Times New Roman" panose="02020603050405020304"/>
                <a:cs typeface="Times New Roman" panose="02020603050405020304"/>
              </a:rPr>
              <a:t>PRESENTED</a:t>
            </a:r>
            <a:r>
              <a:rPr sz="1500" b="1" spc="20" dirty="0">
                <a:latin typeface="Times New Roman" panose="02020603050405020304"/>
                <a:cs typeface="Times New Roman" panose="02020603050405020304"/>
              </a:rPr>
              <a:t> </a:t>
            </a:r>
            <a:r>
              <a:rPr sz="1500" b="1" spc="-25" dirty="0">
                <a:latin typeface="Times New Roman" panose="02020603050405020304"/>
                <a:cs typeface="Times New Roman" panose="02020603050405020304"/>
              </a:rPr>
              <a:t>BY</a:t>
            </a:r>
            <a:endParaRPr sz="1500" dirty="0">
              <a:latin typeface="Times New Roman" panose="02020603050405020304"/>
              <a:cs typeface="Times New Roman" panose="02020603050405020304"/>
            </a:endParaRPr>
          </a:p>
          <a:p>
            <a:pPr marL="23495" marR="896620" indent="-1270">
              <a:lnSpc>
                <a:spcPct val="109000"/>
              </a:lnSpc>
              <a:spcBef>
                <a:spcPts val="75"/>
              </a:spcBef>
            </a:pPr>
            <a:r>
              <a:rPr lang="en-IN" altLang="en-US" sz="1500" spc="-20" dirty="0">
                <a:latin typeface="Times New Roman" panose="02020603050405020304"/>
                <a:cs typeface="Times New Roman" panose="02020603050405020304"/>
              </a:rPr>
              <a:t>Avangapuram Sreeja</a:t>
            </a:r>
            <a:endParaRPr lang="en-US" sz="1500" spc="-20" dirty="0">
              <a:latin typeface="Times New Roman" panose="02020603050405020304"/>
              <a:cs typeface="Times New Roman" panose="02020603050405020304"/>
            </a:endParaRPr>
          </a:p>
          <a:p>
            <a:pPr marL="23495" marR="896620" indent="-1270">
              <a:lnSpc>
                <a:spcPct val="109000"/>
              </a:lnSpc>
              <a:spcBef>
                <a:spcPts val="75"/>
              </a:spcBef>
            </a:pPr>
            <a:r>
              <a:rPr lang="en-US" sz="1500" spc="-20" dirty="0">
                <a:latin typeface="Times New Roman" panose="02020603050405020304"/>
                <a:cs typeface="Times New Roman" panose="02020603050405020304"/>
              </a:rPr>
              <a:t>16062273307</a:t>
            </a:r>
            <a:r>
              <a:rPr lang="en-IN" altLang="en-US" sz="1500" spc="-20" dirty="0">
                <a:latin typeface="Times New Roman" panose="02020603050405020304"/>
                <a:cs typeface="Times New Roman" panose="02020603050405020304"/>
              </a:rPr>
              <a:t>0</a:t>
            </a:r>
            <a:endParaRPr lang="en-IN" altLang="en-US" sz="1500" spc="-20" dirty="0">
              <a:latin typeface="Times New Roman" panose="02020603050405020304"/>
              <a:cs typeface="Times New Roman" panose="02020603050405020304"/>
            </a:endParaRPr>
          </a:p>
        </p:txBody>
      </p:sp>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3644" y="234728"/>
            <a:ext cx="1356422" cy="1356422"/>
          </a:xfrm>
          <a:prstGeom prst="rect">
            <a:avLst/>
          </a:prstGeom>
        </p:spPr>
      </p:pic>
      <p:sp>
        <p:nvSpPr>
          <p:cNvPr id="8" name="object 5"/>
          <p:cNvSpPr txBox="1"/>
          <p:nvPr/>
        </p:nvSpPr>
        <p:spPr>
          <a:xfrm>
            <a:off x="5594229" y="3208912"/>
            <a:ext cx="1003540" cy="277640"/>
          </a:xfrm>
          <a:prstGeom prst="rect">
            <a:avLst/>
          </a:prstGeom>
        </p:spPr>
        <p:txBody>
          <a:bodyPr vert="horz" wrap="square" lIns="0" tIns="15875" rIns="0" bIns="0" rtlCol="0">
            <a:spAutoFit/>
          </a:bodyPr>
          <a:lstStyle/>
          <a:p>
            <a:pPr marL="12700" algn="ctr">
              <a:lnSpc>
                <a:spcPct val="100000"/>
              </a:lnSpc>
              <a:spcBef>
                <a:spcPts val="125"/>
              </a:spcBef>
            </a:pPr>
            <a:r>
              <a:rPr lang="en-US" sz="1700" b="1" dirty="0">
                <a:latin typeface="Times New Roman" panose="02020603050405020304"/>
                <a:cs typeface="Times New Roman" panose="02020603050405020304"/>
              </a:rPr>
              <a:t>On</a:t>
            </a:r>
            <a:endParaRPr sz="1700" dirty="0">
              <a:latin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763325" y="850789"/>
            <a:ext cx="10241280" cy="4899035"/>
          </a:xfrm>
          <a:prstGeom prst="rect">
            <a:avLst/>
          </a:prstGeom>
        </p:spPr>
        <p:txBody>
          <a:bodyPr>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algn="ctr"/>
            <a:r>
              <a:rPr lang="en-US" sz="2800" b="1" dirty="0">
                <a:latin typeface="Times New Roman" panose="02020603050405020304" pitchFamily="18" charset="0"/>
                <a:cs typeface="Times New Roman" panose="02020603050405020304" pitchFamily="18" charset="0"/>
              </a:rPr>
              <a:t>INTERNSHIP - II DETAILS </a:t>
            </a:r>
            <a:endParaRPr lang="en-US" sz="2800"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Course Code</a:t>
            </a:r>
            <a:r>
              <a:rPr lang="en-US" dirty="0">
                <a:latin typeface="Times New Roman" panose="02020603050405020304" pitchFamily="18" charset="0"/>
                <a:cs typeface="Times New Roman" panose="02020603050405020304" pitchFamily="18" charset="0"/>
              </a:rPr>
              <a:t>: SPW611 CS        </a:t>
            </a:r>
            <a:r>
              <a:rPr lang="en-US" b="1" dirty="0">
                <a:latin typeface="Times New Roman" panose="02020603050405020304" pitchFamily="18" charset="0"/>
                <a:cs typeface="Times New Roman" panose="02020603050405020304" pitchFamily="18" charset="0"/>
              </a:rPr>
              <a:t>Credits</a:t>
            </a:r>
            <a:r>
              <a:rPr lang="en-US" dirty="0">
                <a:latin typeface="Times New Roman" panose="02020603050405020304" pitchFamily="18" charset="0"/>
                <a:cs typeface="Times New Roman" panose="02020603050405020304" pitchFamily="18" charset="0"/>
              </a:rPr>
              <a:t>: 1                          </a:t>
            </a:r>
            <a:r>
              <a:rPr lang="en-US" b="1" dirty="0">
                <a:latin typeface="Times New Roman" panose="02020603050405020304" pitchFamily="18" charset="0"/>
                <a:cs typeface="Times New Roman" panose="02020603050405020304" pitchFamily="18" charset="0"/>
              </a:rPr>
              <a:t>Evaluation</a:t>
            </a:r>
            <a:r>
              <a:rPr lang="en-US" dirty="0">
                <a:latin typeface="Times New Roman" panose="02020603050405020304" pitchFamily="18" charset="0"/>
                <a:cs typeface="Times New Roman" panose="02020603050405020304" pitchFamily="18" charset="0"/>
              </a:rPr>
              <a:t>: CIE - 50 Marks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Title</a:t>
            </a:r>
            <a:r>
              <a:rPr lang="en-US" dirty="0">
                <a:latin typeface="Times New Roman" panose="02020603050405020304" pitchFamily="18" charset="0"/>
                <a:cs typeface="Times New Roman" panose="02020603050405020304" pitchFamily="18" charset="0"/>
              </a:rPr>
              <a:t>:  </a:t>
            </a:r>
            <a:r>
              <a:rPr lang="en-IN" altLang="en-US" dirty="0">
                <a:latin typeface="Times New Roman" panose="02020603050405020304" pitchFamily="18" charset="0"/>
                <a:cs typeface="Times New Roman" panose="02020603050405020304" pitchFamily="18" charset="0"/>
              </a:rPr>
              <a:t>StoryCrafter:TheAI-PoweredTale Weaver</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Name of the Student</a:t>
            </a:r>
            <a:r>
              <a:rPr lang="en-US" dirty="0">
                <a:latin typeface="Times New Roman" panose="02020603050405020304" pitchFamily="18" charset="0"/>
                <a:cs typeface="Times New Roman" panose="02020603050405020304" pitchFamily="18" charset="0"/>
              </a:rPr>
              <a:t>: </a:t>
            </a:r>
            <a:r>
              <a:rPr lang="en-IN" altLang="en-US" dirty="0">
                <a:latin typeface="Times New Roman" panose="02020603050405020304" pitchFamily="18" charset="0"/>
                <a:cs typeface="Times New Roman" panose="02020603050405020304" pitchFamily="18" charset="0"/>
              </a:rPr>
              <a:t>Avangapuram Sreeja</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Roll Number</a:t>
            </a:r>
            <a:r>
              <a:rPr lang="en-US" dirty="0">
                <a:latin typeface="Times New Roman" panose="02020603050405020304" pitchFamily="18" charset="0"/>
                <a:cs typeface="Times New Roman" panose="02020603050405020304" pitchFamily="18" charset="0"/>
              </a:rPr>
              <a:t>: 16062273307</a:t>
            </a:r>
            <a:r>
              <a:rPr lang="en-IN" altLang="en-US" dirty="0">
                <a:latin typeface="Times New Roman" panose="02020603050405020304" pitchFamily="18" charset="0"/>
                <a:cs typeface="Times New Roman" panose="02020603050405020304" pitchFamily="18" charset="0"/>
              </a:rPr>
              <a:t>0</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Batch / Section</a:t>
            </a:r>
            <a:r>
              <a:rPr lang="en-US" dirty="0">
                <a:latin typeface="Times New Roman" panose="02020603050405020304" pitchFamily="18" charset="0"/>
                <a:cs typeface="Times New Roman" panose="02020603050405020304" pitchFamily="18" charset="0"/>
              </a:rPr>
              <a:t>: 2024 – 2025 / B </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Name of the Organization</a:t>
            </a:r>
            <a:r>
              <a:rPr lang="en-US" dirty="0">
                <a:latin typeface="Times New Roman" panose="02020603050405020304" pitchFamily="18" charset="0"/>
                <a:cs typeface="Times New Roman" panose="02020603050405020304" pitchFamily="18" charset="0"/>
              </a:rPr>
              <a:t>: </a:t>
            </a:r>
            <a:r>
              <a:rPr lang="en-IN" altLang="en-US" dirty="0">
                <a:latin typeface="Times New Roman" panose="02020603050405020304" pitchFamily="18" charset="0"/>
                <a:cs typeface="Times New Roman" panose="02020603050405020304" pitchFamily="18" charset="0"/>
              </a:rPr>
              <a:t>VaultofCodes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Duration of Internship</a:t>
            </a:r>
            <a:r>
              <a:rPr lang="en-US" dirty="0">
                <a:latin typeface="Times New Roman" panose="02020603050405020304" pitchFamily="18" charset="0"/>
                <a:cs typeface="Times New Roman" panose="02020603050405020304" pitchFamily="18" charset="0"/>
              </a:rPr>
              <a:t>: From 01st May 2025 to </a:t>
            </a:r>
            <a:r>
              <a:rPr lang="en-IN" altLang="en-US" dirty="0">
                <a:latin typeface="Times New Roman" panose="02020603050405020304" pitchFamily="18" charset="0"/>
                <a:cs typeface="Times New Roman" panose="02020603050405020304" pitchFamily="18" charset="0"/>
              </a:rPr>
              <a:t>01st June</a:t>
            </a:r>
            <a:r>
              <a:rPr lang="en-US" dirty="0">
                <a:latin typeface="Times New Roman" panose="02020603050405020304" pitchFamily="18" charset="0"/>
                <a:cs typeface="Times New Roman" panose="02020603050405020304" pitchFamily="18" charset="0"/>
              </a:rPr>
              <a:t> 2025 </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Mode (Onsite / Online / Hybrid) </a:t>
            </a:r>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On</a:t>
            </a:r>
            <a:r>
              <a:rPr lang="en-IN" altLang="en-US" dirty="0">
                <a:latin typeface="Times New Roman" panose="02020603050405020304" pitchFamily="18" charset="0"/>
                <a:cs typeface="Times New Roman" panose="02020603050405020304" pitchFamily="18" charset="0"/>
              </a:rPr>
              <a:t>line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Industry Supervisor</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Faculty Coordinator / Supervisor</a:t>
            </a:r>
            <a:r>
              <a:rPr lang="en-US" dirty="0">
                <a:latin typeface="Times New Roman" panose="02020603050405020304" pitchFamily="18" charset="0"/>
                <a:cs typeface="Times New Roman" panose="02020603050405020304" pitchFamily="18" charset="0"/>
              </a:rPr>
              <a:t>: Mr</a:t>
            </a:r>
            <a:r>
              <a:rPr lang="en-IN" altLang="en-US" dirty="0">
                <a:latin typeface="Times New Roman" panose="02020603050405020304" pitchFamily="18" charset="0"/>
                <a:cs typeface="Times New Roman" panose="02020603050405020304" pitchFamily="18" charset="0"/>
              </a:rPr>
              <a:t>.M.Sai Ramakrishna</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Contents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845734"/>
            <a:ext cx="10058400" cy="4339406"/>
          </a:xfrm>
        </p:spPr>
        <p:txBody>
          <a:bodyPr>
            <a:noAutofit/>
          </a:bodyPr>
          <a:lstStyle/>
          <a:p>
            <a:pPr marL="0" algn="just">
              <a:lnSpc>
                <a:spcPct val="100000"/>
              </a:lnSpc>
              <a:spcBef>
                <a:spcPts val="600"/>
              </a:spcBef>
              <a:spcAft>
                <a:spcPts val="600"/>
              </a:spcAft>
              <a:buFont typeface="Wingdings" panose="05000000000000000000" pitchFamily="2" charset="2"/>
              <a:buChar char="v"/>
            </a:pPr>
            <a:r>
              <a:rPr lang="en-GB" sz="1800" dirty="0">
                <a:latin typeface="Times New Roman" panose="02020603050405020304" pitchFamily="18" charset="0"/>
                <a:cs typeface="Times New Roman" panose="02020603050405020304" pitchFamily="18" charset="0"/>
              </a:rPr>
              <a:t>Abstract</a:t>
            </a:r>
            <a:endParaRPr lang="en-GB" sz="1800" dirty="0">
              <a:latin typeface="Times New Roman" panose="02020603050405020304" pitchFamily="18" charset="0"/>
              <a:cs typeface="Times New Roman" panose="02020603050405020304" pitchFamily="18" charset="0"/>
            </a:endParaRPr>
          </a:p>
          <a:p>
            <a:pPr marL="0" algn="just">
              <a:lnSpc>
                <a:spcPct val="100000"/>
              </a:lnSpc>
              <a:spcBef>
                <a:spcPts val="600"/>
              </a:spcBef>
              <a:spcAft>
                <a:spcPts val="600"/>
              </a:spcAft>
              <a:buFont typeface="Wingdings" panose="05000000000000000000" pitchFamily="2" charset="2"/>
              <a:buChar char="v"/>
            </a:pPr>
            <a:r>
              <a:rPr lang="en-GB" sz="1800" dirty="0">
                <a:latin typeface="Times New Roman" panose="02020603050405020304" pitchFamily="18" charset="0"/>
                <a:cs typeface="Times New Roman" panose="02020603050405020304" pitchFamily="18" charset="0"/>
              </a:rPr>
              <a:t>Problem Statement</a:t>
            </a:r>
            <a:endParaRPr lang="en-GB" sz="1800" dirty="0">
              <a:latin typeface="Times New Roman" panose="02020603050405020304" pitchFamily="18" charset="0"/>
              <a:cs typeface="Times New Roman" panose="02020603050405020304" pitchFamily="18" charset="0"/>
            </a:endParaRPr>
          </a:p>
          <a:p>
            <a:pPr marL="0" algn="just">
              <a:lnSpc>
                <a:spcPct val="100000"/>
              </a:lnSpc>
              <a:spcBef>
                <a:spcPts val="600"/>
              </a:spcBef>
              <a:spcAft>
                <a:spcPts val="600"/>
              </a:spcAft>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Background and Literature Review </a:t>
            </a:r>
            <a:endParaRPr lang="en-US" sz="1800" dirty="0">
              <a:latin typeface="Times New Roman" panose="02020603050405020304" pitchFamily="18" charset="0"/>
              <a:cs typeface="Times New Roman" panose="02020603050405020304" pitchFamily="18" charset="0"/>
            </a:endParaRPr>
          </a:p>
          <a:p>
            <a:pPr marL="0" algn="just">
              <a:lnSpc>
                <a:spcPct val="100000"/>
              </a:lnSpc>
              <a:spcBef>
                <a:spcPts val="600"/>
              </a:spcBef>
              <a:spcAft>
                <a:spcPts val="600"/>
              </a:spcAft>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Planning and Design of Work</a:t>
            </a:r>
            <a:endParaRPr lang="en-US" sz="1800" dirty="0">
              <a:latin typeface="Times New Roman" panose="02020603050405020304" pitchFamily="18" charset="0"/>
              <a:cs typeface="Times New Roman" panose="02020603050405020304" pitchFamily="18" charset="0"/>
            </a:endParaRP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Implementation and Execution </a:t>
            </a:r>
            <a:endParaRPr lang="en-IN" sz="1800" dirty="0">
              <a:latin typeface="Times New Roman" panose="02020603050405020304" pitchFamily="18" charset="0"/>
              <a:cs typeface="Times New Roman" panose="02020603050405020304" pitchFamily="18" charset="0"/>
            </a:endParaRP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Testing / Validation </a:t>
            </a:r>
            <a:endParaRPr lang="en-IN" sz="1800" dirty="0">
              <a:latin typeface="Times New Roman" panose="02020603050405020304" pitchFamily="18" charset="0"/>
              <a:cs typeface="Times New Roman" panose="02020603050405020304" pitchFamily="18" charset="0"/>
            </a:endParaRP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Results and Analysis </a:t>
            </a:r>
            <a:endParaRPr lang="en-IN" sz="1800" dirty="0">
              <a:latin typeface="Times New Roman" panose="02020603050405020304" pitchFamily="18" charset="0"/>
              <a:cs typeface="Times New Roman" panose="02020603050405020304" pitchFamily="18" charset="0"/>
            </a:endParaRP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Challenges and Solutions </a:t>
            </a:r>
            <a:endParaRPr lang="en-IN" sz="1800" dirty="0">
              <a:latin typeface="Times New Roman" panose="02020603050405020304" pitchFamily="18" charset="0"/>
              <a:cs typeface="Times New Roman" panose="02020603050405020304" pitchFamily="18" charset="0"/>
            </a:endParaRP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Conclusion and Future Scope </a:t>
            </a:r>
            <a:endParaRPr lang="en-GB" sz="1800" dirty="0">
              <a:latin typeface="Times New Roman" panose="02020603050405020304" pitchFamily="18" charset="0"/>
              <a:cs typeface="Times New Roman" panose="02020603050405020304" pitchFamily="18" charset="0"/>
            </a:endParaRPr>
          </a:p>
          <a:p>
            <a:pPr marL="0" algn="just">
              <a:lnSpc>
                <a:spcPct val="100000"/>
              </a:lnSpc>
              <a:spcBef>
                <a:spcPts val="600"/>
              </a:spcBef>
              <a:spcAft>
                <a:spcPts val="600"/>
              </a:spcAft>
              <a:buFont typeface="Wingdings" panose="05000000000000000000" pitchFamily="2" charset="2"/>
              <a:buChar char="v"/>
            </a:pPr>
            <a:r>
              <a:rPr lang="en-GB" sz="1800" dirty="0">
                <a:latin typeface="Times New Roman" panose="02020603050405020304" pitchFamily="18" charset="0"/>
                <a:cs typeface="Times New Roman" panose="02020603050405020304" pitchFamily="18" charset="0"/>
              </a:rPr>
              <a:t>References</a:t>
            </a:r>
            <a:endParaRPr lang="en-GB"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983757"/>
            <a:ext cx="10058400" cy="4023360"/>
          </a:xfrm>
        </p:spPr>
        <p:txBody>
          <a:bodyPr>
            <a:normAutofit fontScale="90000"/>
          </a:bodyPr>
          <a:lstStyle/>
          <a:p>
            <a:pPr algn="just">
              <a:lnSpc>
                <a:spcPct val="150000"/>
              </a:lnSpc>
            </a:pPr>
            <a:r>
              <a:rPr lang="en-US" altLang="en-US" dirty="0">
                <a:latin typeface="Times New Roman" panose="02020603050405020304" pitchFamily="18" charset="0"/>
                <a:cs typeface="Times New Roman" panose="02020603050405020304" pitchFamily="18" charset="0"/>
              </a:rPr>
              <a:t>The project focuses on</a:t>
            </a:r>
            <a:r>
              <a:rPr lang="en-IN"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developing an intelligent Al-based storytelling system capable of generating creative, coherent, and personalized narratives based on user inputs. By using advanced Natural Language Processing (NLP) methods and large language models, the system understands prompts such as genre, characters, and themes to produce human-like stories. It also integrates code-generation capabilities, enabling the creation of simple interactive storytelling applications. Technologies such as Python, OpenAI API, and machine learning libraries were used to analyze input patterns, understand context, and generate fluent outputs. Overall, the project aims to combine creativity and automation, offering an efficient tool that supports education, entertainment, and digital content creati</a:t>
            </a:r>
            <a:r>
              <a:rPr lang="en-IN" altLang="en-US" dirty="0">
                <a:latin typeface="Times New Roman" panose="02020603050405020304" pitchFamily="18" charset="0"/>
                <a:cs typeface="Times New Roman" panose="02020603050405020304" pitchFamily="18" charset="0"/>
              </a:rPr>
              <a:t>on</a:t>
            </a:r>
            <a:endParaRPr lang="en-US" altLang="en-US" dirty="0">
              <a:latin typeface="Times New Roman" panose="02020603050405020304" pitchFamily="18" charset="0"/>
              <a:cs typeface="Times New Roman" panose="02020603050405020304" pitchFamily="18" charset="0"/>
            </a:endParaRPr>
          </a:p>
          <a:p>
            <a:pPr algn="just">
              <a:lnSpc>
                <a:spcPct val="150000"/>
              </a:lnSpc>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1. Problem Statement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0000"/>
          </a:bodyPr>
          <a:lstStyle/>
          <a:p>
            <a:pPr algn="just">
              <a:lnSpc>
                <a:spcPct val="150000"/>
              </a:lnSpc>
            </a:pPr>
            <a:r>
              <a:rPr lang="en-US" altLang="en-US" dirty="0">
                <a:latin typeface="Times New Roman" panose="02020603050405020304" pitchFamily="18" charset="0"/>
                <a:cs typeface="Times New Roman" panose="02020603050405020304" pitchFamily="18" charset="0"/>
              </a:rPr>
              <a:t>In today's digital era, creating meaningful andengaging stories requires creativity, time, and strong writing abilities, which many users may not possess. Traditional storytelling tools are limited because they rely on predefined templates and cannot adapt to user preferences, leading to repetitive and non-personalized outputs. Early Al text generators often struggled with coherence, producing content that lacked flow and context. There is therefore a need for an intelligent system that can interpret natural language prompts, maintain story continuity, and produce human-like narratives. The challenge also lies in generating corresponding code that aligns with the story for interactive and dynamic storytelling. This project addresses these issues by creating an Al-powered storytelling assistant that can generate imaginative, context-aware narratives and relevant code outputs based on user input.</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037102"/>
            <a:ext cx="10058400" cy="713255"/>
          </a:xfrm>
        </p:spPr>
        <p:txBody>
          <a:bodyPr>
            <a:normAutofit fontScale="90000"/>
          </a:bodyPr>
          <a:lstStyle/>
          <a:p>
            <a:pPr algn="just">
              <a:lnSpc>
                <a:spcPct val="100000"/>
              </a:lnSpc>
              <a:spcBef>
                <a:spcPts val="600"/>
              </a:spcBef>
              <a:spcAft>
                <a:spcPts val="600"/>
              </a:spcAft>
            </a:pPr>
            <a:r>
              <a:rPr lang="en-US" dirty="0">
                <a:latin typeface="Times New Roman" panose="02020603050405020304" pitchFamily="18" charset="0"/>
                <a:cs typeface="Times New Roman" panose="02020603050405020304" pitchFamily="18" charset="0"/>
              </a:rPr>
              <a:t>2. Background and Literature Review </a:t>
            </a:r>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6800" y="2035246"/>
            <a:ext cx="10058400" cy="2861310"/>
          </a:xfrm>
          <a:prstGeom prst="rect">
            <a:avLst/>
          </a:prstGeom>
          <a:noFill/>
        </p:spPr>
        <p:txBody>
          <a:bodyPr wrap="square">
            <a:spAutoFit/>
          </a:bodyPr>
          <a:lstStyle/>
          <a:p>
            <a:pPr marL="285750" indent="-285750" algn="just">
              <a:lnSpc>
                <a:spcPct val="150000"/>
              </a:lnSpc>
              <a:buClr>
                <a:schemeClr val="accent1"/>
              </a:buClr>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Al and NLP now generate human-like stories.</a:t>
            </a:r>
            <a:endParaRPr lang="en-US" altLang="en-US" sz="2000" dirty="0">
              <a:latin typeface="Times New Roman" panose="02020603050405020304" pitchFamily="18" charset="0"/>
              <a:cs typeface="Times New Roman" panose="02020603050405020304" pitchFamily="18" charset="0"/>
            </a:endParaRPr>
          </a:p>
          <a:p>
            <a:pPr marL="285750" indent="-285750" algn="just">
              <a:lnSpc>
                <a:spcPct val="150000"/>
              </a:lnSpc>
              <a:buClr>
                <a:schemeClr val="accent1"/>
              </a:buClr>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Old models lacked coherence and creativity.</a:t>
            </a:r>
            <a:endParaRPr lang="en-US" altLang="en-US" sz="2000" dirty="0">
              <a:latin typeface="Times New Roman" panose="02020603050405020304" pitchFamily="18" charset="0"/>
              <a:cs typeface="Times New Roman" panose="02020603050405020304" pitchFamily="18" charset="0"/>
            </a:endParaRPr>
          </a:p>
          <a:p>
            <a:pPr marL="285750" indent="-285750" algn="just">
              <a:lnSpc>
                <a:spcPct val="150000"/>
              </a:lnSpc>
              <a:buClr>
                <a:schemeClr val="accent1"/>
              </a:buClr>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Transformers like GPT-2, GPT-3 improved long-context storytelling.</a:t>
            </a:r>
            <a:endParaRPr lang="en-US" altLang="en-US" sz="2000" dirty="0">
              <a:latin typeface="Times New Roman" panose="02020603050405020304" pitchFamily="18" charset="0"/>
              <a:cs typeface="Times New Roman" panose="02020603050405020304" pitchFamily="18" charset="0"/>
            </a:endParaRPr>
          </a:p>
          <a:p>
            <a:pPr marL="285750" indent="-285750" algn="just">
              <a:lnSpc>
                <a:spcPct val="150000"/>
              </a:lnSpc>
              <a:buClr>
                <a:schemeClr val="accent1"/>
              </a:buClr>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Plan-and-Write models helped maintain story flow.</a:t>
            </a:r>
            <a:endParaRPr lang="en-US" altLang="en-US" sz="2000" dirty="0">
              <a:latin typeface="Times New Roman" panose="02020603050405020304" pitchFamily="18" charset="0"/>
              <a:cs typeface="Times New Roman" panose="02020603050405020304" pitchFamily="18" charset="0"/>
            </a:endParaRPr>
          </a:p>
          <a:p>
            <a:pPr marL="285750" indent="-285750" algn="just">
              <a:lnSpc>
                <a:spcPct val="150000"/>
              </a:lnSpc>
              <a:buClr>
                <a:schemeClr val="accent1"/>
              </a:buClr>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Codex and CodeBERT enabled natural-language-to-code generation.</a:t>
            </a:r>
            <a:endParaRPr lang="en-US" altLang="en-US" sz="2000" dirty="0">
              <a:latin typeface="Times New Roman" panose="02020603050405020304" pitchFamily="18" charset="0"/>
              <a:cs typeface="Times New Roman" panose="02020603050405020304" pitchFamily="18" charset="0"/>
            </a:endParaRPr>
          </a:p>
          <a:p>
            <a:pPr marL="285750" indent="-285750" algn="just">
              <a:lnSpc>
                <a:spcPct val="150000"/>
              </a:lnSpc>
              <a:buClr>
                <a:schemeClr val="accent1"/>
              </a:buClr>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Research supports combining story + code generation for better creativity.</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88520" y="450202"/>
            <a:ext cx="10550106" cy="400110"/>
          </a:xfrm>
          <a:prstGeom prst="rect">
            <a:avLst/>
          </a:prstGeom>
          <a:noFill/>
        </p:spPr>
        <p:txBody>
          <a:bodyPr wrap="square">
            <a:spAutoFit/>
          </a:bodyPr>
          <a:lstStyle/>
          <a:p>
            <a:pPr algn="ctr"/>
            <a:r>
              <a:rPr lang="en-US" sz="2000" b="1" dirty="0">
                <a:effectLst/>
                <a:latin typeface="Times New Roman" panose="02020603050405020304" pitchFamily="18" charset="0"/>
                <a:ea typeface="Times New Roman" panose="02020603050405020304" pitchFamily="18" charset="0"/>
              </a:rPr>
              <a:t>Table 2.1: </a:t>
            </a:r>
            <a:r>
              <a:rPr lang="en-US" sz="2000" dirty="0">
                <a:effectLst/>
                <a:latin typeface="Times New Roman" panose="02020603050405020304" pitchFamily="18" charset="0"/>
                <a:ea typeface="Times New Roman" panose="02020603050405020304" pitchFamily="18" charset="0"/>
              </a:rPr>
              <a:t>Summary</a:t>
            </a:r>
            <a:r>
              <a:rPr lang="en-US" sz="2000" spc="-3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of reviewed</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literature</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on</a:t>
            </a:r>
            <a:r>
              <a:rPr lang="en-US" sz="2000" spc="5" dirty="0">
                <a:effectLst/>
                <a:latin typeface="Times New Roman" panose="02020603050405020304" pitchFamily="18" charset="0"/>
                <a:ea typeface="Times New Roman" panose="02020603050405020304" pitchFamily="18" charset="0"/>
              </a:rPr>
              <a:t> </a:t>
            </a:r>
            <a:r>
              <a:rPr lang="en-US" sz="2000" spc="5" dirty="0">
                <a:latin typeface="Times New Roman" panose="02020603050405020304" pitchFamily="18" charset="0"/>
                <a:ea typeface="Times New Roman" panose="02020603050405020304" pitchFamily="18" charset="0"/>
              </a:rPr>
              <a:t>Intrusion Detection Systems</a:t>
            </a:r>
            <a:endParaRPr lang="en-IN" sz="2000" dirty="0"/>
          </a:p>
        </p:txBody>
      </p:sp>
      <p:pic>
        <p:nvPicPr>
          <p:cNvPr id="5" name="Picture 4"/>
          <p:cNvPicPr>
            <a:picLocks noChangeAspect="1"/>
          </p:cNvPicPr>
          <p:nvPr/>
        </p:nvPicPr>
        <p:blipFill>
          <a:blip r:embed="rId1"/>
          <a:stretch>
            <a:fillRect/>
          </a:stretch>
        </p:blipFill>
        <p:spPr>
          <a:xfrm>
            <a:off x="95250" y="1072515"/>
            <a:ext cx="11694160" cy="51841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88520" y="450202"/>
            <a:ext cx="10550106" cy="400110"/>
          </a:xfrm>
          <a:prstGeom prst="rect">
            <a:avLst/>
          </a:prstGeom>
          <a:noFill/>
        </p:spPr>
        <p:txBody>
          <a:bodyPr wrap="square">
            <a:spAutoFit/>
          </a:bodyPr>
          <a:lstStyle/>
          <a:p>
            <a:pPr algn="ctr"/>
            <a:r>
              <a:rPr lang="en-US" sz="2000" b="1" dirty="0">
                <a:effectLst/>
                <a:latin typeface="Times New Roman" panose="02020603050405020304" pitchFamily="18" charset="0"/>
                <a:ea typeface="Times New Roman" panose="02020603050405020304" pitchFamily="18" charset="0"/>
              </a:rPr>
              <a:t>Table 2.1: </a:t>
            </a:r>
            <a:r>
              <a:rPr lang="en-US" sz="2000" dirty="0">
                <a:effectLst/>
                <a:latin typeface="Times New Roman" panose="02020603050405020304" pitchFamily="18" charset="0"/>
                <a:ea typeface="Times New Roman" panose="02020603050405020304" pitchFamily="18" charset="0"/>
              </a:rPr>
              <a:t>Summary</a:t>
            </a:r>
            <a:r>
              <a:rPr lang="en-US" sz="2000" spc="-3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of reviewed</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literature</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on</a:t>
            </a:r>
            <a:r>
              <a:rPr lang="en-US" sz="2000" spc="5" dirty="0">
                <a:effectLst/>
                <a:latin typeface="Times New Roman" panose="02020603050405020304" pitchFamily="18" charset="0"/>
                <a:ea typeface="Times New Roman" panose="02020603050405020304" pitchFamily="18" charset="0"/>
              </a:rPr>
              <a:t> </a:t>
            </a:r>
            <a:r>
              <a:rPr lang="en-US" sz="2000" spc="5" dirty="0">
                <a:latin typeface="Times New Roman" panose="02020603050405020304" pitchFamily="18" charset="0"/>
                <a:ea typeface="Times New Roman" panose="02020603050405020304" pitchFamily="18" charset="0"/>
              </a:rPr>
              <a:t>Intrusion Detection Systems</a:t>
            </a:r>
            <a:endParaRPr lang="en-IN" sz="2000" dirty="0"/>
          </a:p>
        </p:txBody>
      </p:sp>
      <p:pic>
        <p:nvPicPr>
          <p:cNvPr id="4" name="Picture 3"/>
          <p:cNvPicPr>
            <a:picLocks noChangeAspect="1"/>
          </p:cNvPicPr>
          <p:nvPr/>
        </p:nvPicPr>
        <p:blipFill>
          <a:blip r:embed="rId1"/>
          <a:stretch>
            <a:fillRect/>
          </a:stretch>
        </p:blipFill>
        <p:spPr>
          <a:xfrm>
            <a:off x="1028700" y="800100"/>
            <a:ext cx="10134600" cy="5257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3. Planning and Design of Work </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lnSpc>
                <a:spcPct val="15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The work was planned across four structureu weeks to ensure smooth and continuous progress.</a:t>
            </a:r>
            <a:endParaRPr lang="en-US" altLang="en-US" dirty="0">
              <a:latin typeface="Times New Roman" panose="02020603050405020304" pitchFamily="18" charset="0"/>
              <a:cs typeface="Times New Roman" panose="02020603050405020304" pitchFamily="18" charset="0"/>
            </a:endParaRPr>
          </a:p>
          <a:p>
            <a:pPr algn="just">
              <a:lnSpc>
                <a:spcPct val="11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Initial planning involved understanding project requirements, objectives, and expected outputs.</a:t>
            </a:r>
            <a:endParaRPr lang="en-US" dirty="0">
              <a:latin typeface="Times New Roman" panose="02020603050405020304" pitchFamily="18" charset="0"/>
              <a:cs typeface="Times New Roman" panose="02020603050405020304" pitchFamily="18" charset="0"/>
            </a:endParaRPr>
          </a:p>
          <a:p>
            <a:pPr algn="just">
              <a:lnSpc>
                <a:spcPct val="11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A detailed literature review was done to study NLP models, story-generation systems, and code-generation tools.</a:t>
            </a:r>
            <a:endParaRPr lang="en-US" altLang="en-US" dirty="0">
              <a:latin typeface="Times New Roman" panose="02020603050405020304" pitchFamily="18" charset="0"/>
              <a:cs typeface="Times New Roman" panose="02020603050405020304" pitchFamily="18" charset="0"/>
            </a:endParaRPr>
          </a:p>
          <a:p>
            <a:pPr algn="just">
              <a:lnSpc>
                <a:spcPct val="11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Technologies like Python, OpenAI API, Flask, HTML, CSS, and JavaScript were finalized for development.</a:t>
            </a:r>
            <a:endParaRPr lang="en-US" altLang="en-US" dirty="0">
              <a:latin typeface="Times New Roman" panose="02020603050405020304" pitchFamily="18" charset="0"/>
              <a:cs typeface="Times New Roman" panose="02020603050405020304" pitchFamily="18" charset="0"/>
            </a:endParaRPr>
          </a:p>
          <a:p>
            <a:pPr algn="just">
              <a:lnSpc>
                <a:spcPct val="11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Prompt-engineering strategies were designed to maintain coherence, creativity, and control over story style.</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6495" y="255270"/>
            <a:ext cx="9738360" cy="1296035"/>
          </a:xfrm>
        </p:spPr>
        <p:txBody>
          <a:bodyPr/>
          <a:lstStyle/>
          <a:p>
            <a:r>
              <a:rPr lang="en-IN" alt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System Architecture</a:t>
            </a:r>
            <a:endParaRPr lang="en-IN" dirty="0">
              <a:latin typeface="Times New Roman" panose="02020603050405020304" pitchFamily="18" charset="0"/>
              <a:cs typeface="Times New Roman" panose="02020603050405020304" pitchFamily="18" charset="0"/>
            </a:endParaRPr>
          </a:p>
        </p:txBody>
      </p:sp>
      <p:sp>
        <p:nvSpPr>
          <p:cNvPr id="5" name="TextBox 4"/>
          <p:cNvSpPr txBox="1"/>
          <p:nvPr/>
        </p:nvSpPr>
        <p:spPr>
          <a:xfrm>
            <a:off x="0" y="826770"/>
            <a:ext cx="10574020" cy="6652260"/>
          </a:xfrm>
          <a:prstGeom prst="rect">
            <a:avLst/>
          </a:prstGeom>
          <a:noFill/>
        </p:spPr>
        <p:txBody>
          <a:bodyPr wrap="square">
            <a:noAutofit/>
          </a:bodyPr>
          <a:lstStyle/>
          <a:p>
            <a:pPr marR="374650" algn="just">
              <a:lnSpc>
                <a:spcPct val="150000"/>
              </a:lnSpc>
              <a:buNone/>
            </a:pPr>
            <a:endParaRPr lang="en-US" altLang="en-US" sz="1600" dirty="0">
              <a:effectLst/>
              <a:latin typeface="Times New Roman" panose="02020603050405020304" pitchFamily="18" charset="0"/>
              <a:ea typeface="Times New Roman" panose="02020603050405020304" pitchFamily="18" charset="0"/>
            </a:endParaRPr>
          </a:p>
          <a:p>
            <a:pPr marR="374650" algn="just">
              <a:lnSpc>
                <a:spcPct val="150000"/>
              </a:lnSpc>
              <a:buNone/>
            </a:pPr>
            <a:endParaRPr lang="en-IN" altLang="en-US" sz="1600" dirty="0">
              <a:effectLst/>
              <a:latin typeface="Times New Roman" panose="02020603050405020304" pitchFamily="18" charset="0"/>
              <a:ea typeface="Times New Roman" panose="02020603050405020304" pitchFamily="18" charset="0"/>
            </a:endParaRPr>
          </a:p>
          <a:p>
            <a:pPr marR="374650" algn="just">
              <a:lnSpc>
                <a:spcPct val="150000"/>
              </a:lnSpc>
              <a:buNone/>
            </a:pPr>
            <a:r>
              <a:rPr lang="en-US" altLang="en-US" sz="1600" dirty="0">
                <a:effectLst/>
                <a:latin typeface="Times New Roman" panose="02020603050405020304" pitchFamily="18" charset="0"/>
                <a:ea typeface="Times New Roman" panose="02020603050405020304" pitchFamily="18" charset="0"/>
              </a:rPr>
              <a:t>Frontend: Chat Ul where user enters prompts and sees output.</a:t>
            </a:r>
            <a:endParaRPr lang="en-US" altLang="en-US" sz="1600" dirty="0">
              <a:effectLst/>
              <a:latin typeface="Times New Roman" panose="02020603050405020304" pitchFamily="18" charset="0"/>
              <a:ea typeface="Times New Roman" panose="02020603050405020304" pitchFamily="18" charset="0"/>
            </a:endParaRPr>
          </a:p>
          <a:p>
            <a:pPr marR="374650" algn="just">
              <a:lnSpc>
                <a:spcPct val="150000"/>
              </a:lnSpc>
              <a:buNone/>
            </a:pPr>
            <a:r>
              <a:rPr lang="en-US" altLang="en-US" sz="1600" dirty="0">
                <a:effectLst/>
                <a:latin typeface="Times New Roman" panose="02020603050405020304" pitchFamily="18" charset="0"/>
                <a:ea typeface="Times New Roman" panose="02020603050405020304" pitchFamily="18" charset="0"/>
              </a:rPr>
              <a:t>Backend API: Passes user messages to Al backend and returns responses.</a:t>
            </a:r>
            <a:endParaRPr lang="en-US" altLang="en-US" sz="1600" dirty="0">
              <a:effectLst/>
              <a:latin typeface="Times New Roman" panose="02020603050405020304" pitchFamily="18" charset="0"/>
              <a:ea typeface="Times New Roman" panose="02020603050405020304" pitchFamily="18" charset="0"/>
            </a:endParaRPr>
          </a:p>
          <a:p>
            <a:pPr marR="374650" algn="just">
              <a:lnSpc>
                <a:spcPct val="150000"/>
              </a:lnSpc>
              <a:buNone/>
            </a:pPr>
            <a:r>
              <a:rPr lang="en-US" altLang="en-US" sz="1600" dirty="0">
                <a:effectLst/>
                <a:latin typeface="Times New Roman" panose="02020603050405020304" pitchFamily="18" charset="0"/>
                <a:ea typeface="Times New Roman" panose="02020603050405020304" pitchFamily="18" charset="0"/>
              </a:rPr>
              <a:t>Conversation Logic: Understands intent, manages context, and controls Al flow.</a:t>
            </a:r>
            <a:endParaRPr lang="en-US" altLang="en-US" sz="1600" dirty="0">
              <a:effectLst/>
              <a:latin typeface="Times New Roman" panose="02020603050405020304" pitchFamily="18" charset="0"/>
              <a:ea typeface="Times New Roman" panose="02020603050405020304" pitchFamily="18" charset="0"/>
            </a:endParaRPr>
          </a:p>
          <a:p>
            <a:pPr marR="374650" algn="just">
              <a:lnSpc>
                <a:spcPct val="150000"/>
              </a:lnSpc>
              <a:buNone/>
            </a:pPr>
            <a:r>
              <a:rPr lang="en-US" altLang="en-US" sz="1600" dirty="0">
                <a:effectLst/>
                <a:latin typeface="Times New Roman" panose="02020603050405020304" pitchFamily="18" charset="0"/>
                <a:ea typeface="Times New Roman" panose="02020603050405020304" pitchFamily="18" charset="0"/>
              </a:rPr>
              <a:t>LLM Model: Generates the story or code based on processed input.</a:t>
            </a:r>
            <a:endParaRPr lang="en-US" altLang="en-US" sz="1600" dirty="0">
              <a:effectLst/>
              <a:latin typeface="Times New Roman" panose="02020603050405020304" pitchFamily="18" charset="0"/>
              <a:ea typeface="Times New Roman" panose="02020603050405020304" pitchFamily="18" charset="0"/>
            </a:endParaRPr>
          </a:p>
          <a:p>
            <a:pPr marR="374650" algn="just">
              <a:lnSpc>
                <a:spcPct val="150000"/>
              </a:lnSpc>
              <a:buNone/>
            </a:pPr>
            <a:r>
              <a:rPr lang="en-US" altLang="en-US" sz="1600" dirty="0">
                <a:effectLst/>
                <a:latin typeface="Times New Roman" panose="02020603050405020304" pitchFamily="18" charset="0"/>
                <a:ea typeface="Times New Roman" panose="02020603050405020304" pitchFamily="18" charset="0"/>
                <a:sym typeface="+mn-ea"/>
              </a:rPr>
              <a:t>Frontend: Chat Ul where user enters prompts and sees output.</a:t>
            </a:r>
            <a:endParaRPr lang="en-US" altLang="en-US" sz="1600" dirty="0">
              <a:effectLst/>
              <a:latin typeface="Times New Roman" panose="02020603050405020304" pitchFamily="18" charset="0"/>
              <a:ea typeface="Times New Roman" panose="02020603050405020304" pitchFamily="18" charset="0"/>
            </a:endParaRPr>
          </a:p>
          <a:p>
            <a:pPr marR="374650" algn="just">
              <a:lnSpc>
                <a:spcPct val="150000"/>
              </a:lnSpc>
              <a:buNone/>
            </a:pPr>
            <a:r>
              <a:rPr lang="en-US" altLang="en-US" sz="1600" dirty="0">
                <a:effectLst/>
                <a:latin typeface="Times New Roman" panose="02020603050405020304" pitchFamily="18" charset="0"/>
                <a:ea typeface="Times New Roman" panose="02020603050405020304" pitchFamily="18" charset="0"/>
              </a:rPr>
              <a:t>Knowledge Store: Stores reference data for improved replies.</a:t>
            </a:r>
            <a:endParaRPr lang="en-US" altLang="en-US" sz="1600" dirty="0">
              <a:effectLst/>
              <a:latin typeface="Times New Roman" panose="02020603050405020304" pitchFamily="18" charset="0"/>
              <a:ea typeface="Times New Roman" panose="02020603050405020304" pitchFamily="18" charset="0"/>
            </a:endParaRPr>
          </a:p>
          <a:p>
            <a:pPr marR="374650" algn="just">
              <a:lnSpc>
                <a:spcPct val="150000"/>
              </a:lnSpc>
              <a:buNone/>
            </a:pPr>
            <a:r>
              <a:rPr lang="en-US" altLang="en-US" sz="1600" dirty="0">
                <a:effectLst/>
                <a:latin typeface="Times New Roman" panose="02020603050405020304" pitchFamily="18" charset="0"/>
                <a:ea typeface="Times New Roman" panose="02020603050405020304" pitchFamily="18" charset="0"/>
              </a:rPr>
              <a:t>Database: Stores chat history and user details.</a:t>
            </a:r>
            <a:endParaRPr lang="en-IN" sz="16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60166" y="5305246"/>
            <a:ext cx="407166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Figure 3.1: </a:t>
            </a:r>
            <a:r>
              <a:rPr lang="en-US" dirty="0">
                <a:latin typeface="Times New Roman" panose="02020603050405020304" pitchFamily="18" charset="0"/>
                <a:cs typeface="Times New Roman" panose="02020603050405020304" pitchFamily="18" charset="0"/>
              </a:rPr>
              <a:t>System Architecture Diagram</a:t>
            </a:r>
            <a:endParaRPr lang="en-IN"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170180" y="-213360"/>
            <a:ext cx="12362180" cy="65595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4. Implementation and Execution</a:t>
            </a:r>
            <a:endParaRPr lang="en-IN" dirty="0">
              <a:latin typeface="Times New Roman" panose="02020603050405020304" pitchFamily="18" charset="0"/>
              <a:cs typeface="Times New Roman" panose="02020603050405020304" pitchFamily="18" charset="0"/>
            </a:endParaRPr>
          </a:p>
        </p:txBody>
      </p:sp>
      <p:sp>
        <p:nvSpPr>
          <p:cNvPr id="5" name="Content Placeholder 2"/>
          <p:cNvSpPr txBox="1"/>
          <p:nvPr/>
        </p:nvSpPr>
        <p:spPr>
          <a:xfrm>
            <a:off x="148590" y="1737360"/>
            <a:ext cx="10833100" cy="4117975"/>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lgn="just">
              <a:lnSpc>
                <a:spcPct val="110000"/>
              </a:lnSpc>
              <a:buFont typeface="Wingdings" panose="05000000000000000000" pitchFamily="2" charset="2"/>
              <a:buNone/>
            </a:pPr>
            <a:r>
              <a:rPr lang="en-US" altLang="en-US" sz="1800" dirty="0">
                <a:latin typeface="Times New Roman" panose="02020603050405020304" pitchFamily="18" charset="0"/>
                <a:cs typeface="Times New Roman" panose="02020603050405020304" pitchFamily="18" charset="0"/>
              </a:rPr>
              <a:t>The development environment was set up using Python along with required libraries like OpenAI API, Transformers, Flask, and NLTK.</a:t>
            </a:r>
            <a:endParaRPr lang="en-US" altLang="en-US" sz="1800" dirty="0">
              <a:latin typeface="Times New Roman" panose="02020603050405020304" pitchFamily="18" charset="0"/>
              <a:cs typeface="Times New Roman" panose="02020603050405020304" pitchFamily="18" charset="0"/>
            </a:endParaRPr>
          </a:p>
          <a:p>
            <a:pPr marL="0" indent="0" algn="just">
              <a:lnSpc>
                <a:spcPct val="110000"/>
              </a:lnSpc>
              <a:buFont typeface="Wingdings" panose="05000000000000000000" pitchFamily="2" charset="2"/>
              <a:buNone/>
            </a:pPr>
            <a:r>
              <a:rPr lang="en-US" altLang="en-US" sz="1800" dirty="0">
                <a:latin typeface="Times New Roman" panose="02020603050405020304" pitchFamily="18" charset="0"/>
                <a:cs typeface="Times New Roman" panose="02020603050405020304" pitchFamily="18" charset="0"/>
              </a:rPr>
              <a:t>The system was divided into main modules: user input module, Al story-generation module, code-generation module, and output display module.</a:t>
            </a:r>
            <a:endParaRPr lang="en-US" altLang="en-US" sz="1800" dirty="0">
              <a:latin typeface="Times New Roman" panose="02020603050405020304" pitchFamily="18" charset="0"/>
              <a:cs typeface="Times New Roman" panose="02020603050405020304" pitchFamily="18" charset="0"/>
            </a:endParaRPr>
          </a:p>
          <a:p>
            <a:pPr marL="0" indent="0" algn="just">
              <a:lnSpc>
                <a:spcPct val="110000"/>
              </a:lnSpc>
              <a:buFont typeface="Wingdings" panose="05000000000000000000" pitchFamily="2" charset="2"/>
              <a:buNone/>
            </a:pPr>
            <a:r>
              <a:rPr lang="en-US" altLang="en-US" sz="1800" dirty="0">
                <a:latin typeface="Times New Roman" panose="02020603050405020304" pitchFamily="18" charset="0"/>
                <a:cs typeface="Times New Roman" panose="02020603050405020304" pitchFamily="18" charset="0"/>
              </a:rPr>
              <a:t>Backend logic was created to convert user prompts into structured Al-ready inputs and send them to the language model for processing.</a:t>
            </a:r>
            <a:endParaRPr lang="en-US" altLang="en-US" sz="1800" dirty="0">
              <a:latin typeface="Times New Roman" panose="02020603050405020304" pitchFamily="18" charset="0"/>
              <a:cs typeface="Times New Roman" panose="02020603050405020304" pitchFamily="18" charset="0"/>
            </a:endParaRPr>
          </a:p>
          <a:p>
            <a:pPr marL="0" indent="0" algn="just">
              <a:lnSpc>
                <a:spcPct val="110000"/>
              </a:lnSpc>
              <a:buFont typeface="Wingdings" panose="05000000000000000000" pitchFamily="2" charset="2"/>
              <a:buNone/>
            </a:pPr>
            <a:r>
              <a:rPr lang="en-US" altLang="en-US" sz="1800" dirty="0">
                <a:latin typeface="Times New Roman" panose="02020603050405020304" pitchFamily="18" charset="0"/>
                <a:cs typeface="Times New Roman" panose="02020603050405020304" pitchFamily="18" charset="0"/>
              </a:rPr>
              <a:t>A simple and clean frontend interface was built using HTML, CSS, and JavaScript to allow users to enter prompts and view results.</a:t>
            </a:r>
            <a:endParaRPr lang="en-US" altLang="en-US" sz="1800" dirty="0">
              <a:latin typeface="Times New Roman" panose="02020603050405020304" pitchFamily="18" charset="0"/>
              <a:cs typeface="Times New Roman" panose="02020603050405020304" pitchFamily="18" charset="0"/>
            </a:endParaRPr>
          </a:p>
          <a:p>
            <a:pPr marL="0" indent="0" algn="just">
              <a:lnSpc>
                <a:spcPct val="110000"/>
              </a:lnSpc>
              <a:buFont typeface="Wingdings" panose="05000000000000000000" pitchFamily="2" charset="2"/>
              <a:buNone/>
            </a:pPr>
            <a:r>
              <a:rPr lang="en-US" altLang="en-US" sz="1800" dirty="0">
                <a:latin typeface="Times New Roman" panose="02020603050405020304" pitchFamily="18" charset="0"/>
                <a:cs typeface="Times New Roman" panose="02020603050405020304" pitchFamily="18" charset="0"/>
              </a:rPr>
              <a:t>Al integration was implemented using API calls to generate both the story and matching code, ensuring synchronized outputs.</a:t>
            </a:r>
            <a:endParaRPr lang="en-US" altLang="en-US" sz="1800" dirty="0">
              <a:latin typeface="Times New Roman" panose="02020603050405020304" pitchFamily="18" charset="0"/>
              <a:cs typeface="Times New Roman" panose="02020603050405020304" pitchFamily="18" charset="0"/>
            </a:endParaRPr>
          </a:p>
          <a:p>
            <a:pPr marL="0" indent="0" algn="just">
              <a:lnSpc>
                <a:spcPct val="110000"/>
              </a:lnSpc>
              <a:buFont typeface="Wingdings" panose="05000000000000000000" pitchFamily="2" charset="2"/>
              <a:buNone/>
            </a:pPr>
            <a:r>
              <a:rPr lang="en-US" altLang="en-US" sz="1800" dirty="0">
                <a:latin typeface="Times New Roman" panose="02020603050405020304" pitchFamily="18" charset="0"/>
                <a:cs typeface="Times New Roman" panose="02020603050405020304" pitchFamily="18" charset="0"/>
              </a:rPr>
              <a:t>Debugging tools and GitHub version control were used throughout development to improve stability and track updates.</a:t>
            </a:r>
            <a:endParaRPr lang="en-US" altLang="en-US" sz="1800" dirty="0">
              <a:latin typeface="Times New Roman" panose="02020603050405020304" pitchFamily="18" charset="0"/>
              <a:cs typeface="Times New Roman" panose="02020603050405020304" pitchFamily="18" charset="0"/>
            </a:endParaRPr>
          </a:p>
          <a:p>
            <a:pPr marL="0" indent="0" algn="just">
              <a:lnSpc>
                <a:spcPct val="110000"/>
              </a:lnSpc>
              <a:buFont typeface="Wingdings" panose="05000000000000000000" pitchFamily="2" charset="2"/>
              <a:buNone/>
            </a:pPr>
            <a:endParaRPr lang="en-US" altLang="en-US" sz="1800" dirty="0">
              <a:latin typeface="Times New Roman" panose="02020603050405020304" pitchFamily="18" charset="0"/>
              <a:cs typeface="Times New Roman" panose="02020603050405020304" pitchFamily="18" charset="0"/>
            </a:endParaRPr>
          </a:p>
          <a:p>
            <a:pPr marL="0" indent="0" algn="just">
              <a:lnSpc>
                <a:spcPct val="110000"/>
              </a:lnSpc>
              <a:buFont typeface="Wingdings" panose="05000000000000000000" pitchFamily="2" charset="2"/>
              <a:buNone/>
            </a:pPr>
            <a:endParaRPr lang="en-US"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0246" y="907156"/>
            <a:ext cx="9858267" cy="4615815"/>
          </a:xfrm>
          <a:prstGeom prst="rect">
            <a:avLst/>
          </a:prstGeom>
          <a:noFill/>
        </p:spPr>
        <p:txBody>
          <a:bodyPr wrap="square">
            <a:spAutoFit/>
          </a:bodyPr>
          <a:lstStyle/>
          <a:p>
            <a:pPr>
              <a:buNone/>
            </a:pPr>
            <a:r>
              <a:rPr lang="en-US" altLang="en-US" sz="1400" dirty="0">
                <a:latin typeface="Times New Roman" panose="02020603050405020304" pitchFamily="18" charset="0"/>
                <a:cs typeface="Times New Roman" panose="02020603050405020304" pitchFamily="18" charset="0"/>
              </a:rPr>
              <a:t>START</a:t>
            </a:r>
            <a:endParaRPr lang="en-US" altLang="en-US" sz="1400" dirty="0">
              <a:latin typeface="Times New Roman" panose="02020603050405020304" pitchFamily="18" charset="0"/>
              <a:cs typeface="Times New Roman" panose="02020603050405020304" pitchFamily="18" charset="0"/>
            </a:endParaRPr>
          </a:p>
          <a:p>
            <a:pPr>
              <a:buNone/>
            </a:pPr>
            <a:endParaRPr lang="en-US" altLang="en-US" sz="1400" dirty="0">
              <a:latin typeface="Times New Roman" panose="02020603050405020304" pitchFamily="18" charset="0"/>
              <a:cs typeface="Times New Roman" panose="02020603050405020304" pitchFamily="18" charset="0"/>
            </a:endParaRPr>
          </a:p>
          <a:p>
            <a:pPr>
              <a:buNone/>
            </a:pPr>
            <a:r>
              <a:rPr lang="en-US" altLang="en-US" sz="1400" dirty="0">
                <a:latin typeface="Times New Roman" panose="02020603050405020304" pitchFamily="18" charset="0"/>
                <a:cs typeface="Times New Roman" panose="02020603050405020304" pitchFamily="18" charset="0"/>
              </a:rPr>
              <a:t>1. Begin by collecting user inputs such as genre, theme, and characters from the interface.</a:t>
            </a:r>
            <a:endParaRPr lang="en-US" altLang="en-US" sz="1400" dirty="0">
              <a:latin typeface="Times New Roman" panose="02020603050405020304" pitchFamily="18" charset="0"/>
              <a:cs typeface="Times New Roman" panose="02020603050405020304" pitchFamily="18" charset="0"/>
            </a:endParaRPr>
          </a:p>
          <a:p>
            <a:pPr>
              <a:buNone/>
            </a:pPr>
            <a:endParaRPr lang="en-US" altLang="en-US" sz="1400" dirty="0">
              <a:latin typeface="Times New Roman" panose="02020603050405020304" pitchFamily="18" charset="0"/>
              <a:cs typeface="Times New Roman" panose="02020603050405020304" pitchFamily="18" charset="0"/>
            </a:endParaRPr>
          </a:p>
          <a:p>
            <a:pPr>
              <a:buNone/>
            </a:pPr>
            <a:r>
              <a:rPr lang="en-US" altLang="en-US" sz="1400" dirty="0">
                <a:latin typeface="Times New Roman" panose="02020603050405020304" pitchFamily="18" charset="0"/>
                <a:cs typeface="Times New Roman" panose="02020603050405020304" pitchFamily="18" charset="0"/>
              </a:rPr>
              <a:t>2. Prepare a structured prompt using the user inputs for the Al model.</a:t>
            </a:r>
            <a:endParaRPr lang="en-US" altLang="en-US" sz="1400" dirty="0">
              <a:latin typeface="Times New Roman" panose="02020603050405020304" pitchFamily="18" charset="0"/>
              <a:cs typeface="Times New Roman" panose="02020603050405020304" pitchFamily="18" charset="0"/>
            </a:endParaRPr>
          </a:p>
          <a:p>
            <a:pPr>
              <a:buNone/>
            </a:pPr>
            <a:endParaRPr lang="en-US" altLang="en-US" sz="1400" dirty="0">
              <a:latin typeface="Times New Roman" panose="02020603050405020304" pitchFamily="18" charset="0"/>
              <a:cs typeface="Times New Roman" panose="02020603050405020304" pitchFamily="18" charset="0"/>
            </a:endParaRPr>
          </a:p>
          <a:p>
            <a:pPr>
              <a:buNone/>
            </a:pPr>
            <a:r>
              <a:rPr lang="en-US" altLang="en-US" sz="1400" dirty="0">
                <a:latin typeface="Times New Roman" panose="02020603050405020304" pitchFamily="18" charset="0"/>
                <a:cs typeface="Times New Roman" panose="02020603050405020304" pitchFamily="18" charset="0"/>
              </a:rPr>
              <a:t>3. Send the prompt to the backend API, which forwards it to the Al language model.</a:t>
            </a:r>
            <a:endParaRPr lang="en-US" altLang="en-US" sz="1400" dirty="0">
              <a:latin typeface="Times New Roman" panose="02020603050405020304" pitchFamily="18" charset="0"/>
              <a:cs typeface="Times New Roman" panose="02020603050405020304" pitchFamily="18" charset="0"/>
            </a:endParaRPr>
          </a:p>
          <a:p>
            <a:pPr>
              <a:buNone/>
            </a:pPr>
            <a:endParaRPr lang="en-US" altLang="en-US" sz="1400" dirty="0">
              <a:latin typeface="Times New Roman" panose="02020603050405020304" pitchFamily="18" charset="0"/>
              <a:cs typeface="Times New Roman" panose="02020603050405020304" pitchFamily="18" charset="0"/>
            </a:endParaRPr>
          </a:p>
          <a:p>
            <a:pPr>
              <a:buNone/>
            </a:pPr>
            <a:r>
              <a:rPr lang="en-US" altLang="en-US" sz="1400" dirty="0">
                <a:latin typeface="Times New Roman" panose="02020603050405020304" pitchFamily="18" charset="0"/>
                <a:cs typeface="Times New Roman" panose="02020603050405020304" pitchFamily="18" charset="0"/>
              </a:rPr>
              <a:t>4. The Al model processes the prompt and generates the story and matching code.</a:t>
            </a:r>
            <a:endParaRPr lang="en-US" altLang="en-US" sz="1400" dirty="0">
              <a:latin typeface="Times New Roman" panose="02020603050405020304" pitchFamily="18" charset="0"/>
              <a:cs typeface="Times New Roman" panose="02020603050405020304" pitchFamily="18" charset="0"/>
            </a:endParaRPr>
          </a:p>
          <a:p>
            <a:pPr>
              <a:buNone/>
            </a:pPr>
            <a:endParaRPr lang="en-US" altLang="en-US" sz="1400" dirty="0">
              <a:latin typeface="Times New Roman" panose="02020603050405020304" pitchFamily="18" charset="0"/>
              <a:cs typeface="Times New Roman" panose="02020603050405020304" pitchFamily="18" charset="0"/>
            </a:endParaRPr>
          </a:p>
          <a:p>
            <a:pPr>
              <a:buNone/>
            </a:pPr>
            <a:r>
              <a:rPr lang="en-US" altLang="en-US" sz="1400" dirty="0">
                <a:latin typeface="Times New Roman" panose="02020603050405020304" pitchFamily="18" charset="0"/>
                <a:cs typeface="Times New Roman" panose="02020603050405020304" pitchFamily="18" charset="0"/>
              </a:rPr>
              <a:t>5. Receive the generated outputs from the Al backend.</a:t>
            </a:r>
            <a:endParaRPr lang="en-US" altLang="en-US" sz="1400" dirty="0">
              <a:latin typeface="Times New Roman" panose="02020603050405020304" pitchFamily="18" charset="0"/>
              <a:cs typeface="Times New Roman" panose="02020603050405020304" pitchFamily="18" charset="0"/>
            </a:endParaRPr>
          </a:p>
          <a:p>
            <a:pPr>
              <a:buNone/>
            </a:pPr>
            <a:endParaRPr lang="en-US" altLang="en-US" sz="1400" dirty="0">
              <a:latin typeface="Times New Roman" panose="02020603050405020304" pitchFamily="18" charset="0"/>
              <a:cs typeface="Times New Roman" panose="02020603050405020304" pitchFamily="18" charset="0"/>
            </a:endParaRPr>
          </a:p>
          <a:p>
            <a:pPr>
              <a:buNone/>
            </a:pPr>
            <a:r>
              <a:rPr lang="en-US" altLang="en-US" sz="1400" dirty="0">
                <a:latin typeface="Times New Roman" panose="02020603050405020304" pitchFamily="18" charset="0"/>
                <a:cs typeface="Times New Roman" panose="02020603050405020304" pitchFamily="18" charset="0"/>
              </a:rPr>
              <a:t>6. Display the story and code to the user on the frontend interface.</a:t>
            </a:r>
            <a:endParaRPr lang="en-US" altLang="en-US" sz="1400" dirty="0">
              <a:latin typeface="Times New Roman" panose="02020603050405020304" pitchFamily="18" charset="0"/>
              <a:cs typeface="Times New Roman" panose="02020603050405020304" pitchFamily="18" charset="0"/>
            </a:endParaRPr>
          </a:p>
          <a:p>
            <a:pPr>
              <a:buNone/>
            </a:pPr>
            <a:endParaRPr lang="en-US" altLang="en-US" sz="1400" dirty="0">
              <a:latin typeface="Times New Roman" panose="02020603050405020304" pitchFamily="18" charset="0"/>
              <a:cs typeface="Times New Roman" panose="02020603050405020304" pitchFamily="18" charset="0"/>
            </a:endParaRPr>
          </a:p>
          <a:p>
            <a:pPr>
              <a:buNone/>
            </a:pPr>
            <a:r>
              <a:rPr lang="en-US" altLang="en-US" sz="1400" dirty="0">
                <a:latin typeface="Times New Roman" panose="02020603050405020304" pitchFamily="18" charset="0"/>
                <a:cs typeface="Times New Roman" panose="02020603050405020304" pitchFamily="18" charset="0"/>
              </a:rPr>
              <a:t>7. Optionally save user inputs and generated results in the database for future use.</a:t>
            </a:r>
            <a:endParaRPr lang="en-US" altLang="en-US" sz="1400" dirty="0">
              <a:latin typeface="Times New Roman" panose="02020603050405020304" pitchFamily="18" charset="0"/>
              <a:cs typeface="Times New Roman" panose="02020603050405020304" pitchFamily="18" charset="0"/>
            </a:endParaRPr>
          </a:p>
          <a:p>
            <a:pPr>
              <a:buNone/>
            </a:pPr>
            <a:endParaRPr lang="en-US" altLang="en-US" sz="1400" dirty="0">
              <a:latin typeface="Times New Roman" panose="02020603050405020304" pitchFamily="18" charset="0"/>
              <a:cs typeface="Times New Roman" panose="02020603050405020304" pitchFamily="18" charset="0"/>
            </a:endParaRPr>
          </a:p>
          <a:p>
            <a:pPr>
              <a:buNone/>
            </a:pPr>
            <a:r>
              <a:rPr lang="en-US" altLang="en-US" sz="1400" dirty="0">
                <a:latin typeface="Times New Roman" panose="02020603050405020304" pitchFamily="18" charset="0"/>
                <a:cs typeface="Times New Roman" panose="02020603050405020304" pitchFamily="18" charset="0"/>
              </a:rPr>
              <a:t>8. Check for any errors and handle failures (invalid input, API issues).</a:t>
            </a:r>
            <a:endParaRPr lang="en-US" altLang="en-US" sz="1400" dirty="0">
              <a:latin typeface="Times New Roman" panose="02020603050405020304" pitchFamily="18" charset="0"/>
              <a:cs typeface="Times New Roman" panose="02020603050405020304" pitchFamily="18" charset="0"/>
            </a:endParaRPr>
          </a:p>
          <a:p>
            <a:pPr>
              <a:buNone/>
            </a:pPr>
            <a:endParaRPr lang="en-US" altLang="en-US" sz="1400" dirty="0">
              <a:latin typeface="Times New Roman" panose="02020603050405020304" pitchFamily="18" charset="0"/>
              <a:cs typeface="Times New Roman" panose="02020603050405020304" pitchFamily="18" charset="0"/>
            </a:endParaRPr>
          </a:p>
          <a:p>
            <a:pPr>
              <a:buNone/>
            </a:pPr>
            <a:r>
              <a:rPr lang="en-US" altLang="en-US" sz="1400" dirty="0">
                <a:latin typeface="Times New Roman" panose="02020603050405020304" pitchFamily="18" charset="0"/>
                <a:cs typeface="Times New Roman" panose="02020603050405020304" pitchFamily="18" charset="0"/>
              </a:rPr>
              <a:t>9. Provide the user with the option to regenerate or modify the story.</a:t>
            </a:r>
            <a:endParaRPr lang="en-US" altLang="en-US" sz="1400" dirty="0">
              <a:latin typeface="Times New Roman" panose="02020603050405020304" pitchFamily="18" charset="0"/>
              <a:cs typeface="Times New Roman" panose="02020603050405020304" pitchFamily="18" charset="0"/>
            </a:endParaRPr>
          </a:p>
          <a:p>
            <a:pPr>
              <a:buNone/>
            </a:pPr>
            <a:endParaRPr lang="en-US" altLang="en-US" sz="1400" dirty="0">
              <a:latin typeface="Times New Roman" panose="02020603050405020304" pitchFamily="18" charset="0"/>
              <a:cs typeface="Times New Roman" panose="02020603050405020304" pitchFamily="18" charset="0"/>
            </a:endParaRPr>
          </a:p>
          <a:p>
            <a:pPr>
              <a:buNone/>
            </a:pPr>
            <a:r>
              <a:rPr lang="en-US" altLang="en-US" sz="1400" dirty="0">
                <a:latin typeface="Times New Roman" panose="02020603050405020304" pitchFamily="18" charset="0"/>
                <a:cs typeface="Times New Roman" panose="02020603050405020304" pitchFamily="18" charset="0"/>
              </a:rPr>
              <a:t>STOP</a:t>
            </a:r>
            <a:endParaRPr lang="en-IN" sz="1400" dirty="0">
              <a:latin typeface="Times New Roman" panose="02020603050405020304" pitchFamily="18" charset="0"/>
              <a:cs typeface="Times New Roman" panose="02020603050405020304" pitchFamily="18" charset="0"/>
            </a:endParaRPr>
          </a:p>
        </p:txBody>
      </p:sp>
      <p:sp>
        <p:nvSpPr>
          <p:cNvPr id="2" name="Title 1"/>
          <p:cNvSpPr txBox="1"/>
          <p:nvPr/>
        </p:nvSpPr>
        <p:spPr>
          <a:xfrm>
            <a:off x="890246" y="260754"/>
            <a:ext cx="10058400" cy="728069"/>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600" dirty="0">
                <a:latin typeface="Times New Roman" panose="02020603050405020304" pitchFamily="18" charset="0"/>
                <a:cs typeface="Times New Roman" panose="02020603050405020304" pitchFamily="18" charset="0"/>
              </a:rPr>
              <a:t>4.1 Pseudocode</a:t>
            </a: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0947" y="721135"/>
            <a:ext cx="10550106" cy="398780"/>
          </a:xfrm>
          <a:prstGeom prst="rect">
            <a:avLst/>
          </a:prstGeom>
          <a:noFill/>
        </p:spPr>
        <p:txBody>
          <a:bodyPr wrap="square">
            <a:spAutoFit/>
          </a:bodyPr>
          <a:lstStyle/>
          <a:p>
            <a:pPr algn="ctr"/>
            <a:r>
              <a:rPr lang="en-IN" sz="2000" dirty="0"/>
              <a:t>CODE FOR EXCEUTION</a:t>
            </a:r>
            <a:endParaRPr lang="en-IN" sz="2000" dirty="0"/>
          </a:p>
        </p:txBody>
      </p:sp>
      <p:sp>
        <p:nvSpPr>
          <p:cNvPr id="5" name="Text Box 4"/>
          <p:cNvSpPr txBox="1"/>
          <p:nvPr/>
        </p:nvSpPr>
        <p:spPr>
          <a:xfrm>
            <a:off x="363855" y="1321435"/>
            <a:ext cx="8780145" cy="5338445"/>
          </a:xfrm>
          <a:prstGeom prst="rect">
            <a:avLst/>
          </a:prstGeom>
          <a:noFill/>
        </p:spPr>
        <p:txBody>
          <a:bodyPr wrap="square" rtlCol="0" anchor="t">
            <a:noAutofit/>
          </a:bodyPr>
          <a:p>
            <a:r>
              <a:rPr lang="en-US" altLang="en-US"/>
              <a:t>import subprocess</a:t>
            </a:r>
            <a:endParaRPr lang="en-US" altLang="en-US"/>
          </a:p>
          <a:p>
            <a:endParaRPr lang="en-US" altLang="en-US"/>
          </a:p>
          <a:p>
            <a:r>
              <a:rPr lang="en-US" altLang="en-US"/>
              <a:t>import json</a:t>
            </a:r>
            <a:endParaRPr lang="en-US" altLang="en-US"/>
          </a:p>
          <a:p>
            <a:endParaRPr lang="en-US" altLang="en-US"/>
          </a:p>
          <a:p>
            <a:r>
              <a:rPr lang="en-US" altLang="en-US"/>
              <a:t>def generate story idea(genre, theme, character):</a:t>
            </a:r>
            <a:endParaRPr lang="en-US" altLang="en-US"/>
          </a:p>
          <a:p>
            <a:endParaRPr lang="en-US" altLang="en-US"/>
          </a:p>
          <a:p>
            <a:r>
              <a:rPr lang="en-US" altLang="en-US"/>
              <a:t>prompt = (</a:t>
            </a:r>
            <a:endParaRPr lang="en-US" altLang="en-US"/>
          </a:p>
          <a:p>
            <a:endParaRPr lang="en-US" altLang="en-US"/>
          </a:p>
          <a:p>
            <a:r>
              <a:rPr lang="en-US" altLang="en-US"/>
              <a:t>f"Generate a creative short story idea in the genre of {genre}, "</a:t>
            </a:r>
            <a:endParaRPr lang="en-US" altLang="en-US"/>
          </a:p>
          <a:p>
            <a:endParaRPr lang="en-US" altLang="en-US"/>
          </a:p>
          <a:p>
            <a:r>
              <a:rPr lang="en-US" altLang="en-US"/>
              <a:t>f"based on the theme '{theme}', and include a main character who is {character}."</a:t>
            </a:r>
            <a:endParaRPr lang="en-US" altLang="en-US"/>
          </a:p>
          <a:p>
            <a:endParaRPr lang="en-US" altLang="en-US"/>
          </a:p>
          <a:p>
            <a:r>
              <a:rPr lang="en-US" altLang="en-US"/>
              <a:t>#Run the local model using Ollama</a:t>
            </a:r>
            <a:endParaRPr lang="en-US" altLang="en-US"/>
          </a:p>
          <a:p>
            <a:endParaRPr lang="en-US" altLang="en-US"/>
          </a:p>
          <a:p>
            <a:r>
              <a:rPr lang="en-US" altLang="en-US"/>
              <a:t>result = subprocess.run(</a:t>
            </a:r>
            <a:endParaRPr lang="en-US" altLang="en-US"/>
          </a:p>
          <a:p>
            <a:endParaRPr lang="en-US" altLang="en-US"/>
          </a:p>
          <a:p>
            <a:r>
              <a:rPr lang="en-US" altLang="en-US"/>
              <a:t>["ollama", "run", "mistral"],</a:t>
            </a:r>
            <a:endParaRPr lang="en-US" altLang="en-US"/>
          </a:p>
          <a:p>
            <a:endParaRPr lang="en-US" altLang="en-US"/>
          </a:p>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8310" y="194945"/>
            <a:ext cx="8060055" cy="5893435"/>
          </a:xfrm>
          <a:prstGeom prst="rect">
            <a:avLst/>
          </a:prstGeom>
          <a:noFill/>
        </p:spPr>
        <p:txBody>
          <a:bodyPr wrap="square" rtlCol="0" anchor="t">
            <a:noAutofit/>
          </a:bodyPr>
          <a:p>
            <a:r>
              <a:rPr lang="en-US" altLang="en-US"/>
              <a:t>capture output-True</a:t>
            </a:r>
            <a:endParaRPr lang="en-US" altLang="en-US"/>
          </a:p>
          <a:p>
            <a:endParaRPr lang="en-US" altLang="en-US"/>
          </a:p>
          <a:p>
            <a:r>
              <a:rPr lang="en-US" altLang="en-US"/>
              <a:t>)</a:t>
            </a:r>
            <a:endParaRPr lang="en-US" altLang="en-US"/>
          </a:p>
          <a:p>
            <a:endParaRPr lang="en-US" altLang="en-US"/>
          </a:p>
          <a:p>
            <a:r>
              <a:rPr lang="en-US" altLang="en-US"/>
              <a:t>return result.stdout</a:t>
            </a:r>
            <a:endParaRPr lang="en-US" altLang="en-US"/>
          </a:p>
          <a:p>
            <a:endParaRPr lang="en-US" altLang="en-US"/>
          </a:p>
          <a:p>
            <a:r>
              <a:rPr lang="en-US" altLang="en-US"/>
              <a:t>def main():</a:t>
            </a:r>
            <a:endParaRPr lang="en-US" altLang="en-US"/>
          </a:p>
          <a:p>
            <a:endParaRPr lang="en-US" altLang="en-US"/>
          </a:p>
          <a:p>
            <a:r>
              <a:rPr lang="en-US" altLang="en-US"/>
              <a:t>print(" Welcome to the Story Generator AI!")</a:t>
            </a:r>
            <a:endParaRPr lang="en-US" altLang="en-US"/>
          </a:p>
          <a:p>
            <a:endParaRPr lang="en-US" altLang="en-US"/>
          </a:p>
          <a:p>
            <a:r>
              <a:rPr lang="en-US" altLang="en-US"/>
              <a:t>genre = input("Enter genre (e.g., Fantasy, Sci-Fi, Romance): ")</a:t>
            </a:r>
            <a:endParaRPr lang="en-US" altLang="en-US"/>
          </a:p>
          <a:p>
            <a:endParaRPr lang="en-US" altLang="en-US"/>
          </a:p>
          <a:p>
            <a:r>
              <a:rPr lang="en-US" altLang="en-US"/>
              <a:t>theme = input("Enter theme (e.g., Betrayal, Friendship, Courage): ")</a:t>
            </a:r>
            <a:endParaRPr lang="en-US" altLang="en-US"/>
          </a:p>
          <a:p>
            <a:endParaRPr lang="en-US" altLang="en-US"/>
          </a:p>
          <a:p>
            <a:r>
              <a:rPr lang="en-US" altLang="en-US"/>
              <a:t>character = input("Describe your main character (e.g., a lonely robot, a brave princess): ")</a:t>
            </a:r>
            <a:endParaRPr lang="en-US" altLang="en-US"/>
          </a:p>
          <a:p>
            <a:endParaRPr lang="en-US" altLang="en-US"/>
          </a:p>
          <a:p>
            <a:r>
              <a:rPr lang="en-US" altLang="en-US"/>
              <a:t>idea = generate_story_idea(genre, theme, character)</a:t>
            </a:r>
            <a:endParaRPr lang="en-US" altLang="en-US"/>
          </a:p>
          <a:p>
            <a:endParaRPr lang="en-US" altLang="en-US"/>
          </a:p>
          <a:p>
            <a:r>
              <a:rPr lang="en-US" altLang="en-US"/>
              <a:t>print("\n Your Story Idea:\n")</a:t>
            </a:r>
            <a:endParaRPr lang="en-US" altLang="en-US"/>
          </a:p>
          <a:p>
            <a:endParaRPr lang="en-US" altLang="en-US"/>
          </a:p>
          <a:p>
            <a:r>
              <a:rPr lang="en-US" altLang="en-US"/>
              <a:t>print(idea)</a:t>
            </a:r>
            <a:endParaRPr lang="en-US" altLang="en-US"/>
          </a:p>
          <a:p>
            <a:endParaRPr lang="en-US" altLang="en-US"/>
          </a:p>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5. Testing / Validation</a:t>
            </a:r>
            <a:endParaRPr lang="en-IN" dirty="0"/>
          </a:p>
        </p:txBody>
      </p:sp>
      <p:sp>
        <p:nvSpPr>
          <p:cNvPr id="3" name="Text Box 2"/>
          <p:cNvSpPr txBox="1"/>
          <p:nvPr/>
        </p:nvSpPr>
        <p:spPr>
          <a:xfrm>
            <a:off x="163830" y="1736725"/>
            <a:ext cx="11111865" cy="5061585"/>
          </a:xfrm>
          <a:prstGeom prst="rect">
            <a:avLst/>
          </a:prstGeom>
          <a:noFill/>
        </p:spPr>
        <p:txBody>
          <a:bodyPr wrap="square" rtlCol="0" anchor="t">
            <a:noAutofit/>
          </a:bodyPr>
          <a:p>
            <a:r>
              <a:rPr lang="en-US" altLang="en-US"/>
              <a:t>Unit testing was performed on individual modules such as input handling, prompt processing, story generation, and code generation to ensure each component worked correctly.</a:t>
            </a:r>
            <a:endParaRPr lang="en-US" altLang="en-US"/>
          </a:p>
          <a:p>
            <a:endParaRPr lang="en-US" altLang="en-US"/>
          </a:p>
          <a:p>
            <a:r>
              <a:rPr lang="en-US" altLang="en-US"/>
              <a:t>Integration testing verified smoothcommunication between the frontend, backend API, and Al model, ensuring data flowed properly from user input to final output.</a:t>
            </a:r>
            <a:endParaRPr lang="en-US" altLang="en-US"/>
          </a:p>
          <a:p>
            <a:endParaRPr lang="en-US" altLang="en-US"/>
          </a:p>
          <a:p>
            <a:r>
              <a:rPr lang="en-US" altLang="en-US"/>
              <a:t>Functional testing was carried out using different genres and themes to check the Al's creativity, coherence, grammar, and story flow across various scenarios.</a:t>
            </a:r>
            <a:endParaRPr lang="en-US" altLang="en-US"/>
          </a:p>
          <a:p>
            <a:endParaRPr lang="en-US" altLang="en-US"/>
          </a:p>
          <a:p>
            <a:r>
              <a:rPr lang="en-US" altLang="en-US"/>
              <a:t>The generated code snippets were tested to ensure they were syntactically correct and matched the context of the story they were based on.</a:t>
            </a:r>
            <a:endParaRPr lang="en-US" altLang="en-US"/>
          </a:p>
          <a:p>
            <a:endParaRPr lang="en-US" altLang="en-US"/>
          </a:p>
          <a:p>
            <a:r>
              <a:rPr lang="en-US" altLang="en-US"/>
              <a:t>Performance testing evaluated response times, load handling, and system stability during multiple or complex requests.</a:t>
            </a:r>
            <a:endParaRPr lang="en-US" altLang="en-US"/>
          </a:p>
          <a:p>
            <a:endParaRPr lang="en-US" altLang="en-US"/>
          </a:p>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6. Results and Analysis</a:t>
            </a:r>
            <a:endParaRPr lang="en-IN" dirty="0">
              <a:latin typeface="Times New Roman" panose="02020603050405020304" pitchFamily="18" charset="0"/>
              <a:cs typeface="Times New Roman" panose="02020603050405020304" pitchFamily="18" charset="0"/>
            </a:endParaRPr>
          </a:p>
        </p:txBody>
      </p:sp>
      <p:sp>
        <p:nvSpPr>
          <p:cNvPr id="3" name="Content Placeholder 2"/>
          <p:cNvSpPr txBox="1"/>
          <p:nvPr/>
        </p:nvSpPr>
        <p:spPr>
          <a:xfrm>
            <a:off x="190500" y="1737360"/>
            <a:ext cx="11516360" cy="4023360"/>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lgn="just">
              <a:lnSpc>
                <a:spcPct val="100000"/>
              </a:lnSpc>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1.</a:t>
            </a:r>
            <a:r>
              <a:rPr lang="en-US" altLang="en-US" sz="1800" dirty="0">
                <a:latin typeface="Times New Roman" panose="02020603050405020304" pitchFamily="18" charset="0"/>
                <a:cs typeface="Times New Roman" panose="02020603050405020304" pitchFamily="18" charset="0"/>
              </a:rPr>
              <a:t>The system successfully generated creative and coherent stories across multiple genres such as fantasy, adventure, sci-fi, and mystery, showing strong narrative flow and consistency.</a:t>
            </a:r>
            <a:endParaRPr lang="en-US" altLang="en-US" sz="1800" dirty="0">
              <a:latin typeface="Times New Roman" panose="02020603050405020304" pitchFamily="18" charset="0"/>
              <a:cs typeface="Times New Roman" panose="02020603050405020304" pitchFamily="18" charset="0"/>
            </a:endParaRPr>
          </a:p>
          <a:p>
            <a:pPr marL="0" indent="0" algn="just">
              <a:lnSpc>
                <a:spcPct val="100000"/>
              </a:lnSpc>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2.</a:t>
            </a:r>
            <a:r>
              <a:rPr lang="en-US" altLang="en-US" sz="1800" dirty="0">
                <a:latin typeface="Times New Roman" panose="02020603050405020304" pitchFamily="18" charset="0"/>
                <a:cs typeface="Times New Roman" panose="02020603050405020304" pitchFamily="18" charset="0"/>
              </a:rPr>
              <a:t>The Al model demonstrated good contextual understanding, maintaining character behavior, plot direction, and theme alignment throughout the story.</a:t>
            </a:r>
            <a:endParaRPr lang="en-US" altLang="en-US" sz="1800" dirty="0">
              <a:latin typeface="Times New Roman" panose="02020603050405020304" pitchFamily="18" charset="0"/>
              <a:cs typeface="Times New Roman" panose="02020603050405020304" pitchFamily="18" charset="0"/>
            </a:endParaRPr>
          </a:p>
          <a:p>
            <a:pPr marL="0" indent="0" algn="just">
              <a:lnSpc>
                <a:spcPct val="100000"/>
              </a:lnSpc>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3.</a:t>
            </a:r>
            <a:r>
              <a:rPr lang="en-US" altLang="en-US" sz="1800" dirty="0">
                <a:latin typeface="Times New Roman" panose="02020603050405020304" pitchFamily="18" charset="0"/>
                <a:cs typeface="Times New Roman" panose="02020603050405020304" pitchFamily="18" charset="0"/>
              </a:rPr>
              <a:t>Code-generation outputs were accurate and relevant to the generated story, proving the effectiveness of the dual-output design.</a:t>
            </a:r>
            <a:endParaRPr lang="en-US" altLang="en-US" sz="1800" dirty="0">
              <a:latin typeface="Times New Roman" panose="02020603050405020304" pitchFamily="18" charset="0"/>
              <a:cs typeface="Times New Roman" panose="02020603050405020304" pitchFamily="18" charset="0"/>
            </a:endParaRPr>
          </a:p>
          <a:p>
            <a:pPr marL="0" indent="0" algn="just">
              <a:lnSpc>
                <a:spcPct val="100000"/>
              </a:lnSpc>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4.</a:t>
            </a:r>
            <a:r>
              <a:rPr lang="en-US" altLang="en-US" sz="1800" dirty="0">
                <a:latin typeface="Times New Roman" panose="02020603050405020304" pitchFamily="18" charset="0"/>
                <a:cs typeface="Times New Roman" panose="02020603050405020304" pitchFamily="18" charset="0"/>
              </a:rPr>
              <a:t>Performance tests showed reduced response time after optimization, allowing smoother and faster story generation during user interaction.</a:t>
            </a:r>
            <a:endParaRPr lang="en-US" altLang="en-US" sz="1800" dirty="0">
              <a:latin typeface="Times New Roman" panose="02020603050405020304" pitchFamily="18" charset="0"/>
              <a:cs typeface="Times New Roman" panose="02020603050405020304" pitchFamily="18" charset="0"/>
            </a:endParaRPr>
          </a:p>
          <a:p>
            <a:pPr marL="0" indent="0" algn="just">
              <a:lnSpc>
                <a:spcPct val="100000"/>
              </a:lnSpc>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5.</a:t>
            </a:r>
            <a:r>
              <a:rPr lang="en-US" altLang="en-US" sz="1800" dirty="0">
                <a:latin typeface="Times New Roman" panose="02020603050405020304" pitchFamily="18" charset="0"/>
                <a:cs typeface="Times New Roman" panose="02020603050405020304" pitchFamily="18" charset="0"/>
              </a:rPr>
              <a:t>User testing indicated high satisfaction with the simplicity of the interface, clarity of the outputs, and overall ease of using the system.</a:t>
            </a:r>
            <a:endParaRPr lang="en-US" altLang="en-US" sz="1800" dirty="0">
              <a:latin typeface="Times New Roman" panose="02020603050405020304" pitchFamily="18" charset="0"/>
              <a:cs typeface="Times New Roman" panose="02020603050405020304" pitchFamily="18" charset="0"/>
            </a:endParaRPr>
          </a:p>
          <a:p>
            <a:pPr marL="0" indent="0" algn="just">
              <a:lnSpc>
                <a:spcPct val="100000"/>
              </a:lnSpc>
              <a:buFont typeface="Wingdings" panose="05000000000000000000" pitchFamily="2" charset="2"/>
              <a:buNone/>
            </a:pPr>
            <a:endParaRPr lang="en-IN"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48735" y="5791200"/>
            <a:ext cx="4618355" cy="315595"/>
          </a:xfrm>
          <a:prstGeom prst="rect">
            <a:avLst/>
          </a:prstGeom>
          <a:noFill/>
        </p:spPr>
        <p:txBody>
          <a:bodyPr wrap="square" rtlCol="0">
            <a:noAutofit/>
          </a:bodyPr>
          <a:lstStyle/>
          <a:p>
            <a:r>
              <a:rPr lang="en-US" b="1" dirty="0">
                <a:latin typeface="Times New Roman" panose="02020603050405020304" pitchFamily="18" charset="0"/>
                <a:cs typeface="Times New Roman" panose="02020603050405020304" pitchFamily="18" charset="0"/>
              </a:rPr>
              <a:t>Figure 6.1: </a:t>
            </a:r>
            <a:r>
              <a:rPr lang="en-IN" altLang="en-US" b="1" dirty="0">
                <a:latin typeface="Times New Roman" panose="02020603050405020304" pitchFamily="18" charset="0"/>
                <a:cs typeface="Times New Roman" panose="02020603050405020304" pitchFamily="18" charset="0"/>
              </a:rPr>
              <a:t>Result</a:t>
            </a:r>
            <a:endParaRPr lang="en-IN" altLang="en-US"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906145" y="617855"/>
            <a:ext cx="10676255" cy="517334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662305" y="448945"/>
            <a:ext cx="10644505" cy="55295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7. Challenges and Solutions</a:t>
            </a:r>
            <a:endParaRPr lang="en-IN" dirty="0">
              <a:latin typeface="Times New Roman" panose="02020603050405020304" pitchFamily="18" charset="0"/>
              <a:cs typeface="Times New Roman" panose="02020603050405020304" pitchFamily="18" charset="0"/>
            </a:endParaRPr>
          </a:p>
        </p:txBody>
      </p:sp>
      <p:sp>
        <p:nvSpPr>
          <p:cNvPr id="3" name="Content Placeholder 2"/>
          <p:cNvSpPr txBox="1"/>
          <p:nvPr/>
        </p:nvSpPr>
        <p:spPr>
          <a:xfrm>
            <a:off x="1097280" y="1940625"/>
            <a:ext cx="10058400"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lgn="just">
              <a:lnSpc>
                <a:spcPct val="100000"/>
              </a:lnSpc>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The project faced several issues, including story coherence problems where outputs became repetitive or drifted off-track, which was resolved by using improved prompts and structured templates. There was also a story-code mismatch, fixed by adopting a two-step generation process that produced the story first and the code afterward. Slow response times caused by long prompts were reduced through prompt optimization and caching. Unclear user inputs often led to weak stories, so default keywords and fallback prompts were introduced. Additionally, frontend-backend integration issues affected output display, prompting improvements to API routing and UI flow. Finally, frequent errors and API failures were addressed by implementing stronger error handling and retry logic.</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8. Conclusion and Future Scope</a:t>
            </a:r>
            <a:endParaRPr lang="en-IN" dirty="0"/>
          </a:p>
        </p:txBody>
      </p:sp>
      <p:sp>
        <p:nvSpPr>
          <p:cNvPr id="3" name="Content Placeholder 2"/>
          <p:cNvSpPr txBox="1"/>
          <p:nvPr/>
        </p:nvSpPr>
        <p:spPr>
          <a:xfrm>
            <a:off x="471805" y="1940560"/>
            <a:ext cx="10683875" cy="4023360"/>
          </a:xfrm>
          <a:prstGeom prst="rect">
            <a:avLst/>
          </a:prstGeom>
        </p:spPr>
        <p:txBody>
          <a:bodyPr>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lgn="just">
              <a:lnSpc>
                <a:spcPct val="100000"/>
              </a:lnSpc>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The project successfully developed an AI-powered storytelling system capable of generating creative, coherent stories along with matching code based on simple user inputs, demonstrating how NLP and large language models can automate creative writing and make storytelling accessible to users of any skill level. Testing confirmed that the system is stable, user-friendly, and able to produce high-quality narratives across various genres, proving the potential of AI as a valuable tool in education, entertainment, and digital content creation. Looking ahead, the system can be enhanced with features such as image generation, voice narration, animations, and multilingual storytelling, while personalization options, mobile app deployment, and cloud-based processing can further improve performance, expand accessibility, and support a broader user base.</a:t>
            </a:r>
            <a:endParaRPr lang="en-US" altLang="en-US" dirty="0">
              <a:latin typeface="Times New Roman" panose="02020603050405020304" pitchFamily="18" charset="0"/>
              <a:cs typeface="Times New Roman" panose="02020603050405020304" pitchFamily="18" charset="0"/>
            </a:endParaRPr>
          </a:p>
          <a:p>
            <a:pPr marL="0" indent="0" algn="just">
              <a:lnSpc>
                <a:spcPct val="100000"/>
              </a:lnSpc>
              <a:buFont typeface="Wingdings" panose="05000000000000000000" pitchFamily="2" charset="2"/>
              <a:buNone/>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048603"/>
            <a:ext cx="10058400" cy="559431"/>
          </a:xfrm>
        </p:spPr>
        <p:txBody>
          <a:bodyPr>
            <a:normAutofit/>
          </a:bodyPr>
          <a:lstStyle/>
          <a:p>
            <a:r>
              <a:rPr lang="en-GB" sz="3600" b="1" dirty="0">
                <a:latin typeface="Times New Roman" panose="02020603050405020304" pitchFamily="18" charset="0"/>
                <a:cs typeface="Times New Roman" panose="02020603050405020304" pitchFamily="18" charset="0"/>
              </a:rPr>
              <a:t>References</a:t>
            </a:r>
            <a:endParaRPr lang="en-IN" sz="3600" b="1" dirty="0">
              <a:latin typeface="Times New Roman" panose="02020603050405020304" pitchFamily="18" charset="0"/>
              <a:cs typeface="Times New Roman" panose="02020603050405020304" pitchFamily="18" charset="0"/>
            </a:endParaRPr>
          </a:p>
        </p:txBody>
      </p:sp>
      <p:sp>
        <p:nvSpPr>
          <p:cNvPr id="4" name="Content Placeholder 2"/>
          <p:cNvSpPr>
            <a:spLocks noGrp="1"/>
          </p:cNvSpPr>
          <p:nvPr>
            <p:ph idx="1"/>
          </p:nvPr>
        </p:nvSpPr>
        <p:spPr>
          <a:xfrm>
            <a:off x="1097280" y="2013514"/>
            <a:ext cx="10058400" cy="4023360"/>
          </a:xfrm>
        </p:spPr>
        <p:txBody>
          <a:bodyPr>
            <a:normAutofit fontScale="77500" lnSpcReduction="20000"/>
          </a:bodyPr>
          <a:lstStyle/>
          <a:p>
            <a:pPr marL="457200" lvl="0" indent="-457200" algn="just">
              <a:lnSpc>
                <a:spcPct val="120000"/>
              </a:lnSpc>
              <a:buFont typeface="+mj-lt"/>
              <a:buAutoNum type="arabicPeriod"/>
            </a:pPr>
            <a:r>
              <a:rPr lang="en-US" altLang="en-US" dirty="0">
                <a:latin typeface="Times New Roman" panose="02020603050405020304" pitchFamily="18" charset="0"/>
                <a:cs typeface="Times New Roman" panose="02020603050405020304" pitchFamily="18" charset="0"/>
              </a:rPr>
              <a:t> Brown, T. B., Mann, B., Ryder, N., et al. (2020). Language Models are Few-Shot Learners. Advances in Neural Information Processing Systems (NeurIPS), 33, 1877-1901.</a:t>
            </a:r>
            <a:endParaRPr lang="en-US" altLang="en-US" dirty="0">
              <a:latin typeface="Times New Roman" panose="02020603050405020304" pitchFamily="18" charset="0"/>
              <a:cs typeface="Times New Roman" panose="02020603050405020304" pitchFamily="18" charset="0"/>
            </a:endParaRPr>
          </a:p>
          <a:p>
            <a:pPr marL="457200" lvl="0" indent="-457200" algn="just">
              <a:lnSpc>
                <a:spcPct val="120000"/>
              </a:lnSpc>
              <a:buFont typeface="+mj-lt"/>
              <a:buAutoNum type="arabicPeriod"/>
            </a:pPr>
            <a:r>
              <a:rPr lang="en-IN"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Vaswani, A., Shazeer, N., Parmar, N., et al. (2017). Attention Is All You Need. Proceedings of the 31st Conference on Neural Information Processing Systems (NeurIPS), 5998-6008.</a:t>
            </a:r>
            <a:endParaRPr lang="en-US" altLang="en-US" dirty="0">
              <a:latin typeface="Times New Roman" panose="02020603050405020304" pitchFamily="18" charset="0"/>
              <a:cs typeface="Times New Roman" panose="02020603050405020304" pitchFamily="18" charset="0"/>
            </a:endParaRPr>
          </a:p>
          <a:p>
            <a:pPr marL="457200" lvl="0" indent="-457200" algn="just">
              <a:lnSpc>
                <a:spcPct val="120000"/>
              </a:lnSpc>
              <a:buFont typeface="+mj-lt"/>
              <a:buAutoNum type="arabicPeriod"/>
            </a:pPr>
            <a:r>
              <a:rPr lang="en-IN"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Radford, A., Wu, J., Child, R., et al. (2019). Language Models are Unsupervised Multitask Learners. OpenAl Technical Report.</a:t>
            </a:r>
            <a:endParaRPr lang="en-US" altLang="en-US" dirty="0">
              <a:latin typeface="Times New Roman" panose="02020603050405020304" pitchFamily="18" charset="0"/>
              <a:cs typeface="Times New Roman" panose="02020603050405020304" pitchFamily="18" charset="0"/>
            </a:endParaRPr>
          </a:p>
          <a:p>
            <a:pPr marL="457200" lvl="0" indent="-457200" algn="just">
              <a:lnSpc>
                <a:spcPct val="120000"/>
              </a:lnSpc>
              <a:buFont typeface="+mj-lt"/>
              <a:buAutoNum type="arabicPeriod"/>
            </a:pPr>
            <a:r>
              <a:rPr lang="en-IN"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Devlin, J., Chang, M. W., Lee, K., &amp; Toutanova, K. (2019). BERT: Pre-training of Deep Bidirectional Transformers for Language Understanding. Proceedings of NAACL-HLT, 4171-4186.</a:t>
            </a:r>
            <a:endParaRPr lang="en-US" altLang="en-US" dirty="0">
              <a:latin typeface="Times New Roman" panose="02020603050405020304" pitchFamily="18" charset="0"/>
              <a:cs typeface="Times New Roman" panose="02020603050405020304" pitchFamily="18" charset="0"/>
            </a:endParaRPr>
          </a:p>
          <a:p>
            <a:pPr marL="457200" lvl="0" indent="-457200" algn="just">
              <a:lnSpc>
                <a:spcPct val="120000"/>
              </a:lnSpc>
              <a:buFont typeface="+mj-lt"/>
              <a:buAutoNum type="arabicPeriod"/>
            </a:pP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J. Zheng, Y. Liu, and L. Wang, “Industrial Internet of Things intrusion detection system based on graph neural networks,” Symmetry, vol. 17, no. 7, p. 997, 2024</a:t>
            </a:r>
            <a:r>
              <a:rPr lang="en-IN"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marL="457200" lvl="0" indent="-457200" algn="just">
              <a:lnSpc>
                <a:spcPct val="120000"/>
              </a:lnSpc>
              <a:buFont typeface="+mj-lt"/>
              <a:buAutoNum type="arabicPeriod"/>
            </a:pPr>
            <a:r>
              <a:rPr lang="en-US" dirty="0">
                <a:latin typeface="Times New Roman" panose="02020603050405020304" pitchFamily="18" charset="0"/>
                <a:cs typeface="Times New Roman" panose="02020603050405020304" pitchFamily="18" charset="0"/>
              </a:rPr>
              <a:t>M. M. Chowdhury, M. R. Islam, and M. M. Rahman, “Deep learning-based intrusion detection system for IoT using recurrent neural networks,” IEEE Access, vol. 11, pp. 45312–45325, 2023.</a:t>
            </a:r>
            <a:endParaRPr lang="en-US" dirty="0">
              <a:latin typeface="Times New Roman" panose="02020603050405020304" pitchFamily="18" charset="0"/>
              <a:cs typeface="Times New Roman" panose="02020603050405020304" pitchFamily="18" charset="0"/>
            </a:endParaRPr>
          </a:p>
          <a:p>
            <a:pPr marL="457200" lvl="0" indent="-457200" algn="just">
              <a:lnSpc>
                <a:spcPct val="120000"/>
              </a:lnSpc>
              <a:buFont typeface="+mj-lt"/>
              <a:buAutoNum type="arabicPeriod"/>
            </a:pPr>
            <a:endParaRPr lang="en-IN" dirty="0">
              <a:latin typeface="Times New Roman" panose="02020603050405020304" pitchFamily="18" charset="0"/>
              <a:cs typeface="Times New Roman" panose="02020603050405020304" pitchFamily="18" charset="0"/>
            </a:endParaRPr>
          </a:p>
          <a:p>
            <a:pPr algn="just">
              <a:lnSpc>
                <a:spcPct val="120000"/>
              </a:lnSpc>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048603"/>
            <a:ext cx="10058400" cy="559431"/>
          </a:xfrm>
        </p:spPr>
        <p:txBody>
          <a:bodyPr>
            <a:normAutofit/>
          </a:bodyPr>
          <a:lstStyle/>
          <a:p>
            <a:r>
              <a:rPr lang="en-GB" sz="3600" b="1" dirty="0">
                <a:latin typeface="Times New Roman" panose="02020603050405020304" pitchFamily="18" charset="0"/>
                <a:cs typeface="Times New Roman" panose="02020603050405020304" pitchFamily="18" charset="0"/>
              </a:rPr>
              <a:t>References</a:t>
            </a:r>
            <a:endParaRPr lang="en-IN" sz="3600" b="1" dirty="0">
              <a:latin typeface="Times New Roman" panose="02020603050405020304" pitchFamily="18" charset="0"/>
              <a:cs typeface="Times New Roman" panose="02020603050405020304" pitchFamily="18" charset="0"/>
            </a:endParaRPr>
          </a:p>
        </p:txBody>
      </p:sp>
      <p:sp>
        <p:nvSpPr>
          <p:cNvPr id="4" name="Content Placeholder 2"/>
          <p:cNvSpPr>
            <a:spLocks noGrp="1"/>
          </p:cNvSpPr>
          <p:nvPr>
            <p:ph idx="1"/>
          </p:nvPr>
        </p:nvSpPr>
        <p:spPr>
          <a:xfrm>
            <a:off x="1097280" y="1869581"/>
            <a:ext cx="10058400" cy="4412686"/>
          </a:xfrm>
        </p:spPr>
        <p:txBody>
          <a:bodyPr>
            <a:noAutofit/>
          </a:bodyPr>
          <a:lstStyle/>
          <a:p>
            <a:pPr marL="457200" lvl="0" indent="-457200" algn="just">
              <a:lnSpc>
                <a:spcPct val="100000"/>
              </a:lnSpc>
              <a:buFont typeface="+mj-lt"/>
              <a:buAutoNum type="arabicPeriod" startAt="7"/>
            </a:pPr>
            <a:r>
              <a:rPr lang="en-US" sz="1600" dirty="0">
                <a:latin typeface="Times New Roman" panose="02020603050405020304" pitchFamily="18" charset="0"/>
                <a:cs typeface="Times New Roman" panose="02020603050405020304" pitchFamily="18" charset="0"/>
              </a:rPr>
              <a:t>B. Al-</a:t>
            </a:r>
            <a:r>
              <a:rPr lang="en-US" sz="1600" dirty="0" err="1">
                <a:latin typeface="Times New Roman" panose="02020603050405020304" pitchFamily="18" charset="0"/>
                <a:cs typeface="Times New Roman" panose="02020603050405020304" pitchFamily="18" charset="0"/>
              </a:rPr>
              <a:t>Kasasbeh</a:t>
            </a:r>
            <a:r>
              <a:rPr lang="en-US" sz="1600" dirty="0">
                <a:latin typeface="Times New Roman" panose="02020603050405020304" pitchFamily="18" charset="0"/>
                <a:cs typeface="Times New Roman" panose="02020603050405020304" pitchFamily="18" charset="0"/>
              </a:rPr>
              <a:t>, G. Al-</a:t>
            </a:r>
            <a:r>
              <a:rPr lang="en-US" sz="1600" dirty="0" err="1">
                <a:latin typeface="Times New Roman" panose="02020603050405020304" pitchFamily="18" charset="0"/>
                <a:cs typeface="Times New Roman" panose="02020603050405020304" pitchFamily="18" charset="0"/>
              </a:rPr>
              <a:t>Naymat</a:t>
            </a:r>
            <a:r>
              <a:rPr lang="en-US" sz="1600" dirty="0">
                <a:latin typeface="Times New Roman" panose="02020603050405020304" pitchFamily="18" charset="0"/>
                <a:cs typeface="Times New Roman" panose="02020603050405020304" pitchFamily="18" charset="0"/>
              </a:rPr>
              <a:t>, and S. Kumar, “A comprehensive review on intrusion detection in IoT networks using deep learning,” Computers, vol. 12, no. 4, p. 87, 2023.</a:t>
            </a:r>
            <a:endParaRPr lang="en-IN" sz="1600" dirty="0">
              <a:latin typeface="Times New Roman" panose="02020603050405020304" pitchFamily="18" charset="0"/>
              <a:cs typeface="Times New Roman" panose="02020603050405020304" pitchFamily="18" charset="0"/>
            </a:endParaRPr>
          </a:p>
          <a:p>
            <a:pPr marL="457200" lvl="0" indent="-457200" algn="just">
              <a:lnSpc>
                <a:spcPct val="100000"/>
              </a:lnSpc>
              <a:buFont typeface="+mj-lt"/>
              <a:buAutoNum type="arabicPeriod" startAt="7"/>
            </a:pPr>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I. H. Sarker, A. S. M. Kayes, and M. Waters, “Cybersecurity data science: an overview from machine learning perspective,” Journal of Big Data, vol. 9, no. 1, pp. 1–30, 2022.</a:t>
            </a:r>
            <a:endParaRPr lang="en-IN" sz="1600" dirty="0">
              <a:latin typeface="Times New Roman" panose="02020603050405020304" pitchFamily="18" charset="0"/>
              <a:cs typeface="Times New Roman" panose="02020603050405020304" pitchFamily="18" charset="0"/>
            </a:endParaRPr>
          </a:p>
          <a:p>
            <a:pPr marL="457200" lvl="0" indent="-457200" algn="just">
              <a:lnSpc>
                <a:spcPct val="100000"/>
              </a:lnSpc>
              <a:buFont typeface="+mj-lt"/>
              <a:buAutoNum type="arabicPeriod" startAt="7"/>
            </a:pPr>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N. Shone, T. N. Ngoc, V. D. Phai, and Q. Shi, “A deep learning approach to network intrusion detection,” Computers &amp; Security, vol. 70, pp. 45–61, 2018</a:t>
            </a:r>
            <a:r>
              <a:rPr lang="en-IN"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marL="457200" lvl="0" indent="-457200" algn="just">
              <a:lnSpc>
                <a:spcPct val="100000"/>
              </a:lnSpc>
              <a:buFont typeface="+mj-lt"/>
              <a:buAutoNum type="arabicPeriod" startAt="7"/>
            </a:pPr>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 Javaid, Q. Niyaz, W. Sun, and M. Alam, “A deep learning approach for network intrusion detection system,” Proceedings of the IEEE Military Communications Conference (MILCOM), pp. 1–6, 2016</a:t>
            </a:r>
            <a:r>
              <a:rPr lang="en-IN"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marL="457200" lvl="0" indent="-457200" algn="just">
              <a:lnSpc>
                <a:spcPct val="100000"/>
              </a:lnSpc>
              <a:buFont typeface="+mj-lt"/>
              <a:buAutoNum type="arabicPeriod" startAt="7"/>
            </a:pPr>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 A. Tang, L. Mhamdi, D. McLernon, S. A. R. Zaidi, and M. </a:t>
            </a:r>
            <a:r>
              <a:rPr lang="en-US" sz="1600" dirty="0" err="1">
                <a:latin typeface="Times New Roman" panose="02020603050405020304" pitchFamily="18" charset="0"/>
                <a:cs typeface="Times New Roman" panose="02020603050405020304" pitchFamily="18" charset="0"/>
              </a:rPr>
              <a:t>Ghogho</a:t>
            </a:r>
            <a:r>
              <a:rPr lang="en-US" sz="1600" dirty="0">
                <a:latin typeface="Times New Roman" panose="02020603050405020304" pitchFamily="18" charset="0"/>
                <a:cs typeface="Times New Roman" panose="02020603050405020304" pitchFamily="18" charset="0"/>
              </a:rPr>
              <a:t>, “Deep learning approach for network intrusion detection in software defined networking,” Proceedings of the IEEE International Conference on Wireless Networks and Mobile Communications (WINCOM), pp. 258–263, 2018</a:t>
            </a:r>
            <a:r>
              <a:rPr lang="en-IN"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marL="457200" lvl="0" indent="-457200" algn="just">
              <a:lnSpc>
                <a:spcPct val="100000"/>
              </a:lnSpc>
              <a:buFont typeface="+mj-lt"/>
              <a:buAutoNum type="arabicPeriod" startAt="7"/>
            </a:pPr>
            <a:r>
              <a:rPr lang="en-IN" sz="1600" dirty="0">
                <a:latin typeface="Times New Roman" panose="02020603050405020304" pitchFamily="18" charset="0"/>
                <a:cs typeface="Times New Roman" panose="02020603050405020304" pitchFamily="18" charset="0"/>
              </a:rPr>
              <a:t>J. Kim, J. Kim, H. L. T. Thu, and H. Kim, “Long short term memory recurrent neural network classifier for intrusion detection,” Proceedings of the International Conference on Platform Technology and Service (</a:t>
            </a:r>
            <a:r>
              <a:rPr lang="en-IN" sz="1600" dirty="0" err="1">
                <a:latin typeface="Times New Roman" panose="02020603050405020304" pitchFamily="18" charset="0"/>
                <a:cs typeface="Times New Roman" panose="02020603050405020304" pitchFamily="18" charset="0"/>
              </a:rPr>
              <a:t>PlatCon</a:t>
            </a:r>
            <a:r>
              <a:rPr lang="en-IN" sz="1600" dirty="0">
                <a:latin typeface="Times New Roman" panose="02020603050405020304" pitchFamily="18" charset="0"/>
                <a:cs typeface="Times New Roman" panose="02020603050405020304" pitchFamily="18" charset="0"/>
              </a:rPr>
              <a:t>), pp. 1–5, 2016</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marL="457200" indent="-457200" algn="just">
              <a:lnSpc>
                <a:spcPct val="100000"/>
              </a:lnSpc>
              <a:buFont typeface="+mj-lt"/>
              <a:buAutoNum type="arabicPeriod" startAt="7"/>
            </a:pP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Internship Completion Certificate</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115570" y="658495"/>
            <a:ext cx="11368405" cy="5320665"/>
          </a:xfrm>
          <a:prstGeom prst="rect">
            <a:avLst/>
          </a:prstGeom>
        </p:spPr>
      </p:pic>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12180</Words>
  <Application>WPS Presentation</Application>
  <PresentationFormat>Widescreen</PresentationFormat>
  <Paragraphs>229</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Arial</vt:lpstr>
      <vt:lpstr>SimSun</vt:lpstr>
      <vt:lpstr>Wingdings</vt:lpstr>
      <vt:lpstr>Calibri</vt:lpstr>
      <vt:lpstr>Times New Roman</vt:lpstr>
      <vt:lpstr>Times New Roman</vt:lpstr>
      <vt:lpstr>Microsoft YaHei</vt:lpstr>
      <vt:lpstr>Arial Unicode MS</vt:lpstr>
      <vt:lpstr>Calibri Light</vt:lpstr>
      <vt:lpstr>Retrospect</vt:lpstr>
      <vt:lpstr>Abids. Hyderabad – 500 001</vt:lpstr>
      <vt:lpstr>PowerPoint 演示文稿</vt:lpstr>
      <vt:lpstr>Contents</vt:lpstr>
      <vt:lpstr>Abstract</vt:lpstr>
      <vt:lpstr>1. Problem Statement</vt:lpstr>
      <vt:lpstr>2. Background and Literature Review </vt:lpstr>
      <vt:lpstr>PowerPoint 演示文稿</vt:lpstr>
      <vt:lpstr>PowerPoint 演示文稿</vt:lpstr>
      <vt:lpstr>3. Planning and Design of Work </vt:lpstr>
      <vt:lpstr>                System Architecture</vt:lpstr>
      <vt:lpstr>PowerPoint 演示文稿</vt:lpstr>
      <vt:lpstr>4. Implementation and Execution</vt:lpstr>
      <vt:lpstr>PowerPoint 演示文稿</vt:lpstr>
      <vt:lpstr>PowerPoint 演示文稿</vt:lpstr>
      <vt:lpstr>PowerPoint 演示文稿</vt:lpstr>
      <vt:lpstr>5. Testing / Validation</vt:lpstr>
      <vt:lpstr>6. Results and Analysis</vt:lpstr>
      <vt:lpstr>PowerPoint 演示文稿</vt:lpstr>
      <vt:lpstr>PowerPoint 演示文稿</vt:lpstr>
      <vt:lpstr>7. Challenges and Solutions</vt:lpstr>
      <vt:lpstr>8. Conclusion and Future Scope</vt:lpstr>
      <vt:lpstr>References</vt:lpstr>
      <vt:lpstr>References</vt:lpstr>
      <vt:lpstr>Internship Completion Certificate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STANLEY COLLEGE OF ENGINEERING AND TECHNOLGY FOR WOMEN (AUTONOMOUS) , Abids. Hyderabad – 500 001</dc:title>
  <dc:creator>Microsoft account</dc:creator>
  <cp:lastModifiedBy>Sreeja.AReddy</cp:lastModifiedBy>
  <cp:revision>10</cp:revision>
  <dcterms:created xsi:type="dcterms:W3CDTF">2025-11-09T15:30:00Z</dcterms:created>
  <dcterms:modified xsi:type="dcterms:W3CDTF">2025-11-14T17:46:55Z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CA559729B5F74DC58EDF0991B56D2585_13</vt:lpwstr>
  </property>
  <property fmtid="{D5CDD505-2E9C-101B-9397-08002B2CF9AE}" pid="3" name="KSOProductBuildVer">
    <vt:lpwstr>1033-12.2.0.21931</vt:lpwstr>
  </property>
</Properties>
</file>