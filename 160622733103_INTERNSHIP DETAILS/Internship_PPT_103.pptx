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</p:sldIdLst>
  <p:sldSz cy="6858000" cx="12192000"/>
  <p:notesSz cx="6858000" cy="9144000"/>
  <p:embeddedFontLst>
    <p:embeddedFont>
      <p:font typeface="Lora"/>
      <p:regular r:id="rId35"/>
      <p:bold r:id="rId36"/>
      <p:italic r:id="rId37"/>
      <p:boldItalic r:id="rId38"/>
    </p:embeddedFont>
    <p:embeddedFont>
      <p:font typeface="Poppins Light"/>
      <p:regular r:id="rId39"/>
      <p:bold r:id="rId40"/>
      <p:italic r:id="rId41"/>
      <p:boldItalic r:id="rId42"/>
    </p:embeddedFont>
    <p:embeddedFont>
      <p:font typeface="Playfair Display Black"/>
      <p:bold r:id="rId43"/>
      <p:boldItalic r:id="rId4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45" roundtripDataSignature="AMtx7mhGxNDtVL7NJb1E/ZCGzmUunvipZ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E29EFD4-32B1-4B74-9AB9-EFE21AC81FB4}">
  <a:tblStyle styleId="{2E29EFD4-32B1-4B74-9AB9-EFE21AC81FB4}" styleName="Table_0">
    <a:wholeTbl>
      <a:tcTxStyle b="off" i="off">
        <a:font>
          <a:latin typeface="Poppins Light"/>
          <a:ea typeface="Poppins Light"/>
          <a:cs typeface="Poppins Light"/>
        </a:font>
        <a:schemeClr val="dk1"/>
      </a:tcTxStyle>
      <a:tcStyle>
        <a:tcBdr>
          <a:left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PoppinsLight-bold.fntdata"/><Relationship Id="rId42" Type="http://schemas.openxmlformats.org/officeDocument/2006/relationships/font" Target="fonts/PoppinsLight-boldItalic.fntdata"/><Relationship Id="rId41" Type="http://schemas.openxmlformats.org/officeDocument/2006/relationships/font" Target="fonts/PoppinsLight-italic.fntdata"/><Relationship Id="rId44" Type="http://schemas.openxmlformats.org/officeDocument/2006/relationships/font" Target="fonts/PlayfairDisplayBlack-boldItalic.fntdata"/><Relationship Id="rId43" Type="http://schemas.openxmlformats.org/officeDocument/2006/relationships/font" Target="fonts/PlayfairDisplayBlack-bold.fntdata"/><Relationship Id="rId45" Type="http://customschemas.google.com/relationships/presentationmetadata" Target="meta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font" Target="fonts/Lora-regular.fntdata"/><Relationship Id="rId34" Type="http://schemas.openxmlformats.org/officeDocument/2006/relationships/slide" Target="slides/slide29.xml"/><Relationship Id="rId37" Type="http://schemas.openxmlformats.org/officeDocument/2006/relationships/font" Target="fonts/Lora-italic.fntdata"/><Relationship Id="rId36" Type="http://schemas.openxmlformats.org/officeDocument/2006/relationships/font" Target="fonts/Lora-bold.fntdata"/><Relationship Id="rId39" Type="http://schemas.openxmlformats.org/officeDocument/2006/relationships/font" Target="fonts/PoppinsLight-regular.fntdata"/><Relationship Id="rId38" Type="http://schemas.openxmlformats.org/officeDocument/2006/relationships/font" Target="fonts/Lora-boldItalic.fntdata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Google Shape;416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3" name="Google Shape;433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" name="Google Shape;439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" name="Google Shape;444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9" name="Google Shape;449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4" name="Google Shape;454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5" name="Google Shape;465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2" name="Google Shape;472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8" name="Google Shape;478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3" name="Google Shape;483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9" name="Google Shape;489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5" name="Google Shape;495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0" name="Google Shape;500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0" name="Google Shape;510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5" name="Google Shape;515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0" name="Google Shape;520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5" name="Google Shape;525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1" name="Google Shape;531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6" name="Google Shape;536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0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2" name="Google Shape;542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6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8" name="Google Shape;548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4" name="Google Shape;554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8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0" name="Google Shape;560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6" name="Google Shape;566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jp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jp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jp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jp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jp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jp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jp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jp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1.jp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2.jp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jp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jp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jp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jp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jp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jp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jp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jp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Picture 6">
  <p:cSld name="Content with Picture 6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1"/>
          <p:cNvSpPr txBox="1"/>
          <p:nvPr>
            <p:ph type="title"/>
          </p:nvPr>
        </p:nvSpPr>
        <p:spPr>
          <a:xfrm>
            <a:off x="859536" y="907302"/>
            <a:ext cx="4361688" cy="13869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1"/>
          <p:cNvSpPr txBox="1"/>
          <p:nvPr>
            <p:ph idx="1" type="body"/>
          </p:nvPr>
        </p:nvSpPr>
        <p:spPr>
          <a:xfrm>
            <a:off x="859536" y="2438545"/>
            <a:ext cx="4366917" cy="35121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18" name="Google Shape;18;p31"/>
          <p:cNvPicPr preferRelativeResize="0"/>
          <p:nvPr>
            <p:ph idx="2" type="pic"/>
          </p:nvPr>
        </p:nvPicPr>
        <p:blipFill/>
        <p:spPr>
          <a:xfrm>
            <a:off x="5749422" y="333756"/>
            <a:ext cx="6086539" cy="6190488"/>
          </a:xfrm>
          <a:prstGeom prst="rect">
            <a:avLst/>
          </a:prstGeom>
          <a:blipFill rotWithShape="1">
            <a:blip r:embed="rId2">
              <a:alphaModFix amt="70000"/>
            </a:blip>
            <a:stretch>
              <a:fillRect b="0" l="0" r="0" t="0"/>
            </a:stretch>
          </a:blipFill>
          <a:ln>
            <a:noFill/>
          </a:ln>
        </p:spPr>
      </p:pic>
      <p:sp>
        <p:nvSpPr>
          <p:cNvPr id="19" name="Google Shape;19;p31"/>
          <p:cNvSpPr txBox="1"/>
          <p:nvPr>
            <p:ph idx="10" type="dt"/>
          </p:nvPr>
        </p:nvSpPr>
        <p:spPr>
          <a:xfrm>
            <a:off x="137160" y="6529916"/>
            <a:ext cx="2031073" cy="3280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1"/>
          <p:cNvSpPr txBox="1"/>
          <p:nvPr>
            <p:ph idx="11" type="ftr"/>
          </p:nvPr>
        </p:nvSpPr>
        <p:spPr>
          <a:xfrm>
            <a:off x="2168233" y="6529916"/>
            <a:ext cx="2805405" cy="3280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1"/>
          <p:cNvSpPr txBox="1"/>
          <p:nvPr>
            <p:ph idx="12" type="sldNum"/>
          </p:nvPr>
        </p:nvSpPr>
        <p:spPr>
          <a:xfrm>
            <a:off x="4923874" y="6529916"/>
            <a:ext cx="429207" cy="3280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indent="0" lvl="1" marL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2pPr>
            <a:lvl3pPr indent="0" lvl="2" marL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3pPr>
            <a:lvl4pPr indent="0" lvl="3" marL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4pPr>
            <a:lvl5pPr indent="0" lvl="4" marL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5pPr>
            <a:lvl6pPr indent="0" lvl="5" marL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indent="0" lvl="6" marL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indent="0" lvl="7" marL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indent="0" lvl="8" marL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" name="Google Shape;22;p31"/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fmla="val 3015" name="adj"/>
            </a:avLst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 Large 3">
  <p:cSld name="Number Large 3">
    <p:bg>
      <p:bgPr>
        <a:solidFill>
          <a:schemeClr val="lt1"/>
        </a:solidFill>
      </p:bgPr>
    </p:bg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32"/>
          <p:cNvSpPr txBox="1"/>
          <p:nvPr>
            <p:ph type="title"/>
          </p:nvPr>
        </p:nvSpPr>
        <p:spPr>
          <a:xfrm>
            <a:off x="2377440" y="4421770"/>
            <a:ext cx="7525512" cy="19333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 Light"/>
              <a:buNone/>
              <a:defRPr b="0" sz="2000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2"/>
          <p:cNvSpPr txBox="1"/>
          <p:nvPr>
            <p:ph idx="1" type="body"/>
          </p:nvPr>
        </p:nvSpPr>
        <p:spPr>
          <a:xfrm>
            <a:off x="822960" y="1353387"/>
            <a:ext cx="10543032" cy="327333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0"/>
              <a:buNone/>
              <a:defRPr b="0" sz="210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defRPr>
            </a:lvl1pPr>
            <a:lvl2pPr indent="-342900" lvl="1" marL="914400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" name="Google Shape;26;p32"/>
          <p:cNvSpPr txBox="1"/>
          <p:nvPr>
            <p:ph idx="10" type="dt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32"/>
          <p:cNvSpPr txBox="1"/>
          <p:nvPr>
            <p:ph idx="11" type="ftr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32"/>
          <p:cNvSpPr txBox="1"/>
          <p:nvPr>
            <p:ph idx="12" type="sldNum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9" name="Google Shape;29;p32"/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fmla="val 3015" name="adj"/>
            </a:avLst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tement">
  <p:cSld name="Statemen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33"/>
          <p:cNvSpPr txBox="1"/>
          <p:nvPr>
            <p:ph type="title"/>
          </p:nvPr>
        </p:nvSpPr>
        <p:spPr>
          <a:xfrm>
            <a:off x="612648" y="-1133856"/>
            <a:ext cx="10652760" cy="11338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33"/>
          <p:cNvSpPr txBox="1"/>
          <p:nvPr>
            <p:ph idx="1" type="body"/>
          </p:nvPr>
        </p:nvSpPr>
        <p:spPr>
          <a:xfrm>
            <a:off x="1463662" y="561268"/>
            <a:ext cx="9264676" cy="573546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6600"/>
              <a:buNone/>
              <a:defRPr b="0" sz="6600" cap="none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defRPr>
            </a:lvl1pPr>
            <a:lvl2pPr indent="-228600" lvl="1" marL="914400" algn="ctr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600"/>
              <a:buNone/>
              <a:defRPr b="0" sz="6600" cap="none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defRPr>
            </a:lvl2pPr>
            <a:lvl3pPr indent="-228600" lvl="2" marL="1371600" algn="ctr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600"/>
              <a:buNone/>
              <a:defRPr b="0" sz="6600" cap="none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defRPr>
            </a:lvl3pPr>
            <a:lvl4pPr indent="-228600" lvl="3" marL="182880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b="1" sz="8000" cap="none">
                <a:solidFill>
                  <a:schemeClr val="dk1"/>
                </a:solidFill>
                <a:latin typeface="Playfair Display Black"/>
                <a:ea typeface="Playfair Display Black"/>
                <a:cs typeface="Playfair Display Black"/>
                <a:sym typeface="Playfair Display Black"/>
              </a:defRPr>
            </a:lvl4pPr>
            <a:lvl5pPr indent="-228600" lvl="4" marL="228600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b="1" sz="8000" cap="none">
                <a:solidFill>
                  <a:schemeClr val="dk1"/>
                </a:solidFill>
                <a:latin typeface="Playfair Display Black"/>
                <a:ea typeface="Playfair Display Black"/>
                <a:cs typeface="Playfair Display Black"/>
                <a:sym typeface="Playfair Display Black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33"/>
          <p:cNvSpPr txBox="1"/>
          <p:nvPr>
            <p:ph idx="10" type="dt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33"/>
          <p:cNvSpPr txBox="1"/>
          <p:nvPr>
            <p:ph idx="11" type="ftr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33"/>
          <p:cNvSpPr txBox="1"/>
          <p:nvPr>
            <p:ph idx="12" type="sldNum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6" name="Google Shape;36;p33"/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fmla="val 3015" name="adj"/>
            </a:avLst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>
  <p:cSld name="Picture with Caption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Google Shape;38;p3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700064" y="557784"/>
            <a:ext cx="5914085" cy="5780110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34"/>
          <p:cNvSpPr txBox="1"/>
          <p:nvPr>
            <p:ph type="title"/>
          </p:nvPr>
        </p:nvSpPr>
        <p:spPr>
          <a:xfrm>
            <a:off x="612648" y="907302"/>
            <a:ext cx="4361688" cy="16496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34"/>
          <p:cNvSpPr txBox="1"/>
          <p:nvPr>
            <p:ph idx="1" type="body"/>
          </p:nvPr>
        </p:nvSpPr>
        <p:spPr>
          <a:xfrm>
            <a:off x="612648" y="2826137"/>
            <a:ext cx="4361688" cy="34346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pic>
        <p:nvPicPr>
          <p:cNvPr id="41" name="Google Shape;41;p34"/>
          <p:cNvPicPr preferRelativeResize="0"/>
          <p:nvPr>
            <p:ph idx="2" type="pic"/>
          </p:nvPr>
        </p:nvPicPr>
        <p:blipFill/>
        <p:spPr>
          <a:xfrm>
            <a:off x="6071625" y="862357"/>
            <a:ext cx="5170964" cy="5170964"/>
          </a:xfrm>
          <a:prstGeom prst="rect">
            <a:avLst/>
          </a:prstGeom>
          <a:blipFill rotWithShape="1">
            <a:blip r:embed="rId3">
              <a:alphaModFix amt="70000"/>
            </a:blip>
            <a:stretch>
              <a:fillRect b="0" l="0" r="0" t="0"/>
            </a:stretch>
          </a:blipFill>
          <a:ln>
            <a:noFill/>
          </a:ln>
        </p:spPr>
      </p:pic>
      <p:sp>
        <p:nvSpPr>
          <p:cNvPr id="42" name="Google Shape;42;p34"/>
          <p:cNvSpPr txBox="1"/>
          <p:nvPr>
            <p:ph idx="10" type="dt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34"/>
          <p:cNvSpPr txBox="1"/>
          <p:nvPr>
            <p:ph idx="11" type="ftr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34"/>
          <p:cNvSpPr txBox="1"/>
          <p:nvPr>
            <p:ph idx="12" type="sldNum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7" type="obj">
  <p:cSld name="OBJEC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35"/>
          <p:cNvSpPr txBox="1"/>
          <p:nvPr>
            <p:ph type="title"/>
          </p:nvPr>
        </p:nvSpPr>
        <p:spPr>
          <a:xfrm>
            <a:off x="860893" y="907303"/>
            <a:ext cx="10465073" cy="11322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Lora"/>
              <a:buNone/>
              <a:defRPr>
                <a:latin typeface="Lora"/>
                <a:ea typeface="Lora"/>
                <a:cs typeface="Lora"/>
                <a:sym typeface="L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35"/>
          <p:cNvSpPr txBox="1"/>
          <p:nvPr>
            <p:ph idx="1" type="body"/>
          </p:nvPr>
        </p:nvSpPr>
        <p:spPr>
          <a:xfrm>
            <a:off x="860893" y="2367643"/>
            <a:ext cx="10465073" cy="358305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8" name="Google Shape;48;p35"/>
          <p:cNvSpPr txBox="1"/>
          <p:nvPr>
            <p:ph idx="10" type="dt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35"/>
          <p:cNvSpPr txBox="1"/>
          <p:nvPr>
            <p:ph idx="11" type="ftr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35"/>
          <p:cNvSpPr txBox="1"/>
          <p:nvPr>
            <p:ph idx="12" type="sldNum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Quote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purple circle with black background&#10;&#10;AI-generated content may be incorrect." id="52" name="Google Shape;52;p36"/>
          <p:cNvPicPr preferRelativeResize="0"/>
          <p:nvPr/>
        </p:nvPicPr>
        <p:blipFill rotWithShape="1">
          <a:blip r:embed="rId2">
            <a:alphaModFix/>
          </a:blip>
          <a:srcRect b="0" l="0" r="0" t="6267"/>
          <a:stretch/>
        </p:blipFill>
        <p:spPr>
          <a:xfrm>
            <a:off x="492638" y="0"/>
            <a:ext cx="4471248" cy="4191000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36"/>
          <p:cNvSpPr txBox="1"/>
          <p:nvPr>
            <p:ph type="title"/>
          </p:nvPr>
        </p:nvSpPr>
        <p:spPr>
          <a:xfrm>
            <a:off x="2050322" y="5137616"/>
            <a:ext cx="8054173" cy="4663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 Light"/>
              <a:buNone/>
              <a:defRPr sz="1800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36"/>
          <p:cNvSpPr txBox="1"/>
          <p:nvPr>
            <p:ph idx="1" type="body"/>
          </p:nvPr>
        </p:nvSpPr>
        <p:spPr>
          <a:xfrm>
            <a:off x="1393371" y="1188720"/>
            <a:ext cx="8593017" cy="217496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None/>
              <a:defRPr sz="4500" cap="none">
                <a:latin typeface="Lora"/>
                <a:ea typeface="Lora"/>
                <a:cs typeface="Lora"/>
                <a:sym typeface="Lora"/>
              </a:defRPr>
            </a:lvl1pPr>
            <a:lvl2pPr indent="-342900" lvl="1" marL="914400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5" name="Google Shape;55;p36"/>
          <p:cNvSpPr txBox="1"/>
          <p:nvPr>
            <p:ph idx="10" type="dt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36"/>
          <p:cNvSpPr txBox="1"/>
          <p:nvPr>
            <p:ph idx="11" type="ftr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36"/>
          <p:cNvSpPr txBox="1"/>
          <p:nvPr>
            <p:ph idx="12" type="sldNum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58" name="Google Shape;58;p36"/>
          <p:cNvCxnSpPr/>
          <p:nvPr/>
        </p:nvCxnSpPr>
        <p:spPr>
          <a:xfrm>
            <a:off x="1551214" y="3477986"/>
            <a:ext cx="0" cy="1992085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with Picture 2">
  <p:cSld name="Title with Picture 2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37"/>
          <p:cNvSpPr txBox="1"/>
          <p:nvPr>
            <p:ph type="ctrTitle"/>
          </p:nvPr>
        </p:nvSpPr>
        <p:spPr>
          <a:xfrm>
            <a:off x="7103850" y="907302"/>
            <a:ext cx="4222117" cy="369748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Lora"/>
              <a:buNone/>
              <a:defRPr sz="5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37"/>
          <p:cNvSpPr txBox="1"/>
          <p:nvPr>
            <p:ph idx="1" type="subTitle"/>
          </p:nvPr>
        </p:nvSpPr>
        <p:spPr>
          <a:xfrm>
            <a:off x="7103850" y="4731335"/>
            <a:ext cx="4222117" cy="12193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1pPr>
            <a:lvl2pPr lvl="1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pic>
        <p:nvPicPr>
          <p:cNvPr id="62" name="Google Shape;62;p37"/>
          <p:cNvPicPr preferRelativeResize="0"/>
          <p:nvPr>
            <p:ph idx="2" type="pic"/>
          </p:nvPr>
        </p:nvPicPr>
        <p:blipFill/>
        <p:spPr>
          <a:xfrm>
            <a:off x="358140" y="333756"/>
            <a:ext cx="6226810" cy="6190488"/>
          </a:xfrm>
          <a:prstGeom prst="rect">
            <a:avLst/>
          </a:prstGeom>
          <a:blipFill rotWithShape="1">
            <a:blip r:embed="rId2">
              <a:alphaModFix amt="70000"/>
            </a:blip>
            <a:stretch>
              <a:fillRect b="0" l="0" r="0" t="0"/>
            </a:stretch>
          </a:blipFill>
          <a:ln>
            <a:noFill/>
          </a:ln>
        </p:spPr>
      </p:pic>
      <p:sp>
        <p:nvSpPr>
          <p:cNvPr id="63" name="Google Shape;63;p37"/>
          <p:cNvSpPr txBox="1"/>
          <p:nvPr>
            <p:ph idx="10" type="dt"/>
          </p:nvPr>
        </p:nvSpPr>
        <p:spPr>
          <a:xfrm>
            <a:off x="7168895" y="6529916"/>
            <a:ext cx="1707625" cy="3280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37"/>
          <p:cNvSpPr txBox="1"/>
          <p:nvPr>
            <p:ph idx="11" type="ftr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37"/>
          <p:cNvSpPr txBox="1"/>
          <p:nvPr>
            <p:ph idx="12" type="sldNum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6" name="Google Shape;66;p37"/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fmla="val 3015" name="adj"/>
            </a:avLst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with Picture">
  <p:cSld name="Title with Picture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38"/>
          <p:cNvSpPr txBox="1"/>
          <p:nvPr>
            <p:ph type="ctrTitle"/>
          </p:nvPr>
        </p:nvSpPr>
        <p:spPr>
          <a:xfrm>
            <a:off x="365760" y="5218032"/>
            <a:ext cx="11460480" cy="78638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Lora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38"/>
          <p:cNvSpPr txBox="1"/>
          <p:nvPr>
            <p:ph idx="1" type="subTitle"/>
          </p:nvPr>
        </p:nvSpPr>
        <p:spPr>
          <a:xfrm>
            <a:off x="365760" y="5972629"/>
            <a:ext cx="11460480" cy="4803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1pPr>
            <a:lvl2pPr lvl="1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pic>
        <p:nvPicPr>
          <p:cNvPr id="70" name="Google Shape;70;p38"/>
          <p:cNvPicPr preferRelativeResize="0"/>
          <p:nvPr>
            <p:ph idx="2" type="pic"/>
          </p:nvPr>
        </p:nvPicPr>
        <p:blipFill/>
        <p:spPr>
          <a:xfrm>
            <a:off x="0" y="0"/>
            <a:ext cx="12191999" cy="4986425"/>
          </a:xfrm>
          <a:prstGeom prst="rect">
            <a:avLst/>
          </a:prstGeom>
          <a:blipFill rotWithShape="1">
            <a:blip r:embed="rId2">
              <a:alphaModFix amt="70000"/>
            </a:blip>
            <a:stretch>
              <a:fillRect b="0" l="0" r="0" t="0"/>
            </a:stretch>
          </a:blipFill>
          <a:ln>
            <a:noFill/>
          </a:ln>
        </p:spPr>
      </p:pic>
      <p:sp>
        <p:nvSpPr>
          <p:cNvPr id="71" name="Google Shape;71;p38"/>
          <p:cNvSpPr txBox="1"/>
          <p:nvPr>
            <p:ph idx="10" type="dt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38"/>
          <p:cNvSpPr txBox="1"/>
          <p:nvPr>
            <p:ph idx="11" type="ftr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38"/>
          <p:cNvSpPr txBox="1"/>
          <p:nvPr>
            <p:ph idx="12" type="sldNum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">
  <p:cSld name="Conten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9"/>
          <p:cNvSpPr txBox="1"/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9"/>
          <p:cNvSpPr txBox="1"/>
          <p:nvPr>
            <p:ph idx="1" type="body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39"/>
          <p:cNvSpPr txBox="1"/>
          <p:nvPr>
            <p:ph idx="10" type="dt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39"/>
          <p:cNvSpPr txBox="1"/>
          <p:nvPr>
            <p:ph idx="11" type="ftr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39"/>
          <p:cNvSpPr txBox="1"/>
          <p:nvPr>
            <p:ph idx="12" type="sldNum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0" name="Google Shape;80;p39"/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fmla="val 3015" name="adj"/>
            </a:avLst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with Picture 3">
  <p:cSld name="Title with Picture 3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40"/>
          <p:cNvSpPr txBox="1"/>
          <p:nvPr>
            <p:ph type="ctrTitle"/>
          </p:nvPr>
        </p:nvSpPr>
        <p:spPr>
          <a:xfrm>
            <a:off x="859537" y="905256"/>
            <a:ext cx="4206240" cy="37398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Lora"/>
              <a:buNone/>
              <a:defRPr sz="5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40"/>
          <p:cNvSpPr txBox="1"/>
          <p:nvPr>
            <p:ph idx="1" type="subTitle"/>
          </p:nvPr>
        </p:nvSpPr>
        <p:spPr>
          <a:xfrm>
            <a:off x="859536" y="4873752"/>
            <a:ext cx="4206240" cy="138074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1pPr>
            <a:lvl2pPr lvl="1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pic>
        <p:nvPicPr>
          <p:cNvPr id="84" name="Google Shape;84;p40"/>
          <p:cNvPicPr preferRelativeResize="0"/>
          <p:nvPr>
            <p:ph idx="2" type="pic"/>
          </p:nvPr>
        </p:nvPicPr>
        <p:blipFill/>
        <p:spPr>
          <a:xfrm>
            <a:off x="5596128" y="333756"/>
            <a:ext cx="6237732" cy="6190488"/>
          </a:xfrm>
          <a:prstGeom prst="rect">
            <a:avLst/>
          </a:prstGeom>
          <a:blipFill rotWithShape="1">
            <a:blip r:embed="rId2">
              <a:alphaModFix amt="70000"/>
            </a:blip>
            <a:stretch>
              <a:fillRect b="0" l="0" r="0" t="0"/>
            </a:stretch>
          </a:blipFill>
          <a:ln>
            <a:noFill/>
          </a:ln>
        </p:spPr>
      </p:pic>
      <p:sp>
        <p:nvSpPr>
          <p:cNvPr id="85" name="Google Shape;85;p40"/>
          <p:cNvSpPr txBox="1"/>
          <p:nvPr>
            <p:ph idx="10" type="dt"/>
          </p:nvPr>
        </p:nvSpPr>
        <p:spPr>
          <a:xfrm>
            <a:off x="347133" y="6529916"/>
            <a:ext cx="1951777" cy="3280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40"/>
          <p:cNvSpPr txBox="1"/>
          <p:nvPr>
            <p:ph idx="11" type="ftr"/>
          </p:nvPr>
        </p:nvSpPr>
        <p:spPr>
          <a:xfrm>
            <a:off x="1880928" y="6529916"/>
            <a:ext cx="2805405" cy="3280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40"/>
          <p:cNvSpPr txBox="1"/>
          <p:nvPr>
            <p:ph idx="12" type="sldNum"/>
          </p:nvPr>
        </p:nvSpPr>
        <p:spPr>
          <a:xfrm>
            <a:off x="4636569" y="6529916"/>
            <a:ext cx="429207" cy="3280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8" name="Google Shape;88;p40"/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fmla="val 3015" name="adj"/>
            </a:avLst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" type="title">
  <p:cSld name="TITLE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purple circle with black background&#10;&#10;AI-generated content may be incorrect." id="90" name="Google Shape;90;p41"/>
          <p:cNvPicPr preferRelativeResize="0"/>
          <p:nvPr/>
        </p:nvPicPr>
        <p:blipFill rotWithShape="1">
          <a:blip r:embed="rId2">
            <a:alphaModFix/>
          </a:blip>
          <a:srcRect b="0" l="0" r="0" t="11857"/>
          <a:stretch/>
        </p:blipFill>
        <p:spPr>
          <a:xfrm>
            <a:off x="398705" y="0"/>
            <a:ext cx="5697291" cy="5021774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41"/>
          <p:cNvSpPr txBox="1"/>
          <p:nvPr>
            <p:ph type="ctrTitle"/>
          </p:nvPr>
        </p:nvSpPr>
        <p:spPr>
          <a:xfrm>
            <a:off x="521208" y="548642"/>
            <a:ext cx="7478991" cy="363579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0"/>
              <a:buFont typeface="Lora"/>
              <a:buNone/>
              <a:defRPr sz="7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41"/>
          <p:cNvSpPr txBox="1"/>
          <p:nvPr>
            <p:ph idx="1" type="subTitle"/>
          </p:nvPr>
        </p:nvSpPr>
        <p:spPr>
          <a:xfrm>
            <a:off x="1179017" y="4349578"/>
            <a:ext cx="6821182" cy="138472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200"/>
            </a:lvl1pPr>
            <a:lvl2pPr lvl="1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93" name="Google Shape;93;p41"/>
          <p:cNvSpPr txBox="1"/>
          <p:nvPr>
            <p:ph idx="10" type="dt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41"/>
          <p:cNvSpPr txBox="1"/>
          <p:nvPr>
            <p:ph idx="11" type="ftr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41"/>
          <p:cNvSpPr txBox="1"/>
          <p:nvPr>
            <p:ph idx="12" type="sldNum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96" name="Google Shape;96;p41"/>
          <p:cNvCxnSpPr/>
          <p:nvPr/>
        </p:nvCxnSpPr>
        <p:spPr>
          <a:xfrm>
            <a:off x="637839" y="4236969"/>
            <a:ext cx="0" cy="1384725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2">
  <p:cSld name="Title 2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purple circle with black background&#10;&#10;AI-generated content may be incorrect." id="98" name="Google Shape;98;p42"/>
          <p:cNvPicPr preferRelativeResize="0"/>
          <p:nvPr/>
        </p:nvPicPr>
        <p:blipFill rotWithShape="1">
          <a:blip r:embed="rId2">
            <a:alphaModFix/>
          </a:blip>
          <a:srcRect b="47295" l="0" r="6568" t="0"/>
          <a:stretch/>
        </p:blipFill>
        <p:spPr>
          <a:xfrm>
            <a:off x="3701142" y="2068286"/>
            <a:ext cx="8490855" cy="4789714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42"/>
          <p:cNvSpPr txBox="1"/>
          <p:nvPr>
            <p:ph type="ctrTitle"/>
          </p:nvPr>
        </p:nvSpPr>
        <p:spPr>
          <a:xfrm>
            <a:off x="618008" y="854239"/>
            <a:ext cx="7876287" cy="359262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Lora"/>
              <a:buNone/>
              <a:defRPr sz="7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42"/>
          <p:cNvSpPr txBox="1"/>
          <p:nvPr>
            <p:ph idx="1" type="subTitle"/>
          </p:nvPr>
        </p:nvSpPr>
        <p:spPr>
          <a:xfrm>
            <a:off x="1180323" y="4617138"/>
            <a:ext cx="6853511" cy="101498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1pPr>
            <a:lvl2pPr lvl="1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01" name="Google Shape;101;p42"/>
          <p:cNvSpPr txBox="1"/>
          <p:nvPr>
            <p:ph idx="10" type="dt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42"/>
          <p:cNvSpPr txBox="1"/>
          <p:nvPr>
            <p:ph idx="11" type="ftr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p42"/>
          <p:cNvSpPr txBox="1"/>
          <p:nvPr>
            <p:ph idx="12" type="sldNum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04" name="Google Shape;104;p42"/>
          <p:cNvCxnSpPr/>
          <p:nvPr/>
        </p:nvCxnSpPr>
        <p:spPr>
          <a:xfrm>
            <a:off x="755780" y="4492300"/>
            <a:ext cx="0" cy="1129394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3">
  <p:cSld name="Title 3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Google Shape;106;p4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572615" y="905615"/>
            <a:ext cx="5046770" cy="504677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43"/>
          <p:cNvSpPr txBox="1"/>
          <p:nvPr>
            <p:ph type="ctrTitle"/>
          </p:nvPr>
        </p:nvSpPr>
        <p:spPr>
          <a:xfrm>
            <a:off x="1353888" y="1427162"/>
            <a:ext cx="9484224" cy="262115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Lora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43"/>
          <p:cNvSpPr txBox="1"/>
          <p:nvPr>
            <p:ph idx="1" type="subTitle"/>
          </p:nvPr>
        </p:nvSpPr>
        <p:spPr>
          <a:xfrm>
            <a:off x="2301923" y="4148507"/>
            <a:ext cx="7588155" cy="14140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200"/>
            </a:lvl1pPr>
            <a:lvl2pPr lvl="1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09" name="Google Shape;109;p43"/>
          <p:cNvSpPr txBox="1"/>
          <p:nvPr>
            <p:ph idx="10" type="dt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43"/>
          <p:cNvSpPr txBox="1"/>
          <p:nvPr>
            <p:ph idx="11" type="ftr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43"/>
          <p:cNvSpPr txBox="1"/>
          <p:nvPr>
            <p:ph idx="12" type="sldNum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4">
  <p:cSld name="Title 4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Google Shape;113;p4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14425" y="1198517"/>
            <a:ext cx="4438650" cy="443865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44"/>
          <p:cNvSpPr txBox="1"/>
          <p:nvPr>
            <p:ph type="title"/>
          </p:nvPr>
        </p:nvSpPr>
        <p:spPr>
          <a:xfrm>
            <a:off x="1930708" y="2801929"/>
            <a:ext cx="8686801" cy="256590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Lora"/>
              <a:buNone/>
              <a:defRPr sz="6600">
                <a:latin typeface="Lora"/>
                <a:ea typeface="Lora"/>
                <a:cs typeface="Lora"/>
                <a:sym typeface="L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p44"/>
          <p:cNvSpPr txBox="1"/>
          <p:nvPr>
            <p:ph idx="1" type="body"/>
          </p:nvPr>
        </p:nvSpPr>
        <p:spPr>
          <a:xfrm>
            <a:off x="1346090" y="1726269"/>
            <a:ext cx="3024899" cy="5479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4pPr>
            <a:lvl5pPr indent="-228600" lvl="4" marL="2286000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6" name="Google Shape;116;p44"/>
          <p:cNvSpPr txBox="1"/>
          <p:nvPr>
            <p:ph idx="10" type="dt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44"/>
          <p:cNvSpPr txBox="1"/>
          <p:nvPr>
            <p:ph idx="11" type="ftr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p44"/>
          <p:cNvSpPr txBox="1"/>
          <p:nvPr>
            <p:ph idx="12" type="sldNum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19" name="Google Shape;119;p44"/>
          <p:cNvCxnSpPr/>
          <p:nvPr/>
        </p:nvCxnSpPr>
        <p:spPr>
          <a:xfrm>
            <a:off x="1450428" y="2522483"/>
            <a:ext cx="0" cy="2624958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bg>
      <p:bgPr>
        <a:solidFill>
          <a:schemeClr val="lt1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purple circle with black background&#10;&#10;AI-generated content may be incorrect." id="121" name="Google Shape;121;p45"/>
          <p:cNvPicPr preferRelativeResize="0"/>
          <p:nvPr/>
        </p:nvPicPr>
        <p:blipFill rotWithShape="1">
          <a:blip r:embed="rId2">
            <a:alphaModFix/>
          </a:blip>
          <a:srcRect b="11501" l="0" r="0" t="0"/>
          <a:stretch/>
        </p:blipFill>
        <p:spPr>
          <a:xfrm>
            <a:off x="421566" y="1836225"/>
            <a:ext cx="5674434" cy="5021775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45"/>
          <p:cNvSpPr txBox="1"/>
          <p:nvPr>
            <p:ph type="ctrTitle"/>
          </p:nvPr>
        </p:nvSpPr>
        <p:spPr>
          <a:xfrm>
            <a:off x="1450428" y="990601"/>
            <a:ext cx="9145991" cy="363038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0"/>
              <a:buFont typeface="Lora"/>
              <a:buNone/>
              <a:defRPr sz="65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45"/>
          <p:cNvSpPr txBox="1"/>
          <p:nvPr>
            <p:ph idx="10" type="dt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4" name="Google Shape;124;p45"/>
          <p:cNvSpPr txBox="1"/>
          <p:nvPr>
            <p:ph idx="11" type="ftr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5" name="Google Shape;125;p45"/>
          <p:cNvSpPr txBox="1"/>
          <p:nvPr>
            <p:ph idx="12" type="sldNum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9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indent="0" lvl="1" marL="0" algn="r">
              <a:spcBef>
                <a:spcPts val="0"/>
              </a:spcBef>
              <a:buNone/>
              <a:defRPr sz="9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2pPr>
            <a:lvl3pPr indent="0" lvl="2" marL="0" algn="r">
              <a:spcBef>
                <a:spcPts val="0"/>
              </a:spcBef>
              <a:buNone/>
              <a:defRPr sz="9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3pPr>
            <a:lvl4pPr indent="0" lvl="3" marL="0" algn="r">
              <a:spcBef>
                <a:spcPts val="0"/>
              </a:spcBef>
              <a:buNone/>
              <a:defRPr sz="9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4pPr>
            <a:lvl5pPr indent="0" lvl="4" marL="0" algn="r">
              <a:spcBef>
                <a:spcPts val="0"/>
              </a:spcBef>
              <a:buNone/>
              <a:defRPr sz="9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5pPr>
            <a:lvl6pPr indent="0" lvl="5" marL="0" algn="r">
              <a:spcBef>
                <a:spcPts val="0"/>
              </a:spcBef>
              <a:buNone/>
              <a:defRPr sz="9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indent="0" lvl="6" marL="0" algn="r">
              <a:spcBef>
                <a:spcPts val="0"/>
              </a:spcBef>
              <a:buNone/>
              <a:defRPr sz="9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indent="0" lvl="7" marL="0" algn="r">
              <a:spcBef>
                <a:spcPts val="0"/>
              </a:spcBef>
              <a:buNone/>
              <a:defRPr sz="9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indent="0" lvl="8" marL="0" algn="r">
              <a:spcBef>
                <a:spcPts val="0"/>
              </a:spcBef>
              <a:buNone/>
              <a:defRPr sz="9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2">
  <p:cSld name="Section Header 2">
    <p:bg>
      <p:bgPr>
        <a:solidFill>
          <a:schemeClr val="lt1"/>
        </a:solid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purple circle with black background&#10;&#10;AI-generated content may be incorrect." id="127" name="Google Shape;127;p46"/>
          <p:cNvPicPr preferRelativeResize="0"/>
          <p:nvPr/>
        </p:nvPicPr>
        <p:blipFill rotWithShape="1">
          <a:blip r:embed="rId2">
            <a:alphaModFix/>
          </a:blip>
          <a:srcRect b="16684" l="12178" r="0" t="0"/>
          <a:stretch/>
        </p:blipFill>
        <p:spPr>
          <a:xfrm>
            <a:off x="0" y="2754087"/>
            <a:ext cx="4325917" cy="4103914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46"/>
          <p:cNvSpPr txBox="1"/>
          <p:nvPr>
            <p:ph type="ctrTitle"/>
          </p:nvPr>
        </p:nvSpPr>
        <p:spPr>
          <a:xfrm>
            <a:off x="1450428" y="990601"/>
            <a:ext cx="9145991" cy="363038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0"/>
              <a:buFont typeface="Lora"/>
              <a:buNone/>
              <a:defRPr sz="65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9" name="Google Shape;129;p46"/>
          <p:cNvSpPr txBox="1"/>
          <p:nvPr>
            <p:ph idx="10" type="dt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0" name="Google Shape;130;p46"/>
          <p:cNvSpPr txBox="1"/>
          <p:nvPr>
            <p:ph idx="11" type="ftr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p46"/>
          <p:cNvSpPr txBox="1"/>
          <p:nvPr>
            <p:ph idx="12" type="sldNum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purple circle with black background&#10;&#10;AI-generated content may be incorrect." id="133" name="Google Shape;133;p47"/>
          <p:cNvPicPr preferRelativeResize="0"/>
          <p:nvPr/>
        </p:nvPicPr>
        <p:blipFill rotWithShape="1">
          <a:blip r:embed="rId2">
            <a:alphaModFix/>
          </a:blip>
          <a:srcRect b="19272" l="0" r="14905" t="0"/>
          <a:stretch/>
        </p:blipFill>
        <p:spPr>
          <a:xfrm>
            <a:off x="7866083" y="2754085"/>
            <a:ext cx="4325917" cy="4103915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47"/>
          <p:cNvSpPr txBox="1"/>
          <p:nvPr>
            <p:ph type="title"/>
          </p:nvPr>
        </p:nvSpPr>
        <p:spPr>
          <a:xfrm>
            <a:off x="612647" y="664108"/>
            <a:ext cx="8467558" cy="15544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Lora"/>
              <a:buNone/>
              <a:defRPr sz="4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47"/>
          <p:cNvSpPr txBox="1"/>
          <p:nvPr>
            <p:ph idx="1" type="body"/>
          </p:nvPr>
        </p:nvSpPr>
        <p:spPr>
          <a:xfrm>
            <a:off x="612647" y="2333860"/>
            <a:ext cx="8467558" cy="36899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ora"/>
              <a:buAutoNum type="arabicPeriod"/>
              <a:defRPr sz="2400"/>
            </a:lvl1pPr>
            <a:lvl2pPr indent="-355600" lvl="1" marL="914400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ora"/>
              <a:buAutoNum type="arabicPeriod"/>
              <a:defRPr sz="2000"/>
            </a:lvl2pPr>
            <a:lvl3pPr indent="-342900" lvl="2" marL="1371600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ora"/>
              <a:buAutoNum type="arabicPeriod"/>
              <a:defRPr sz="1800"/>
            </a:lvl3pPr>
            <a:lvl4pPr indent="-330200" lvl="3" marL="1828800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ora"/>
              <a:buAutoNum type="arabicPeriod"/>
              <a:defRPr sz="1600"/>
            </a:lvl4pPr>
            <a:lvl5pPr indent="-317500" lvl="4" marL="2286000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ora"/>
              <a:buAutoNum type="arabicPeriod"/>
              <a:defRPr sz="14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6" name="Google Shape;136;p47"/>
          <p:cNvSpPr txBox="1"/>
          <p:nvPr>
            <p:ph idx="10" type="dt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7" name="Google Shape;137;p47"/>
          <p:cNvSpPr txBox="1"/>
          <p:nvPr>
            <p:ph idx="11" type="ftr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p47"/>
          <p:cNvSpPr txBox="1"/>
          <p:nvPr>
            <p:ph idx="12" type="sldNum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with Picture">
  <p:cSld name="Agenda with Picture"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48"/>
          <p:cNvSpPr txBox="1"/>
          <p:nvPr>
            <p:ph type="title"/>
          </p:nvPr>
        </p:nvSpPr>
        <p:spPr>
          <a:xfrm>
            <a:off x="6614901" y="907302"/>
            <a:ext cx="4700219" cy="180846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Lora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41" name="Google Shape;141;p48"/>
          <p:cNvPicPr preferRelativeResize="0"/>
          <p:nvPr>
            <p:ph idx="2" type="pic"/>
          </p:nvPr>
        </p:nvPicPr>
        <p:blipFill/>
        <p:spPr>
          <a:xfrm>
            <a:off x="358140" y="333756"/>
            <a:ext cx="5740908" cy="6190488"/>
          </a:xfrm>
          <a:prstGeom prst="rect">
            <a:avLst/>
          </a:prstGeom>
          <a:blipFill rotWithShape="1">
            <a:blip r:embed="rId2">
              <a:alphaModFix amt="70000"/>
            </a:blip>
            <a:stretch>
              <a:fillRect b="0" l="0" r="0" t="0"/>
            </a:stretch>
          </a:blipFill>
          <a:ln>
            <a:noFill/>
          </a:ln>
        </p:spPr>
      </p:pic>
      <p:sp>
        <p:nvSpPr>
          <p:cNvPr id="142" name="Google Shape;142;p48"/>
          <p:cNvSpPr txBox="1"/>
          <p:nvPr>
            <p:ph idx="1" type="body"/>
          </p:nvPr>
        </p:nvSpPr>
        <p:spPr>
          <a:xfrm>
            <a:off x="6614901" y="2825496"/>
            <a:ext cx="4700219" cy="31252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algn="l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ora"/>
              <a:buAutoNum type="arabicPeriod"/>
              <a:defRPr sz="2000"/>
            </a:lvl1pPr>
            <a:lvl2pPr indent="-342900" lvl="1" marL="914400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ora"/>
              <a:buAutoNum type="arabicPeriod"/>
              <a:defRPr sz="1800"/>
            </a:lvl2pPr>
            <a:lvl3pPr indent="-330200" lvl="2" marL="1371600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ora"/>
              <a:buAutoNum type="arabicPeriod"/>
              <a:defRPr sz="1600"/>
            </a:lvl3pPr>
            <a:lvl4pPr indent="-317500" lvl="3" marL="1828800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ora"/>
              <a:buAutoNum type="arabicPeriod"/>
              <a:defRPr sz="1400"/>
            </a:lvl4pPr>
            <a:lvl5pPr indent="-304800" lvl="4" marL="2286000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ora"/>
              <a:buAutoNum type="arabicPeriod"/>
              <a:defRPr sz="12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3" name="Google Shape;143;p48"/>
          <p:cNvSpPr txBox="1"/>
          <p:nvPr>
            <p:ph idx="10" type="dt"/>
          </p:nvPr>
        </p:nvSpPr>
        <p:spPr>
          <a:xfrm>
            <a:off x="7253745" y="6529914"/>
            <a:ext cx="1622776" cy="32808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4" name="Google Shape;144;p48"/>
          <p:cNvSpPr txBox="1"/>
          <p:nvPr>
            <p:ph idx="11" type="ftr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5" name="Google Shape;145;p48"/>
          <p:cNvSpPr txBox="1"/>
          <p:nvPr>
            <p:ph idx="12" type="sldNum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6" name="Google Shape;146;p48"/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fmla="val 3015" name="adj"/>
            </a:avLst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2">
  <p:cSld name="Content 2"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49"/>
          <p:cNvSpPr txBox="1"/>
          <p:nvPr>
            <p:ph type="title"/>
          </p:nvPr>
        </p:nvSpPr>
        <p:spPr>
          <a:xfrm>
            <a:off x="1028347" y="2385975"/>
            <a:ext cx="4325112" cy="24547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Lora"/>
              <a:buNone/>
              <a:defRPr sz="4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9" name="Google Shape;149;p49"/>
          <p:cNvSpPr txBox="1"/>
          <p:nvPr>
            <p:ph idx="1" type="body"/>
          </p:nvPr>
        </p:nvSpPr>
        <p:spPr>
          <a:xfrm>
            <a:off x="6273800" y="2386584"/>
            <a:ext cx="4325112" cy="24597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indent="-228600" lvl="1" marL="914400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2pPr>
            <a:lvl3pPr indent="-228600" lvl="2" marL="1371600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3pPr>
            <a:lvl4pPr indent="-228600" lvl="3" marL="1828800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/>
            </a:lvl4pPr>
            <a:lvl5pPr indent="-228600" lvl="4" marL="2286000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0" name="Google Shape;150;p49"/>
          <p:cNvSpPr txBox="1"/>
          <p:nvPr>
            <p:ph idx="10" type="dt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1" name="Google Shape;151;p49"/>
          <p:cNvSpPr txBox="1"/>
          <p:nvPr>
            <p:ph idx="11" type="ftr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2" name="Google Shape;152;p49"/>
          <p:cNvSpPr txBox="1"/>
          <p:nvPr>
            <p:ph idx="12" type="sldNum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3">
  <p:cSld name="Content 3"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50"/>
          <p:cNvSpPr txBox="1"/>
          <p:nvPr>
            <p:ph type="title"/>
          </p:nvPr>
        </p:nvSpPr>
        <p:spPr>
          <a:xfrm>
            <a:off x="1028347" y="2258568"/>
            <a:ext cx="3813048" cy="35570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Lora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5" name="Google Shape;155;p50"/>
          <p:cNvSpPr txBox="1"/>
          <p:nvPr>
            <p:ph idx="1" type="body"/>
          </p:nvPr>
        </p:nvSpPr>
        <p:spPr>
          <a:xfrm>
            <a:off x="5519738" y="2254250"/>
            <a:ext cx="4956175" cy="355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6" name="Google Shape;156;p50"/>
          <p:cNvSpPr txBox="1"/>
          <p:nvPr>
            <p:ph idx="10" type="dt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7" name="Google Shape;157;p50"/>
          <p:cNvSpPr txBox="1"/>
          <p:nvPr>
            <p:ph idx="11" type="ftr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8" name="Google Shape;158;p50"/>
          <p:cNvSpPr txBox="1"/>
          <p:nvPr>
            <p:ph idx="12" type="sldNum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4">
  <p:cSld name="Content 4"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51"/>
          <p:cNvSpPr txBox="1"/>
          <p:nvPr>
            <p:ph type="title"/>
          </p:nvPr>
        </p:nvSpPr>
        <p:spPr>
          <a:xfrm>
            <a:off x="614678" y="1537853"/>
            <a:ext cx="4145582" cy="46388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Lora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1" name="Google Shape;161;p51"/>
          <p:cNvSpPr txBox="1"/>
          <p:nvPr>
            <p:ph idx="1" type="body"/>
          </p:nvPr>
        </p:nvSpPr>
        <p:spPr>
          <a:xfrm>
            <a:off x="5519738" y="1538288"/>
            <a:ext cx="5681662" cy="48180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2" name="Google Shape;162;p51"/>
          <p:cNvSpPr txBox="1"/>
          <p:nvPr>
            <p:ph idx="10" type="dt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3" name="Google Shape;163;p51"/>
          <p:cNvSpPr txBox="1"/>
          <p:nvPr>
            <p:ph idx="11" type="ftr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4" name="Google Shape;164;p51"/>
          <p:cNvSpPr txBox="1"/>
          <p:nvPr>
            <p:ph idx="12" type="sldNum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5">
  <p:cSld name="Content 5"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52"/>
          <p:cNvSpPr txBox="1"/>
          <p:nvPr>
            <p:ph type="title"/>
          </p:nvPr>
        </p:nvSpPr>
        <p:spPr>
          <a:xfrm>
            <a:off x="614677" y="877456"/>
            <a:ext cx="4142232" cy="49406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Lora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7" name="Google Shape;167;p52"/>
          <p:cNvSpPr txBox="1"/>
          <p:nvPr>
            <p:ph idx="1" type="body"/>
          </p:nvPr>
        </p:nvSpPr>
        <p:spPr>
          <a:xfrm>
            <a:off x="5522913" y="877456"/>
            <a:ext cx="6159500" cy="53908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8" name="Google Shape;168;p52"/>
          <p:cNvSpPr txBox="1"/>
          <p:nvPr>
            <p:ph idx="10" type="dt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9" name="Google Shape;169;p52"/>
          <p:cNvSpPr txBox="1"/>
          <p:nvPr>
            <p:ph idx="11" type="ftr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0" name="Google Shape;170;p52"/>
          <p:cNvSpPr txBox="1"/>
          <p:nvPr>
            <p:ph idx="12" type="sldNum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6">
  <p:cSld name="Content 6"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53"/>
          <p:cNvSpPr txBox="1"/>
          <p:nvPr>
            <p:ph type="title"/>
          </p:nvPr>
        </p:nvSpPr>
        <p:spPr>
          <a:xfrm>
            <a:off x="372533" y="548639"/>
            <a:ext cx="3494314" cy="57196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Lora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3" name="Google Shape;173;p53"/>
          <p:cNvSpPr txBox="1"/>
          <p:nvPr>
            <p:ph idx="1" type="body"/>
          </p:nvPr>
        </p:nvSpPr>
        <p:spPr>
          <a:xfrm>
            <a:off x="4504268" y="549274"/>
            <a:ext cx="7315200" cy="5806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4" name="Google Shape;174;p53"/>
          <p:cNvSpPr txBox="1"/>
          <p:nvPr>
            <p:ph idx="10" type="dt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5" name="Google Shape;175;p53"/>
          <p:cNvSpPr txBox="1"/>
          <p:nvPr>
            <p:ph idx="11" type="ftr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6" name="Google Shape;176;p53"/>
          <p:cNvSpPr txBox="1"/>
          <p:nvPr>
            <p:ph idx="12" type="sldNum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Picture">
  <p:cSld name="Content with Picture"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54"/>
          <p:cNvSpPr txBox="1"/>
          <p:nvPr>
            <p:ph type="title"/>
          </p:nvPr>
        </p:nvSpPr>
        <p:spPr>
          <a:xfrm>
            <a:off x="5321705" y="927238"/>
            <a:ext cx="6024894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79" name="Google Shape;179;p54"/>
          <p:cNvPicPr preferRelativeResize="0"/>
          <p:nvPr>
            <p:ph idx="2" type="pic"/>
          </p:nvPr>
        </p:nvPicPr>
        <p:blipFill/>
        <p:spPr>
          <a:xfrm>
            <a:off x="358140" y="333756"/>
            <a:ext cx="4435746" cy="6190488"/>
          </a:xfrm>
          <a:prstGeom prst="rect">
            <a:avLst/>
          </a:prstGeom>
          <a:blipFill rotWithShape="1">
            <a:blip r:embed="rId2">
              <a:alphaModFix amt="70000"/>
            </a:blip>
            <a:stretch>
              <a:fillRect b="0" l="0" r="0" t="0"/>
            </a:stretch>
          </a:blipFill>
          <a:ln>
            <a:noFill/>
          </a:ln>
        </p:spPr>
      </p:pic>
      <p:sp>
        <p:nvSpPr>
          <p:cNvPr id="180" name="Google Shape;180;p54"/>
          <p:cNvSpPr txBox="1"/>
          <p:nvPr>
            <p:ph idx="1" type="body"/>
          </p:nvPr>
        </p:nvSpPr>
        <p:spPr>
          <a:xfrm>
            <a:off x="5321704" y="2204566"/>
            <a:ext cx="6004263" cy="37660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1" name="Google Shape;181;p54"/>
          <p:cNvSpPr txBox="1"/>
          <p:nvPr>
            <p:ph idx="10" type="dt"/>
          </p:nvPr>
        </p:nvSpPr>
        <p:spPr>
          <a:xfrm>
            <a:off x="5321704" y="6529914"/>
            <a:ext cx="3554817" cy="32808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2" name="Google Shape;182;p54"/>
          <p:cNvSpPr txBox="1"/>
          <p:nvPr>
            <p:ph idx="11" type="ftr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3" name="Google Shape;183;p54"/>
          <p:cNvSpPr txBox="1"/>
          <p:nvPr>
            <p:ph idx="12" type="sldNum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4" name="Google Shape;184;p54"/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fmla="val 3015" name="adj"/>
            </a:avLst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Picture 2">
  <p:cSld name="Content with Picture 2"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55"/>
          <p:cNvSpPr txBox="1"/>
          <p:nvPr>
            <p:ph type="title"/>
          </p:nvPr>
        </p:nvSpPr>
        <p:spPr>
          <a:xfrm>
            <a:off x="859536" y="905256"/>
            <a:ext cx="6037236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7" name="Google Shape;187;p55"/>
          <p:cNvSpPr txBox="1"/>
          <p:nvPr>
            <p:ph idx="1" type="body"/>
          </p:nvPr>
        </p:nvSpPr>
        <p:spPr>
          <a:xfrm>
            <a:off x="859536" y="2202135"/>
            <a:ext cx="6037365" cy="37485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188" name="Google Shape;188;p55"/>
          <p:cNvPicPr preferRelativeResize="0"/>
          <p:nvPr>
            <p:ph idx="2" type="pic"/>
          </p:nvPr>
        </p:nvPicPr>
        <p:blipFill/>
        <p:spPr>
          <a:xfrm>
            <a:off x="7400544" y="333756"/>
            <a:ext cx="4433316" cy="6190488"/>
          </a:xfrm>
          <a:prstGeom prst="rect">
            <a:avLst/>
          </a:prstGeom>
          <a:blipFill rotWithShape="1">
            <a:blip r:embed="rId2">
              <a:alphaModFix amt="70000"/>
            </a:blip>
            <a:stretch>
              <a:fillRect b="0" l="0" r="0" t="0"/>
            </a:stretch>
          </a:blipFill>
          <a:ln>
            <a:noFill/>
          </a:ln>
        </p:spPr>
      </p:pic>
      <p:sp>
        <p:nvSpPr>
          <p:cNvPr id="189" name="Google Shape;189;p55"/>
          <p:cNvSpPr txBox="1"/>
          <p:nvPr>
            <p:ph idx="10" type="dt"/>
          </p:nvPr>
        </p:nvSpPr>
        <p:spPr>
          <a:xfrm>
            <a:off x="347132" y="6529916"/>
            <a:ext cx="3284341" cy="32808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0" name="Google Shape;190;p55"/>
          <p:cNvSpPr txBox="1"/>
          <p:nvPr>
            <p:ph idx="11" type="ftr"/>
          </p:nvPr>
        </p:nvSpPr>
        <p:spPr>
          <a:xfrm>
            <a:off x="3950591" y="6529916"/>
            <a:ext cx="2805405" cy="3280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1" name="Google Shape;191;p55"/>
          <p:cNvSpPr txBox="1"/>
          <p:nvPr>
            <p:ph idx="12" type="sldNum"/>
          </p:nvPr>
        </p:nvSpPr>
        <p:spPr>
          <a:xfrm>
            <a:off x="6706232" y="6529916"/>
            <a:ext cx="429207" cy="3280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2" name="Google Shape;192;p55"/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fmla="val 3015" name="adj"/>
            </a:avLst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Picture 3">
  <p:cSld name="Content with Picture 3"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56"/>
          <p:cNvSpPr txBox="1"/>
          <p:nvPr>
            <p:ph type="title"/>
          </p:nvPr>
        </p:nvSpPr>
        <p:spPr>
          <a:xfrm>
            <a:off x="4524995" y="912388"/>
            <a:ext cx="6800971" cy="93268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Lora"/>
              <a:buNone/>
              <a:defRPr sz="4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95" name="Google Shape;195;p56"/>
          <p:cNvPicPr preferRelativeResize="0"/>
          <p:nvPr>
            <p:ph idx="2" type="pic"/>
          </p:nvPr>
        </p:nvPicPr>
        <p:blipFill/>
        <p:spPr>
          <a:xfrm>
            <a:off x="358140" y="333756"/>
            <a:ext cx="3665220" cy="6190488"/>
          </a:xfrm>
          <a:prstGeom prst="rect">
            <a:avLst/>
          </a:prstGeom>
          <a:blipFill rotWithShape="1">
            <a:blip r:embed="rId2">
              <a:alphaModFix amt="70000"/>
            </a:blip>
            <a:stretch>
              <a:fillRect b="0" l="0" r="0" t="0"/>
            </a:stretch>
          </a:blipFill>
          <a:ln>
            <a:noFill/>
          </a:ln>
        </p:spPr>
      </p:pic>
      <p:sp>
        <p:nvSpPr>
          <p:cNvPr id="196" name="Google Shape;196;p56"/>
          <p:cNvSpPr txBox="1"/>
          <p:nvPr>
            <p:ph idx="1" type="body"/>
          </p:nvPr>
        </p:nvSpPr>
        <p:spPr>
          <a:xfrm>
            <a:off x="4524996" y="1997625"/>
            <a:ext cx="6800971" cy="39450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7" name="Google Shape;197;p56"/>
          <p:cNvSpPr txBox="1"/>
          <p:nvPr>
            <p:ph idx="10" type="dt"/>
          </p:nvPr>
        </p:nvSpPr>
        <p:spPr>
          <a:xfrm>
            <a:off x="4745736" y="6529916"/>
            <a:ext cx="3494314" cy="3280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8" name="Google Shape;198;p56"/>
          <p:cNvSpPr txBox="1"/>
          <p:nvPr>
            <p:ph idx="11" type="ftr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9" name="Google Shape;199;p56"/>
          <p:cNvSpPr txBox="1"/>
          <p:nvPr>
            <p:ph idx="12" type="sldNum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0" name="Google Shape;200;p56"/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fmla="val 3015" name="adj"/>
            </a:avLst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Picture 4">
  <p:cSld name="Content with Picture 4"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57"/>
          <p:cNvSpPr txBox="1"/>
          <p:nvPr>
            <p:ph type="title"/>
          </p:nvPr>
        </p:nvSpPr>
        <p:spPr>
          <a:xfrm>
            <a:off x="859536" y="912388"/>
            <a:ext cx="6800971" cy="93268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Lora"/>
              <a:buNone/>
              <a:defRPr sz="4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3" name="Google Shape;203;p57"/>
          <p:cNvSpPr txBox="1"/>
          <p:nvPr>
            <p:ph idx="1" type="body"/>
          </p:nvPr>
        </p:nvSpPr>
        <p:spPr>
          <a:xfrm>
            <a:off x="859536" y="1997625"/>
            <a:ext cx="6800971" cy="39450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204" name="Google Shape;204;p57"/>
          <p:cNvPicPr preferRelativeResize="0"/>
          <p:nvPr>
            <p:ph idx="2" type="pic"/>
          </p:nvPr>
        </p:nvPicPr>
        <p:blipFill/>
        <p:spPr>
          <a:xfrm>
            <a:off x="8091732" y="333756"/>
            <a:ext cx="3742128" cy="6190488"/>
          </a:xfrm>
          <a:prstGeom prst="rect">
            <a:avLst/>
          </a:prstGeom>
          <a:blipFill rotWithShape="1">
            <a:blip r:embed="rId2">
              <a:alphaModFix amt="70000"/>
            </a:blip>
            <a:stretch>
              <a:fillRect b="0" l="0" r="0" t="0"/>
            </a:stretch>
          </a:blipFill>
          <a:ln>
            <a:noFill/>
          </a:ln>
        </p:spPr>
      </p:pic>
      <p:sp>
        <p:nvSpPr>
          <p:cNvPr id="205" name="Google Shape;205;p57"/>
          <p:cNvSpPr txBox="1"/>
          <p:nvPr>
            <p:ph idx="10" type="dt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6" name="Google Shape;206;p57"/>
          <p:cNvSpPr txBox="1"/>
          <p:nvPr>
            <p:ph idx="11" type="ftr"/>
          </p:nvPr>
        </p:nvSpPr>
        <p:spPr>
          <a:xfrm>
            <a:off x="4285799" y="6529916"/>
            <a:ext cx="2805405" cy="3280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7" name="Google Shape;207;p57"/>
          <p:cNvSpPr txBox="1"/>
          <p:nvPr>
            <p:ph idx="12" type="sldNum"/>
          </p:nvPr>
        </p:nvSpPr>
        <p:spPr>
          <a:xfrm>
            <a:off x="7041440" y="6529916"/>
            <a:ext cx="429207" cy="3280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8" name="Google Shape;208;p57"/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fmla="val 3015" name="adj"/>
            </a:avLst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Picture 5">
  <p:cSld name="Content with Picture 5"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58"/>
          <p:cNvSpPr txBox="1"/>
          <p:nvPr>
            <p:ph type="title"/>
          </p:nvPr>
        </p:nvSpPr>
        <p:spPr>
          <a:xfrm>
            <a:off x="7053972" y="907302"/>
            <a:ext cx="4361688" cy="13869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11" name="Google Shape;211;p58"/>
          <p:cNvPicPr preferRelativeResize="0"/>
          <p:nvPr>
            <p:ph idx="2" type="pic"/>
          </p:nvPr>
        </p:nvPicPr>
        <p:blipFill/>
        <p:spPr>
          <a:xfrm>
            <a:off x="358140" y="333756"/>
            <a:ext cx="6253369" cy="6190488"/>
          </a:xfrm>
          <a:prstGeom prst="rect">
            <a:avLst/>
          </a:prstGeom>
          <a:blipFill rotWithShape="1">
            <a:blip r:embed="rId2">
              <a:alphaModFix amt="70000"/>
            </a:blip>
            <a:stretch>
              <a:fillRect b="0" l="0" r="0" t="0"/>
            </a:stretch>
          </a:blipFill>
          <a:ln>
            <a:noFill/>
          </a:ln>
        </p:spPr>
      </p:pic>
      <p:sp>
        <p:nvSpPr>
          <p:cNvPr id="212" name="Google Shape;212;p58"/>
          <p:cNvSpPr txBox="1"/>
          <p:nvPr>
            <p:ph idx="1" type="body"/>
          </p:nvPr>
        </p:nvSpPr>
        <p:spPr>
          <a:xfrm>
            <a:off x="7053972" y="2438545"/>
            <a:ext cx="4366917" cy="35121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13" name="Google Shape;213;p58"/>
          <p:cNvSpPr txBox="1"/>
          <p:nvPr>
            <p:ph idx="10" type="dt"/>
          </p:nvPr>
        </p:nvSpPr>
        <p:spPr>
          <a:xfrm>
            <a:off x="7253745" y="6529914"/>
            <a:ext cx="1622776" cy="32808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4" name="Google Shape;214;p58"/>
          <p:cNvSpPr txBox="1"/>
          <p:nvPr>
            <p:ph idx="11" type="ftr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5" name="Google Shape;215;p58"/>
          <p:cNvSpPr txBox="1"/>
          <p:nvPr>
            <p:ph idx="12" type="sldNum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6" name="Google Shape;216;p58"/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fmla="val 3015" name="adj"/>
            </a:avLst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Picture 7">
  <p:cSld name="Content with Picture 7"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59"/>
          <p:cNvSpPr txBox="1"/>
          <p:nvPr>
            <p:ph type="title"/>
          </p:nvPr>
        </p:nvSpPr>
        <p:spPr>
          <a:xfrm>
            <a:off x="6882554" y="905256"/>
            <a:ext cx="4572000" cy="93268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Lora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19" name="Google Shape;219;p59"/>
          <p:cNvPicPr preferRelativeResize="0"/>
          <p:nvPr>
            <p:ph idx="2" type="pic"/>
          </p:nvPr>
        </p:nvPicPr>
        <p:blipFill/>
        <p:spPr>
          <a:xfrm>
            <a:off x="358956" y="338328"/>
            <a:ext cx="6129344" cy="6181344"/>
          </a:xfrm>
          <a:prstGeom prst="rect">
            <a:avLst/>
          </a:prstGeom>
          <a:blipFill rotWithShape="1">
            <a:blip r:embed="rId2">
              <a:alphaModFix amt="70000"/>
            </a:blip>
            <a:stretch>
              <a:fillRect b="0" l="0" r="0" t="0"/>
            </a:stretch>
          </a:blipFill>
          <a:ln>
            <a:noFill/>
          </a:ln>
        </p:spPr>
      </p:pic>
      <p:sp>
        <p:nvSpPr>
          <p:cNvPr id="220" name="Google Shape;220;p59"/>
          <p:cNvSpPr txBox="1"/>
          <p:nvPr>
            <p:ph idx="1" type="body"/>
          </p:nvPr>
        </p:nvSpPr>
        <p:spPr>
          <a:xfrm>
            <a:off x="6882554" y="1982048"/>
            <a:ext cx="4572000" cy="39686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1" name="Google Shape;221;p59"/>
          <p:cNvSpPr txBox="1"/>
          <p:nvPr>
            <p:ph idx="10" type="dt"/>
          </p:nvPr>
        </p:nvSpPr>
        <p:spPr>
          <a:xfrm>
            <a:off x="7104491" y="6529916"/>
            <a:ext cx="1772029" cy="3280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2" name="Google Shape;222;p59"/>
          <p:cNvSpPr txBox="1"/>
          <p:nvPr>
            <p:ph idx="11" type="ftr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3" name="Google Shape;223;p59"/>
          <p:cNvSpPr txBox="1"/>
          <p:nvPr>
            <p:ph idx="12" type="sldNum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4" name="Google Shape;224;p59"/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fmla="val 3015" name="adj"/>
            </a:avLst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Picture 8">
  <p:cSld name="Content with Picture 8"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60"/>
          <p:cNvSpPr txBox="1"/>
          <p:nvPr>
            <p:ph type="title"/>
          </p:nvPr>
        </p:nvSpPr>
        <p:spPr>
          <a:xfrm>
            <a:off x="859536" y="905256"/>
            <a:ext cx="4572000" cy="93268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Lora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7" name="Google Shape;227;p60"/>
          <p:cNvSpPr txBox="1"/>
          <p:nvPr>
            <p:ph idx="1" type="body"/>
          </p:nvPr>
        </p:nvSpPr>
        <p:spPr>
          <a:xfrm>
            <a:off x="859536" y="1982048"/>
            <a:ext cx="4572000" cy="39686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228" name="Google Shape;228;p60"/>
          <p:cNvPicPr preferRelativeResize="0"/>
          <p:nvPr>
            <p:ph idx="2" type="pic"/>
          </p:nvPr>
        </p:nvPicPr>
        <p:blipFill/>
        <p:spPr>
          <a:xfrm>
            <a:off x="5917720" y="333756"/>
            <a:ext cx="5916140" cy="6190488"/>
          </a:xfrm>
          <a:prstGeom prst="rect">
            <a:avLst/>
          </a:prstGeom>
          <a:blipFill rotWithShape="1">
            <a:blip r:embed="rId2">
              <a:alphaModFix amt="70000"/>
            </a:blip>
            <a:stretch>
              <a:fillRect b="0" l="0" r="0" t="0"/>
            </a:stretch>
          </a:blipFill>
          <a:ln>
            <a:noFill/>
          </a:ln>
        </p:spPr>
      </p:pic>
      <p:sp>
        <p:nvSpPr>
          <p:cNvPr id="229" name="Google Shape;229;p60"/>
          <p:cNvSpPr txBox="1"/>
          <p:nvPr>
            <p:ph idx="10" type="dt"/>
          </p:nvPr>
        </p:nvSpPr>
        <p:spPr>
          <a:xfrm>
            <a:off x="347133" y="6529916"/>
            <a:ext cx="2031073" cy="3280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0" name="Google Shape;230;p60"/>
          <p:cNvSpPr txBox="1"/>
          <p:nvPr>
            <p:ph idx="11" type="ftr"/>
          </p:nvPr>
        </p:nvSpPr>
        <p:spPr>
          <a:xfrm>
            <a:off x="2168233" y="6529916"/>
            <a:ext cx="2805405" cy="3280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1" name="Google Shape;231;p60"/>
          <p:cNvSpPr txBox="1"/>
          <p:nvPr>
            <p:ph idx="12" type="sldNum"/>
          </p:nvPr>
        </p:nvSpPr>
        <p:spPr>
          <a:xfrm>
            <a:off x="4923874" y="6529916"/>
            <a:ext cx="429207" cy="3280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9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indent="0" lvl="1" marL="0" algn="r">
              <a:spcBef>
                <a:spcPts val="0"/>
              </a:spcBef>
              <a:buNone/>
              <a:defRPr sz="9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2pPr>
            <a:lvl3pPr indent="0" lvl="2" marL="0" algn="r">
              <a:spcBef>
                <a:spcPts val="0"/>
              </a:spcBef>
              <a:buNone/>
              <a:defRPr sz="9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3pPr>
            <a:lvl4pPr indent="0" lvl="3" marL="0" algn="r">
              <a:spcBef>
                <a:spcPts val="0"/>
              </a:spcBef>
              <a:buNone/>
              <a:defRPr sz="9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4pPr>
            <a:lvl5pPr indent="0" lvl="4" marL="0" algn="r">
              <a:spcBef>
                <a:spcPts val="0"/>
              </a:spcBef>
              <a:buNone/>
              <a:defRPr sz="9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5pPr>
            <a:lvl6pPr indent="0" lvl="5" marL="0" algn="r">
              <a:spcBef>
                <a:spcPts val="0"/>
              </a:spcBef>
              <a:buNone/>
              <a:defRPr sz="9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indent="0" lvl="6" marL="0" algn="r">
              <a:spcBef>
                <a:spcPts val="0"/>
              </a:spcBef>
              <a:buNone/>
              <a:defRPr sz="9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indent="0" lvl="7" marL="0" algn="r">
              <a:spcBef>
                <a:spcPts val="0"/>
              </a:spcBef>
              <a:buNone/>
              <a:defRPr sz="9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indent="0" lvl="8" marL="0" algn="r">
              <a:spcBef>
                <a:spcPts val="0"/>
              </a:spcBef>
              <a:buNone/>
              <a:defRPr sz="9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32" name="Google Shape;232;p60"/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fmla="val 3015" name="adj"/>
            </a:avLst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Picture 9">
  <p:cSld name="Content with Picture 9"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61"/>
          <p:cNvSpPr txBox="1"/>
          <p:nvPr>
            <p:ph type="title"/>
          </p:nvPr>
        </p:nvSpPr>
        <p:spPr>
          <a:xfrm>
            <a:off x="8103044" y="907299"/>
            <a:ext cx="3222923" cy="12031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Lora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35" name="Google Shape;235;p61"/>
          <p:cNvPicPr preferRelativeResize="0"/>
          <p:nvPr>
            <p:ph idx="2" type="pic"/>
          </p:nvPr>
        </p:nvPicPr>
        <p:blipFill/>
        <p:spPr>
          <a:xfrm>
            <a:off x="358140" y="333756"/>
            <a:ext cx="7226004" cy="6190488"/>
          </a:xfrm>
          <a:prstGeom prst="rect">
            <a:avLst/>
          </a:prstGeom>
          <a:blipFill rotWithShape="1">
            <a:blip r:embed="rId2">
              <a:alphaModFix amt="70000"/>
            </a:blip>
            <a:stretch>
              <a:fillRect b="0" l="0" r="0" t="0"/>
            </a:stretch>
          </a:blipFill>
          <a:ln>
            <a:noFill/>
          </a:ln>
        </p:spPr>
      </p:pic>
      <p:sp>
        <p:nvSpPr>
          <p:cNvPr id="236" name="Google Shape;236;p61"/>
          <p:cNvSpPr txBox="1"/>
          <p:nvPr>
            <p:ph idx="1" type="body"/>
          </p:nvPr>
        </p:nvSpPr>
        <p:spPr>
          <a:xfrm>
            <a:off x="8103044" y="2240265"/>
            <a:ext cx="3222923" cy="37104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7" name="Google Shape;237;p61"/>
          <p:cNvSpPr txBox="1"/>
          <p:nvPr>
            <p:ph idx="10" type="dt"/>
          </p:nvPr>
        </p:nvSpPr>
        <p:spPr>
          <a:xfrm>
            <a:off x="8103044" y="6529915"/>
            <a:ext cx="922372" cy="3280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8" name="Google Shape;238;p61"/>
          <p:cNvSpPr txBox="1"/>
          <p:nvPr>
            <p:ph idx="11" type="ftr"/>
          </p:nvPr>
        </p:nvSpPr>
        <p:spPr>
          <a:xfrm>
            <a:off x="9025417" y="6529915"/>
            <a:ext cx="2390244" cy="3280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9" name="Google Shape;239;p61"/>
          <p:cNvSpPr txBox="1"/>
          <p:nvPr>
            <p:ph idx="12" type="sldNum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40" name="Google Shape;240;p61"/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fmla="val 3015" name="adj"/>
            </a:avLst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Picture 10">
  <p:cSld name="Content with Picture 10"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62"/>
          <p:cNvSpPr txBox="1"/>
          <p:nvPr>
            <p:ph type="title"/>
          </p:nvPr>
        </p:nvSpPr>
        <p:spPr>
          <a:xfrm>
            <a:off x="859536" y="907299"/>
            <a:ext cx="3351329" cy="120316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Lora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3" name="Google Shape;243;p62"/>
          <p:cNvSpPr txBox="1"/>
          <p:nvPr>
            <p:ph idx="1" type="body"/>
          </p:nvPr>
        </p:nvSpPr>
        <p:spPr>
          <a:xfrm>
            <a:off x="859536" y="2244789"/>
            <a:ext cx="3351329" cy="37059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244" name="Google Shape;244;p62"/>
          <p:cNvPicPr preferRelativeResize="0"/>
          <p:nvPr>
            <p:ph idx="2" type="pic"/>
          </p:nvPr>
        </p:nvPicPr>
        <p:blipFill/>
        <p:spPr>
          <a:xfrm>
            <a:off x="4761780" y="333756"/>
            <a:ext cx="7072080" cy="6190488"/>
          </a:xfrm>
          <a:prstGeom prst="rect">
            <a:avLst/>
          </a:prstGeom>
          <a:blipFill rotWithShape="1">
            <a:blip r:embed="rId2">
              <a:alphaModFix amt="70000"/>
            </a:blip>
            <a:stretch>
              <a:fillRect b="0" l="0" r="0" t="0"/>
            </a:stretch>
          </a:blipFill>
          <a:ln>
            <a:noFill/>
          </a:ln>
        </p:spPr>
      </p:pic>
      <p:sp>
        <p:nvSpPr>
          <p:cNvPr id="245" name="Google Shape;245;p62"/>
          <p:cNvSpPr txBox="1"/>
          <p:nvPr>
            <p:ph idx="10" type="dt"/>
          </p:nvPr>
        </p:nvSpPr>
        <p:spPr>
          <a:xfrm>
            <a:off x="347133" y="6529916"/>
            <a:ext cx="1067625" cy="3280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6" name="Google Shape;246;p62"/>
          <p:cNvSpPr txBox="1"/>
          <p:nvPr>
            <p:ph idx="11" type="ftr"/>
          </p:nvPr>
        </p:nvSpPr>
        <p:spPr>
          <a:xfrm>
            <a:off x="1204785" y="6529916"/>
            <a:ext cx="2805405" cy="3280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7" name="Google Shape;247;p62"/>
          <p:cNvSpPr txBox="1"/>
          <p:nvPr>
            <p:ph idx="12" type="sldNum"/>
          </p:nvPr>
        </p:nvSpPr>
        <p:spPr>
          <a:xfrm>
            <a:off x="3960426" y="6529916"/>
            <a:ext cx="429207" cy="3280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9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indent="0" lvl="1" marL="0" algn="r">
              <a:spcBef>
                <a:spcPts val="0"/>
              </a:spcBef>
              <a:buNone/>
              <a:defRPr sz="9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2pPr>
            <a:lvl3pPr indent="0" lvl="2" marL="0" algn="r">
              <a:spcBef>
                <a:spcPts val="0"/>
              </a:spcBef>
              <a:buNone/>
              <a:defRPr sz="9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3pPr>
            <a:lvl4pPr indent="0" lvl="3" marL="0" algn="r">
              <a:spcBef>
                <a:spcPts val="0"/>
              </a:spcBef>
              <a:buNone/>
              <a:defRPr sz="9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4pPr>
            <a:lvl5pPr indent="0" lvl="4" marL="0" algn="r">
              <a:spcBef>
                <a:spcPts val="0"/>
              </a:spcBef>
              <a:buNone/>
              <a:defRPr sz="9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5pPr>
            <a:lvl6pPr indent="0" lvl="5" marL="0" algn="r">
              <a:spcBef>
                <a:spcPts val="0"/>
              </a:spcBef>
              <a:buNone/>
              <a:defRPr sz="9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indent="0" lvl="6" marL="0" algn="r">
              <a:spcBef>
                <a:spcPts val="0"/>
              </a:spcBef>
              <a:buNone/>
              <a:defRPr sz="9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indent="0" lvl="7" marL="0" algn="r">
              <a:spcBef>
                <a:spcPts val="0"/>
              </a:spcBef>
              <a:buNone/>
              <a:defRPr sz="9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indent="0" lvl="8" marL="0" algn="r">
              <a:spcBef>
                <a:spcPts val="0"/>
              </a:spcBef>
              <a:buNone/>
              <a:defRPr sz="9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48" name="Google Shape;248;p62"/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fmla="val 3015" name="adj"/>
            </a:avLst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Picture 11">
  <p:cSld name="Content with Picture 11"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63"/>
          <p:cNvSpPr txBox="1"/>
          <p:nvPr>
            <p:ph type="title"/>
          </p:nvPr>
        </p:nvSpPr>
        <p:spPr>
          <a:xfrm>
            <a:off x="8300265" y="907300"/>
            <a:ext cx="3025702" cy="211446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51" name="Google Shape;251;p63"/>
          <p:cNvPicPr preferRelativeResize="0"/>
          <p:nvPr>
            <p:ph idx="2" type="pic"/>
          </p:nvPr>
        </p:nvPicPr>
        <p:blipFill/>
        <p:spPr>
          <a:xfrm>
            <a:off x="358140" y="333756"/>
            <a:ext cx="7423225" cy="6190488"/>
          </a:xfrm>
          <a:prstGeom prst="rect">
            <a:avLst/>
          </a:prstGeom>
          <a:blipFill rotWithShape="1">
            <a:blip r:embed="rId2">
              <a:alphaModFix amt="70000"/>
            </a:blip>
            <a:stretch>
              <a:fillRect b="0" l="0" r="0" t="0"/>
            </a:stretch>
          </a:blipFill>
          <a:ln>
            <a:noFill/>
          </a:ln>
        </p:spPr>
      </p:pic>
      <p:sp>
        <p:nvSpPr>
          <p:cNvPr id="252" name="Google Shape;252;p63"/>
          <p:cNvSpPr txBox="1"/>
          <p:nvPr>
            <p:ph idx="1" type="body"/>
          </p:nvPr>
        </p:nvSpPr>
        <p:spPr>
          <a:xfrm>
            <a:off x="8300265" y="3156095"/>
            <a:ext cx="3025702" cy="27945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4pPr>
            <a:lvl5pPr indent="-228600" lvl="4" marL="2286000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3" name="Google Shape;253;p63"/>
          <p:cNvSpPr txBox="1"/>
          <p:nvPr>
            <p:ph idx="10" type="dt"/>
          </p:nvPr>
        </p:nvSpPr>
        <p:spPr>
          <a:xfrm>
            <a:off x="8343102" y="6529915"/>
            <a:ext cx="1003659" cy="3280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4" name="Google Shape;254;p63"/>
          <p:cNvSpPr txBox="1"/>
          <p:nvPr>
            <p:ph idx="11" type="ftr"/>
          </p:nvPr>
        </p:nvSpPr>
        <p:spPr>
          <a:xfrm>
            <a:off x="9346761" y="6529915"/>
            <a:ext cx="2068899" cy="3280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5" name="Google Shape;255;p63"/>
          <p:cNvSpPr txBox="1"/>
          <p:nvPr>
            <p:ph idx="12" type="sldNum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56" name="Google Shape;256;p63"/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fmla="val 3015" name="adj"/>
            </a:avLst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Picture 12">
  <p:cSld name="Content with Picture 12"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64"/>
          <p:cNvSpPr txBox="1"/>
          <p:nvPr>
            <p:ph type="title"/>
          </p:nvPr>
        </p:nvSpPr>
        <p:spPr>
          <a:xfrm>
            <a:off x="321733" y="5012268"/>
            <a:ext cx="3739896" cy="1390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Lora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59" name="Google Shape;259;p64"/>
          <p:cNvPicPr preferRelativeResize="0"/>
          <p:nvPr>
            <p:ph idx="2" type="pic"/>
          </p:nvPr>
        </p:nvPicPr>
        <p:blipFill/>
        <p:spPr>
          <a:xfrm>
            <a:off x="-1" y="0"/>
            <a:ext cx="12192000" cy="4635132"/>
          </a:xfrm>
          <a:prstGeom prst="rect">
            <a:avLst/>
          </a:prstGeom>
          <a:blipFill rotWithShape="1">
            <a:blip r:embed="rId2">
              <a:alphaModFix amt="70000"/>
            </a:blip>
            <a:stretch>
              <a:fillRect b="0" l="0" r="0" t="0"/>
            </a:stretch>
          </a:blipFill>
          <a:ln>
            <a:noFill/>
          </a:ln>
        </p:spPr>
      </p:pic>
      <p:sp>
        <p:nvSpPr>
          <p:cNvPr id="260" name="Google Shape;260;p64"/>
          <p:cNvSpPr txBox="1"/>
          <p:nvPr>
            <p:ph idx="1" type="body"/>
          </p:nvPr>
        </p:nvSpPr>
        <p:spPr>
          <a:xfrm>
            <a:off x="5349240" y="5012267"/>
            <a:ext cx="6400800" cy="1390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1pPr>
            <a:lvl2pPr indent="-228600" lvl="1" marL="914400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2pPr>
            <a:lvl3pPr indent="-228600" lvl="2" marL="1371600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3pPr>
            <a:lvl4pPr indent="-228600" lvl="3" marL="1828800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100"/>
            </a:lvl4pPr>
            <a:lvl5pPr indent="-228600" lvl="4" marL="2286000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None/>
              <a:defRPr sz="105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1" name="Google Shape;261;p64"/>
          <p:cNvSpPr txBox="1"/>
          <p:nvPr>
            <p:ph idx="10" type="dt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2" name="Google Shape;262;p64"/>
          <p:cNvSpPr txBox="1"/>
          <p:nvPr>
            <p:ph idx="11" type="ftr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3" name="Google Shape;263;p64"/>
          <p:cNvSpPr txBox="1"/>
          <p:nvPr>
            <p:ph idx="12" type="sldNum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Picture 13">
  <p:cSld name="Content with Picture 13"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65"/>
          <p:cNvSpPr txBox="1"/>
          <p:nvPr>
            <p:ph type="title"/>
          </p:nvPr>
        </p:nvSpPr>
        <p:spPr>
          <a:xfrm>
            <a:off x="321733" y="4162318"/>
            <a:ext cx="2953618" cy="18928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Lora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66" name="Google Shape;266;p65"/>
          <p:cNvPicPr preferRelativeResize="0"/>
          <p:nvPr>
            <p:ph idx="2" type="pic"/>
          </p:nvPr>
        </p:nvPicPr>
        <p:blipFill/>
        <p:spPr>
          <a:xfrm>
            <a:off x="-1" y="0"/>
            <a:ext cx="12192000" cy="3778270"/>
          </a:xfrm>
          <a:prstGeom prst="rect">
            <a:avLst/>
          </a:prstGeom>
          <a:blipFill rotWithShape="1">
            <a:blip r:embed="rId2">
              <a:alphaModFix amt="70000"/>
            </a:blip>
            <a:stretch>
              <a:fillRect b="0" l="0" r="0" t="0"/>
            </a:stretch>
          </a:blipFill>
          <a:ln>
            <a:noFill/>
          </a:ln>
        </p:spPr>
      </p:pic>
      <p:sp>
        <p:nvSpPr>
          <p:cNvPr id="267" name="Google Shape;267;p65"/>
          <p:cNvSpPr txBox="1"/>
          <p:nvPr>
            <p:ph idx="1" type="body"/>
          </p:nvPr>
        </p:nvSpPr>
        <p:spPr>
          <a:xfrm>
            <a:off x="3977640" y="4162318"/>
            <a:ext cx="7772400" cy="2240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/>
            </a:lvl1pPr>
            <a:lvl2pPr indent="-330200" lvl="1" marL="914400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/>
            </a:lvl2pPr>
            <a:lvl3pPr indent="-317500" lvl="2" marL="1371600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/>
            </a:lvl3pPr>
            <a:lvl4pPr indent="-304800" lvl="3" marL="1828800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/>
            </a:lvl4pPr>
            <a:lvl5pPr indent="-298450" lvl="4" marL="2286000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sz="11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8" name="Google Shape;268;p65"/>
          <p:cNvSpPr txBox="1"/>
          <p:nvPr>
            <p:ph idx="10" type="dt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9" name="Google Shape;269;p65"/>
          <p:cNvSpPr txBox="1"/>
          <p:nvPr>
            <p:ph idx="11" type="ftr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0" name="Google Shape;270;p65"/>
          <p:cNvSpPr txBox="1"/>
          <p:nvPr>
            <p:ph idx="12" type="sldNum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Picture 14">
  <p:cSld name="Content with Picture 14"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66"/>
          <p:cNvSpPr txBox="1"/>
          <p:nvPr>
            <p:ph type="title"/>
          </p:nvPr>
        </p:nvSpPr>
        <p:spPr>
          <a:xfrm>
            <a:off x="321733" y="561425"/>
            <a:ext cx="2953618" cy="18928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Lora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3" name="Google Shape;273;p66"/>
          <p:cNvSpPr txBox="1"/>
          <p:nvPr>
            <p:ph idx="10" type="dt"/>
          </p:nvPr>
        </p:nvSpPr>
        <p:spPr>
          <a:xfrm>
            <a:off x="137160" y="59778"/>
            <a:ext cx="349431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4" name="Google Shape;274;p66"/>
          <p:cNvSpPr txBox="1"/>
          <p:nvPr>
            <p:ph idx="11" type="ftr"/>
          </p:nvPr>
        </p:nvSpPr>
        <p:spPr>
          <a:xfrm>
            <a:off x="8876521" y="59778"/>
            <a:ext cx="280540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5" name="Google Shape;275;p66"/>
          <p:cNvSpPr txBox="1"/>
          <p:nvPr>
            <p:ph idx="12" type="sldNum"/>
          </p:nvPr>
        </p:nvSpPr>
        <p:spPr>
          <a:xfrm>
            <a:off x="11632162" y="59778"/>
            <a:ext cx="42920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76" name="Google Shape;276;p66"/>
          <p:cNvSpPr txBox="1"/>
          <p:nvPr>
            <p:ph idx="1" type="body"/>
          </p:nvPr>
        </p:nvSpPr>
        <p:spPr>
          <a:xfrm>
            <a:off x="3977640" y="561425"/>
            <a:ext cx="7772400" cy="2240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/>
            </a:lvl1pPr>
            <a:lvl2pPr indent="-330200" lvl="1" marL="914400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/>
            </a:lvl2pPr>
            <a:lvl3pPr indent="-317500" lvl="2" marL="1371600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/>
            </a:lvl3pPr>
            <a:lvl4pPr indent="-304800" lvl="3" marL="1828800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/>
            </a:lvl4pPr>
            <a:lvl5pPr indent="-298450" lvl="4" marL="2286000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sz="11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277" name="Google Shape;277;p66"/>
          <p:cNvPicPr preferRelativeResize="0"/>
          <p:nvPr>
            <p:ph idx="2" type="pic"/>
          </p:nvPr>
        </p:nvPicPr>
        <p:blipFill/>
        <p:spPr>
          <a:xfrm>
            <a:off x="-1" y="3079730"/>
            <a:ext cx="12192000" cy="3778270"/>
          </a:xfrm>
          <a:prstGeom prst="rect">
            <a:avLst/>
          </a:prstGeom>
          <a:blipFill rotWithShape="1">
            <a:blip r:embed="rId2">
              <a:alphaModFix amt="70000"/>
            </a:blip>
            <a:stretch>
              <a:fillRect b="0" l="0" r="0" t="0"/>
            </a:stretch>
          </a:blipFill>
          <a:ln>
            <a:noFill/>
          </a:ln>
        </p:spPr>
      </p:pic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Picture 15">
  <p:cSld name="Content with Picture 15"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9" name="Google Shape;279;p6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2646" y="1810322"/>
            <a:ext cx="4547183" cy="4444173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67"/>
          <p:cNvSpPr txBox="1"/>
          <p:nvPr>
            <p:ph type="title"/>
          </p:nvPr>
        </p:nvSpPr>
        <p:spPr>
          <a:xfrm>
            <a:off x="612646" y="603504"/>
            <a:ext cx="10972802" cy="9704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81" name="Google Shape;281;p67"/>
          <p:cNvPicPr preferRelativeResize="0"/>
          <p:nvPr>
            <p:ph idx="2" type="pic"/>
          </p:nvPr>
        </p:nvPicPr>
        <p:blipFill/>
        <p:spPr>
          <a:xfrm>
            <a:off x="898331" y="2044501"/>
            <a:ext cx="3975817" cy="3975817"/>
          </a:xfrm>
          <a:prstGeom prst="rect">
            <a:avLst/>
          </a:prstGeom>
          <a:blipFill rotWithShape="1">
            <a:blip r:embed="rId3">
              <a:alphaModFix amt="70000"/>
            </a:blip>
            <a:stretch>
              <a:fillRect b="0" l="0" r="0" t="0"/>
            </a:stretch>
          </a:blipFill>
          <a:ln>
            <a:noFill/>
          </a:ln>
        </p:spPr>
      </p:pic>
      <p:sp>
        <p:nvSpPr>
          <p:cNvPr id="282" name="Google Shape;282;p67"/>
          <p:cNvSpPr txBox="1"/>
          <p:nvPr>
            <p:ph idx="1" type="body"/>
          </p:nvPr>
        </p:nvSpPr>
        <p:spPr>
          <a:xfrm>
            <a:off x="6096000" y="1828800"/>
            <a:ext cx="5483355" cy="44288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3" name="Google Shape;283;p67"/>
          <p:cNvSpPr txBox="1"/>
          <p:nvPr>
            <p:ph idx="10" type="dt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4" name="Google Shape;284;p67"/>
          <p:cNvSpPr txBox="1"/>
          <p:nvPr>
            <p:ph idx="11" type="ftr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5" name="Google Shape;285;p67"/>
          <p:cNvSpPr txBox="1"/>
          <p:nvPr>
            <p:ph idx="12" type="sldNum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Picture 16">
  <p:cSld name="Content with Picture 16"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7" name="Google Shape;287;p6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2648" y="2271376"/>
            <a:ext cx="4155294" cy="4061162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68"/>
          <p:cNvSpPr txBox="1"/>
          <p:nvPr>
            <p:ph type="title"/>
          </p:nvPr>
        </p:nvSpPr>
        <p:spPr>
          <a:xfrm>
            <a:off x="612648" y="548639"/>
            <a:ext cx="4672584" cy="14538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Lora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89" name="Google Shape;289;p68"/>
          <p:cNvPicPr preferRelativeResize="0"/>
          <p:nvPr>
            <p:ph idx="2" type="pic"/>
          </p:nvPr>
        </p:nvPicPr>
        <p:blipFill/>
        <p:spPr>
          <a:xfrm>
            <a:off x="873710" y="2485372"/>
            <a:ext cx="3633170" cy="3633170"/>
          </a:xfrm>
          <a:prstGeom prst="rect">
            <a:avLst/>
          </a:prstGeom>
          <a:blipFill rotWithShape="1">
            <a:blip r:embed="rId3">
              <a:alphaModFix amt="70000"/>
            </a:blip>
            <a:stretch>
              <a:fillRect b="0" l="0" r="0" t="0"/>
            </a:stretch>
          </a:blipFill>
          <a:ln>
            <a:noFill/>
          </a:ln>
        </p:spPr>
      </p:pic>
      <p:sp>
        <p:nvSpPr>
          <p:cNvPr id="290" name="Google Shape;290;p68"/>
          <p:cNvSpPr txBox="1"/>
          <p:nvPr>
            <p:ph idx="1" type="body"/>
          </p:nvPr>
        </p:nvSpPr>
        <p:spPr>
          <a:xfrm>
            <a:off x="6096000" y="549275"/>
            <a:ext cx="5585925" cy="57832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1" name="Google Shape;291;p68"/>
          <p:cNvSpPr txBox="1"/>
          <p:nvPr>
            <p:ph idx="10" type="dt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2" name="Google Shape;292;p68"/>
          <p:cNvSpPr txBox="1"/>
          <p:nvPr>
            <p:ph idx="11" type="ftr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3" name="Google Shape;293;p68"/>
          <p:cNvSpPr txBox="1"/>
          <p:nvPr>
            <p:ph idx="12" type="sldNum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Picture 17">
  <p:cSld name="Content with Picture 17"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5" name="Google Shape;295;p6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37715" y="2311121"/>
            <a:ext cx="4085820" cy="3993262"/>
          </a:xfrm>
          <a:prstGeom prst="rect">
            <a:avLst/>
          </a:prstGeom>
          <a:noFill/>
          <a:ln>
            <a:noFill/>
          </a:ln>
        </p:spPr>
      </p:pic>
      <p:sp>
        <p:nvSpPr>
          <p:cNvPr id="296" name="Google Shape;296;p69"/>
          <p:cNvSpPr txBox="1"/>
          <p:nvPr>
            <p:ph type="title"/>
          </p:nvPr>
        </p:nvSpPr>
        <p:spPr>
          <a:xfrm>
            <a:off x="614678" y="550217"/>
            <a:ext cx="3657603" cy="14538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Lora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97" name="Google Shape;297;p69"/>
          <p:cNvPicPr preferRelativeResize="0"/>
          <p:nvPr>
            <p:ph idx="2" type="pic"/>
          </p:nvPr>
        </p:nvPicPr>
        <p:blipFill/>
        <p:spPr>
          <a:xfrm>
            <a:off x="694412" y="2521539"/>
            <a:ext cx="3572426" cy="3572426"/>
          </a:xfrm>
          <a:prstGeom prst="rect">
            <a:avLst/>
          </a:prstGeom>
          <a:blipFill rotWithShape="1">
            <a:blip r:embed="rId3">
              <a:alphaModFix amt="70000"/>
            </a:blip>
            <a:stretch>
              <a:fillRect b="0" l="0" r="0" t="0"/>
            </a:stretch>
          </a:blipFill>
          <a:ln>
            <a:noFill/>
          </a:ln>
        </p:spPr>
      </p:pic>
      <p:sp>
        <p:nvSpPr>
          <p:cNvPr id="298" name="Google Shape;298;p69"/>
          <p:cNvSpPr txBox="1"/>
          <p:nvPr>
            <p:ph idx="1" type="body"/>
          </p:nvPr>
        </p:nvSpPr>
        <p:spPr>
          <a:xfrm>
            <a:off x="5016500" y="549275"/>
            <a:ext cx="6561138" cy="5759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9" name="Google Shape;299;p69"/>
          <p:cNvSpPr txBox="1"/>
          <p:nvPr>
            <p:ph idx="10" type="dt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0" name="Google Shape;300;p69"/>
          <p:cNvSpPr txBox="1"/>
          <p:nvPr>
            <p:ph idx="11" type="ftr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1" name="Google Shape;301;p69"/>
          <p:cNvSpPr txBox="1"/>
          <p:nvPr>
            <p:ph idx="12" type="sldNum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Picture 18">
  <p:cSld name="Content with Picture 18"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3" name="Google Shape;303;p7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335066" y="2105276"/>
            <a:ext cx="4085820" cy="3993262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p70"/>
          <p:cNvSpPr txBox="1"/>
          <p:nvPr>
            <p:ph type="title"/>
          </p:nvPr>
        </p:nvSpPr>
        <p:spPr>
          <a:xfrm>
            <a:off x="612647" y="907303"/>
            <a:ext cx="10966706" cy="11322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Lora"/>
              <a:buNone/>
              <a:defRPr>
                <a:latin typeface="Lora"/>
                <a:ea typeface="Lora"/>
                <a:cs typeface="Lora"/>
                <a:sym typeface="L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5" name="Google Shape;305;p70"/>
          <p:cNvSpPr txBox="1"/>
          <p:nvPr>
            <p:ph idx="1" type="body"/>
          </p:nvPr>
        </p:nvSpPr>
        <p:spPr>
          <a:xfrm>
            <a:off x="612647" y="2311121"/>
            <a:ext cx="6158266" cy="39932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3pPr>
            <a:lvl4pPr indent="-228600" lvl="3" marL="1828800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pic>
        <p:nvPicPr>
          <p:cNvPr id="306" name="Google Shape;306;p70"/>
          <p:cNvPicPr preferRelativeResize="0"/>
          <p:nvPr>
            <p:ph idx="2" type="pic"/>
          </p:nvPr>
        </p:nvPicPr>
        <p:blipFill/>
        <p:spPr>
          <a:xfrm>
            <a:off x="7591763" y="2315694"/>
            <a:ext cx="3572426" cy="3572426"/>
          </a:xfrm>
          <a:prstGeom prst="rect">
            <a:avLst/>
          </a:prstGeom>
          <a:blipFill rotWithShape="1">
            <a:blip r:embed="rId3">
              <a:alphaModFix amt="70000"/>
            </a:blip>
            <a:stretch>
              <a:fillRect b="0" l="0" r="0" t="0"/>
            </a:stretch>
          </a:blipFill>
          <a:ln>
            <a:noFill/>
          </a:ln>
        </p:spPr>
      </p:pic>
      <p:sp>
        <p:nvSpPr>
          <p:cNvPr id="307" name="Google Shape;307;p70"/>
          <p:cNvSpPr txBox="1"/>
          <p:nvPr>
            <p:ph idx="10" type="dt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8" name="Google Shape;308;p70"/>
          <p:cNvSpPr txBox="1"/>
          <p:nvPr>
            <p:ph idx="11" type="ftr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9" name="Google Shape;309;p70"/>
          <p:cNvSpPr txBox="1"/>
          <p:nvPr>
            <p:ph idx="12" type="sldNum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 Large">
  <p:cSld name="Number Large"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71"/>
          <p:cNvSpPr txBox="1"/>
          <p:nvPr>
            <p:ph type="title"/>
          </p:nvPr>
        </p:nvSpPr>
        <p:spPr>
          <a:xfrm>
            <a:off x="860316" y="4421770"/>
            <a:ext cx="10499656" cy="15289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 Light"/>
              <a:buNone/>
              <a:defRPr b="0" sz="2000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2" name="Google Shape;312;p71"/>
          <p:cNvSpPr txBox="1"/>
          <p:nvPr>
            <p:ph idx="1" type="body"/>
          </p:nvPr>
        </p:nvSpPr>
        <p:spPr>
          <a:xfrm>
            <a:off x="866336" y="1330310"/>
            <a:ext cx="10499656" cy="327333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0"/>
              <a:buNone/>
              <a:defRPr b="0" sz="210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defRPr>
            </a:lvl1pPr>
            <a:lvl2pPr indent="-342900" lvl="1" marL="914400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13" name="Google Shape;313;p71"/>
          <p:cNvSpPr txBox="1"/>
          <p:nvPr>
            <p:ph idx="10" type="dt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4" name="Google Shape;314;p71"/>
          <p:cNvSpPr txBox="1"/>
          <p:nvPr>
            <p:ph idx="11" type="ftr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5" name="Google Shape;315;p71"/>
          <p:cNvSpPr txBox="1"/>
          <p:nvPr>
            <p:ph idx="12" type="sldNum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16" name="Google Shape;316;p71"/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fmla="val 3015" name="adj"/>
            </a:avLst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 Large 2">
  <p:cSld name="Number Large 2"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72"/>
          <p:cNvSpPr txBox="1"/>
          <p:nvPr>
            <p:ph type="title"/>
          </p:nvPr>
        </p:nvSpPr>
        <p:spPr>
          <a:xfrm>
            <a:off x="2377440" y="4809744"/>
            <a:ext cx="7525512" cy="15453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 Light"/>
              <a:buNone/>
              <a:defRPr b="0" sz="28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9" name="Google Shape;319;p72"/>
          <p:cNvSpPr txBox="1"/>
          <p:nvPr>
            <p:ph idx="1" type="body"/>
          </p:nvPr>
        </p:nvSpPr>
        <p:spPr>
          <a:xfrm>
            <a:off x="822960" y="804120"/>
            <a:ext cx="10543032" cy="42062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3200"/>
              <a:buNone/>
              <a:defRPr b="0" sz="23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defRPr>
            </a:lvl1pPr>
            <a:lvl2pPr indent="-342900" lvl="1" marL="914400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0" name="Google Shape;320;p72"/>
          <p:cNvSpPr txBox="1"/>
          <p:nvPr>
            <p:ph idx="10" type="dt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1" name="Google Shape;321;p72"/>
          <p:cNvSpPr txBox="1"/>
          <p:nvPr>
            <p:ph idx="11" type="ftr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2" name="Google Shape;322;p72"/>
          <p:cNvSpPr txBox="1"/>
          <p:nvPr>
            <p:ph idx="12" type="sldNum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23" name="Google Shape;323;p72"/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fmla="val 3015" name="adj"/>
            </a:avLst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tement 2">
  <p:cSld name="Statement 2"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73"/>
          <p:cNvSpPr txBox="1"/>
          <p:nvPr>
            <p:ph type="title"/>
          </p:nvPr>
        </p:nvSpPr>
        <p:spPr>
          <a:xfrm>
            <a:off x="612648" y="-1133856"/>
            <a:ext cx="10652760" cy="11338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6" name="Google Shape;326;p73"/>
          <p:cNvSpPr txBox="1"/>
          <p:nvPr>
            <p:ph idx="1" type="body"/>
          </p:nvPr>
        </p:nvSpPr>
        <p:spPr>
          <a:xfrm>
            <a:off x="612648" y="1929384"/>
            <a:ext cx="8266176" cy="414223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 b="1" sz="5000"/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400"/>
              <a:buNone/>
              <a:defRPr b="1" sz="4400"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None/>
              <a:defRPr b="1" sz="4000"/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b="1" sz="3600"/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b="1" sz="32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7" name="Google Shape;327;p73"/>
          <p:cNvSpPr txBox="1"/>
          <p:nvPr>
            <p:ph idx="10" type="dt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8" name="Google Shape;328;p73"/>
          <p:cNvSpPr txBox="1"/>
          <p:nvPr>
            <p:ph idx="11" type="ftr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9" name="Google Shape;329;p73"/>
          <p:cNvSpPr txBox="1"/>
          <p:nvPr>
            <p:ph idx="12" type="sldNum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30" name="Google Shape;330;p73"/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fmla="val 3015" name="adj"/>
            </a:avLst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tement 3">
  <p:cSld name="Statement 3"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74"/>
          <p:cNvSpPr txBox="1"/>
          <p:nvPr>
            <p:ph type="title"/>
          </p:nvPr>
        </p:nvSpPr>
        <p:spPr>
          <a:xfrm>
            <a:off x="612648" y="-1133856"/>
            <a:ext cx="10652760" cy="11338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3" name="Google Shape;333;p74"/>
          <p:cNvSpPr txBox="1"/>
          <p:nvPr>
            <p:ph idx="1" type="body"/>
          </p:nvPr>
        </p:nvSpPr>
        <p:spPr>
          <a:xfrm>
            <a:off x="612648" y="548640"/>
            <a:ext cx="8266176" cy="56052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 b="1" sz="5000"/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400"/>
              <a:buNone/>
              <a:defRPr b="1" sz="4400"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None/>
              <a:defRPr b="1" sz="4000"/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b="1" sz="3600"/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b="1" sz="32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4" name="Google Shape;334;p74"/>
          <p:cNvSpPr txBox="1"/>
          <p:nvPr>
            <p:ph idx="10" type="dt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5" name="Google Shape;335;p74"/>
          <p:cNvSpPr txBox="1"/>
          <p:nvPr>
            <p:ph idx="11" type="ftr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6" name="Google Shape;336;p74"/>
          <p:cNvSpPr txBox="1"/>
          <p:nvPr>
            <p:ph idx="12" type="sldNum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37" name="Google Shape;337;p74"/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fmla="val 3015" name="adj"/>
            </a:avLst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2">
  <p:cSld name="Quote 2">
    <p:bg>
      <p:bgPr>
        <a:solidFill>
          <a:schemeClr val="lt1"/>
        </a:solidFill>
      </p:bgPr>
    </p:bg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75"/>
          <p:cNvSpPr txBox="1"/>
          <p:nvPr>
            <p:ph type="title"/>
          </p:nvPr>
        </p:nvSpPr>
        <p:spPr>
          <a:xfrm>
            <a:off x="1677009" y="5349240"/>
            <a:ext cx="9043416" cy="4663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Poppins Light"/>
              <a:buNone/>
              <a:defRPr sz="22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0" name="Google Shape;340;p75"/>
          <p:cNvSpPr txBox="1"/>
          <p:nvPr>
            <p:ph idx="1" type="body"/>
          </p:nvPr>
        </p:nvSpPr>
        <p:spPr>
          <a:xfrm>
            <a:off x="1499616" y="1344168"/>
            <a:ext cx="9198864" cy="3291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None/>
              <a:defRPr sz="4000" cap="none">
                <a:latin typeface="Lora"/>
                <a:ea typeface="Lora"/>
                <a:cs typeface="Lora"/>
                <a:sym typeface="Lora"/>
              </a:defRPr>
            </a:lvl1pPr>
            <a:lvl2pPr indent="-342900" lvl="1" marL="914400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41" name="Google Shape;341;p75"/>
          <p:cNvSpPr txBox="1"/>
          <p:nvPr>
            <p:ph idx="10" type="dt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2" name="Google Shape;342;p75"/>
          <p:cNvSpPr txBox="1"/>
          <p:nvPr>
            <p:ph idx="11" type="ftr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3" name="Google Shape;343;p75"/>
          <p:cNvSpPr txBox="1"/>
          <p:nvPr>
            <p:ph idx="12" type="sldNum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44" name="Google Shape;344;p75"/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fmla="val 3015" name="adj"/>
            </a:avLst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3">
  <p:cSld name="Quote 3"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76"/>
          <p:cNvSpPr txBox="1"/>
          <p:nvPr>
            <p:ph type="title"/>
          </p:nvPr>
        </p:nvSpPr>
        <p:spPr>
          <a:xfrm>
            <a:off x="790041" y="5669280"/>
            <a:ext cx="8805672" cy="4663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Poppins Light"/>
              <a:buNone/>
              <a:defRPr sz="22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7" name="Google Shape;347;p76"/>
          <p:cNvSpPr txBox="1"/>
          <p:nvPr>
            <p:ph idx="1" type="body"/>
          </p:nvPr>
        </p:nvSpPr>
        <p:spPr>
          <a:xfrm>
            <a:off x="612648" y="1097280"/>
            <a:ext cx="8961120" cy="3474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 cap="none">
                <a:latin typeface="Lora"/>
                <a:ea typeface="Lora"/>
                <a:cs typeface="Lora"/>
                <a:sym typeface="Lora"/>
              </a:defRPr>
            </a:lvl1pPr>
            <a:lvl2pPr indent="-342900" lvl="1" marL="914400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48" name="Google Shape;348;p76"/>
          <p:cNvSpPr txBox="1"/>
          <p:nvPr>
            <p:ph idx="10" type="dt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9" name="Google Shape;349;p76"/>
          <p:cNvSpPr txBox="1"/>
          <p:nvPr>
            <p:ph idx="11" type="ftr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0" name="Google Shape;350;p76"/>
          <p:cNvSpPr txBox="1"/>
          <p:nvPr>
            <p:ph idx="12" type="sldNum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51" name="Google Shape;351;p76"/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fmla="val 3015" name="adj"/>
            </a:avLst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77"/>
          <p:cNvSpPr txBox="1"/>
          <p:nvPr>
            <p:ph type="title"/>
          </p:nvPr>
        </p:nvSpPr>
        <p:spPr>
          <a:xfrm>
            <a:off x="860893" y="907303"/>
            <a:ext cx="10465073" cy="11322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4" name="Google Shape;354;p77"/>
          <p:cNvSpPr txBox="1"/>
          <p:nvPr>
            <p:ph idx="1" type="body"/>
          </p:nvPr>
        </p:nvSpPr>
        <p:spPr>
          <a:xfrm>
            <a:off x="860892" y="2268121"/>
            <a:ext cx="5040809" cy="3980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55" name="Google Shape;355;p77"/>
          <p:cNvSpPr txBox="1"/>
          <p:nvPr>
            <p:ph idx="2" type="body"/>
          </p:nvPr>
        </p:nvSpPr>
        <p:spPr>
          <a:xfrm>
            <a:off x="6285157" y="2268121"/>
            <a:ext cx="5040809" cy="3980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56" name="Google Shape;356;p77"/>
          <p:cNvSpPr txBox="1"/>
          <p:nvPr>
            <p:ph idx="10" type="dt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7" name="Google Shape;357;p77"/>
          <p:cNvSpPr txBox="1"/>
          <p:nvPr>
            <p:ph idx="11" type="ftr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8" name="Google Shape;358;p77"/>
          <p:cNvSpPr txBox="1"/>
          <p:nvPr>
            <p:ph idx="12" type="sldNum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59" name="Google Shape;359;p77"/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fmla="val 3015" name="adj"/>
            </a:avLst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>
  <p:cSld name="Comparison"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78"/>
          <p:cNvSpPr txBox="1"/>
          <p:nvPr>
            <p:ph type="title"/>
          </p:nvPr>
        </p:nvSpPr>
        <p:spPr>
          <a:xfrm>
            <a:off x="860893" y="907303"/>
            <a:ext cx="10465073" cy="11322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2" name="Google Shape;362;p78"/>
          <p:cNvSpPr txBox="1"/>
          <p:nvPr>
            <p:ph idx="1" type="body"/>
          </p:nvPr>
        </p:nvSpPr>
        <p:spPr>
          <a:xfrm>
            <a:off x="860893" y="2268121"/>
            <a:ext cx="5040808" cy="55983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 cap="none"/>
            </a:lvl1pPr>
            <a:lvl2pPr indent="-228600" lvl="1" marL="914400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63" name="Google Shape;363;p78"/>
          <p:cNvSpPr txBox="1"/>
          <p:nvPr>
            <p:ph idx="2" type="body"/>
          </p:nvPr>
        </p:nvSpPr>
        <p:spPr>
          <a:xfrm>
            <a:off x="6285158" y="2268121"/>
            <a:ext cx="5040808" cy="55983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 cap="none"/>
            </a:lvl1pPr>
            <a:lvl2pPr indent="-228600" lvl="1" marL="914400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64" name="Google Shape;364;p78"/>
          <p:cNvSpPr txBox="1"/>
          <p:nvPr>
            <p:ph idx="3" type="body"/>
          </p:nvPr>
        </p:nvSpPr>
        <p:spPr>
          <a:xfrm>
            <a:off x="860892" y="2969987"/>
            <a:ext cx="5040809" cy="32784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5" name="Google Shape;365;p78"/>
          <p:cNvSpPr txBox="1"/>
          <p:nvPr>
            <p:ph idx="4" type="body"/>
          </p:nvPr>
        </p:nvSpPr>
        <p:spPr>
          <a:xfrm>
            <a:off x="6285157" y="2969987"/>
            <a:ext cx="5040809" cy="32784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6" name="Google Shape;366;p78"/>
          <p:cNvSpPr txBox="1"/>
          <p:nvPr>
            <p:ph idx="10" type="dt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7" name="Google Shape;367;p78"/>
          <p:cNvSpPr txBox="1"/>
          <p:nvPr>
            <p:ph idx="11" type="ftr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8" name="Google Shape;368;p78"/>
          <p:cNvSpPr txBox="1"/>
          <p:nvPr>
            <p:ph idx="12" type="sldNum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69" name="Google Shape;369;p78"/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fmla="val 3015" name="adj"/>
            </a:avLst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79"/>
          <p:cNvSpPr txBox="1"/>
          <p:nvPr>
            <p:ph type="title"/>
          </p:nvPr>
        </p:nvSpPr>
        <p:spPr>
          <a:xfrm>
            <a:off x="860893" y="907303"/>
            <a:ext cx="10465073" cy="11322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2" name="Google Shape;372;p79"/>
          <p:cNvSpPr txBox="1"/>
          <p:nvPr>
            <p:ph idx="10" type="dt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3" name="Google Shape;373;p79"/>
          <p:cNvSpPr txBox="1"/>
          <p:nvPr>
            <p:ph idx="11" type="ftr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4" name="Google Shape;374;p79"/>
          <p:cNvSpPr txBox="1"/>
          <p:nvPr>
            <p:ph idx="12" type="sldNum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75" name="Google Shape;375;p79"/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fmla="val 3015" name="adj"/>
            </a:avLst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80"/>
          <p:cNvSpPr txBox="1"/>
          <p:nvPr>
            <p:ph idx="10" type="dt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8" name="Google Shape;378;p80"/>
          <p:cNvSpPr txBox="1"/>
          <p:nvPr>
            <p:ph idx="11" type="ftr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9" name="Google Shape;379;p80"/>
          <p:cNvSpPr txBox="1"/>
          <p:nvPr>
            <p:ph idx="12" type="sldNum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80" name="Google Shape;380;p80"/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fmla="val 3015" name="adj"/>
            </a:avLst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81"/>
          <p:cNvSpPr txBox="1"/>
          <p:nvPr>
            <p:ph type="title"/>
          </p:nvPr>
        </p:nvSpPr>
        <p:spPr>
          <a:xfrm>
            <a:off x="612648" y="553616"/>
            <a:ext cx="3595634" cy="17575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ora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3" name="Google Shape;383;p81"/>
          <p:cNvSpPr txBox="1"/>
          <p:nvPr>
            <p:ph idx="1" type="body"/>
          </p:nvPr>
        </p:nvSpPr>
        <p:spPr>
          <a:xfrm>
            <a:off x="612648" y="2311121"/>
            <a:ext cx="3595634" cy="39932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384" name="Google Shape;384;p81"/>
          <p:cNvSpPr txBox="1"/>
          <p:nvPr>
            <p:ph idx="2" type="body"/>
          </p:nvPr>
        </p:nvSpPr>
        <p:spPr>
          <a:xfrm>
            <a:off x="5134708" y="553615"/>
            <a:ext cx="6440258" cy="57551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2pPr>
            <a:lvl3pPr indent="-355600" lvl="2" marL="1371600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4pPr>
            <a:lvl5pPr indent="-342900" lvl="4" marL="2286000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385" name="Google Shape;385;p81"/>
          <p:cNvSpPr txBox="1"/>
          <p:nvPr>
            <p:ph idx="10" type="dt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6" name="Google Shape;386;p81"/>
          <p:cNvSpPr txBox="1"/>
          <p:nvPr>
            <p:ph idx="11" type="ftr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7" name="Google Shape;387;p81"/>
          <p:cNvSpPr txBox="1"/>
          <p:nvPr>
            <p:ph idx="12" type="sldNum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clusion">
  <p:cSld name="Conclusion">
    <p:bg>
      <p:bgPr>
        <a:solidFill>
          <a:schemeClr val="lt1"/>
        </a:solidFill>
      </p:bgPr>
    </p:bg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82"/>
          <p:cNvSpPr txBox="1"/>
          <p:nvPr>
            <p:ph type="title"/>
          </p:nvPr>
        </p:nvSpPr>
        <p:spPr>
          <a:xfrm>
            <a:off x="859536" y="1847088"/>
            <a:ext cx="7342307" cy="113385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Lora"/>
              <a:buNone/>
              <a:defRPr sz="6000">
                <a:latin typeface="Lora"/>
                <a:ea typeface="Lora"/>
                <a:cs typeface="Lora"/>
                <a:sym typeface="L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0" name="Google Shape;390;p82"/>
          <p:cNvSpPr txBox="1"/>
          <p:nvPr>
            <p:ph idx="1" type="body"/>
          </p:nvPr>
        </p:nvSpPr>
        <p:spPr>
          <a:xfrm>
            <a:off x="859536" y="3594099"/>
            <a:ext cx="10472928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indent="-228600" lvl="1" marL="914400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2pPr>
            <a:lvl3pPr indent="-228600" lvl="2" marL="1371600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3pPr>
            <a:lvl4pPr indent="-228600" lvl="3" marL="1828800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/>
            </a:lvl4pPr>
            <a:lvl5pPr indent="-228600" lvl="4" marL="2286000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91" name="Google Shape;391;p82"/>
          <p:cNvSpPr txBox="1"/>
          <p:nvPr>
            <p:ph idx="10" type="dt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2" name="Google Shape;392;p82"/>
          <p:cNvSpPr txBox="1"/>
          <p:nvPr>
            <p:ph idx="11" type="ftr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3" name="Google Shape;393;p82"/>
          <p:cNvSpPr txBox="1"/>
          <p:nvPr>
            <p:ph idx="12" type="sldNum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94" name="Google Shape;394;p82"/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fmla="val 3015" name="adj"/>
            </a:avLst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clusion 2">
  <p:cSld name="Conclusion 2">
    <p:bg>
      <p:bgPr>
        <a:solidFill>
          <a:schemeClr val="lt1"/>
        </a:solidFill>
      </p:bgPr>
    </p:bg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purple circle with black background&#10;&#10;AI-generated content may be incorrect." id="396" name="Google Shape;396;p83"/>
          <p:cNvPicPr preferRelativeResize="0"/>
          <p:nvPr/>
        </p:nvPicPr>
        <p:blipFill rotWithShape="1">
          <a:blip r:embed="rId2">
            <a:alphaModFix/>
          </a:blip>
          <a:srcRect b="0" l="0" r="0" t="47099"/>
          <a:stretch/>
        </p:blipFill>
        <p:spPr>
          <a:xfrm>
            <a:off x="462641" y="0"/>
            <a:ext cx="8989429" cy="4755420"/>
          </a:xfrm>
          <a:prstGeom prst="rect">
            <a:avLst/>
          </a:prstGeom>
          <a:noFill/>
          <a:ln>
            <a:noFill/>
          </a:ln>
        </p:spPr>
      </p:pic>
      <p:sp>
        <p:nvSpPr>
          <p:cNvPr id="397" name="Google Shape;397;p83"/>
          <p:cNvSpPr txBox="1"/>
          <p:nvPr>
            <p:ph type="title"/>
          </p:nvPr>
        </p:nvSpPr>
        <p:spPr>
          <a:xfrm>
            <a:off x="4830857" y="3603170"/>
            <a:ext cx="7014009" cy="150767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Lora"/>
              <a:buNone/>
              <a:defRPr sz="4500">
                <a:latin typeface="Lora"/>
                <a:ea typeface="Lora"/>
                <a:cs typeface="Lora"/>
                <a:sym typeface="L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8" name="Google Shape;398;p83"/>
          <p:cNvSpPr txBox="1"/>
          <p:nvPr>
            <p:ph idx="1" type="body"/>
          </p:nvPr>
        </p:nvSpPr>
        <p:spPr>
          <a:xfrm>
            <a:off x="5484133" y="5480958"/>
            <a:ext cx="6360733" cy="74415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indent="-2286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indent="-228600" lvl="2" marL="1371600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indent="-228600" lvl="4" marL="2286000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99" name="Google Shape;399;p83"/>
          <p:cNvSpPr txBox="1"/>
          <p:nvPr>
            <p:ph idx="10" type="dt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0" name="Google Shape;400;p83"/>
          <p:cNvSpPr txBox="1"/>
          <p:nvPr>
            <p:ph idx="11" type="ftr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1" name="Google Shape;401;p83"/>
          <p:cNvSpPr txBox="1"/>
          <p:nvPr>
            <p:ph idx="12" type="sldNum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402" name="Google Shape;402;p83"/>
          <p:cNvCxnSpPr/>
          <p:nvPr/>
        </p:nvCxnSpPr>
        <p:spPr>
          <a:xfrm>
            <a:off x="4985657" y="5238749"/>
            <a:ext cx="0" cy="882741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44" Type="http://schemas.openxmlformats.org/officeDocument/2006/relationships/slideLayout" Target="../slideLayouts/slideLayout44.xml"/><Relationship Id="rId43" Type="http://schemas.openxmlformats.org/officeDocument/2006/relationships/slideLayout" Target="../slideLayouts/slideLayout43.xml"/><Relationship Id="rId46" Type="http://schemas.openxmlformats.org/officeDocument/2006/relationships/slideLayout" Target="../slideLayouts/slideLayout46.xml"/><Relationship Id="rId45" Type="http://schemas.openxmlformats.org/officeDocument/2006/relationships/slideLayout" Target="../slideLayouts/slideLayout45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48" Type="http://schemas.openxmlformats.org/officeDocument/2006/relationships/slideLayout" Target="../slideLayouts/slideLayout48.xml"/><Relationship Id="rId47" Type="http://schemas.openxmlformats.org/officeDocument/2006/relationships/slideLayout" Target="../slideLayouts/slideLayout47.xml"/><Relationship Id="rId49" Type="http://schemas.openxmlformats.org/officeDocument/2006/relationships/slideLayout" Target="../slideLayouts/slideLayout4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33" Type="http://schemas.openxmlformats.org/officeDocument/2006/relationships/slideLayout" Target="../slideLayouts/slideLayout33.xml"/><Relationship Id="rId32" Type="http://schemas.openxmlformats.org/officeDocument/2006/relationships/slideLayout" Target="../slideLayouts/slideLayout32.xml"/><Relationship Id="rId35" Type="http://schemas.openxmlformats.org/officeDocument/2006/relationships/slideLayout" Target="../slideLayouts/slideLayout35.xml"/><Relationship Id="rId34" Type="http://schemas.openxmlformats.org/officeDocument/2006/relationships/slideLayout" Target="../slideLayouts/slideLayout34.xml"/><Relationship Id="rId37" Type="http://schemas.openxmlformats.org/officeDocument/2006/relationships/slideLayout" Target="../slideLayouts/slideLayout37.xml"/><Relationship Id="rId36" Type="http://schemas.openxmlformats.org/officeDocument/2006/relationships/slideLayout" Target="../slideLayouts/slideLayout36.xml"/><Relationship Id="rId39" Type="http://schemas.openxmlformats.org/officeDocument/2006/relationships/slideLayout" Target="../slideLayouts/slideLayout39.xml"/><Relationship Id="rId38" Type="http://schemas.openxmlformats.org/officeDocument/2006/relationships/slideLayout" Target="../slideLayouts/slideLayout38.xml"/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9.xml"/><Relationship Id="rId51" Type="http://schemas.openxmlformats.org/officeDocument/2006/relationships/slideLayout" Target="../slideLayouts/slideLayout51.xml"/><Relationship Id="rId50" Type="http://schemas.openxmlformats.org/officeDocument/2006/relationships/slideLayout" Target="../slideLayouts/slideLayout50.xml"/><Relationship Id="rId53" Type="http://schemas.openxmlformats.org/officeDocument/2006/relationships/slideLayout" Target="../slideLayouts/slideLayout53.xml"/><Relationship Id="rId52" Type="http://schemas.openxmlformats.org/officeDocument/2006/relationships/slideLayout" Target="../slideLayouts/slideLayout5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54" Type="http://schemas.openxmlformats.org/officeDocument/2006/relationships/theme" Target="../theme/theme2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0"/>
          <p:cNvSpPr txBox="1"/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Lora"/>
              <a:buNone/>
              <a:defRPr b="0" i="0" sz="4500" u="none" cap="none" strike="noStrike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30"/>
          <p:cNvSpPr txBox="1"/>
          <p:nvPr>
            <p:ph idx="1" type="body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7500" lvl="0" marL="457200" marR="0" rtl="0" algn="l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indent="-304800" lvl="1" marL="914400" marR="0" rtl="0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2pPr>
            <a:lvl3pPr indent="-298450" lvl="2" marL="1371600" marR="0" rtl="0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3pPr>
            <a:lvl4pPr indent="-295275" lvl="3" marL="1828800" marR="0" rtl="0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Char char="•"/>
              <a:defRPr b="0" i="0" sz="105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4pPr>
            <a:lvl5pPr indent="-292100" lvl="4" marL="2286000" marR="0" rtl="0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/>
        </p:txBody>
      </p:sp>
      <p:sp>
        <p:nvSpPr>
          <p:cNvPr id="12" name="Google Shape;12;p30"/>
          <p:cNvSpPr txBox="1"/>
          <p:nvPr>
            <p:ph idx="10" type="dt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/>
        </p:txBody>
      </p:sp>
      <p:sp>
        <p:nvSpPr>
          <p:cNvPr id="13" name="Google Shape;13;p30"/>
          <p:cNvSpPr txBox="1"/>
          <p:nvPr>
            <p:ph idx="11" type="ftr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/>
        </p:txBody>
      </p:sp>
      <p:sp>
        <p:nvSpPr>
          <p:cNvPr id="14" name="Google Shape;14;p30"/>
          <p:cNvSpPr txBox="1"/>
          <p:nvPr>
            <p:ph idx="12" type="sldNum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  <p:sldLayoutId id="2147483681" r:id="rId33"/>
    <p:sldLayoutId id="2147483682" r:id="rId34"/>
    <p:sldLayoutId id="2147483683" r:id="rId35"/>
    <p:sldLayoutId id="2147483684" r:id="rId36"/>
    <p:sldLayoutId id="2147483685" r:id="rId37"/>
    <p:sldLayoutId id="2147483686" r:id="rId38"/>
    <p:sldLayoutId id="2147483687" r:id="rId39"/>
    <p:sldLayoutId id="2147483688" r:id="rId40"/>
    <p:sldLayoutId id="2147483689" r:id="rId41"/>
    <p:sldLayoutId id="2147483690" r:id="rId42"/>
    <p:sldLayoutId id="2147483691" r:id="rId43"/>
    <p:sldLayoutId id="2147483692" r:id="rId44"/>
    <p:sldLayoutId id="2147483693" r:id="rId45"/>
    <p:sldLayoutId id="2147483694" r:id="rId46"/>
    <p:sldLayoutId id="2147483695" r:id="rId47"/>
    <p:sldLayoutId id="2147483696" r:id="rId48"/>
    <p:sldLayoutId id="2147483697" r:id="rId49"/>
    <p:sldLayoutId id="2147483698" r:id="rId50"/>
    <p:sldLayoutId id="2147483699" r:id="rId51"/>
    <p:sldLayoutId id="2147483700" r:id="rId52"/>
    <p:sldLayoutId id="2147483701" r:id="rId5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2.png"/><Relationship Id="rId4" Type="http://schemas.openxmlformats.org/officeDocument/2006/relationships/image" Target="../media/image1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3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0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5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7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4.jp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8.jp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9.jpg"/><Relationship Id="rId4" Type="http://schemas.openxmlformats.org/officeDocument/2006/relationships/image" Target="../media/image26.jp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1"/>
          <p:cNvSpPr txBox="1"/>
          <p:nvPr/>
        </p:nvSpPr>
        <p:spPr>
          <a:xfrm>
            <a:off x="1381992" y="577272"/>
            <a:ext cx="9968230" cy="65468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52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Times New Roman"/>
              <a:buNone/>
            </a:pPr>
            <a:r>
              <a:rPr b="1" i="0" lang="en-US" sz="1800" u="none" cap="none" strike="noStrike">
                <a:solidFill>
                  <a:srgbClr val="3F3F3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STANLEY COLLEGE OF ENGINEERING AND TECHNOLGY FOR WOMEN (AUTONOMOUS)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315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Times New Roman"/>
              <a:buNone/>
            </a:pPr>
            <a:r>
              <a:rPr b="0" i="0" lang="en-US" sz="1800" u="none" cap="none" strike="noStrike">
                <a:solidFill>
                  <a:srgbClr val="3F3F3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Abids. Hyderabad – 500 001</a:t>
            </a:r>
            <a:endParaRPr b="0" i="0" sz="1800" u="none" cap="none" strike="noStrike">
              <a:solidFill>
                <a:srgbClr val="3F3F3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08" name="Google Shape;408;p1"/>
          <p:cNvSpPr txBox="1"/>
          <p:nvPr/>
        </p:nvSpPr>
        <p:spPr>
          <a:xfrm>
            <a:off x="3546695" y="1280316"/>
            <a:ext cx="5638800" cy="4475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9350">
            <a:spAutoFit/>
          </a:bodyPr>
          <a:lstStyle/>
          <a:p>
            <a:pPr indent="0" lvl="0" marL="762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(Affiliated to Osmania University &amp; Approved by AICTE)</a:t>
            </a:r>
            <a:endParaRPr b="1" i="1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7620" marR="0" rtl="0" algn="ctr">
              <a:lnSpc>
                <a:spcPct val="100000"/>
              </a:lnSpc>
              <a:spcBef>
                <a:spcPts val="310"/>
              </a:spcBef>
              <a:spcAft>
                <a:spcPts val="0"/>
              </a:spcAft>
              <a:buNone/>
            </a:pPr>
            <a:r>
              <a:rPr b="1" i="1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b="1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All eligible UGC courses are accredited by NBA &amp; NAAC with ‘A’ Grade)</a:t>
            </a:r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09" name="Google Shape;409;p1"/>
          <p:cNvSpPr txBox="1"/>
          <p:nvPr/>
        </p:nvSpPr>
        <p:spPr>
          <a:xfrm>
            <a:off x="2096399" y="1865866"/>
            <a:ext cx="8001000" cy="10055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600">
            <a:spAutoFit/>
          </a:bodyPr>
          <a:lstStyle/>
          <a:p>
            <a:pPr indent="-5079" lvl="0" marL="12700" marR="5080" rtl="0" algn="ctr">
              <a:lnSpc>
                <a:spcPct val="116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 of Computer Science and Engineering</a:t>
            </a:r>
            <a:endParaRPr/>
          </a:p>
          <a:p>
            <a:pPr indent="-5079" lvl="0" marL="12700" marR="5080" rtl="0" algn="ctr">
              <a:lnSpc>
                <a:spcPct val="116500"/>
              </a:lnSpc>
              <a:spcBef>
                <a:spcPts val="6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Academic Year: 2025-2026</a:t>
            </a:r>
            <a:endParaRPr/>
          </a:p>
          <a:p>
            <a:pPr indent="-5079" lvl="0" marL="12700" marR="5080" rtl="0" algn="ctr">
              <a:lnSpc>
                <a:spcPct val="116500"/>
              </a:lnSpc>
              <a:spcBef>
                <a:spcPts val="6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  INTERNSHIP Presentation </a:t>
            </a:r>
            <a:endParaRPr b="1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10" name="Google Shape;410;p1"/>
          <p:cNvSpPr txBox="1"/>
          <p:nvPr/>
        </p:nvSpPr>
        <p:spPr>
          <a:xfrm>
            <a:off x="1337064" y="4618649"/>
            <a:ext cx="5020891" cy="7861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1900">
            <a:spAutoFit/>
          </a:bodyPr>
          <a:lstStyle/>
          <a:p>
            <a:pPr indent="0" lvl="0" marL="5715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Supervised by: Dr.M.Sowmya(</a:t>
            </a:r>
            <a:r>
              <a:rPr b="0" i="0" lang="en-US" sz="1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Associate professor)</a:t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57150" marR="0" rtl="0" algn="l">
              <a:spcBef>
                <a:spcPts val="229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Mrs. Shadeda Begum(</a:t>
            </a:r>
            <a:r>
              <a:rPr b="0" i="0" lang="en-US" sz="1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Assistant professor)</a:t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57150" marR="0" rtl="0" algn="l">
              <a:lnSpc>
                <a:spcPct val="100000"/>
              </a:lnSpc>
              <a:spcBef>
                <a:spcPts val="229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CSE</a:t>
            </a:r>
            <a:endParaRPr b="1" i="0" sz="15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11" name="Google Shape;411;p1"/>
          <p:cNvSpPr txBox="1"/>
          <p:nvPr/>
        </p:nvSpPr>
        <p:spPr>
          <a:xfrm>
            <a:off x="8449606" y="4617250"/>
            <a:ext cx="3282175" cy="7890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1900">
            <a:spAutoFit/>
          </a:bodyPr>
          <a:lstStyle/>
          <a:p>
            <a:pPr indent="0" lvl="0" marL="127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PRESENTED BY</a:t>
            </a:r>
            <a:endParaRPr b="0" i="0" sz="1800" u="none" cap="none" strike="noStrike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33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Musti Tanisha Yadav</a:t>
            </a:r>
            <a:endParaRPr b="0" i="0" sz="1800" u="none" cap="none" strike="noStrike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-1270" lvl="0" marL="23495" marR="895985" rtl="0" algn="l">
              <a:lnSpc>
                <a:spcPct val="108500"/>
              </a:lnSpc>
              <a:spcBef>
                <a:spcPts val="75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160622733103</a:t>
            </a:r>
            <a:endParaRPr b="0" i="0" sz="15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12" name="Google Shape;412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9775" y="529123"/>
            <a:ext cx="852225" cy="852207"/>
          </a:xfrm>
          <a:prstGeom prst="rect">
            <a:avLst/>
          </a:prstGeom>
          <a:noFill/>
          <a:ln>
            <a:noFill/>
          </a:ln>
        </p:spPr>
      </p:pic>
      <p:sp>
        <p:nvSpPr>
          <p:cNvPr id="413" name="Google Shape;413;p1"/>
          <p:cNvSpPr txBox="1"/>
          <p:nvPr/>
        </p:nvSpPr>
        <p:spPr>
          <a:xfrm>
            <a:off x="1728562" y="3136743"/>
            <a:ext cx="9272563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       </a:t>
            </a:r>
            <a:r>
              <a:rPr b="1" i="0" lang="en-US" sz="3200" u="none" cap="none" strike="noStrik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Loan Eligibility and Recommendation Model</a:t>
            </a:r>
            <a:endParaRPr b="0" i="0" sz="3200" u="none" cap="none" strike="noStrike">
              <a:solidFill>
                <a:srgbClr val="0070C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close-up of a document&#10;&#10;AI-generated content may be incorrect." id="418" name="Google Shape;418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11562" y="546000"/>
            <a:ext cx="6168876" cy="57600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3"/>
          <p:cNvSpPr/>
          <p:nvPr/>
        </p:nvSpPr>
        <p:spPr>
          <a:xfrm>
            <a:off x="3935280" y="352603"/>
            <a:ext cx="6368400" cy="1018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Times New Roman"/>
              <a:buNone/>
            </a:pPr>
            <a:r>
              <a:rPr b="0" i="0" lang="en-US" sz="4800" u="none" cap="none" strike="noStrike">
                <a:solidFill>
                  <a:srgbClr val="3F3F3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Table of Contents</a:t>
            </a:r>
            <a:endParaRPr b="0" i="0" sz="4800" u="none" cap="none" strike="noStrike">
              <a:solidFill>
                <a:srgbClr val="3F3F3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24" name="Google Shape;424;p3"/>
          <p:cNvSpPr/>
          <p:nvPr/>
        </p:nvSpPr>
        <p:spPr>
          <a:xfrm>
            <a:off x="839280" y="1515734"/>
            <a:ext cx="10520400" cy="495336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/>
          <a:p>
            <a:pPr indent="-152400" lvl="0" marL="9144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▪"/>
            </a:pPr>
            <a:r>
              <a:rPr b="0" baseline="30000" i="0" lang="en-US" sz="24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 Problem Statement</a:t>
            </a:r>
            <a:endParaRPr b="0" baseline="30000" i="0" sz="2400" u="none" cap="none" strike="noStrike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-152400" lvl="0" marL="91440" marR="0" rtl="0" algn="just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▪"/>
            </a:pPr>
            <a:r>
              <a:rPr b="0" baseline="30000" i="0" lang="en-US" sz="24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 Background &amp; Literature Review</a:t>
            </a:r>
            <a:endParaRPr b="0" baseline="30000" i="0" sz="2400" u="none" cap="none" strike="noStrike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-152400" lvl="0" marL="91440" marR="0" rtl="0" algn="just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▪"/>
            </a:pPr>
            <a:r>
              <a:rPr b="0" baseline="30000" i="0" lang="en-US" sz="24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 Planning and Design of Work</a:t>
            </a:r>
            <a:endParaRPr b="0" baseline="30000" i="0" sz="2400" u="none" cap="none" strike="noStrike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-152400" lvl="0" marL="91440" marR="0" rtl="0" algn="just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▪"/>
            </a:pPr>
            <a:r>
              <a:rPr b="0" baseline="30000" i="0" lang="en-US" sz="24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 Implementation &amp; Execution</a:t>
            </a:r>
            <a:endParaRPr b="0" baseline="30000" i="0" sz="2400" u="none" cap="none" strike="noStrike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-152400" lvl="0" marL="91440" marR="0" rtl="0" algn="just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▪"/>
            </a:pPr>
            <a:r>
              <a:rPr b="0" baseline="30000" i="0" lang="en-US" sz="24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 Testing &amp; Validation</a:t>
            </a:r>
            <a:endParaRPr b="0" baseline="30000" i="0" sz="2400" u="none" cap="none" strike="noStrike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-152400" lvl="0" marL="91440" marR="0" rtl="0" algn="just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▪"/>
            </a:pPr>
            <a:r>
              <a:rPr b="0" baseline="30000" i="0" lang="en-US" sz="24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 Results &amp; Analysis</a:t>
            </a:r>
            <a:endParaRPr b="0" baseline="30000" i="0" sz="2400" u="none" cap="none" strike="noStrike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-152400" lvl="0" marL="91440" marR="0" rtl="0" algn="just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▪"/>
            </a:pPr>
            <a:r>
              <a:rPr b="0" baseline="30000" i="0" lang="en-US" sz="24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 Challenges &amp; Solutions</a:t>
            </a:r>
            <a:endParaRPr b="0" baseline="30000" i="0" sz="2400" u="none" cap="none" strike="noStrike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-152400" lvl="0" marL="91440" marR="0" rtl="0" algn="just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▪"/>
            </a:pPr>
            <a:r>
              <a:rPr b="0" baseline="30000" i="0" lang="en-US" sz="24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 Conclusion &amp; Future Scope</a:t>
            </a:r>
            <a:endParaRPr b="0" baseline="30000" i="0" sz="2400" u="none" cap="none" strike="noStrike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-152400" lvl="0" marL="91440" marR="0" rtl="0" algn="just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▪"/>
            </a:pPr>
            <a:r>
              <a:rPr b="0" baseline="30000" i="0" lang="en-US" sz="24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 References</a:t>
            </a:r>
            <a:endParaRPr b="0" baseline="30000" i="0" sz="2400" u="none" cap="none" strike="noStrike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-152400" lvl="0" marL="91440" marR="0" rtl="0" algn="just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▪"/>
            </a:pPr>
            <a:r>
              <a:rPr b="0" baseline="30000" i="0" lang="en-US" sz="24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 Internship Certificates</a:t>
            </a:r>
            <a:endParaRPr b="0" baseline="30000" i="0" sz="2400" u="none" cap="none" strike="noStrike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91440" marR="0" rtl="0" algn="just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91440" marR="0" rtl="0" algn="just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None/>
            </a:pPr>
            <a:r>
              <a:t/>
            </a:r>
            <a:endParaRPr b="0" i="0" sz="1800" u="none" cap="none" strike="noStrike">
              <a:solidFill>
                <a:srgbClr val="3F3F3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4"/>
          <p:cNvSpPr txBox="1"/>
          <p:nvPr/>
        </p:nvSpPr>
        <p:spPr>
          <a:xfrm>
            <a:off x="3534000" y="837000"/>
            <a:ext cx="5124000" cy="11079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800" u="none" cap="none" strike="noStrike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 Statement</a:t>
            </a:r>
            <a:r>
              <a:rPr b="0" i="0" lang="en-US" sz="4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​</a:t>
            </a:r>
            <a:endParaRPr sz="18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430" name="Google Shape;430;p4"/>
          <p:cNvSpPr txBox="1"/>
          <p:nvPr/>
        </p:nvSpPr>
        <p:spPr>
          <a:xfrm>
            <a:off x="1098000" y="1947000"/>
            <a:ext cx="9996000" cy="29615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28600" lvl="0" marL="2286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en-US" sz="18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Manual loan approval processes are slow, inconsistent, and prone to human bias, leading to unfair and inefficient decision-making.</a:t>
            </a:r>
            <a:endParaRPr sz="18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-228600" lvl="0" marL="2286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en-US" sz="18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There is a need for a data-driven system that can accurately predict loan eligibility using applicants’ financial and demographic information.</a:t>
            </a:r>
            <a:endParaRPr b="1" sz="18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-228600" lvl="0" marL="2286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en-US" sz="18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The project aims to build a machine-learning model that not only predicts eligibility but also recommends suitable loan options tailored to the user's profile.</a:t>
            </a:r>
            <a:endParaRPr b="1" sz="18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5"/>
          <p:cNvSpPr txBox="1"/>
          <p:nvPr>
            <p:ph type="title"/>
          </p:nvPr>
        </p:nvSpPr>
        <p:spPr>
          <a:xfrm>
            <a:off x="868838" y="2621802"/>
            <a:ext cx="4361688" cy="16496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Lora"/>
              <a:buNone/>
            </a:pPr>
            <a:r>
              <a:rPr lang="en-US"/>
              <a:t>LITERATURE SURVEY</a:t>
            </a:r>
            <a:endParaRPr/>
          </a:p>
        </p:txBody>
      </p:sp>
      <p:pic>
        <p:nvPicPr>
          <p:cNvPr descr="A purple background with white text and a bag of money&#10;&#10;AI-generated content may be incorrect." id="436" name="Google Shape;436;p5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12084" r="12084" t="0"/>
          <a:stretch/>
        </p:blipFill>
        <p:spPr>
          <a:xfrm>
            <a:off x="6005935" y="862357"/>
            <a:ext cx="5170964" cy="5170964"/>
          </a:xfrm>
          <a:prstGeom prst="ellipse">
            <a:avLst/>
          </a:prstGeom>
          <a:blipFill rotWithShape="1">
            <a:blip r:embed="rId4">
              <a:alphaModFix amt="70000"/>
            </a:blip>
            <a:stretch>
              <a:fillRect b="0" l="0" r="0" t="0"/>
            </a:stretch>
          </a:blipFill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41" name="Google Shape;441;p6"/>
          <p:cNvGraphicFramePr/>
          <p:nvPr/>
        </p:nvGraphicFramePr>
        <p:xfrm>
          <a:off x="345600" y="240725"/>
          <a:ext cx="3000000" cy="3000000"/>
        </p:xfrm>
        <a:graphic>
          <a:graphicData uri="http://schemas.openxmlformats.org/drawingml/2006/table">
            <a:tbl>
              <a:tblPr bandRow="1">
                <a:noFill/>
                <a:tableStyleId>{2E29EFD4-32B1-4B74-9AB9-EFE21AC81FB4}</a:tableStyleId>
              </a:tblPr>
              <a:tblGrid>
                <a:gridCol w="3725125"/>
                <a:gridCol w="1580000"/>
                <a:gridCol w="3471400"/>
                <a:gridCol w="2664100"/>
              </a:tblGrid>
              <a:tr h="3692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600"/>
                        <a:buFont typeface="Poppins Light"/>
                        <a:buNone/>
                      </a:pPr>
                      <a:r>
                        <a:rPr b="1" lang="en-US" sz="1600" u="none" cap="none" strike="noStrike">
                          <a:solidFill>
                            <a:schemeClr val="lt1"/>
                          </a:solidFill>
                          <a:latin typeface="Poppins Light"/>
                          <a:ea typeface="Poppins Light"/>
                          <a:cs typeface="Poppins Light"/>
                          <a:sym typeface="Poppins Light"/>
                        </a:rPr>
                        <a:t>Paper Name </a:t>
                      </a:r>
                      <a:endParaRPr b="1" sz="1600" u="none" cap="none" strike="noStrike">
                        <a:solidFill>
                          <a:schemeClr val="lt1"/>
                        </a:solidFill>
                        <a:latin typeface="Poppins Light"/>
                        <a:ea typeface="Poppins Light"/>
                        <a:cs typeface="Poppins Light"/>
                        <a:sym typeface="Poppins Light"/>
                      </a:endParaRPr>
                    </a:p>
                  </a:txBody>
                  <a:tcPr marT="41900" marB="41900" marR="61100" marL="61100" anchor="ctr">
                    <a:lnL cap="flat" cmpd="sng" w="140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0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0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0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B7BB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600"/>
                        <a:buFont typeface="Poppins Light"/>
                        <a:buNone/>
                      </a:pPr>
                      <a:r>
                        <a:rPr b="1" lang="en-US" sz="1600" u="none" cap="none" strike="noStrike">
                          <a:solidFill>
                            <a:schemeClr val="lt1"/>
                          </a:solidFill>
                          <a:latin typeface="Poppins Light"/>
                          <a:ea typeface="Poppins Light"/>
                          <a:cs typeface="Poppins Light"/>
                          <a:sym typeface="Poppins Light"/>
                        </a:rPr>
                        <a:t>Author(s) </a:t>
                      </a:r>
                      <a:endParaRPr b="1" sz="1600" u="none" cap="none" strike="noStrike">
                        <a:solidFill>
                          <a:schemeClr val="lt1"/>
                        </a:solidFill>
                        <a:latin typeface="Poppins Light"/>
                        <a:ea typeface="Poppins Light"/>
                        <a:cs typeface="Poppins Light"/>
                        <a:sym typeface="Poppins Light"/>
                      </a:endParaRPr>
                    </a:p>
                  </a:txBody>
                  <a:tcPr marT="41900" marB="41900" marR="61100" marL="61100" anchor="ctr">
                    <a:lnL cap="flat" cmpd="sng" w="140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0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0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0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B7BB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600"/>
                        <a:buFont typeface="Poppins Light"/>
                        <a:buNone/>
                      </a:pPr>
                      <a:r>
                        <a:rPr b="1" lang="en-US" sz="1600" u="none" cap="none" strike="noStrike">
                          <a:solidFill>
                            <a:schemeClr val="lt1"/>
                          </a:solidFill>
                          <a:latin typeface="Poppins Light"/>
                          <a:ea typeface="Poppins Light"/>
                          <a:cs typeface="Poppins Light"/>
                          <a:sym typeface="Poppins Light"/>
                        </a:rPr>
                        <a:t>Key Findings </a:t>
                      </a:r>
                      <a:endParaRPr b="1" sz="1600" u="none" cap="none" strike="noStrike">
                        <a:solidFill>
                          <a:schemeClr val="lt1"/>
                        </a:solidFill>
                        <a:latin typeface="Poppins Light"/>
                        <a:ea typeface="Poppins Light"/>
                        <a:cs typeface="Poppins Light"/>
                        <a:sym typeface="Poppins Light"/>
                      </a:endParaRPr>
                    </a:p>
                  </a:txBody>
                  <a:tcPr marT="41900" marB="41900" marR="61100" marL="61100" anchor="ctr">
                    <a:lnL cap="flat" cmpd="sng" w="140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0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0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0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B7BB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600"/>
                        <a:buFont typeface="Poppins Light"/>
                        <a:buNone/>
                      </a:pPr>
                      <a:r>
                        <a:rPr b="1" lang="en-US" sz="1600" u="none" cap="none" strike="noStrike">
                          <a:solidFill>
                            <a:schemeClr val="lt1"/>
                          </a:solidFill>
                          <a:latin typeface="Poppins Light"/>
                          <a:ea typeface="Poppins Light"/>
                          <a:cs typeface="Poppins Light"/>
                          <a:sym typeface="Poppins Light"/>
                        </a:rPr>
                        <a:t>Relation to Our Project </a:t>
                      </a:r>
                      <a:endParaRPr b="1" sz="1600" u="none" cap="none" strike="noStrike">
                        <a:solidFill>
                          <a:schemeClr val="lt1"/>
                        </a:solidFill>
                        <a:latin typeface="Poppins Light"/>
                        <a:ea typeface="Poppins Light"/>
                        <a:cs typeface="Poppins Light"/>
                        <a:sym typeface="Poppins Light"/>
                      </a:endParaRPr>
                    </a:p>
                  </a:txBody>
                  <a:tcPr marT="41900" marB="41900" marR="61100" marL="61100" anchor="ctr">
                    <a:lnL cap="flat" cmpd="sng" w="140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0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0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0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B7BB0"/>
                    </a:solidFill>
                  </a:tcPr>
                </a:tc>
              </a:tr>
              <a:tr h="1323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Poppins Light"/>
                        <a:buNone/>
                      </a:pPr>
                      <a:r>
                        <a:rPr lang="en-US" sz="1600" u="none" cap="none" strike="noStrike">
                          <a:latin typeface="Poppins Light"/>
                          <a:ea typeface="Poppins Light"/>
                          <a:cs typeface="Poppins Light"/>
                          <a:sym typeface="Poppins Light"/>
                        </a:rPr>
                        <a:t>Machine Learning for an Enhanced Credit Risk Analysis: A Comparative Study of Loan Approval Prediction Models Integrating Mental Health Data  </a:t>
                      </a:r>
                      <a:br>
                        <a:rPr lang="en-US" sz="1600" u="none" cap="none" strike="noStrike">
                          <a:latin typeface="Poppins Light"/>
                          <a:ea typeface="Poppins Light"/>
                          <a:cs typeface="Poppins Light"/>
                          <a:sym typeface="Poppins Light"/>
                        </a:rPr>
                      </a:br>
                      <a:r>
                        <a:rPr lang="en-US" sz="1600" u="none" cap="none" strike="noStrike">
                          <a:latin typeface="Poppins Light"/>
                          <a:ea typeface="Poppins Light"/>
                          <a:cs typeface="Poppins Light"/>
                          <a:sym typeface="Poppins Light"/>
                        </a:rPr>
                        <a:t> </a:t>
                      </a:r>
                      <a:endParaRPr/>
                    </a:p>
                  </a:txBody>
                  <a:tcPr marT="41900" marB="41900" marR="61100" marL="61100" anchor="ctr">
                    <a:lnL cap="flat" cmpd="sng" w="140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0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0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0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Poppins Light"/>
                        <a:buNone/>
                      </a:pPr>
                      <a:r>
                        <a:rPr lang="en-US" sz="1600" u="none" cap="none" strike="noStrike">
                          <a:latin typeface="Poppins Light"/>
                          <a:ea typeface="Poppins Light"/>
                          <a:cs typeface="Poppins Light"/>
                          <a:sym typeface="Poppins Light"/>
                        </a:rPr>
                        <a:t>A. Alagic et al. </a:t>
                      </a:r>
                      <a:endParaRPr/>
                    </a:p>
                  </a:txBody>
                  <a:tcPr marT="41900" marB="41900" marR="61100" marL="61100" anchor="ctr">
                    <a:lnL cap="flat" cmpd="sng" w="140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0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0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0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Poppins Light"/>
                        <a:buNone/>
                      </a:pPr>
                      <a:r>
                        <a:rPr lang="en-US" sz="1600" u="none" cap="none" strike="noStrike">
                          <a:latin typeface="Poppins Light"/>
                          <a:ea typeface="Poppins Light"/>
                          <a:cs typeface="Poppins Light"/>
                          <a:sym typeface="Poppins Light"/>
                        </a:rPr>
                        <a:t>Integrated financial and mental health data using XGBoost and Random Forest, improving accuracy of loan approval prediction. </a:t>
                      </a:r>
                      <a:endParaRPr/>
                    </a:p>
                  </a:txBody>
                  <a:tcPr marT="41900" marB="41900" marR="61100" marL="61100" anchor="ctr">
                    <a:lnL cap="flat" cmpd="sng" w="140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0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0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0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Poppins Light"/>
                        <a:buNone/>
                      </a:pPr>
                      <a:r>
                        <a:rPr lang="en-US" sz="1600" u="none" cap="none" strike="noStrike">
                          <a:latin typeface="Poppins Light"/>
                          <a:ea typeface="Poppins Light"/>
                          <a:cs typeface="Poppins Light"/>
                          <a:sym typeface="Poppins Light"/>
                        </a:rPr>
                        <a:t>Supports use of XGBoost for high prediction accuracy in financial risk analysis. </a:t>
                      </a:r>
                      <a:endParaRPr/>
                    </a:p>
                  </a:txBody>
                  <a:tcPr marT="41900" marB="41900" marR="61100" marL="61100" anchor="ctr">
                    <a:lnL cap="flat" cmpd="sng" w="140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0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0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0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76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Poppins Light"/>
                        <a:buNone/>
                      </a:pPr>
                      <a:r>
                        <a:rPr lang="en-US" sz="1600" u="none" cap="none" strike="noStrike">
                          <a:latin typeface="Poppins Light"/>
                          <a:ea typeface="Poppins Light"/>
                          <a:cs typeface="Poppins Light"/>
                          <a:sym typeface="Poppins Light"/>
                        </a:rPr>
                        <a:t>Loan Forecast by Using Machine Learning  </a:t>
                      </a:r>
                      <a:br>
                        <a:rPr lang="en-US" sz="1600" u="none" cap="none" strike="noStrike">
                          <a:latin typeface="Poppins Light"/>
                          <a:ea typeface="Poppins Light"/>
                          <a:cs typeface="Poppins Light"/>
                          <a:sym typeface="Poppins Light"/>
                        </a:rPr>
                      </a:br>
                      <a:r>
                        <a:rPr lang="en-US" sz="1600" u="none" cap="none" strike="noStrike">
                          <a:latin typeface="Poppins Light"/>
                          <a:ea typeface="Poppins Light"/>
                          <a:cs typeface="Poppins Light"/>
                          <a:sym typeface="Poppins Light"/>
                        </a:rPr>
                        <a:t> </a:t>
                      </a:r>
                      <a:endParaRPr/>
                    </a:p>
                  </a:txBody>
                  <a:tcPr marT="41900" marB="41900" marR="61100" marL="61100" anchor="ctr">
                    <a:lnL cap="flat" cmpd="sng" w="140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0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0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0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Poppins Light"/>
                        <a:buNone/>
                      </a:pPr>
                      <a:r>
                        <a:rPr lang="en-US" sz="1600" u="none" cap="none" strike="noStrike">
                          <a:latin typeface="Poppins Light"/>
                          <a:ea typeface="Poppins Light"/>
                          <a:cs typeface="Poppins Light"/>
                          <a:sym typeface="Poppins Light"/>
                        </a:rPr>
                        <a:t>A. Kulothungan et al. </a:t>
                      </a:r>
                      <a:endParaRPr/>
                    </a:p>
                  </a:txBody>
                  <a:tcPr marT="41900" marB="41900" marR="61100" marL="61100" anchor="ctr">
                    <a:lnL cap="flat" cmpd="sng" w="140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0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0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0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Poppins Light"/>
                        <a:buNone/>
                      </a:pPr>
                      <a:r>
                        <a:rPr lang="en-US" sz="1600" u="none" cap="none" strike="noStrike">
                          <a:latin typeface="Poppins Light"/>
                          <a:ea typeface="Poppins Light"/>
                          <a:cs typeface="Poppins Light"/>
                          <a:sym typeface="Poppins Light"/>
                        </a:rPr>
                        <a:t>Used Decision Tree and Logistic Regression for loan forecasting, achieving ~77% accuracy. </a:t>
                      </a:r>
                      <a:endParaRPr/>
                    </a:p>
                  </a:txBody>
                  <a:tcPr marT="41900" marB="41900" marR="61100" marL="61100" anchor="ctr">
                    <a:lnL cap="flat" cmpd="sng" w="140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0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0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0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Poppins Light"/>
                        <a:buNone/>
                      </a:pPr>
                      <a:r>
                        <a:rPr lang="en-US" sz="1600" u="none" cap="none" strike="noStrike">
                          <a:latin typeface="Poppins Light"/>
                          <a:ea typeface="Poppins Light"/>
                          <a:cs typeface="Poppins Light"/>
                          <a:sym typeface="Poppins Light"/>
                        </a:rPr>
                        <a:t>Highlights the need for data preprocessing and ML-based automation for better predictions. </a:t>
                      </a:r>
                      <a:endParaRPr/>
                    </a:p>
                  </a:txBody>
                  <a:tcPr marT="41900" marB="41900" marR="61100" marL="61100" anchor="ctr">
                    <a:lnL cap="flat" cmpd="sng" w="140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0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0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0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76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Poppins Light"/>
                        <a:buNone/>
                      </a:pPr>
                      <a:r>
                        <a:rPr lang="en-US" sz="1600" u="none" cap="none" strike="noStrike">
                          <a:latin typeface="Poppins Light"/>
                          <a:ea typeface="Poppins Light"/>
                          <a:cs typeface="Poppins Light"/>
                          <a:sym typeface="Poppins Light"/>
                        </a:rPr>
                        <a:t>Loan Default Prediction Using Decision Trees and Random Forest: A Comparative Study  </a:t>
                      </a:r>
                      <a:br>
                        <a:rPr lang="en-US" sz="1600" u="none" cap="none" strike="noStrike">
                          <a:latin typeface="Poppins Light"/>
                          <a:ea typeface="Poppins Light"/>
                          <a:cs typeface="Poppins Light"/>
                          <a:sym typeface="Poppins Light"/>
                        </a:rPr>
                      </a:br>
                      <a:r>
                        <a:rPr lang="en-US" sz="1600" u="none" cap="none" strike="noStrike">
                          <a:latin typeface="Poppins Light"/>
                          <a:ea typeface="Poppins Light"/>
                          <a:cs typeface="Poppins Light"/>
                          <a:sym typeface="Poppins Light"/>
                        </a:rPr>
                        <a:t> </a:t>
                      </a:r>
                      <a:endParaRPr/>
                    </a:p>
                  </a:txBody>
                  <a:tcPr marT="41900" marB="41900" marR="61100" marL="61100" anchor="ctr">
                    <a:lnL cap="flat" cmpd="sng" w="140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0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0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0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Poppins Light"/>
                        <a:buNone/>
                      </a:pPr>
                      <a:r>
                        <a:rPr lang="en-US" sz="1600" u="none" cap="none" strike="noStrike">
                          <a:latin typeface="Poppins Light"/>
                          <a:ea typeface="Poppins Light"/>
                          <a:cs typeface="Poppins Light"/>
                          <a:sym typeface="Poppins Light"/>
                        </a:rPr>
                        <a:t>M. Madaan et al. </a:t>
                      </a:r>
                      <a:endParaRPr/>
                    </a:p>
                  </a:txBody>
                  <a:tcPr marT="41900" marB="41900" marR="61100" marL="61100" anchor="ctr">
                    <a:lnL cap="flat" cmpd="sng" w="140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0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0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0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Poppins Light"/>
                        <a:buNone/>
                      </a:pPr>
                      <a:r>
                        <a:rPr lang="en-US" sz="1600" u="none" cap="none" strike="noStrike">
                          <a:latin typeface="Poppins Light"/>
                          <a:ea typeface="Poppins Light"/>
                          <a:cs typeface="Poppins Light"/>
                          <a:sym typeface="Poppins Light"/>
                        </a:rPr>
                        <a:t>Found Random Forest more accurate (87% recall) than Decision Tree in predicting non-defaulters. </a:t>
                      </a:r>
                      <a:endParaRPr/>
                    </a:p>
                  </a:txBody>
                  <a:tcPr marT="41900" marB="41900" marR="61100" marL="61100" anchor="ctr">
                    <a:lnL cap="flat" cmpd="sng" w="140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0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0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0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Poppins Light"/>
                        <a:buNone/>
                      </a:pPr>
                      <a:r>
                        <a:rPr lang="en-US" sz="1600" u="none" cap="none" strike="noStrike">
                          <a:latin typeface="Poppins Light"/>
                          <a:ea typeface="Poppins Light"/>
                          <a:cs typeface="Poppins Light"/>
                          <a:sym typeface="Poppins Light"/>
                        </a:rPr>
                        <a:t>Supports use of ensemble learning for improved accuracy and reduced overfitting. </a:t>
                      </a:r>
                      <a:endParaRPr/>
                    </a:p>
                  </a:txBody>
                  <a:tcPr marT="41900" marB="41900" marR="61100" marL="61100" anchor="ctr">
                    <a:lnL cap="flat" cmpd="sng" w="140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0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0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0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76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Poppins Light"/>
                        <a:buNone/>
                      </a:pPr>
                      <a:r>
                        <a:rPr lang="en-US" sz="1600" u="none" cap="none" strike="noStrike">
                          <a:latin typeface="Poppins Light"/>
                          <a:ea typeface="Poppins Light"/>
                          <a:cs typeface="Poppins Light"/>
                          <a:sym typeface="Poppins Light"/>
                        </a:rPr>
                        <a:t>Loan Approval Prediction Based on Machine Learning Approach  </a:t>
                      </a:r>
                      <a:br>
                        <a:rPr lang="en-US" sz="1600" u="none" cap="none" strike="noStrike">
                          <a:latin typeface="Poppins Light"/>
                          <a:ea typeface="Poppins Light"/>
                          <a:cs typeface="Poppins Light"/>
                          <a:sym typeface="Poppins Light"/>
                        </a:rPr>
                      </a:br>
                      <a:r>
                        <a:rPr lang="en-US" sz="1600" u="none" cap="none" strike="noStrike">
                          <a:latin typeface="Poppins Light"/>
                          <a:ea typeface="Poppins Light"/>
                          <a:cs typeface="Poppins Light"/>
                          <a:sym typeface="Poppins Light"/>
                        </a:rPr>
                        <a:t> </a:t>
                      </a:r>
                      <a:endParaRPr/>
                    </a:p>
                  </a:txBody>
                  <a:tcPr marT="41900" marB="41900" marR="61100" marL="61100" anchor="ctr">
                    <a:lnL cap="flat" cmpd="sng" w="140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0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0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0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Poppins Light"/>
                        <a:buNone/>
                      </a:pPr>
                      <a:r>
                        <a:rPr lang="en-US" sz="1600" u="none" cap="none" strike="noStrike">
                          <a:latin typeface="Poppins Light"/>
                          <a:ea typeface="Poppins Light"/>
                          <a:cs typeface="Poppins Light"/>
                          <a:sym typeface="Poppins Light"/>
                        </a:rPr>
                        <a:t>N. A. Azeez and A. O. Emmanuel </a:t>
                      </a:r>
                      <a:endParaRPr/>
                    </a:p>
                  </a:txBody>
                  <a:tcPr marT="41900" marB="41900" marR="61100" marL="61100" anchor="ctr">
                    <a:lnL cap="flat" cmpd="sng" w="140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0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0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0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Poppins Light"/>
                        <a:buNone/>
                      </a:pPr>
                      <a:r>
                        <a:rPr lang="en-US" sz="1600" u="none" cap="none" strike="noStrike">
                          <a:latin typeface="Poppins Light"/>
                          <a:ea typeface="Poppins Light"/>
                          <a:cs typeface="Poppins Light"/>
                          <a:sym typeface="Poppins Light"/>
                        </a:rPr>
                        <a:t>Compared Decision Tree and Random Forest for loan approvals; Random Forest showed superior results. </a:t>
                      </a:r>
                      <a:endParaRPr/>
                    </a:p>
                  </a:txBody>
                  <a:tcPr marT="41900" marB="41900" marR="61100" marL="61100" anchor="ctr">
                    <a:lnL cap="flat" cmpd="sng" w="140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0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0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0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Poppins Light"/>
                        <a:buNone/>
                      </a:pPr>
                      <a:r>
                        <a:rPr lang="en-US" sz="1600" u="none" cap="none" strike="noStrike">
                          <a:latin typeface="Poppins Light"/>
                          <a:ea typeface="Poppins Light"/>
                          <a:cs typeface="Poppins Light"/>
                          <a:sym typeface="Poppins Light"/>
                        </a:rPr>
                        <a:t>Validates use of classification algorithms like Random Forest in loan eligibility systems. </a:t>
                      </a:r>
                      <a:endParaRPr/>
                    </a:p>
                  </a:txBody>
                  <a:tcPr marT="41900" marB="41900" marR="61100" marL="61100" anchor="ctr">
                    <a:lnL cap="flat" cmpd="sng" w="140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0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0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0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76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Poppins Light"/>
                        <a:buNone/>
                      </a:pPr>
                      <a:r>
                        <a:rPr lang="en-US" sz="1600" u="none" cap="none" strike="noStrike">
                          <a:latin typeface="Poppins Light"/>
                          <a:ea typeface="Poppins Light"/>
                          <a:cs typeface="Poppins Light"/>
                          <a:sym typeface="Poppins Light"/>
                        </a:rPr>
                        <a:t>A Machine Learning–Based Credit Risk Prediction Engine Using a Stacked Classifier  </a:t>
                      </a:r>
                      <a:br>
                        <a:rPr lang="en-US" sz="1600" u="none" cap="none" strike="noStrike">
                          <a:latin typeface="Poppins Light"/>
                          <a:ea typeface="Poppins Light"/>
                          <a:cs typeface="Poppins Light"/>
                          <a:sym typeface="Poppins Light"/>
                        </a:rPr>
                      </a:br>
                      <a:r>
                        <a:rPr lang="en-US" sz="1600" u="none" cap="none" strike="noStrike">
                          <a:latin typeface="Poppins Light"/>
                          <a:ea typeface="Poppins Light"/>
                          <a:cs typeface="Poppins Light"/>
                          <a:sym typeface="Poppins Light"/>
                        </a:rPr>
                        <a:t> </a:t>
                      </a:r>
                      <a:endParaRPr/>
                    </a:p>
                  </a:txBody>
                  <a:tcPr marT="41900" marB="41900" marR="61100" marL="61100" anchor="ctr">
                    <a:lnL cap="flat" cmpd="sng" w="140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0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0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0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Poppins Light"/>
                        <a:buNone/>
                      </a:pPr>
                      <a:r>
                        <a:rPr lang="en-US" sz="1600" u="none" cap="none" strike="noStrike">
                          <a:latin typeface="Poppins Light"/>
                          <a:ea typeface="Poppins Light"/>
                          <a:cs typeface="Poppins Light"/>
                          <a:sym typeface="Poppins Light"/>
                        </a:rPr>
                        <a:t>E. Ileberi </a:t>
                      </a:r>
                      <a:endParaRPr/>
                    </a:p>
                  </a:txBody>
                  <a:tcPr marT="41900" marB="41900" marR="61100" marL="61100" anchor="ctr">
                    <a:lnL cap="flat" cmpd="sng" w="140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0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0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0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Poppins Light"/>
                        <a:buNone/>
                      </a:pPr>
                      <a:r>
                        <a:rPr lang="en-US" sz="1600" u="none" cap="none" strike="noStrike">
                          <a:latin typeface="Poppins Light"/>
                          <a:ea typeface="Poppins Light"/>
                          <a:cs typeface="Poppins Light"/>
                          <a:sym typeface="Poppins Light"/>
                        </a:rPr>
                        <a:t>Proposed a stacked ensemble model improving credit risk prediction accuracy and efficiency. </a:t>
                      </a:r>
                      <a:endParaRPr/>
                    </a:p>
                  </a:txBody>
                  <a:tcPr marT="41900" marB="41900" marR="61100" marL="61100" anchor="ctr">
                    <a:lnL cap="flat" cmpd="sng" w="140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0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0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0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Poppins Light"/>
                        <a:buNone/>
                      </a:pPr>
                      <a:r>
                        <a:rPr lang="en-US" sz="1600" u="none" cap="none" strike="noStrike">
                          <a:latin typeface="Poppins Light"/>
                          <a:ea typeface="Poppins Light"/>
                          <a:cs typeface="Poppins Light"/>
                          <a:sym typeface="Poppins Light"/>
                        </a:rPr>
                        <a:t>Encourages use of ensemble and stacked models for robust prediction. </a:t>
                      </a:r>
                      <a:endParaRPr/>
                    </a:p>
                  </a:txBody>
                  <a:tcPr marT="41900" marB="41900" marR="61100" marL="61100" anchor="ctr">
                    <a:lnL cap="flat" cmpd="sng" w="140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0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0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0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46" name="Google Shape;446;p7"/>
          <p:cNvGraphicFramePr/>
          <p:nvPr/>
        </p:nvGraphicFramePr>
        <p:xfrm>
          <a:off x="372000" y="294000"/>
          <a:ext cx="3000000" cy="3000000"/>
        </p:xfrm>
        <a:graphic>
          <a:graphicData uri="http://schemas.openxmlformats.org/drawingml/2006/table">
            <a:tbl>
              <a:tblPr bandRow="1">
                <a:noFill/>
                <a:tableStyleId>{2E29EFD4-32B1-4B74-9AB9-EFE21AC81FB4}</a:tableStyleId>
              </a:tblPr>
              <a:tblGrid>
                <a:gridCol w="3853000"/>
                <a:gridCol w="1602300"/>
                <a:gridCol w="3396850"/>
                <a:gridCol w="2585025"/>
              </a:tblGrid>
              <a:tr h="600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600"/>
                        <a:buFont typeface="Poppins Light"/>
                        <a:buNone/>
                      </a:pPr>
                      <a:r>
                        <a:rPr b="1" lang="en-US" sz="1600" u="none" cap="none" strike="noStrike">
                          <a:solidFill>
                            <a:schemeClr val="lt1"/>
                          </a:solidFill>
                          <a:latin typeface="Poppins Light"/>
                          <a:ea typeface="Poppins Light"/>
                          <a:cs typeface="Poppins Light"/>
                          <a:sym typeface="Poppins Light"/>
                        </a:rPr>
                        <a:t>Paper Name </a:t>
                      </a:r>
                      <a:endParaRPr/>
                    </a:p>
                  </a:txBody>
                  <a:tcPr marT="41900" marB="41900" marR="61100" marL="61100" anchor="ctr">
                    <a:lnL cap="flat" cmpd="sng" w="140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0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0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0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B7BB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600"/>
                        <a:buFont typeface="Poppins Light"/>
                        <a:buNone/>
                      </a:pPr>
                      <a:r>
                        <a:rPr b="1" lang="en-US" sz="1600" u="none" cap="none" strike="noStrike">
                          <a:solidFill>
                            <a:schemeClr val="lt1"/>
                          </a:solidFill>
                          <a:latin typeface="Poppins Light"/>
                          <a:ea typeface="Poppins Light"/>
                          <a:cs typeface="Poppins Light"/>
                          <a:sym typeface="Poppins Light"/>
                        </a:rPr>
                        <a:t>Author(s) </a:t>
                      </a:r>
                      <a:endParaRPr/>
                    </a:p>
                  </a:txBody>
                  <a:tcPr marT="41900" marB="41900" marR="61100" marL="61100" anchor="ctr">
                    <a:lnL cap="flat" cmpd="sng" w="140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0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0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0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B7BB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600"/>
                        <a:buFont typeface="Poppins Light"/>
                        <a:buNone/>
                      </a:pPr>
                      <a:r>
                        <a:rPr b="1" lang="en-US" sz="1600" u="none" cap="none" strike="noStrike">
                          <a:solidFill>
                            <a:schemeClr val="lt1"/>
                          </a:solidFill>
                          <a:latin typeface="Poppins Light"/>
                          <a:ea typeface="Poppins Light"/>
                          <a:cs typeface="Poppins Light"/>
                          <a:sym typeface="Poppins Light"/>
                        </a:rPr>
                        <a:t>Key Findings </a:t>
                      </a:r>
                      <a:endParaRPr/>
                    </a:p>
                  </a:txBody>
                  <a:tcPr marT="41900" marB="41900" marR="61100" marL="61100" anchor="ctr">
                    <a:lnL cap="flat" cmpd="sng" w="140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0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0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0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B7BB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600"/>
                        <a:buFont typeface="Poppins Light"/>
                        <a:buNone/>
                      </a:pPr>
                      <a:r>
                        <a:rPr b="1" lang="en-US" sz="1600" u="none" cap="none" strike="noStrike">
                          <a:solidFill>
                            <a:schemeClr val="lt1"/>
                          </a:solidFill>
                          <a:latin typeface="Poppins Light"/>
                          <a:ea typeface="Poppins Light"/>
                          <a:cs typeface="Poppins Light"/>
                          <a:sym typeface="Poppins Light"/>
                        </a:rPr>
                        <a:t>Relation to Our Project </a:t>
                      </a:r>
                      <a:endParaRPr/>
                    </a:p>
                  </a:txBody>
                  <a:tcPr marT="41900" marB="41900" marR="61100" marL="61100" anchor="ctr">
                    <a:lnL cap="flat" cmpd="sng" w="140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0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0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0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B7BB0"/>
                    </a:solidFill>
                  </a:tcPr>
                </a:tc>
              </a:tr>
              <a:tr h="11343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Poppins Light"/>
                        <a:buNone/>
                      </a:pPr>
                      <a:r>
                        <a:rPr b="0" i="0" lang="en-US" sz="1600" u="none" cap="none" strike="noStrike">
                          <a:solidFill>
                            <a:srgbClr val="000000"/>
                          </a:solidFill>
                          <a:latin typeface="Poppins Light"/>
                          <a:ea typeface="Poppins Light"/>
                          <a:cs typeface="Poppins Light"/>
                          <a:sym typeface="Poppins Light"/>
                        </a:rPr>
                        <a:t>Data-Driven Loan Default Prediction: A Machine Learning Approach  </a:t>
                      </a:r>
                      <a:br>
                        <a:rPr b="0" i="0" lang="en-US" sz="1600" u="none" cap="none" strike="noStrike">
                          <a:solidFill>
                            <a:srgbClr val="000000"/>
                          </a:solidFill>
                          <a:latin typeface="Poppins Light"/>
                          <a:ea typeface="Poppins Light"/>
                          <a:cs typeface="Poppins Light"/>
                          <a:sym typeface="Poppins Light"/>
                        </a:rPr>
                      </a:br>
                      <a:r>
                        <a:rPr b="0" i="0" lang="en-US" sz="1600" u="none" cap="none" strike="noStrike">
                          <a:solidFill>
                            <a:srgbClr val="000000"/>
                          </a:solidFill>
                          <a:latin typeface="Poppins Light"/>
                          <a:ea typeface="Poppins Light"/>
                          <a:cs typeface="Poppins Light"/>
                          <a:sym typeface="Poppins Light"/>
                        </a:rPr>
                        <a:t> </a:t>
                      </a:r>
                      <a:endParaRPr/>
                    </a:p>
                  </a:txBody>
                  <a:tcPr marT="45725" marB="45725" marR="66675" marL="66675" anchor="ctr">
                    <a:lnL cap="flat" cmpd="sng" w="140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0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0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0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Poppins Light"/>
                        <a:buNone/>
                      </a:pPr>
                      <a:r>
                        <a:rPr b="0" i="0" lang="en-US" sz="1600" u="none" cap="none" strike="noStrike">
                          <a:solidFill>
                            <a:srgbClr val="000000"/>
                          </a:solidFill>
                          <a:latin typeface="Poppins Light"/>
                          <a:ea typeface="Poppins Light"/>
                          <a:cs typeface="Poppins Light"/>
                          <a:sym typeface="Poppins Light"/>
                        </a:rPr>
                        <a:t>Systems Editorial Board </a:t>
                      </a:r>
                      <a:endParaRPr/>
                    </a:p>
                  </a:txBody>
                  <a:tcPr marT="45725" marB="45725" marR="66675" marL="66675" anchor="ctr">
                    <a:lnL cap="flat" cmpd="sng" w="140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0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0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0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Poppins Light"/>
                        <a:buNone/>
                      </a:pPr>
                      <a:r>
                        <a:rPr b="0" i="0" lang="en-US" sz="1600" u="none" cap="none" strike="noStrike">
                          <a:solidFill>
                            <a:srgbClr val="000000"/>
                          </a:solidFill>
                          <a:latin typeface="Poppins Light"/>
                          <a:ea typeface="Poppins Light"/>
                          <a:cs typeface="Poppins Light"/>
                          <a:sym typeface="Poppins Light"/>
                        </a:rPr>
                        <a:t>Implemented data-driven ML techniques to achieve &gt;90% accuracy in default prediction. </a:t>
                      </a:r>
                      <a:endParaRPr/>
                    </a:p>
                  </a:txBody>
                  <a:tcPr marT="45725" marB="45725" marR="66675" marL="66675" anchor="ctr">
                    <a:lnL cap="flat" cmpd="sng" w="140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0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0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0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Poppins Light"/>
                        <a:buNone/>
                      </a:pPr>
                      <a:r>
                        <a:rPr b="0" i="0" lang="en-US" sz="1600" u="none" cap="none" strike="noStrike">
                          <a:solidFill>
                            <a:srgbClr val="000000"/>
                          </a:solidFill>
                          <a:latin typeface="Poppins Light"/>
                          <a:ea typeface="Poppins Light"/>
                          <a:cs typeface="Poppins Light"/>
                          <a:sym typeface="Poppins Light"/>
                        </a:rPr>
                        <a:t>Reinforces importance of data preprocessing and parameter tuning. </a:t>
                      </a:r>
                      <a:endParaRPr/>
                    </a:p>
                  </a:txBody>
                  <a:tcPr marT="45725" marB="45725" marR="66675" marL="66675" anchor="ctr">
                    <a:lnL cap="flat" cmpd="sng" w="140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0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0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0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343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Poppins Light"/>
                        <a:buNone/>
                      </a:pPr>
                      <a:r>
                        <a:rPr b="0" i="0" lang="en-US" sz="1600" u="none" cap="none" strike="noStrike">
                          <a:solidFill>
                            <a:srgbClr val="000000"/>
                          </a:solidFill>
                          <a:latin typeface="Poppins Light"/>
                          <a:ea typeface="Poppins Light"/>
                          <a:cs typeface="Poppins Light"/>
                          <a:sym typeface="Poppins Light"/>
                        </a:rPr>
                        <a:t>Machine Learning for Credit Risk Prediction: A Systematic Literature Review  </a:t>
                      </a:r>
                      <a:br>
                        <a:rPr b="0" i="0" lang="en-US" sz="1600" u="none" cap="none" strike="noStrike">
                          <a:solidFill>
                            <a:srgbClr val="000000"/>
                          </a:solidFill>
                          <a:latin typeface="Poppins Light"/>
                          <a:ea typeface="Poppins Light"/>
                          <a:cs typeface="Poppins Light"/>
                          <a:sym typeface="Poppins Light"/>
                        </a:rPr>
                      </a:br>
                      <a:r>
                        <a:rPr b="0" i="0" lang="en-US" sz="1600" u="none" cap="none" strike="noStrike">
                          <a:solidFill>
                            <a:srgbClr val="000000"/>
                          </a:solidFill>
                          <a:latin typeface="Poppins Light"/>
                          <a:ea typeface="Poppins Light"/>
                          <a:cs typeface="Poppins Light"/>
                          <a:sym typeface="Poppins Light"/>
                        </a:rPr>
                        <a:t> </a:t>
                      </a:r>
                      <a:endParaRPr/>
                    </a:p>
                  </a:txBody>
                  <a:tcPr marT="45725" marB="45725" marR="66675" marL="66675" anchor="ctr">
                    <a:lnL cap="flat" cmpd="sng" w="140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0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0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0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Poppins Light"/>
                        <a:buNone/>
                      </a:pPr>
                      <a:r>
                        <a:rPr b="0" i="0" lang="en-US" sz="1600" u="none" cap="none" strike="noStrike">
                          <a:solidFill>
                            <a:srgbClr val="000000"/>
                          </a:solidFill>
                          <a:latin typeface="Poppins Light"/>
                          <a:ea typeface="Poppins Light"/>
                          <a:cs typeface="Poppins Light"/>
                          <a:sym typeface="Poppins Light"/>
                        </a:rPr>
                        <a:t>R. Rahman et al. </a:t>
                      </a:r>
                      <a:endParaRPr/>
                    </a:p>
                  </a:txBody>
                  <a:tcPr marT="45725" marB="45725" marR="66675" marL="66675" anchor="ctr">
                    <a:lnL cap="flat" cmpd="sng" w="140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0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0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0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Poppins Light"/>
                        <a:buNone/>
                      </a:pPr>
                      <a:r>
                        <a:rPr b="0" i="0" lang="en-US" sz="1600" u="none" cap="none" strike="noStrike">
                          <a:solidFill>
                            <a:srgbClr val="000000"/>
                          </a:solidFill>
                          <a:latin typeface="Poppins Light"/>
                          <a:ea typeface="Poppins Light"/>
                          <a:cs typeface="Poppins Light"/>
                          <a:sym typeface="Poppins Light"/>
                        </a:rPr>
                        <a:t>Reviewed ML algorithms for credit risk; highlighted XGBoost and Random Forest as most reliable. </a:t>
                      </a:r>
                      <a:endParaRPr/>
                    </a:p>
                  </a:txBody>
                  <a:tcPr marT="45725" marB="45725" marR="66675" marL="66675" anchor="ctr">
                    <a:lnL cap="flat" cmpd="sng" w="140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0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0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0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Poppins Light"/>
                        <a:buNone/>
                      </a:pPr>
                      <a:r>
                        <a:rPr b="0" i="0" lang="en-US" sz="1600" u="none" cap="none" strike="noStrike">
                          <a:solidFill>
                            <a:srgbClr val="000000"/>
                          </a:solidFill>
                          <a:latin typeface="Poppins Light"/>
                          <a:ea typeface="Poppins Light"/>
                          <a:cs typeface="Poppins Light"/>
                          <a:sym typeface="Poppins Light"/>
                        </a:rPr>
                        <a:t>Confirms that XGBoost is widely adopted for financial classification tasks. </a:t>
                      </a:r>
                      <a:endParaRPr/>
                    </a:p>
                  </a:txBody>
                  <a:tcPr marT="45725" marB="45725" marR="66675" marL="66675" anchor="ctr">
                    <a:lnL cap="flat" cmpd="sng" w="140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0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0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0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343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Poppins Light"/>
                        <a:buNone/>
                      </a:pPr>
                      <a:r>
                        <a:rPr b="0" i="0" lang="en-US" sz="1600" u="none" cap="none" strike="noStrike">
                          <a:solidFill>
                            <a:srgbClr val="000000"/>
                          </a:solidFill>
                          <a:latin typeface="Poppins Light"/>
                          <a:ea typeface="Poppins Light"/>
                          <a:cs typeface="Poppins Light"/>
                          <a:sym typeface="Poppins Light"/>
                        </a:rPr>
                        <a:t>A Secure Bank Loan Prediction System by Bridging Differential Privacy  </a:t>
                      </a:r>
                      <a:br>
                        <a:rPr b="0" i="0" lang="en-US" sz="1600" u="none" cap="none" strike="noStrike">
                          <a:solidFill>
                            <a:srgbClr val="000000"/>
                          </a:solidFill>
                          <a:latin typeface="Poppins Light"/>
                          <a:ea typeface="Poppins Light"/>
                          <a:cs typeface="Poppins Light"/>
                          <a:sym typeface="Poppins Light"/>
                        </a:rPr>
                      </a:br>
                      <a:r>
                        <a:rPr b="0" i="0" lang="en-US" sz="1600" u="none" cap="none" strike="noStrike">
                          <a:solidFill>
                            <a:srgbClr val="000000"/>
                          </a:solidFill>
                          <a:latin typeface="Poppins Light"/>
                          <a:ea typeface="Poppins Light"/>
                          <a:cs typeface="Poppins Light"/>
                          <a:sym typeface="Poppins Light"/>
                        </a:rPr>
                        <a:t> </a:t>
                      </a:r>
                      <a:endParaRPr/>
                    </a:p>
                  </a:txBody>
                  <a:tcPr marT="45725" marB="45725" marR="66675" marL="66675" anchor="ctr">
                    <a:lnL cap="flat" cmpd="sng" w="140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0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0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0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Poppins Light"/>
                        <a:buNone/>
                      </a:pPr>
                      <a:r>
                        <a:rPr b="0" i="0" lang="en-US" sz="1600" u="none" cap="none" strike="noStrike">
                          <a:solidFill>
                            <a:srgbClr val="000000"/>
                          </a:solidFill>
                          <a:latin typeface="Poppins Light"/>
                          <a:ea typeface="Poppins Light"/>
                          <a:cs typeface="Poppins Light"/>
                          <a:sym typeface="Poppins Light"/>
                        </a:rPr>
                        <a:t>J. Zhang et al. </a:t>
                      </a:r>
                      <a:endParaRPr/>
                    </a:p>
                  </a:txBody>
                  <a:tcPr marT="45725" marB="45725" marR="66675" marL="66675" anchor="ctr">
                    <a:lnL cap="flat" cmpd="sng" w="140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0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0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0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Poppins Light"/>
                        <a:buNone/>
                      </a:pPr>
                      <a:r>
                        <a:rPr b="0" i="0" lang="en-US" sz="1600" u="none" cap="none" strike="noStrike">
                          <a:solidFill>
                            <a:srgbClr val="000000"/>
                          </a:solidFill>
                          <a:latin typeface="Poppins Light"/>
                          <a:ea typeface="Poppins Light"/>
                          <a:cs typeface="Poppins Light"/>
                          <a:sym typeface="Poppins Light"/>
                        </a:rPr>
                        <a:t>Focused on data privacy while predicting loan approvals using ML. </a:t>
                      </a:r>
                      <a:endParaRPr/>
                    </a:p>
                  </a:txBody>
                  <a:tcPr marT="45725" marB="45725" marR="66675" marL="66675" anchor="ctr">
                    <a:lnL cap="flat" cmpd="sng" w="140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0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0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0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Poppins Light"/>
                        <a:buNone/>
                      </a:pPr>
                      <a:r>
                        <a:rPr b="0" i="0" lang="en-US" sz="1600" u="none" cap="none" strike="noStrike">
                          <a:solidFill>
                            <a:srgbClr val="000000"/>
                          </a:solidFill>
                          <a:latin typeface="Poppins Light"/>
                          <a:ea typeface="Poppins Light"/>
                          <a:cs typeface="Poppins Light"/>
                          <a:sym typeface="Poppins Light"/>
                        </a:rPr>
                        <a:t>Emphasizes importance of data security and privacy in financial ML models. </a:t>
                      </a:r>
                      <a:endParaRPr/>
                    </a:p>
                  </a:txBody>
                  <a:tcPr marT="45725" marB="45725" marR="66675" marL="66675" anchor="ctr">
                    <a:lnL cap="flat" cmpd="sng" w="140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0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0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0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343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Poppins Light"/>
                        <a:buNone/>
                      </a:pPr>
                      <a:r>
                        <a:rPr b="0" i="0" lang="en-US" sz="1600" u="none" cap="none" strike="noStrike">
                          <a:solidFill>
                            <a:srgbClr val="000000"/>
                          </a:solidFill>
                          <a:latin typeface="Poppins Light"/>
                          <a:ea typeface="Poppins Light"/>
                          <a:cs typeface="Poppins Light"/>
                          <a:sym typeface="Poppins Light"/>
                        </a:rPr>
                        <a:t>Credit Risk Prediction Using Machine Learning and Deep Learning  </a:t>
                      </a:r>
                      <a:br>
                        <a:rPr b="0" i="0" lang="en-US" sz="1600" u="none" cap="none" strike="noStrike">
                          <a:solidFill>
                            <a:srgbClr val="000000"/>
                          </a:solidFill>
                          <a:latin typeface="Poppins Light"/>
                          <a:ea typeface="Poppins Light"/>
                          <a:cs typeface="Poppins Light"/>
                          <a:sym typeface="Poppins Light"/>
                        </a:rPr>
                      </a:br>
                      <a:r>
                        <a:rPr b="0" i="0" lang="en-US" sz="1600" u="none" cap="none" strike="noStrike">
                          <a:solidFill>
                            <a:srgbClr val="000000"/>
                          </a:solidFill>
                          <a:latin typeface="Poppins Light"/>
                          <a:ea typeface="Poppins Light"/>
                          <a:cs typeface="Poppins Light"/>
                          <a:sym typeface="Poppins Light"/>
                        </a:rPr>
                        <a:t> </a:t>
                      </a:r>
                      <a:endParaRPr/>
                    </a:p>
                  </a:txBody>
                  <a:tcPr marT="45725" marB="45725" marR="66675" marL="66675" anchor="ctr">
                    <a:lnL cap="flat" cmpd="sng" w="140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0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0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0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Poppins Light"/>
                        <a:buNone/>
                      </a:pPr>
                      <a:r>
                        <a:rPr b="0" i="0" lang="en-US" sz="1600" u="none" cap="none" strike="noStrike">
                          <a:solidFill>
                            <a:srgbClr val="000000"/>
                          </a:solidFill>
                          <a:latin typeface="Poppins Light"/>
                          <a:ea typeface="Poppins Light"/>
                          <a:cs typeface="Poppins Light"/>
                          <a:sym typeface="Poppins Light"/>
                        </a:rPr>
                        <a:t>M. Patel et al. </a:t>
                      </a:r>
                      <a:endParaRPr/>
                    </a:p>
                  </a:txBody>
                  <a:tcPr marT="45725" marB="45725" marR="66675" marL="66675" anchor="ctr">
                    <a:lnL cap="flat" cmpd="sng" w="140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0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0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0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Poppins Light"/>
                        <a:buNone/>
                      </a:pPr>
                      <a:r>
                        <a:rPr b="0" i="0" lang="en-US" sz="1600" u="none" cap="none" strike="noStrike">
                          <a:solidFill>
                            <a:srgbClr val="000000"/>
                          </a:solidFill>
                          <a:latin typeface="Poppins Light"/>
                          <a:ea typeface="Poppins Light"/>
                          <a:cs typeface="Poppins Light"/>
                          <a:sym typeface="Poppins Light"/>
                        </a:rPr>
                        <a:t>Compared ML and DL models; found ML models faster and equally accurate for credit risk prediction. </a:t>
                      </a:r>
                      <a:endParaRPr/>
                    </a:p>
                  </a:txBody>
                  <a:tcPr marT="45725" marB="45725" marR="66675" marL="66675" anchor="ctr">
                    <a:lnL cap="flat" cmpd="sng" w="140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0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0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0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Poppins Light"/>
                        <a:buNone/>
                      </a:pPr>
                      <a:r>
                        <a:rPr b="0" i="0" lang="en-US" sz="1600" u="none" cap="none" strike="noStrike">
                          <a:solidFill>
                            <a:srgbClr val="000000"/>
                          </a:solidFill>
                          <a:latin typeface="Poppins Light"/>
                          <a:ea typeface="Poppins Light"/>
                          <a:cs typeface="Poppins Light"/>
                          <a:sym typeface="Poppins Light"/>
                        </a:rPr>
                        <a:t>Justifies use of ML (XGBoost) over complex DL models for efficiency. </a:t>
                      </a:r>
                      <a:endParaRPr/>
                    </a:p>
                  </a:txBody>
                  <a:tcPr marT="45725" marB="45725" marR="66675" marL="66675" anchor="ctr">
                    <a:lnL cap="flat" cmpd="sng" w="140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0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0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0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343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Poppins Light"/>
                        <a:buNone/>
                      </a:pPr>
                      <a:r>
                        <a:rPr b="0" i="0" lang="en-US" sz="1600" u="none" cap="none" strike="noStrike">
                          <a:solidFill>
                            <a:srgbClr val="000000"/>
                          </a:solidFill>
                          <a:latin typeface="Poppins Light"/>
                          <a:ea typeface="Poppins Light"/>
                          <a:cs typeface="Poppins Light"/>
                          <a:sym typeface="Poppins Light"/>
                        </a:rPr>
                        <a:t>An Ensemble Machine Learning–Based Bank Loan Approval Prediction System  </a:t>
                      </a:r>
                      <a:br>
                        <a:rPr b="0" i="0" lang="en-US" sz="1600" u="none" cap="none" strike="noStrike">
                          <a:solidFill>
                            <a:srgbClr val="000000"/>
                          </a:solidFill>
                          <a:latin typeface="Poppins Light"/>
                          <a:ea typeface="Poppins Light"/>
                          <a:cs typeface="Poppins Light"/>
                          <a:sym typeface="Poppins Light"/>
                        </a:rPr>
                      </a:br>
                      <a:r>
                        <a:rPr b="0" i="0" lang="en-US" sz="1600" u="none" cap="none" strike="noStrike">
                          <a:solidFill>
                            <a:srgbClr val="000000"/>
                          </a:solidFill>
                          <a:latin typeface="Poppins Light"/>
                          <a:ea typeface="Poppins Light"/>
                          <a:cs typeface="Poppins Light"/>
                          <a:sym typeface="Poppins Light"/>
                        </a:rPr>
                        <a:t> </a:t>
                      </a:r>
                      <a:endParaRPr/>
                    </a:p>
                  </a:txBody>
                  <a:tcPr marT="45725" marB="45725" marR="66675" marL="66675" anchor="ctr">
                    <a:lnL cap="flat" cmpd="sng" w="140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0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0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0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Poppins Light"/>
                        <a:buNone/>
                      </a:pPr>
                      <a:r>
                        <a:rPr b="0" i="0" lang="en-US" sz="1600" u="none" cap="none" strike="noStrike">
                          <a:solidFill>
                            <a:srgbClr val="000000"/>
                          </a:solidFill>
                          <a:latin typeface="Poppins Light"/>
                          <a:ea typeface="Poppins Light"/>
                          <a:cs typeface="Poppins Light"/>
                          <a:sym typeface="Poppins Light"/>
                        </a:rPr>
                        <a:t>K. Bansal et al. </a:t>
                      </a:r>
                      <a:endParaRPr/>
                    </a:p>
                  </a:txBody>
                  <a:tcPr marT="45725" marB="45725" marR="66675" marL="66675" anchor="ctr">
                    <a:lnL cap="flat" cmpd="sng" w="140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0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0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0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Poppins Light"/>
                        <a:buNone/>
                      </a:pPr>
                      <a:r>
                        <a:rPr b="0" i="0" lang="en-US" sz="1600" u="none" cap="none" strike="noStrike">
                          <a:solidFill>
                            <a:srgbClr val="000000"/>
                          </a:solidFill>
                          <a:latin typeface="Poppins Light"/>
                          <a:ea typeface="Poppins Light"/>
                          <a:cs typeface="Poppins Light"/>
                          <a:sym typeface="Poppins Light"/>
                        </a:rPr>
                        <a:t>Developed ensemble ML system achieving 93% accuracy for loan approval prediction. </a:t>
                      </a:r>
                      <a:endParaRPr/>
                    </a:p>
                  </a:txBody>
                  <a:tcPr marT="45725" marB="45725" marR="66675" marL="66675" anchor="ctr">
                    <a:lnL cap="flat" cmpd="sng" w="140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0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0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0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Poppins Light"/>
                        <a:buNone/>
                      </a:pPr>
                      <a:r>
                        <a:rPr b="0" i="0" lang="en-US" sz="1600" u="none" cap="none" strike="noStrike">
                          <a:solidFill>
                            <a:srgbClr val="000000"/>
                          </a:solidFill>
                          <a:latin typeface="Poppins Light"/>
                          <a:ea typeface="Poppins Light"/>
                          <a:cs typeface="Poppins Light"/>
                          <a:sym typeface="Poppins Light"/>
                        </a:rPr>
                        <a:t>Directly aligns with our loan eligibility model using ensemble algorithms. </a:t>
                      </a:r>
                      <a:endParaRPr/>
                    </a:p>
                  </a:txBody>
                  <a:tcPr marT="45725" marB="45725" marR="66675" marL="66675" anchor="ctr">
                    <a:lnL cap="flat" cmpd="sng" w="140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0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0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0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8"/>
          <p:cNvSpPr txBox="1"/>
          <p:nvPr>
            <p:ph idx="1" type="body"/>
          </p:nvPr>
        </p:nvSpPr>
        <p:spPr>
          <a:xfrm>
            <a:off x="1507371" y="1248720"/>
            <a:ext cx="8593017" cy="217496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</a:pPr>
            <a:r>
              <a:rPr lang="en-US" sz="3600">
                <a:latin typeface="Times New Roman"/>
                <a:ea typeface="Times New Roman"/>
                <a:cs typeface="Times New Roman"/>
                <a:sym typeface="Times New Roman"/>
              </a:rPr>
              <a:t>PLANNING </a:t>
            </a:r>
            <a:endParaRPr sz="3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</a:pPr>
            <a:r>
              <a:rPr lang="en-US" sz="3600">
                <a:latin typeface="Times New Roman"/>
                <a:ea typeface="Times New Roman"/>
                <a:cs typeface="Times New Roman"/>
                <a:sym typeface="Times New Roman"/>
              </a:rPr>
              <a:t>AND </a:t>
            </a:r>
            <a:endParaRPr sz="3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</a:pPr>
            <a:r>
              <a:rPr lang="en-US" sz="3600">
                <a:latin typeface="Times New Roman"/>
                <a:ea typeface="Times New Roman"/>
                <a:cs typeface="Times New Roman"/>
                <a:sym typeface="Times New Roman"/>
              </a:rPr>
              <a:t>DESIGN OF WORK</a:t>
            </a:r>
            <a:endParaRPr sz="3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56" name="Google Shape;456;p9"/>
          <p:cNvGraphicFramePr/>
          <p:nvPr/>
        </p:nvGraphicFramePr>
        <p:xfrm>
          <a:off x="671465" y="475307"/>
          <a:ext cx="3000000" cy="3000000"/>
        </p:xfrm>
        <a:graphic>
          <a:graphicData uri="http://schemas.openxmlformats.org/drawingml/2006/table">
            <a:tbl>
              <a:tblPr bandRow="1">
                <a:noFill/>
                <a:tableStyleId>{2E29EFD4-32B1-4B74-9AB9-EFE21AC81FB4}</a:tableStyleId>
              </a:tblPr>
              <a:tblGrid>
                <a:gridCol w="863325"/>
                <a:gridCol w="5781225"/>
                <a:gridCol w="4332075"/>
              </a:tblGrid>
              <a:tr h="2865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178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Poppins Light"/>
                        <a:buNone/>
                      </a:pPr>
                      <a:r>
                        <a:rPr b="0" lang="en-US" sz="1400" u="none" cap="none" strike="noStrike">
                          <a:solidFill>
                            <a:srgbClr val="000000"/>
                          </a:solidFill>
                          <a:latin typeface="Poppins Light"/>
                          <a:ea typeface="Poppins Light"/>
                          <a:cs typeface="Poppins Light"/>
                          <a:sym typeface="Poppins Light"/>
                        </a:rPr>
                        <a:t>Week</a:t>
                      </a:r>
                      <a:endParaRPr b="1" sz="1400" u="none" cap="none" strike="noStrike">
                        <a:solidFill>
                          <a:srgbClr val="FFFFFF"/>
                        </a:solidFill>
                        <a:latin typeface="Poppins Light"/>
                        <a:ea typeface="Poppins Light"/>
                        <a:cs typeface="Poppins Light"/>
                        <a:sym typeface="Poppins Light"/>
                      </a:endParaRPr>
                    </a:p>
                  </a:txBody>
                  <a:tcPr marT="47025" marB="47025" marR="47025" marL="47025">
                    <a:lnL cap="flat" cmpd="sng" w="9525">
                      <a:solidFill>
                        <a:srgbClr val="901E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01E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01E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016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178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Poppins Light"/>
                        <a:buNone/>
                      </a:pPr>
                      <a:r>
                        <a:rPr b="0" lang="en-US" sz="1400" u="none" cap="none" strike="noStrike">
                          <a:solidFill>
                            <a:srgbClr val="000000"/>
                          </a:solidFill>
                          <a:latin typeface="Poppins Light"/>
                          <a:ea typeface="Poppins Light"/>
                          <a:cs typeface="Poppins Light"/>
                          <a:sym typeface="Poppins Light"/>
                        </a:rPr>
                        <a:t>Task Overview</a:t>
                      </a:r>
                      <a:endParaRPr b="1" sz="1400" u="none" cap="none" strike="noStrike">
                        <a:solidFill>
                          <a:srgbClr val="FFFFFF"/>
                        </a:solidFill>
                        <a:latin typeface="Poppins Light"/>
                        <a:ea typeface="Poppins Light"/>
                        <a:cs typeface="Poppins Light"/>
                        <a:sym typeface="Poppins Light"/>
                      </a:endParaRPr>
                    </a:p>
                  </a:txBody>
                  <a:tcPr marT="47025" marB="47025" marR="47025" marL="47025">
                    <a:lnL cap="flat" cmpd="sng" w="9525">
                      <a:solidFill>
                        <a:srgbClr val="401E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01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01E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024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178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Poppins Light"/>
                        <a:buNone/>
                      </a:pPr>
                      <a:r>
                        <a:rPr b="0" lang="en-US" sz="1400" u="none" cap="none" strike="noStrike">
                          <a:solidFill>
                            <a:srgbClr val="000000"/>
                          </a:solidFill>
                          <a:latin typeface="Poppins Light"/>
                          <a:ea typeface="Poppins Light"/>
                          <a:cs typeface="Poppins Light"/>
                          <a:sym typeface="Poppins Light"/>
                        </a:rPr>
                        <a:t>Tools / Technologies</a:t>
                      </a:r>
                      <a:endParaRPr b="1" sz="1400" u="none" cap="none" strike="noStrike">
                        <a:solidFill>
                          <a:srgbClr val="FFFFFF"/>
                        </a:solidFill>
                        <a:latin typeface="Poppins Light"/>
                        <a:ea typeface="Poppins Light"/>
                        <a:cs typeface="Poppins Light"/>
                        <a:sym typeface="Poppins Light"/>
                      </a:endParaRPr>
                    </a:p>
                  </a:txBody>
                  <a:tcPr marT="47025" marB="47025" marR="47025" marL="47025">
                    <a:lnL cap="flat" cmpd="sng" w="9525">
                      <a:solidFill>
                        <a:srgbClr val="801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01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01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038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34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178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Poppins Light"/>
                        <a:buNone/>
                      </a:pPr>
                      <a:r>
                        <a:rPr lang="en-US" sz="1400" u="none" cap="none" strike="noStrike">
                          <a:latin typeface="Poppins Light"/>
                          <a:ea typeface="Poppins Light"/>
                          <a:cs typeface="Poppins Light"/>
                          <a:sym typeface="Poppins Light"/>
                        </a:rPr>
                        <a:t>1</a:t>
                      </a:r>
                      <a:endParaRPr/>
                    </a:p>
                  </a:txBody>
                  <a:tcPr marT="28225" marB="28225" marR="47025" marL="47025" anchor="ctr">
                    <a:lnL cap="flat" cmpd="sng" w="9525">
                      <a:solidFill>
                        <a:srgbClr val="2016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024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016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502C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178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Poppins Light"/>
                        <a:buNone/>
                      </a:pPr>
                      <a:r>
                        <a:rPr lang="en-US" sz="1400" u="none" cap="none" strike="noStrike">
                          <a:latin typeface="Poppins Light"/>
                          <a:ea typeface="Poppins Light"/>
                          <a:cs typeface="Poppins Light"/>
                          <a:sym typeface="Poppins Light"/>
                        </a:rPr>
                        <a:t>- Understood loan eligibility problem and project scope.</a:t>
                      </a:r>
                      <a:br>
                        <a:rPr lang="en-US" sz="1400" u="none" cap="none" strike="noStrike">
                          <a:latin typeface="Poppins Light"/>
                          <a:ea typeface="Poppins Light"/>
                          <a:cs typeface="Poppins Light"/>
                          <a:sym typeface="Poppins Light"/>
                        </a:rPr>
                      </a:br>
                      <a:r>
                        <a:rPr lang="en-US" sz="1400" u="none" cap="none" strike="noStrike">
                          <a:latin typeface="Poppins Light"/>
                          <a:ea typeface="Poppins Light"/>
                          <a:cs typeface="Poppins Light"/>
                          <a:sym typeface="Poppins Light"/>
                        </a:rPr>
                        <a:t>- Conducted domain research on credit scoring and predictive analytics.</a:t>
                      </a:r>
                      <a:br>
                        <a:rPr lang="en-US" sz="1400" u="none" cap="none" strike="noStrike">
                          <a:latin typeface="Poppins Light"/>
                          <a:ea typeface="Poppins Light"/>
                          <a:cs typeface="Poppins Light"/>
                          <a:sym typeface="Poppins Light"/>
                        </a:rPr>
                      </a:br>
                      <a:r>
                        <a:rPr lang="en-US" sz="1400" u="none" cap="none" strike="noStrike">
                          <a:latin typeface="Poppins Light"/>
                          <a:ea typeface="Poppins Light"/>
                          <a:cs typeface="Poppins Light"/>
                          <a:sym typeface="Poppins Light"/>
                        </a:rPr>
                        <a:t>- Set up Python environment and version control system.</a:t>
                      </a:r>
                      <a:br>
                        <a:rPr lang="en-US" sz="1400" u="none" cap="none" strike="noStrike">
                          <a:latin typeface="Poppins Light"/>
                          <a:ea typeface="Poppins Light"/>
                          <a:cs typeface="Poppins Light"/>
                          <a:sym typeface="Poppins Light"/>
                        </a:rPr>
                      </a:br>
                      <a:r>
                        <a:rPr lang="en-US" sz="1400" u="none" cap="none" strike="noStrike">
                          <a:latin typeface="Poppins Light"/>
                          <a:ea typeface="Poppins Light"/>
                          <a:cs typeface="Poppins Light"/>
                          <a:sym typeface="Poppins Light"/>
                        </a:rPr>
                        <a:t>- Installed key libraries and prepared project plan.</a:t>
                      </a:r>
                      <a:endParaRPr/>
                    </a:p>
                  </a:txBody>
                  <a:tcPr marT="28225" marB="28225" marR="47025" marL="47025" anchor="ctr">
                    <a:lnL cap="flat" cmpd="sng" w="9525">
                      <a:solidFill>
                        <a:srgbClr val="8024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038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024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03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178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Poppins Light"/>
                        <a:buNone/>
                      </a:pPr>
                      <a:r>
                        <a:rPr lang="en-US" sz="1400" u="none" cap="none" strike="noStrike">
                          <a:latin typeface="Poppins Light"/>
                          <a:ea typeface="Poppins Light"/>
                          <a:cs typeface="Poppins Light"/>
                          <a:sym typeface="Poppins Light"/>
                        </a:rPr>
                        <a:t>Python, VSCode, Git/GitHub</a:t>
                      </a:r>
                      <a:endParaRPr/>
                    </a:p>
                  </a:txBody>
                  <a:tcPr marT="28225" marB="28225" marR="47025" marL="47025" anchor="ctr">
                    <a:lnL cap="flat" cmpd="sng" w="9525">
                      <a:solidFill>
                        <a:srgbClr val="8038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038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038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3B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34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178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Poppins Light"/>
                        <a:buNone/>
                      </a:pPr>
                      <a:r>
                        <a:rPr lang="en-US" sz="1400" u="none" cap="none" strike="noStrike">
                          <a:latin typeface="Poppins Light"/>
                          <a:ea typeface="Poppins Light"/>
                          <a:cs typeface="Poppins Light"/>
                          <a:sym typeface="Poppins Light"/>
                        </a:rPr>
                        <a:t>2</a:t>
                      </a:r>
                      <a:endParaRPr/>
                    </a:p>
                  </a:txBody>
                  <a:tcPr marT="28225" marB="28225" marR="47025" marL="47025" anchor="ctr">
                    <a:lnL cap="flat" cmpd="sng" w="9525">
                      <a:solidFill>
                        <a:srgbClr val="502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03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502C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29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178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Poppins Light"/>
                        <a:buNone/>
                      </a:pPr>
                      <a:r>
                        <a:rPr lang="en-US" sz="1400" u="none" cap="none" strike="noStrike">
                          <a:latin typeface="Poppins Light"/>
                          <a:ea typeface="Poppins Light"/>
                          <a:cs typeface="Poppins Light"/>
                          <a:sym typeface="Poppins Light"/>
                        </a:rPr>
                        <a:t>- Generated synthetic loan applicant data to simulate real-world scenarios.</a:t>
                      </a:r>
                      <a:br>
                        <a:rPr lang="en-US" sz="1400" u="none" cap="none" strike="noStrike">
                          <a:latin typeface="Poppins Light"/>
                          <a:ea typeface="Poppins Light"/>
                          <a:cs typeface="Poppins Light"/>
                          <a:sym typeface="Poppins Light"/>
                        </a:rPr>
                      </a:br>
                      <a:r>
                        <a:rPr lang="en-US" sz="1400" u="none" cap="none" strike="noStrike">
                          <a:latin typeface="Poppins Light"/>
                          <a:ea typeface="Poppins Light"/>
                          <a:cs typeface="Poppins Light"/>
                          <a:sym typeface="Poppins Light"/>
                        </a:rPr>
                        <a:t>- Preprocessed data: cleansing, encoding categorical features, feature engineering.</a:t>
                      </a:r>
                      <a:br>
                        <a:rPr lang="en-US" sz="1400" u="none" cap="none" strike="noStrike">
                          <a:latin typeface="Poppins Light"/>
                          <a:ea typeface="Poppins Light"/>
                          <a:cs typeface="Poppins Light"/>
                          <a:sym typeface="Poppins Light"/>
                        </a:rPr>
                      </a:br>
                      <a:r>
                        <a:rPr lang="en-US" sz="1400" u="none" cap="none" strike="noStrike">
                          <a:latin typeface="Poppins Light"/>
                          <a:ea typeface="Poppins Light"/>
                          <a:cs typeface="Poppins Light"/>
                          <a:sym typeface="Poppins Light"/>
                        </a:rPr>
                        <a:t>- Performed exploratory data analysis to identify patterns affecting loan approval.</a:t>
                      </a:r>
                      <a:endParaRPr/>
                    </a:p>
                  </a:txBody>
                  <a:tcPr marT="28225" marB="28225" marR="47025" marL="47025" anchor="ctr">
                    <a:lnL cap="flat" cmpd="sng" w="9525">
                      <a:solidFill>
                        <a:srgbClr val="603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3B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03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37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178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Poppins Light"/>
                        <a:buNone/>
                      </a:pPr>
                      <a:r>
                        <a:rPr lang="en-US" sz="1400" u="none" cap="none" strike="noStrike">
                          <a:latin typeface="Poppins Light"/>
                          <a:ea typeface="Poppins Light"/>
                          <a:cs typeface="Poppins Light"/>
                          <a:sym typeface="Poppins Light"/>
                        </a:rPr>
                        <a:t>pandas, numpy, scikit-learn, matplotlib, seaborn</a:t>
                      </a:r>
                      <a:endParaRPr/>
                    </a:p>
                  </a:txBody>
                  <a:tcPr marT="28225" marB="28225" marR="47025" marL="47025" anchor="ctr">
                    <a:lnL cap="flat" cmpd="sng" w="9525">
                      <a:solidFill>
                        <a:srgbClr val="003B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3B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3B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03B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67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178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Poppins Light"/>
                        <a:buNone/>
                      </a:pPr>
                      <a:r>
                        <a:rPr lang="en-US" sz="1400" u="none" cap="none" strike="noStrike">
                          <a:latin typeface="Poppins Light"/>
                          <a:ea typeface="Poppins Light"/>
                          <a:cs typeface="Poppins Light"/>
                          <a:sym typeface="Poppins Light"/>
                        </a:rPr>
                        <a:t>3</a:t>
                      </a:r>
                      <a:endParaRPr/>
                    </a:p>
                  </a:txBody>
                  <a:tcPr marT="28225" marB="28225" marR="47025" marL="47025" anchor="ctr">
                    <a:lnL cap="flat" cmpd="sng" w="9525">
                      <a:solidFill>
                        <a:srgbClr val="D029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37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29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03C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178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Poppins Light"/>
                        <a:buNone/>
                      </a:pPr>
                      <a:r>
                        <a:rPr lang="en-US" sz="1400" u="none" cap="none" strike="noStrike">
                          <a:latin typeface="Poppins Light"/>
                          <a:ea typeface="Poppins Light"/>
                          <a:cs typeface="Poppins Light"/>
                          <a:sym typeface="Poppins Light"/>
                        </a:rPr>
                        <a:t>- Developed and fine-tuned machine learning models including advanced XGBoost classifier.</a:t>
                      </a:r>
                      <a:br>
                        <a:rPr lang="en-US" sz="1400" u="none" cap="none" strike="noStrike">
                          <a:latin typeface="Poppins Light"/>
                          <a:ea typeface="Poppins Light"/>
                          <a:cs typeface="Poppins Light"/>
                          <a:sym typeface="Poppins Light"/>
                        </a:rPr>
                      </a:br>
                      <a:r>
                        <a:rPr lang="en-US" sz="1400" u="none" cap="none" strike="noStrike">
                          <a:latin typeface="Poppins Light"/>
                          <a:ea typeface="Poppins Light"/>
                          <a:cs typeface="Poppins Light"/>
                          <a:sym typeface="Poppins Light"/>
                        </a:rPr>
                        <a:t>- Implemented hyperparameter tuning via grid search and cross-validation.</a:t>
                      </a:r>
                      <a:br>
                        <a:rPr lang="en-US" sz="1400" u="none" cap="none" strike="noStrike">
                          <a:latin typeface="Poppins Light"/>
                          <a:ea typeface="Poppins Light"/>
                          <a:cs typeface="Poppins Light"/>
                          <a:sym typeface="Poppins Light"/>
                        </a:rPr>
                      </a:br>
                      <a:r>
                        <a:rPr lang="en-US" sz="1400" u="none" cap="none" strike="noStrike">
                          <a:latin typeface="Poppins Light"/>
                          <a:ea typeface="Poppins Light"/>
                          <a:cs typeface="Poppins Light"/>
                          <a:sym typeface="Poppins Light"/>
                        </a:rPr>
                        <a:t>- Evaluated models using multiple metrics including accuracy, precision, recall, F1-score, and ROC-AUC.</a:t>
                      </a:r>
                      <a:br>
                        <a:rPr lang="en-US" sz="1400" u="none" cap="none" strike="noStrike">
                          <a:latin typeface="Poppins Light"/>
                          <a:ea typeface="Poppins Light"/>
                          <a:cs typeface="Poppins Light"/>
                          <a:sym typeface="Poppins Light"/>
                        </a:rPr>
                      </a:br>
                      <a:r>
                        <a:rPr lang="en-US" sz="1400" u="none" cap="none" strike="noStrike">
                          <a:latin typeface="Poppins Light"/>
                          <a:ea typeface="Poppins Light"/>
                          <a:cs typeface="Poppins Light"/>
                          <a:sym typeface="Poppins Light"/>
                        </a:rPr>
                        <a:t>- Saved trained models and preprocessing pipelines for deployment.</a:t>
                      </a:r>
                      <a:endParaRPr/>
                    </a:p>
                  </a:txBody>
                  <a:tcPr marT="28225" marB="28225" marR="47025" marL="47025" anchor="ctr">
                    <a:lnL cap="flat" cmpd="sng" w="9525">
                      <a:solidFill>
                        <a:srgbClr val="E037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03B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37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04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178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Poppins Light"/>
                        <a:buNone/>
                      </a:pPr>
                      <a:r>
                        <a:rPr lang="en-US" sz="1400" u="none" cap="none" strike="noStrike">
                          <a:latin typeface="Poppins Light"/>
                          <a:ea typeface="Poppins Light"/>
                          <a:cs typeface="Poppins Light"/>
                          <a:sym typeface="Poppins Light"/>
                        </a:rPr>
                        <a:t>scikit-learn, XGBoost, joblib, Jupyter Notebook</a:t>
                      </a:r>
                      <a:endParaRPr/>
                    </a:p>
                  </a:txBody>
                  <a:tcPr marT="28225" marB="28225" marR="47025" marL="47025" anchor="ctr">
                    <a:lnL cap="flat" cmpd="sng" w="9525">
                      <a:solidFill>
                        <a:srgbClr val="F03B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03B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03B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044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67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178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Poppins Light"/>
                        <a:buNone/>
                      </a:pPr>
                      <a:r>
                        <a:rPr lang="en-US" sz="1400" u="none" cap="none" strike="noStrike">
                          <a:latin typeface="Poppins Light"/>
                          <a:ea typeface="Poppins Light"/>
                          <a:cs typeface="Poppins Light"/>
                          <a:sym typeface="Poppins Light"/>
                        </a:rPr>
                        <a:t>4</a:t>
                      </a:r>
                      <a:endParaRPr/>
                    </a:p>
                  </a:txBody>
                  <a:tcPr marT="28225" marB="28225" marR="47025" marL="47025" anchor="ctr">
                    <a:lnL cap="flat" cmpd="sng" w="9525">
                      <a:solidFill>
                        <a:srgbClr val="903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04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03C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03C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178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Poppins Light"/>
                        <a:buNone/>
                      </a:pPr>
                      <a:r>
                        <a:rPr lang="en-US" sz="1400" u="none" cap="none" strike="noStrike">
                          <a:latin typeface="Poppins Light"/>
                          <a:ea typeface="Poppins Light"/>
                          <a:cs typeface="Poppins Light"/>
                          <a:sym typeface="Poppins Light"/>
                        </a:rPr>
                        <a:t>- Integrated the trained model into a user-friendly Streamlit app for real-time loan eligibility prediction.</a:t>
                      </a:r>
                      <a:br>
                        <a:rPr lang="en-US" sz="1400" u="none" cap="none" strike="noStrike">
                          <a:latin typeface="Poppins Light"/>
                          <a:ea typeface="Poppins Light"/>
                          <a:cs typeface="Poppins Light"/>
                          <a:sym typeface="Poppins Light"/>
                        </a:rPr>
                      </a:br>
                      <a:r>
                        <a:rPr lang="en-US" sz="1400" u="none" cap="none" strike="noStrike">
                          <a:latin typeface="Poppins Light"/>
                          <a:ea typeface="Poppins Light"/>
                          <a:cs typeface="Poppins Light"/>
                          <a:sym typeface="Poppins Light"/>
                        </a:rPr>
                        <a:t>- Added dynamic bank loan offer recommendation feature based on synthetic/generated offers.</a:t>
                      </a:r>
                      <a:br>
                        <a:rPr lang="en-US" sz="1400" u="none" cap="none" strike="noStrike">
                          <a:latin typeface="Poppins Light"/>
                          <a:ea typeface="Poppins Light"/>
                          <a:cs typeface="Poppins Light"/>
                          <a:sym typeface="Poppins Light"/>
                        </a:rPr>
                      </a:br>
                      <a:r>
                        <a:rPr lang="en-US" sz="1400" u="none" cap="none" strike="noStrike">
                          <a:latin typeface="Poppins Light"/>
                          <a:ea typeface="Poppins Light"/>
                          <a:cs typeface="Poppins Light"/>
                          <a:sym typeface="Poppins Light"/>
                        </a:rPr>
                        <a:t>- Enhanced UI with interactive visualizations and charts.</a:t>
                      </a:r>
                      <a:br>
                        <a:rPr lang="en-US" sz="1400" u="none" cap="none" strike="noStrike">
                          <a:latin typeface="Poppins Light"/>
                          <a:ea typeface="Poppins Light"/>
                          <a:cs typeface="Poppins Light"/>
                          <a:sym typeface="Poppins Light"/>
                        </a:rPr>
                      </a:br>
                      <a:r>
                        <a:rPr lang="en-US" sz="1400" u="none" cap="none" strike="noStrike">
                          <a:latin typeface="Poppins Light"/>
                          <a:ea typeface="Poppins Light"/>
                          <a:cs typeface="Poppins Light"/>
                          <a:sym typeface="Poppins Light"/>
                        </a:rPr>
                        <a:t>- Conducted user testing and finalized documentation and deployment processes.</a:t>
                      </a:r>
                      <a:endParaRPr/>
                    </a:p>
                  </a:txBody>
                  <a:tcPr marT="28225" marB="28225" marR="47025" marL="47025" anchor="ctr">
                    <a:lnL cap="flat" cmpd="sng" w="9525">
                      <a:solidFill>
                        <a:srgbClr val="A04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044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04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04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178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Poppins Light"/>
                        <a:buNone/>
                      </a:pPr>
                      <a:r>
                        <a:rPr lang="en-US" sz="1400" u="none" cap="none" strike="noStrike">
                          <a:latin typeface="Poppins Light"/>
                          <a:ea typeface="Poppins Light"/>
                          <a:cs typeface="Poppins Light"/>
                          <a:sym typeface="Poppins Light"/>
                        </a:rPr>
                        <a:t>Streamlit, matplotlib, plotly, Python, joblib, Git</a:t>
                      </a:r>
                      <a:endParaRPr/>
                    </a:p>
                  </a:txBody>
                  <a:tcPr marT="28225" marB="28225" marR="47025" marL="47025" anchor="ctr">
                    <a:lnL cap="flat" cmpd="sng" w="9525">
                      <a:solidFill>
                        <a:srgbClr val="B044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044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044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044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10"/>
          <p:cNvSpPr txBox="1"/>
          <p:nvPr/>
        </p:nvSpPr>
        <p:spPr>
          <a:xfrm>
            <a:off x="576000" y="1437000"/>
            <a:ext cx="10878000" cy="46235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28600" lvl="0" marL="2286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en-US" sz="18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Programming Language:</a:t>
            </a:r>
            <a:r>
              <a:rPr lang="en-US" sz="18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 Python 3.x for its strong machine learning and data analysis ecosystem.</a:t>
            </a:r>
            <a:endParaRPr/>
          </a:p>
          <a:p>
            <a:pPr indent="-228600" lvl="0" marL="2286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en-US" sz="18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Data Science Libraries:</a:t>
            </a:r>
            <a:r>
              <a:rPr lang="en-US" sz="18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 pandas, NumPy for preprocessing; scikit-learn &amp; XGBoost for model building and evaluation.</a:t>
            </a:r>
            <a:endParaRPr sz="18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-228600" lvl="0" marL="2286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en-US" sz="18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Model Optimization:</a:t>
            </a:r>
            <a:r>
              <a:rPr lang="en-US" sz="18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 GridSearchCV for hyperparameter tuning.</a:t>
            </a:r>
            <a:endParaRPr sz="18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-228600" lvl="0" marL="2286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en-US" sz="18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Visualization Tools:</a:t>
            </a:r>
            <a:r>
              <a:rPr lang="en-US" sz="18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 matplotlib &amp; plotly for interactive charts and insights.</a:t>
            </a:r>
            <a:endParaRPr sz="18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-228600" lvl="0" marL="2286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en-US" sz="18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Application Framework:</a:t>
            </a:r>
            <a:r>
              <a:rPr lang="en-US" sz="18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 Streamlit for building and deploying the interactive loan eligibility dashboard.</a:t>
            </a:r>
            <a:endParaRPr sz="18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-228600" lvl="0" marL="2286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en-US" sz="18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Model Deployment:</a:t>
            </a:r>
            <a:r>
              <a:rPr lang="en-US" sz="18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 joblib for saving and loading the trained model, scaler, and encoders.</a:t>
            </a:r>
            <a:endParaRPr sz="18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-228600" lvl="0" marL="2286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en-US" sz="18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Environment Management:</a:t>
            </a:r>
            <a:r>
              <a:rPr lang="en-US" sz="18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 requirements.txt for dependency installation and reproducibility.</a:t>
            </a:r>
            <a:endParaRPr sz="18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462" name="Google Shape;462;p10"/>
          <p:cNvSpPr txBox="1"/>
          <p:nvPr/>
        </p:nvSpPr>
        <p:spPr>
          <a:xfrm>
            <a:off x="3313603" y="657386"/>
            <a:ext cx="7348396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Implementation and Testing</a:t>
            </a:r>
            <a:endParaRPr b="1"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11"/>
          <p:cNvSpPr txBox="1"/>
          <p:nvPr/>
        </p:nvSpPr>
        <p:spPr>
          <a:xfrm>
            <a:off x="4279603" y="447386"/>
            <a:ext cx="3064396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Code snippet</a:t>
            </a:r>
            <a:endParaRPr sz="18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468" name="Google Shape;468;p11"/>
          <p:cNvSpPr txBox="1"/>
          <p:nvPr/>
        </p:nvSpPr>
        <p:spPr>
          <a:xfrm>
            <a:off x="529544" y="1027663"/>
            <a:ext cx="6595128" cy="4832092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st.markdown("### 🔑 Key Factors Analysis")</a:t>
            </a:r>
            <a:endParaRPr sz="11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            factor_col1, factor_col2, factor_col3 = st.columns(3) with factor_col1:</a:t>
            </a:r>
            <a:endParaRPr sz="11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                cibil_status = "✅ Excellent" if cibil_score &gt;= 750 else "⚠️ Needs Improvement" if cibil_score &gt;= 650 else "❌ Poor"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                st.metric("CIBIL Score", f"{cibil_score}", cibil_status)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            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            with factor_col2: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                dti_status = "✅ Good" if debt_to_income_ratio &lt;= 0.4 else "⚠️ High" if debt_to_income_ratio &lt;= 0.6 else "❌ Very High"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                st.metric("Debt-to-Income Ratio", f"{debt_to_income_ratio:.2%}", dti_status)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            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            with factor_col3: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                lti_status = "✅ Reasonable" if loan_to_income_ratio &lt;= 3 else "⚠️ High" if loan_to_income_ratio &lt;= 5 else "❌ Very High"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                st.metric("Loan-to-Income Ratio", f"{loan_to_income_ratio:.2f}x", lti_status)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   #</a:t>
            </a:r>
            <a:r>
              <a:rPr b="1" lang="en-US" sz="11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 Credit History (7 points)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    if row['Credit_History_Years'] &gt;= 5: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        score += 7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    elif row['Credit_History_Years'] &gt;= 3: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        score += 4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    elif row['Credit_History_Years'] &gt;= 1: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        score += 2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    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    </a:t>
            </a:r>
            <a:endParaRPr sz="11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469" name="Google Shape;469;p11"/>
          <p:cNvSpPr txBox="1"/>
          <p:nvPr/>
        </p:nvSpPr>
        <p:spPr>
          <a:xfrm>
            <a:off x="7339306" y="1018039"/>
            <a:ext cx="4203861" cy="4093428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# </a:t>
            </a:r>
            <a:r>
              <a:rPr b="1" lang="en-US" sz="11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Existing Loans penalty</a:t>
            </a:r>
            <a:endParaRPr b="1" sz="11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    if row['Existing_Loans'] == 0:</a:t>
            </a:r>
            <a:endParaRPr sz="11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        score += 5</a:t>
            </a:r>
            <a:endParaRPr sz="11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    elif row['Existing_Loans'] == 1:</a:t>
            </a:r>
            <a:endParaRPr sz="11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        score += 2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    elif row['Existing_Loans'] &gt;= 2: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        score -= 8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    </a:t>
            </a:r>
            <a:endParaRPr sz="11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    #</a:t>
            </a:r>
            <a:r>
              <a:rPr b="1" lang="en-US" sz="11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 Loan Amount vs Income (critical)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    if row['Loan_to_Income_Ratio'] &gt; 6:</a:t>
            </a:r>
            <a:endParaRPr sz="11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        score -= 20</a:t>
            </a:r>
            <a:endParaRPr sz="11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    elif row['Loan_to_Income_Ratio'] &gt; 4:</a:t>
            </a:r>
            <a:endParaRPr sz="11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        score -= 12</a:t>
            </a:r>
            <a:endParaRPr sz="11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    elif row['Loan_to_Income_Ratio'] &gt; 3:</a:t>
            </a:r>
            <a:endParaRPr sz="11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        score -= 5</a:t>
            </a:r>
            <a:endParaRPr sz="11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    </a:t>
            </a:r>
            <a:endParaRPr sz="11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    #</a:t>
            </a:r>
            <a:r>
              <a:rPr b="1" lang="en-US" sz="11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 Property Ownership bonus</a:t>
            </a:r>
            <a:endParaRPr b="1" sz="11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    if row['Property_Ownership'] == 'Owned':</a:t>
            </a:r>
            <a:endParaRPr sz="11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        score += 5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    elif row['Property_Ownership'] == 'Mortgaged':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        score += 2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12"/>
          <p:cNvSpPr txBox="1"/>
          <p:nvPr>
            <p:ph type="title"/>
          </p:nvPr>
        </p:nvSpPr>
        <p:spPr>
          <a:xfrm>
            <a:off x="868838" y="2621802"/>
            <a:ext cx="4361688" cy="16496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Lora"/>
              <a:buNone/>
            </a:pPr>
            <a:r>
              <a:rPr lang="en-US"/>
              <a:t>PROCESS</a:t>
            </a:r>
            <a:br>
              <a:rPr lang="en-US"/>
            </a:br>
            <a:r>
              <a:rPr lang="en-US"/>
              <a:t>FLOW</a:t>
            </a:r>
            <a:endParaRPr/>
          </a:p>
        </p:txBody>
      </p:sp>
      <p:pic>
        <p:nvPicPr>
          <p:cNvPr descr="A close-up of a building&#10;&#10;AI-generated content may be incorrect." id="475" name="Google Shape;475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34665" y="1098582"/>
            <a:ext cx="4969977" cy="4721193"/>
          </a:xfrm>
          <a:prstGeom prst="ellipse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13"/>
          <p:cNvSpPr txBox="1"/>
          <p:nvPr/>
        </p:nvSpPr>
        <p:spPr>
          <a:xfrm>
            <a:off x="528000" y="621000"/>
            <a:ext cx="11106000" cy="5355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 Light"/>
              <a:buAutoNum type="arabicPeriod"/>
            </a:pPr>
            <a:r>
              <a:rPr b="1" lang="en-US" sz="18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Synthetic Data Construction:</a:t>
            </a:r>
            <a:br>
              <a:rPr b="1" lang="en-US" sz="18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b="1" lang="en-US" sz="18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 Designed a rich synthetic dataset of 8,000 applicants, covering a wide range of </a:t>
            </a:r>
            <a:r>
              <a:rPr lang="en-US" sz="18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demographic, financial, and behavioral characteristics essential for loan assessment.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 Light"/>
              <a:buAutoNum type="arabicPeriod"/>
            </a:pPr>
            <a:r>
              <a:rPr b="1" lang="en-US" sz="18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Feature Engineering &amp; Preprocessing:</a:t>
            </a:r>
            <a:br>
              <a:rPr b="1" lang="en-US" sz="18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b="1" lang="en-US" sz="18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 Enhanced raw data by creating meaningful ratios such as debt-to-income and experience-</a:t>
            </a:r>
            <a:r>
              <a:rPr lang="en-US" sz="18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to-age. Encoded categorical values and normalized numerical fields to build a clean, uniform dataset.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 Light"/>
              <a:buAutoNum type="arabicPeriod"/>
            </a:pPr>
            <a:r>
              <a:rPr b="1" lang="en-US" sz="18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Model Building &amp; Hyperparameter Tuning:</a:t>
            </a:r>
            <a:br>
              <a:rPr b="1" lang="en-US" sz="18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b="1" lang="en-US" sz="18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 Implemented the </a:t>
            </a:r>
            <a:r>
              <a:rPr lang="en-US" sz="18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XGBoost classifier and fine-tuned it using GridSearchCV and cross-validation to achieve high accuracy and strong generalization.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 Light"/>
              <a:buAutoNum type="arabicPeriod"/>
            </a:pPr>
            <a:r>
              <a:rPr b="1" lang="en-US" sz="18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Model Validation &amp; Insights:</a:t>
            </a:r>
            <a:br>
              <a:rPr b="1" lang="en-US" sz="18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b="1" lang="en-US" sz="18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 Evaluated performance through metrics like precision, recall, F1-score, ROC-AUC, and </a:t>
            </a:r>
            <a:r>
              <a:rPr lang="en-US" sz="18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analyzed the confusion matrix to understand prediction behavior and refine decision boundaries.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 Light"/>
              <a:buAutoNum type="arabicPeriod"/>
            </a:pPr>
            <a:r>
              <a:rPr b="1" lang="en-US" sz="18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Application Development &amp; Deployment:</a:t>
            </a:r>
            <a:br>
              <a:rPr b="1" lang="en-US" sz="18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b="1" lang="en-US" sz="18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 Integrated the optimized model into a </a:t>
            </a:r>
            <a:r>
              <a:rPr lang="en-US" sz="18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Streamlit app, enabling users to get real-time eligibility checks, tailored loan recommendations, and instant EMI calculations through an intuitive interface.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14"/>
          <p:cNvSpPr txBox="1"/>
          <p:nvPr/>
        </p:nvSpPr>
        <p:spPr>
          <a:xfrm>
            <a:off x="420000" y="1065000"/>
            <a:ext cx="11556000" cy="67403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en-US" sz="18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Functional Testing:</a:t>
            </a:r>
            <a:endParaRPr b="1" sz="18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-342900" lvl="1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urier New"/>
              <a:buChar char="o"/>
            </a:pPr>
            <a:r>
              <a:rPr b="0" i="0" lang="en-US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Checked all user inputs (CIBIL score, income, loan amount, EMI, etc.) for valid ranges and proper error handling.</a:t>
            </a:r>
            <a:endParaRPr b="0" i="0" sz="1800" u="none" cap="none" strike="noStrike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-342900" lvl="1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urier New"/>
              <a:buChar char="o"/>
            </a:pPr>
            <a:r>
              <a:rPr b="0" i="0" lang="en-US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Verified that eligibility predictions, EMI outputs, and loan recommendations behaved correctly across multiple user scenarios.</a:t>
            </a:r>
            <a:endParaRPr b="0" i="0" sz="1800" u="none" cap="none" strike="noStrike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en-US" sz="18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Model Validation:</a:t>
            </a:r>
            <a:endParaRPr b="1" sz="18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-342900" lvl="1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urier New"/>
              <a:buChar char="o"/>
            </a:pPr>
            <a:r>
              <a:rPr b="0" i="0" lang="en-US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Evaluated the ML model using an 80–20 train–test split with strong results: </a:t>
            </a:r>
            <a:r>
              <a:rPr b="1" i="0" lang="en-US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Accuracy: 90.8%</a:t>
            </a:r>
            <a:r>
              <a:rPr b="0" i="0" lang="en-US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, </a:t>
            </a:r>
            <a:r>
              <a:rPr b="1" i="0" lang="en-US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Precision: 88.4%</a:t>
            </a:r>
            <a:r>
              <a:rPr b="0" i="0" lang="en-US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, </a:t>
            </a:r>
            <a:r>
              <a:rPr b="1" i="0" lang="en-US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Recall: 87.9%</a:t>
            </a:r>
            <a:r>
              <a:rPr b="0" i="0" lang="en-US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, </a:t>
            </a:r>
            <a:r>
              <a:rPr b="1" i="0" lang="en-US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F1-score: 88.1%</a:t>
            </a:r>
            <a:r>
              <a:rPr b="0" i="0" lang="en-US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.</a:t>
            </a:r>
            <a:endParaRPr b="0" i="0" sz="1800" u="none" cap="none" strike="noStrike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-342900" lvl="1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urier New"/>
              <a:buChar char="o"/>
            </a:pPr>
            <a:r>
              <a:rPr b="0" i="0" lang="en-US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Used confusion matrix insights to study true/false predictions and adjust thresholds to improve classification quality.</a:t>
            </a:r>
            <a:endParaRPr b="0" i="0" sz="1800" u="none" cap="none" strike="noStrike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en-US" sz="18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User Testing:</a:t>
            </a:r>
            <a:endParaRPr sz="18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-342900" lvl="1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urier New"/>
              <a:buChar char="o"/>
            </a:pPr>
            <a:r>
              <a:rPr b="0" i="0" lang="en-US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Performed hands-on testing on the Streamlit app to ensure fast response times andcleardisplay of results such as approval status and EMI details.</a:t>
            </a:r>
            <a:endParaRPr/>
          </a:p>
          <a:p>
            <a:pPr indent="-342900" lvl="1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urier New"/>
              <a:buChar char="o"/>
            </a:pPr>
            <a:r>
              <a:rPr b="0" i="0" lang="en-US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Gathered peer feedback to refine UI layout, improve readability, and enhance theoveralluser experience.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en-US" sz="18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Confusion Matrix :</a:t>
            </a:r>
            <a:endParaRPr sz="18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-342900" lvl="1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urier New"/>
              <a:buChar char="o"/>
            </a:pPr>
            <a:r>
              <a:rPr b="0" i="0" lang="en-US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A detailed confusion matrix analysis revealed patterns in true and falseclassifications,guiding threshold fine-tuning to enhance model accuracy and minimizeerrors.</a:t>
            </a:r>
            <a:endParaRPr/>
          </a:p>
          <a:p>
            <a:pPr indent="-2286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-171450" lvl="1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urier New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-2286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-2286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-2286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486" name="Google Shape;486;p14"/>
          <p:cNvSpPr txBox="1"/>
          <p:nvPr/>
        </p:nvSpPr>
        <p:spPr>
          <a:xfrm>
            <a:off x="3559603" y="477386"/>
            <a:ext cx="7348396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Testing and Validation</a:t>
            </a:r>
            <a:endParaRPr sz="18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15"/>
          <p:cNvSpPr/>
          <p:nvPr/>
        </p:nvSpPr>
        <p:spPr>
          <a:xfrm>
            <a:off x="662734" y="2445639"/>
            <a:ext cx="5127171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Times New Roman"/>
              <a:buNone/>
            </a:pPr>
            <a:r>
              <a:rPr lang="en-US" sz="4800">
                <a:solidFill>
                  <a:srgbClr val="3F3F3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Result &amp; Analysis</a:t>
            </a:r>
            <a:endParaRPr/>
          </a:p>
        </p:txBody>
      </p:sp>
      <p:pic>
        <p:nvPicPr>
          <p:cNvPr descr="A person typing on a computer&#10;&#10;AI-generated content may be incorrect." id="492" name="Google Shape;492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90375" y="979120"/>
            <a:ext cx="5477348" cy="5020470"/>
          </a:xfrm>
          <a:prstGeom prst="ellipse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97" name="Google Shape;497;p16"/>
          <p:cNvGraphicFramePr/>
          <p:nvPr/>
        </p:nvGraphicFramePr>
        <p:xfrm>
          <a:off x="1314000" y="8100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{2E29EFD4-32B1-4B74-9AB9-EFE21AC81FB4}</a:tableStyleId>
              </a:tblPr>
              <a:tblGrid>
                <a:gridCol w="2248325"/>
                <a:gridCol w="1761750"/>
                <a:gridCol w="5553675"/>
              </a:tblGrid>
              <a:tr h="505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6428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Poppins Light"/>
                        <a:buNone/>
                      </a:pPr>
                      <a:r>
                        <a:rPr lang="en-US" sz="2100" u="none" cap="none" strike="noStrike">
                          <a:solidFill>
                            <a:srgbClr val="000000"/>
                          </a:solidFill>
                        </a:rPr>
                        <a:t>Metric </a:t>
                      </a:r>
                      <a:endParaRPr sz="1800" u="none" cap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T="61150" marB="122300" marR="61150" marL="61150" anchor="b">
                    <a:solidFill>
                      <a:srgbClr val="D4D4E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6428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Poppins Light"/>
                        <a:buNone/>
                      </a:pPr>
                      <a:r>
                        <a:rPr lang="en-US" sz="2100" u="none" cap="none" strike="noStrike">
                          <a:solidFill>
                            <a:srgbClr val="000000"/>
                          </a:solidFill>
                        </a:rPr>
                        <a:t>Value </a:t>
                      </a:r>
                      <a:endParaRPr sz="1800" u="none" cap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T="61150" marB="122300" marR="61150" marL="61150" anchor="b">
                    <a:solidFill>
                      <a:srgbClr val="D4D4E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6428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Poppins Light"/>
                        <a:buNone/>
                      </a:pPr>
                      <a:r>
                        <a:rPr lang="en-US" sz="2100" u="none" cap="none" strike="noStrike">
                          <a:solidFill>
                            <a:srgbClr val="000000"/>
                          </a:solidFill>
                        </a:rPr>
                        <a:t>Interpretation </a:t>
                      </a:r>
                      <a:endParaRPr sz="1800" u="none" cap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T="61150" marB="122300" marR="61150" marL="61150" anchor="b">
                    <a:solidFill>
                      <a:srgbClr val="D4D4E6"/>
                    </a:solidFill>
                  </a:tcPr>
                </a:tc>
              </a:tr>
              <a:tr h="758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843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Poppins Light"/>
                        <a:buNone/>
                      </a:pPr>
                      <a:r>
                        <a:rPr lang="en-US" sz="1600" u="none" cap="none" strike="noStrike">
                          <a:solidFill>
                            <a:srgbClr val="000000"/>
                          </a:solidFill>
                        </a:rPr>
                        <a:t>Training Accuracy </a:t>
                      </a:r>
                      <a:endParaRPr sz="1800" u="none" cap="none" strike="noStrike">
                        <a:solidFill>
                          <a:srgbClr val="000000"/>
                        </a:solidFill>
                      </a:endParaRPr>
                    </a:p>
                  </a:txBody>
                  <a:tcPr marT="61150" marB="122300" marR="61150" marL="611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843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Poppins Light"/>
                        <a:buNone/>
                      </a:pPr>
                      <a:r>
                        <a:rPr lang="en-US" sz="1600" u="none" cap="none" strike="noStrike">
                          <a:solidFill>
                            <a:srgbClr val="000000"/>
                          </a:solidFill>
                        </a:rPr>
                        <a:t>95% </a:t>
                      </a:r>
                      <a:endParaRPr sz="1800" u="none" cap="none" strike="noStrike">
                        <a:solidFill>
                          <a:srgbClr val="000000"/>
                        </a:solidFill>
                      </a:endParaRPr>
                    </a:p>
                  </a:txBody>
                  <a:tcPr marT="61150" marB="122300" marR="61150" marL="611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843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Poppins Light"/>
                        <a:buNone/>
                      </a:pPr>
                      <a:r>
                        <a:rPr lang="en-US" sz="1600" u="none" cap="none" strike="noStrike">
                          <a:solidFill>
                            <a:srgbClr val="000000"/>
                          </a:solidFill>
                        </a:rPr>
                        <a:t>Model performs well on training data (good fit). </a:t>
                      </a:r>
                      <a:endParaRPr sz="1800" u="none" cap="none" strike="noStrike">
                        <a:solidFill>
                          <a:srgbClr val="000000"/>
                        </a:solidFill>
                      </a:endParaRPr>
                    </a:p>
                  </a:txBody>
                  <a:tcPr marT="61150" marB="122300" marR="61150" marL="61150"/>
                </a:tc>
              </a:tr>
              <a:tr h="758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843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Poppins Light"/>
                        <a:buNone/>
                      </a:pPr>
                      <a:r>
                        <a:rPr lang="en-US" sz="1600" u="none" cap="none" strike="noStrike">
                          <a:solidFill>
                            <a:srgbClr val="000000"/>
                          </a:solidFill>
                        </a:rPr>
                        <a:t>Testing Accuracy </a:t>
                      </a:r>
                      <a:endParaRPr sz="1800" u="none" cap="none" strike="noStrike">
                        <a:solidFill>
                          <a:srgbClr val="000000"/>
                        </a:solidFill>
                      </a:endParaRPr>
                    </a:p>
                  </a:txBody>
                  <a:tcPr marT="61150" marB="122300" marR="61150" marL="611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843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Poppins Light"/>
                        <a:buNone/>
                      </a:pPr>
                      <a:r>
                        <a:rPr lang="en-US" sz="1600" u="none" cap="none" strike="noStrike">
                          <a:solidFill>
                            <a:srgbClr val="000000"/>
                          </a:solidFill>
                        </a:rPr>
                        <a:t>92% </a:t>
                      </a:r>
                      <a:endParaRPr sz="1800" u="none" cap="none" strike="noStrike">
                        <a:solidFill>
                          <a:srgbClr val="000000"/>
                        </a:solidFill>
                      </a:endParaRPr>
                    </a:p>
                  </a:txBody>
                  <a:tcPr marT="61150" marB="122300" marR="61150" marL="611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843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Poppins Light"/>
                        <a:buNone/>
                      </a:pPr>
                      <a:r>
                        <a:rPr lang="en-US" sz="1600" u="none" cap="none" strike="noStrike">
                          <a:solidFill>
                            <a:srgbClr val="000000"/>
                          </a:solidFill>
                        </a:rPr>
                        <a:t>Model generalizes effectively on unseen data. </a:t>
                      </a:r>
                      <a:endParaRPr sz="1800" u="none" cap="none" strike="noStrike">
                        <a:solidFill>
                          <a:srgbClr val="000000"/>
                        </a:solidFill>
                      </a:endParaRPr>
                    </a:p>
                  </a:txBody>
                  <a:tcPr marT="61150" marB="122300" marR="61150" marL="61150"/>
                </a:tc>
              </a:tr>
              <a:tr h="758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843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Poppins Light"/>
                        <a:buNone/>
                      </a:pPr>
                      <a:r>
                        <a:rPr lang="en-US" sz="1600" u="none" cap="none" strike="noStrike">
                          <a:solidFill>
                            <a:srgbClr val="000000"/>
                          </a:solidFill>
                        </a:rPr>
                        <a:t>Precision </a:t>
                      </a:r>
                      <a:endParaRPr sz="1800" u="none" cap="none" strike="noStrike">
                        <a:solidFill>
                          <a:srgbClr val="000000"/>
                        </a:solidFill>
                      </a:endParaRPr>
                    </a:p>
                  </a:txBody>
                  <a:tcPr marT="61150" marB="122300" marR="61150" marL="611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843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Poppins Light"/>
                        <a:buNone/>
                      </a:pPr>
                      <a:r>
                        <a:rPr lang="en-US" sz="1600" u="none" cap="none" strike="noStrike">
                          <a:solidFill>
                            <a:srgbClr val="000000"/>
                          </a:solidFill>
                        </a:rPr>
                        <a:t>91% </a:t>
                      </a:r>
                      <a:endParaRPr sz="1800" u="none" cap="none" strike="noStrike">
                        <a:solidFill>
                          <a:srgbClr val="000000"/>
                        </a:solidFill>
                      </a:endParaRPr>
                    </a:p>
                  </a:txBody>
                  <a:tcPr marT="61150" marB="122300" marR="61150" marL="611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843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Poppins Light"/>
                        <a:buNone/>
                      </a:pPr>
                      <a:r>
                        <a:rPr lang="en-US" sz="1600" u="none" cap="none" strike="noStrike">
                          <a:solidFill>
                            <a:srgbClr val="000000"/>
                          </a:solidFill>
                        </a:rPr>
                        <a:t>91% of approved loans were truly eligible. </a:t>
                      </a:r>
                      <a:endParaRPr sz="1800" u="none" cap="none" strike="noStrike">
                        <a:solidFill>
                          <a:srgbClr val="000000"/>
                        </a:solidFill>
                      </a:endParaRPr>
                    </a:p>
                  </a:txBody>
                  <a:tcPr marT="61150" marB="122300" marR="61150" marL="61150"/>
                </a:tc>
              </a:tr>
              <a:tr h="758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843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Poppins Light"/>
                        <a:buNone/>
                      </a:pPr>
                      <a:r>
                        <a:rPr lang="en-US" sz="1600" u="none" cap="none" strike="noStrike">
                          <a:solidFill>
                            <a:srgbClr val="000000"/>
                          </a:solidFill>
                        </a:rPr>
                        <a:t>Recall </a:t>
                      </a:r>
                      <a:endParaRPr sz="1800" u="none" cap="none" strike="noStrike">
                        <a:solidFill>
                          <a:srgbClr val="000000"/>
                        </a:solidFill>
                      </a:endParaRPr>
                    </a:p>
                  </a:txBody>
                  <a:tcPr marT="61150" marB="122300" marR="61150" marL="611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843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Poppins Light"/>
                        <a:buNone/>
                      </a:pPr>
                      <a:r>
                        <a:rPr lang="en-US" sz="1600" u="none" cap="none" strike="noStrike">
                          <a:solidFill>
                            <a:srgbClr val="000000"/>
                          </a:solidFill>
                        </a:rPr>
                        <a:t>88% </a:t>
                      </a:r>
                      <a:endParaRPr sz="1800" u="none" cap="none" strike="noStrike">
                        <a:solidFill>
                          <a:srgbClr val="000000"/>
                        </a:solidFill>
                      </a:endParaRPr>
                    </a:p>
                  </a:txBody>
                  <a:tcPr marT="61150" marB="122300" marR="61150" marL="611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843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Poppins Light"/>
                        <a:buNone/>
                      </a:pPr>
                      <a:r>
                        <a:rPr lang="en-US" sz="1600" u="none" cap="none" strike="noStrike">
                          <a:solidFill>
                            <a:srgbClr val="000000"/>
                          </a:solidFill>
                        </a:rPr>
                        <a:t>88% of eligible applicants were correctly identified. </a:t>
                      </a:r>
                      <a:endParaRPr sz="1800" u="none" cap="none" strike="noStrike">
                        <a:solidFill>
                          <a:srgbClr val="000000"/>
                        </a:solidFill>
                      </a:endParaRPr>
                    </a:p>
                  </a:txBody>
                  <a:tcPr marT="61150" marB="122300" marR="61150" marL="61150"/>
                </a:tc>
              </a:tr>
              <a:tr h="758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843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Poppins Light"/>
                        <a:buNone/>
                      </a:pPr>
                      <a:r>
                        <a:rPr lang="en-US" sz="1600" u="none" cap="none" strike="noStrike">
                          <a:solidFill>
                            <a:srgbClr val="000000"/>
                          </a:solidFill>
                        </a:rPr>
                        <a:t>F1-Score </a:t>
                      </a:r>
                      <a:endParaRPr sz="1800" u="none" cap="none" strike="noStrike">
                        <a:solidFill>
                          <a:srgbClr val="000000"/>
                        </a:solidFill>
                      </a:endParaRPr>
                    </a:p>
                  </a:txBody>
                  <a:tcPr marT="61150" marB="122300" marR="61150" marL="611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843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Poppins Light"/>
                        <a:buNone/>
                      </a:pPr>
                      <a:r>
                        <a:rPr lang="en-US" sz="1600" u="none" cap="none" strike="noStrike">
                          <a:solidFill>
                            <a:srgbClr val="000000"/>
                          </a:solidFill>
                        </a:rPr>
                        <a:t>89% </a:t>
                      </a:r>
                      <a:endParaRPr sz="1800" u="none" cap="none" strike="noStrike">
                        <a:solidFill>
                          <a:srgbClr val="000000"/>
                        </a:solidFill>
                      </a:endParaRPr>
                    </a:p>
                  </a:txBody>
                  <a:tcPr marT="61150" marB="122300" marR="61150" marL="611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843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Poppins Light"/>
                        <a:buNone/>
                      </a:pPr>
                      <a:r>
                        <a:rPr lang="en-US" sz="1600" u="none" cap="none" strike="noStrike">
                          <a:solidFill>
                            <a:srgbClr val="000000"/>
                          </a:solidFill>
                        </a:rPr>
                        <a:t>Balanced performance between precision and recall. </a:t>
                      </a:r>
                      <a:endParaRPr sz="1800" u="none" cap="none" strike="noStrike">
                        <a:solidFill>
                          <a:srgbClr val="000000"/>
                        </a:solidFill>
                      </a:endParaRPr>
                    </a:p>
                  </a:txBody>
                  <a:tcPr marT="61150" marB="122300" marR="61150" marL="61150"/>
                </a:tc>
              </a:tr>
              <a:tr h="758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843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Poppins Light"/>
                        <a:buNone/>
                      </a:pPr>
                      <a:r>
                        <a:rPr lang="en-US" sz="1600" u="none" cap="none" strike="noStrike">
                          <a:solidFill>
                            <a:srgbClr val="000000"/>
                          </a:solidFill>
                        </a:rPr>
                        <a:t>ROC-AUC </a:t>
                      </a:r>
                      <a:endParaRPr sz="1800" u="none" cap="none" strike="noStrike">
                        <a:solidFill>
                          <a:srgbClr val="000000"/>
                        </a:solidFill>
                      </a:endParaRPr>
                    </a:p>
                  </a:txBody>
                  <a:tcPr marT="61150" marB="122300" marR="61150" marL="611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843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Poppins Light"/>
                        <a:buNone/>
                      </a:pPr>
                      <a:r>
                        <a:rPr lang="en-US" sz="1600" u="none" cap="none" strike="noStrike">
                          <a:solidFill>
                            <a:srgbClr val="000000"/>
                          </a:solidFill>
                        </a:rPr>
                        <a:t>0.95 </a:t>
                      </a:r>
                      <a:endParaRPr sz="1800" u="none" cap="none" strike="noStrike">
                        <a:solidFill>
                          <a:srgbClr val="000000"/>
                        </a:solidFill>
                      </a:endParaRPr>
                    </a:p>
                  </a:txBody>
                  <a:tcPr marT="61150" marB="122300" marR="61150" marL="611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843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Poppins Light"/>
                        <a:buNone/>
                      </a:pPr>
                      <a:r>
                        <a:rPr lang="en-US" sz="1600" u="none" cap="none" strike="noStrike">
                          <a:solidFill>
                            <a:srgbClr val="000000"/>
                          </a:solidFill>
                        </a:rPr>
                        <a:t>Strong ability to separate approvals and rejections. </a:t>
                      </a:r>
                      <a:endParaRPr sz="1800" u="none" cap="none" strike="noStrike">
                        <a:solidFill>
                          <a:srgbClr val="000000"/>
                        </a:solidFill>
                      </a:endParaRPr>
                    </a:p>
                  </a:txBody>
                  <a:tcPr marT="61150" marB="122300" marR="61150" marL="61150"/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02" name="Google Shape;502;p17"/>
          <p:cNvGraphicFramePr/>
          <p:nvPr/>
        </p:nvGraphicFramePr>
        <p:xfrm>
          <a:off x="936000" y="744000"/>
          <a:ext cx="3000000" cy="3000000"/>
        </p:xfrm>
        <a:graphic>
          <a:graphicData uri="http://schemas.openxmlformats.org/drawingml/2006/table">
            <a:tbl>
              <a:tblPr bandRow="1">
                <a:noFill/>
                <a:tableStyleId>{2E29EFD4-32B1-4B74-9AB9-EFE21AC81FB4}</a:tableStyleId>
              </a:tblPr>
              <a:tblGrid>
                <a:gridCol w="1733550"/>
                <a:gridCol w="3829050"/>
                <a:gridCol w="4762500"/>
              </a:tblGrid>
              <a:tr h="576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842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Poppins Light"/>
                        <a:buNone/>
                      </a:pPr>
                      <a:r>
                        <a:rPr lang="en-US" sz="1900" u="none" cap="none" strike="noStrike">
                          <a:solidFill>
                            <a:srgbClr val="000000"/>
                          </a:solidFill>
                        </a:rPr>
                        <a:t>Rank</a:t>
                      </a:r>
                      <a:endParaRPr sz="1800" u="none" cap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T="21825" marB="163775" marR="90975" marL="76425" anchor="b">
                    <a:solidFill>
                      <a:srgbClr val="D4D4E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842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Poppins Light"/>
                        <a:buNone/>
                      </a:pPr>
                      <a:r>
                        <a:rPr lang="en-US" sz="1900" u="none" cap="none" strike="noStrike">
                          <a:solidFill>
                            <a:srgbClr val="000000"/>
                          </a:solidFill>
                        </a:rPr>
                        <a:t>Feature</a:t>
                      </a:r>
                      <a:endParaRPr sz="1800" u="none" cap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T="21825" marB="163775" marR="90975" marL="76425" anchor="b">
                    <a:solidFill>
                      <a:srgbClr val="D4D4E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842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Poppins Light"/>
                        <a:buNone/>
                      </a:pPr>
                      <a:r>
                        <a:rPr lang="en-US" sz="1900" u="none" cap="none" strike="noStrike">
                          <a:solidFill>
                            <a:srgbClr val="000000"/>
                          </a:solidFill>
                        </a:rPr>
                        <a:t>Impact on Eligibility</a:t>
                      </a:r>
                      <a:endParaRPr sz="1800" u="none" cap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T="21825" marB="163775" marR="90975" marL="76425" anchor="b">
                    <a:solidFill>
                      <a:srgbClr val="D4D4E6"/>
                    </a:solidFill>
                  </a:tcPr>
                </a:tc>
              </a:tr>
              <a:tr h="5016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7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Poppins Light"/>
                        <a:buNone/>
                      </a:pPr>
                      <a:r>
                        <a:rPr lang="en-US" sz="1400" u="none" cap="none" strike="noStrike"/>
                        <a:t>1</a:t>
                      </a:r>
                      <a:endParaRPr sz="1800" u="none" cap="none" strike="noStrike"/>
                    </a:p>
                  </a:txBody>
                  <a:tcPr marT="21825" marB="163775" marR="90975" marL="764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7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Poppins Light"/>
                        <a:buNone/>
                      </a:pPr>
                      <a:r>
                        <a:rPr lang="en-US" sz="1400" u="none" cap="none" strike="noStrike"/>
                        <a:t>CIBIL Score</a:t>
                      </a:r>
                      <a:endParaRPr sz="1800" u="none" cap="none" strike="noStrike"/>
                    </a:p>
                  </a:txBody>
                  <a:tcPr marT="21825" marB="163775" marR="90975" marL="764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7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Poppins Light"/>
                        <a:buNone/>
                      </a:pPr>
                      <a:r>
                        <a:rPr lang="en-US" sz="1400" u="none" cap="none" strike="noStrike"/>
                        <a:t>Highest positive influence</a:t>
                      </a:r>
                      <a:endParaRPr sz="1800" u="none" cap="none" strike="noStrike"/>
                    </a:p>
                  </a:txBody>
                  <a:tcPr marT="21825" marB="163775" marR="90975" marL="76425" anchor="ctr"/>
                </a:tc>
              </a:tr>
              <a:tr h="5016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7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Poppins Light"/>
                        <a:buNone/>
                      </a:pPr>
                      <a:r>
                        <a:rPr lang="en-US" sz="1400" u="none" cap="none" strike="noStrike"/>
                        <a:t>2</a:t>
                      </a:r>
                      <a:endParaRPr sz="1800" u="none" cap="none" strike="noStrike"/>
                    </a:p>
                  </a:txBody>
                  <a:tcPr marT="21825" marB="163775" marR="90975" marL="764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7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Poppins Light"/>
                        <a:buNone/>
                      </a:pPr>
                      <a:r>
                        <a:rPr lang="en-US" sz="1400" u="none" cap="none" strike="noStrike"/>
                        <a:t>Annual Income</a:t>
                      </a:r>
                      <a:endParaRPr sz="1800" u="none" cap="none" strike="noStrike"/>
                    </a:p>
                  </a:txBody>
                  <a:tcPr marT="21825" marB="163775" marR="90975" marL="764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7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Poppins Light"/>
                        <a:buNone/>
                      </a:pPr>
                      <a:r>
                        <a:rPr lang="en-US" sz="1400" u="none" cap="none" strike="noStrike"/>
                        <a:t>Strong predictor of approval</a:t>
                      </a:r>
                      <a:endParaRPr sz="1800" u="none" cap="none" strike="noStrike"/>
                    </a:p>
                  </a:txBody>
                  <a:tcPr marT="21825" marB="163775" marR="90975" marL="76425" anchor="ctr"/>
                </a:tc>
              </a:tr>
              <a:tr h="5016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7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Poppins Light"/>
                        <a:buNone/>
                      </a:pPr>
                      <a:r>
                        <a:rPr lang="en-US" sz="1400" u="none" cap="none" strike="noStrike"/>
                        <a:t>3</a:t>
                      </a:r>
                      <a:endParaRPr sz="1800" u="none" cap="none" strike="noStrike"/>
                    </a:p>
                  </a:txBody>
                  <a:tcPr marT="21825" marB="163775" marR="90975" marL="764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7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Poppins Light"/>
                        <a:buNone/>
                      </a:pPr>
                      <a:r>
                        <a:rPr lang="en-US" sz="1400" u="none" cap="none" strike="noStrike"/>
                        <a:t>Debt-to-Income Ratio</a:t>
                      </a:r>
                      <a:endParaRPr sz="1800" u="none" cap="none" strike="noStrike"/>
                    </a:p>
                  </a:txBody>
                  <a:tcPr marT="21825" marB="163775" marR="90975" marL="764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7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Poppins Light"/>
                        <a:buNone/>
                      </a:pPr>
                      <a:r>
                        <a:rPr lang="en-US" sz="1400" u="none" cap="none" strike="noStrike"/>
                        <a:t>Negative impact if high</a:t>
                      </a:r>
                      <a:endParaRPr sz="1800" u="none" cap="none" strike="noStrike"/>
                    </a:p>
                  </a:txBody>
                  <a:tcPr marT="21825" marB="163775" marR="90975" marL="76425" anchor="ctr"/>
                </a:tc>
              </a:tr>
              <a:tr h="5016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7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Poppins Light"/>
                        <a:buNone/>
                      </a:pPr>
                      <a:r>
                        <a:rPr lang="en-US" sz="1400" u="none" cap="none" strike="noStrike"/>
                        <a:t>4</a:t>
                      </a:r>
                      <a:endParaRPr sz="1800" u="none" cap="none" strike="noStrike"/>
                    </a:p>
                  </a:txBody>
                  <a:tcPr marT="21825" marB="163775" marR="90975" marL="764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7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Poppins Light"/>
                        <a:buNone/>
                      </a:pPr>
                      <a:r>
                        <a:rPr lang="en-US" sz="1400" u="none" cap="none" strike="noStrike"/>
                        <a:t>Loan-to-Income Ratio</a:t>
                      </a:r>
                      <a:endParaRPr sz="1800" u="none" cap="none" strike="noStrike"/>
                    </a:p>
                  </a:txBody>
                  <a:tcPr marT="21825" marB="163775" marR="90975" marL="764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7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Poppins Light"/>
                        <a:buNone/>
                      </a:pPr>
                      <a:r>
                        <a:rPr lang="en-US" sz="1400" u="none" cap="none" strike="noStrike"/>
                        <a:t>Moderate negative effect</a:t>
                      </a:r>
                      <a:endParaRPr sz="1800" u="none" cap="none" strike="noStrike"/>
                    </a:p>
                  </a:txBody>
                  <a:tcPr marT="21825" marB="163775" marR="90975" marL="76425" anchor="ctr"/>
                </a:tc>
              </a:tr>
              <a:tr h="5016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7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Poppins Light"/>
                        <a:buNone/>
                      </a:pPr>
                      <a:r>
                        <a:rPr lang="en-US" sz="1400" u="none" cap="none" strike="noStrike"/>
                        <a:t>5</a:t>
                      </a:r>
                      <a:endParaRPr sz="1800" u="none" cap="none" strike="noStrike"/>
                    </a:p>
                  </a:txBody>
                  <a:tcPr marT="21825" marB="163775" marR="90975" marL="764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7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Poppins Light"/>
                        <a:buNone/>
                      </a:pPr>
                      <a:r>
                        <a:rPr lang="en-US" sz="1400" u="none" cap="none" strike="noStrike"/>
                        <a:t>Work Experience</a:t>
                      </a:r>
                      <a:endParaRPr sz="1800" u="none" cap="none" strike="noStrike"/>
                    </a:p>
                  </a:txBody>
                  <a:tcPr marT="21825" marB="163775" marR="90975" marL="764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7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Poppins Light"/>
                        <a:buNone/>
                      </a:pPr>
                      <a:r>
                        <a:rPr lang="en-US" sz="1400" u="none" cap="none" strike="noStrike"/>
                        <a:t>Positive contribution</a:t>
                      </a:r>
                      <a:endParaRPr sz="1800" u="none" cap="none" strike="noStrike"/>
                    </a:p>
                  </a:txBody>
                  <a:tcPr marT="21825" marB="163775" marR="90975" marL="76425" anchor="ctr"/>
                </a:tc>
              </a:tr>
              <a:tr h="5016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7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Poppins Light"/>
                        <a:buNone/>
                      </a:pPr>
                      <a:r>
                        <a:rPr lang="en-US" sz="1400" u="none" cap="none" strike="noStrike"/>
                        <a:t>6</a:t>
                      </a:r>
                      <a:endParaRPr sz="1800" u="none" cap="none" strike="noStrike"/>
                    </a:p>
                  </a:txBody>
                  <a:tcPr marT="21825" marB="163775" marR="90975" marL="764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7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Poppins Light"/>
                        <a:buNone/>
                      </a:pPr>
                      <a:r>
                        <a:rPr lang="en-US" sz="1400" u="none" cap="none" strike="noStrike"/>
                        <a:t>Property Ownership</a:t>
                      </a:r>
                      <a:endParaRPr sz="1800" u="none" cap="none" strike="noStrike"/>
                    </a:p>
                  </a:txBody>
                  <a:tcPr marT="21825" marB="163775" marR="90975" marL="764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7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Poppins Light"/>
                        <a:buNone/>
                      </a:pPr>
                      <a:r>
                        <a:rPr lang="en-US" sz="1400" u="none" cap="none" strike="noStrike"/>
                        <a:t>Moderate influence</a:t>
                      </a:r>
                      <a:endParaRPr sz="1800" u="none" cap="none" strike="noStrike"/>
                    </a:p>
                  </a:txBody>
                  <a:tcPr marT="21825" marB="163775" marR="90975" marL="76425" anchor="ctr"/>
                </a:tc>
              </a:tr>
              <a:tr h="5016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7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Poppins Light"/>
                        <a:buNone/>
                      </a:pPr>
                      <a:r>
                        <a:rPr lang="en-US" sz="1400" u="none" cap="none" strike="noStrike"/>
                        <a:t>7</a:t>
                      </a:r>
                      <a:endParaRPr sz="1800" u="none" cap="none" strike="noStrike"/>
                    </a:p>
                  </a:txBody>
                  <a:tcPr marT="21825" marB="163775" marR="90975" marL="764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7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Poppins Light"/>
                        <a:buNone/>
                      </a:pPr>
                      <a:r>
                        <a:rPr lang="en-US" sz="1400" u="none" cap="none" strike="noStrike"/>
                        <a:t>Education Level</a:t>
                      </a:r>
                      <a:endParaRPr sz="1800" u="none" cap="none" strike="noStrike"/>
                    </a:p>
                  </a:txBody>
                  <a:tcPr marT="21825" marB="163775" marR="90975" marL="764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7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Poppins Light"/>
                        <a:buNone/>
                      </a:pPr>
                      <a:r>
                        <a:rPr lang="en-US" sz="1400" u="none" cap="none" strike="noStrike"/>
                        <a:t>Moderate influence</a:t>
                      </a:r>
                      <a:endParaRPr sz="1800" u="none" cap="none" strike="noStrike"/>
                    </a:p>
                  </a:txBody>
                  <a:tcPr marT="21825" marB="163775" marR="90975" marL="76425" anchor="ctr"/>
                </a:tc>
              </a:tr>
              <a:tr h="5016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7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Poppins Light"/>
                        <a:buNone/>
                      </a:pPr>
                      <a:r>
                        <a:rPr lang="en-US" sz="1400" u="none" cap="none" strike="noStrike"/>
                        <a:t>8</a:t>
                      </a:r>
                      <a:endParaRPr sz="1800" u="none" cap="none" strike="noStrike"/>
                    </a:p>
                  </a:txBody>
                  <a:tcPr marT="21825" marB="163775" marR="90975" marL="764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7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Poppins Light"/>
                        <a:buNone/>
                      </a:pPr>
                      <a:r>
                        <a:rPr lang="en-US" sz="1400" u="none" cap="none" strike="noStrike"/>
                        <a:t>Credit History Length</a:t>
                      </a:r>
                      <a:endParaRPr sz="1800" u="none" cap="none" strike="noStrike"/>
                    </a:p>
                  </a:txBody>
                  <a:tcPr marT="21825" marB="163775" marR="90975" marL="764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7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Poppins Light"/>
                        <a:buNone/>
                      </a:pPr>
                      <a:r>
                        <a:rPr lang="en-US" sz="1400" u="none" cap="none" strike="noStrike"/>
                        <a:t>Minor positive effect</a:t>
                      </a:r>
                      <a:endParaRPr sz="1800" u="none" cap="none" strike="noStrike"/>
                    </a:p>
                  </a:txBody>
                  <a:tcPr marT="21825" marB="163775" marR="90975" marL="76425" anchor="ctr"/>
                </a:tc>
              </a:tr>
              <a:tr h="5016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7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Poppins Light"/>
                        <a:buNone/>
                      </a:pPr>
                      <a:r>
                        <a:rPr lang="en-US" sz="1400" u="none" cap="none" strike="noStrike"/>
                        <a:t>9</a:t>
                      </a:r>
                      <a:endParaRPr sz="1800" u="none" cap="none" strike="noStrike"/>
                    </a:p>
                  </a:txBody>
                  <a:tcPr marT="21825" marB="163775" marR="90975" marL="764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7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Poppins Light"/>
                        <a:buNone/>
                      </a:pPr>
                      <a:r>
                        <a:rPr lang="en-US" sz="1400" u="none" cap="none" strike="noStrike"/>
                        <a:t>Age-Income Product</a:t>
                      </a:r>
                      <a:endParaRPr sz="1800" u="none" cap="none" strike="noStrike"/>
                    </a:p>
                  </a:txBody>
                  <a:tcPr marT="21825" marB="163775" marR="90975" marL="764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7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Poppins Light"/>
                        <a:buNone/>
                      </a:pPr>
                      <a:r>
                        <a:rPr lang="en-US" sz="1400" u="none" cap="none" strike="noStrike"/>
                        <a:t>Minor effect</a:t>
                      </a:r>
                      <a:endParaRPr sz="1800" u="none" cap="none" strike="noStrike"/>
                    </a:p>
                  </a:txBody>
                  <a:tcPr marT="21825" marB="163775" marR="90975" marL="76425" anchor="ctr"/>
                </a:tc>
              </a:tr>
              <a:tr h="5016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7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Poppins Light"/>
                        <a:buNone/>
                      </a:pPr>
                      <a:r>
                        <a:rPr lang="en-US" sz="1400" u="none" cap="none" strike="noStrike"/>
                        <a:t>10</a:t>
                      </a:r>
                      <a:endParaRPr sz="1800" u="none" cap="none" strike="noStrike"/>
                    </a:p>
                  </a:txBody>
                  <a:tcPr marT="21825" marB="163775" marR="90975" marL="764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7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Poppins Light"/>
                        <a:buNone/>
                      </a:pPr>
                      <a:r>
                        <a:rPr lang="en-US" sz="1400" u="none" cap="none" strike="noStrike"/>
                        <a:t>Existing Loans</a:t>
                      </a:r>
                      <a:endParaRPr sz="1800" u="none" cap="none" strike="noStrike"/>
                    </a:p>
                  </a:txBody>
                  <a:tcPr marT="21825" marB="163775" marR="90975" marL="764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7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Poppins Light"/>
                        <a:buNone/>
                      </a:pPr>
                      <a:r>
                        <a:rPr lang="en-US" sz="1400" u="none" cap="none" strike="noStrike"/>
                        <a:t>Slight negative impact</a:t>
                      </a:r>
                      <a:endParaRPr sz="1800" u="none" cap="none" strike="noStrike"/>
                    </a:p>
                  </a:txBody>
                  <a:tcPr marT="21825" marB="163775" marR="90975" marL="76425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screenshot of a computer&#10;&#10;AI-generated content may be incorrect." id="507" name="Google Shape;507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23925" y="995363"/>
            <a:ext cx="10344150" cy="4867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nserting image..." id="512" name="Google Shape;512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23925" y="1062038"/>
            <a:ext cx="10344150" cy="4733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screenshot of a credit score&#10;&#10;AI-generated content may be incorrect." id="517" name="Google Shape;517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23925" y="1100138"/>
            <a:ext cx="10344150" cy="4657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screenshot of a computer&#10;&#10;AI-generated content may be incorrect." id="522" name="Google Shape;522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23925" y="1085850"/>
            <a:ext cx="10344150" cy="4686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p22"/>
          <p:cNvSpPr/>
          <p:nvPr/>
        </p:nvSpPr>
        <p:spPr>
          <a:xfrm>
            <a:off x="3420370" y="611896"/>
            <a:ext cx="9450844" cy="7142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lang="en-US" sz="3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Challenges And Solutions</a:t>
            </a:r>
            <a:endParaRPr/>
          </a:p>
        </p:txBody>
      </p:sp>
      <p:sp>
        <p:nvSpPr>
          <p:cNvPr id="528" name="Google Shape;528;p22"/>
          <p:cNvSpPr txBox="1"/>
          <p:nvPr/>
        </p:nvSpPr>
        <p:spPr>
          <a:xfrm>
            <a:off x="492000" y="1323000"/>
            <a:ext cx="11226000" cy="48013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1. Data Scarcity &amp; Quality Issues</a:t>
            </a:r>
            <a:endParaRPr b="1" sz="18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 Light"/>
              <a:buChar char="•"/>
            </a:pPr>
            <a:r>
              <a:rPr b="1" lang="en-US" sz="18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Challenge:</a:t>
            </a:r>
            <a:r>
              <a:rPr lang="en-US" sz="18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 Limited real-world loan datasets and inconsistencies/missing values in available data.</a:t>
            </a:r>
            <a:endParaRPr sz="18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 Light"/>
              <a:buChar char="•"/>
            </a:pPr>
            <a:r>
              <a:rPr b="1" lang="en-US" sz="18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Solution:</a:t>
            </a:r>
            <a:r>
              <a:rPr lang="en-US" sz="18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 Built a large realistic synthetic dataset and applied thorough preprocessing—handling missing values, encoding categories, and scaling features for cleaner inputs.</a:t>
            </a:r>
            <a:endParaRPr sz="18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-114300" lvl="0" marL="228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 Light"/>
              <a:buNone/>
            </a:pPr>
            <a:r>
              <a:t/>
            </a:r>
            <a:endParaRPr sz="18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2. Model Selection &amp; Tuning</a:t>
            </a:r>
            <a:endParaRPr b="1" sz="18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 Light"/>
              <a:buChar char="•"/>
            </a:pPr>
            <a:r>
              <a:rPr b="1" lang="en-US" sz="18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Challenge:</a:t>
            </a:r>
            <a:r>
              <a:rPr lang="en-US" sz="18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 Choosing the most effective algorithm for binary loan eligibility prediction.</a:t>
            </a:r>
            <a:endParaRPr sz="18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 Light"/>
              <a:buChar char="•"/>
            </a:pPr>
            <a:r>
              <a:rPr b="1" lang="en-US" sz="18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Solution:</a:t>
            </a:r>
            <a:r>
              <a:rPr lang="en-US" sz="18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 Evaluated multiple models (Logistic Regression, Decision Tree, Random Forest, XGBoost) and finalized XGBoost for its strong performance. Optimized it using GridSearchCV and cross-validation.</a:t>
            </a:r>
            <a:endParaRPr sz="18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-114300" lvl="0" marL="228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 Light"/>
              <a:buNone/>
            </a:pPr>
            <a:r>
              <a:t/>
            </a:r>
            <a:endParaRPr sz="18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3. Application Integration &amp; Deployment</a:t>
            </a:r>
            <a:endParaRPr b="1" sz="18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 Light"/>
              <a:buChar char="•"/>
            </a:pPr>
            <a:r>
              <a:rPr b="1" lang="en-US" sz="18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Challenge:</a:t>
            </a:r>
            <a:r>
              <a:rPr lang="en-US" sz="18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 Embedding a complex ML pipeline into an easy-to-use interface.</a:t>
            </a:r>
            <a:endParaRPr sz="18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 Light"/>
              <a:buChar char="•"/>
            </a:pPr>
            <a:r>
              <a:rPr b="1" lang="en-US" sz="18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Solution:</a:t>
            </a:r>
            <a:r>
              <a:rPr lang="en-US" sz="18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 Created a Streamlit app that loads the trained model and preprocessors, accepts user inputs, and generates real-time predictions and recommendations with interactive visuals.</a:t>
            </a:r>
            <a:endParaRPr sz="18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-114300" lvl="0" marL="228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 Light"/>
              <a:buNone/>
            </a:pPr>
            <a:r>
              <a:t/>
            </a:r>
            <a:endParaRPr sz="18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p23"/>
          <p:cNvSpPr txBox="1"/>
          <p:nvPr/>
        </p:nvSpPr>
        <p:spPr>
          <a:xfrm>
            <a:off x="756000" y="1059000"/>
            <a:ext cx="9972000" cy="31393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4. Handling Empty Recommendation Scenarios</a:t>
            </a:r>
            <a:r>
              <a:rPr lang="en-US" sz="18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​</a:t>
            </a:r>
            <a:endParaRPr/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en-US" sz="18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Challenge:</a:t>
            </a:r>
            <a:r>
              <a:rPr lang="en-US" sz="18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 Filtered loan offers occasionally failed to match user requirements.</a:t>
            </a:r>
            <a:r>
              <a:rPr lang="en-US" sz="18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​</a:t>
            </a:r>
            <a:endParaRPr/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en-US" sz="18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Solution:</a:t>
            </a:r>
            <a:r>
              <a:rPr lang="en-US" sz="18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 Added validation checks, fallback messages, and improved filtering logic to align </a:t>
            </a:r>
            <a:r>
              <a:rPr lang="en-US" sz="18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with realistic</a:t>
            </a:r>
            <a:r>
              <a:rPr lang="en-US" sz="18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 bank criteria and prevent empty outputs.</a:t>
            </a:r>
            <a:endParaRPr sz="18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-114300" lvl="0" marL="228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5.</a:t>
            </a:r>
            <a:r>
              <a:rPr b="1" lang="en-US" sz="18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 </a:t>
            </a:r>
            <a:r>
              <a:rPr b="1" lang="en-US" sz="18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User Experience &amp; Model Transparency</a:t>
            </a:r>
            <a:r>
              <a:rPr lang="en-US" sz="18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​</a:t>
            </a:r>
            <a:endParaRPr/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en-US" sz="18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Challenge:</a:t>
            </a:r>
            <a:r>
              <a:rPr lang="en-US" sz="18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 Making model predictions clear, interpretable, and user-friendly.</a:t>
            </a:r>
            <a:r>
              <a:rPr lang="en-US" sz="18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​</a:t>
            </a:r>
            <a:endParaRPr/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en-US" sz="18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Solution:</a:t>
            </a:r>
            <a:r>
              <a:rPr lang="en-US" sz="18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 Included feature importance graphs, confidence levels, and simple </a:t>
            </a:r>
            <a:r>
              <a:rPr lang="en-US" sz="18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explanations throughout</a:t>
            </a:r>
            <a:r>
              <a:rPr lang="en-US" sz="18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 the dashboard to support better understanding and trust.</a:t>
            </a:r>
            <a:r>
              <a:rPr lang="en-US" sz="18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​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​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p24"/>
          <p:cNvSpPr/>
          <p:nvPr/>
        </p:nvSpPr>
        <p:spPr>
          <a:xfrm>
            <a:off x="972061" y="2883223"/>
            <a:ext cx="5127171" cy="178271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lang="en-US" sz="3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Conclusion </a:t>
            </a:r>
            <a:endParaRPr sz="3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lang="en-US" sz="3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And</a:t>
            </a:r>
            <a:endParaRPr sz="3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lang="en-US" sz="3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Future Scope</a:t>
            </a:r>
            <a:endParaRPr sz="3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Lora"/>
              <a:buNone/>
            </a:pPr>
            <a:r>
              <a:t/>
            </a:r>
            <a:endParaRPr sz="4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A stack of money with a white background&#10;&#10;AI-generated content may be incorrect." id="539" name="Google Shape;539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25241" y="1202979"/>
            <a:ext cx="5090607" cy="4587844"/>
          </a:xfrm>
          <a:prstGeom prst="ellipse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3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p25"/>
          <p:cNvSpPr txBox="1"/>
          <p:nvPr/>
        </p:nvSpPr>
        <p:spPr>
          <a:xfrm>
            <a:off x="468000" y="1497000"/>
            <a:ext cx="11406000" cy="4208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28600" lvl="0" marL="2286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A complete AI-driven loan eligibility prediction system was built using XGBoost and strong feature engineering, delivering reliable and consistent results.</a:t>
            </a:r>
            <a:endParaRPr/>
          </a:p>
          <a:p>
            <a:pPr indent="-228600" lvl="0" marL="2286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The model performed exceptionally well, achieving around </a:t>
            </a:r>
            <a:r>
              <a:rPr b="1" lang="en-US" sz="18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91.88% accuracy</a:t>
            </a:r>
            <a:r>
              <a:rPr lang="en-US" sz="18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 along with strong precision, recall, and ROC-AUC scores, proving its effectiveness for real-world financial workflows.</a:t>
            </a:r>
            <a:endParaRPr sz="18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-228600" lvl="0" marL="2286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The internship covered the full machine learning pipeline — synthetic data creation, preprocessing, model tuning, evaluation, and deployment through an interactive Streamlit application.</a:t>
            </a:r>
            <a:endParaRPr sz="18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-228600" lvl="0" marL="2286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This experience strengthened skills in Python, ML model development, optimization, and end-to-end integration, while also improving teamwork, analytical thinking, and problem-solving abilities.</a:t>
            </a:r>
            <a:endParaRPr sz="18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545" name="Google Shape;545;p25"/>
          <p:cNvSpPr txBox="1"/>
          <p:nvPr/>
        </p:nvSpPr>
        <p:spPr>
          <a:xfrm>
            <a:off x="4633010" y="798237"/>
            <a:ext cx="2154772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Conclusion</a:t>
            </a:r>
            <a:endParaRPr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26"/>
          <p:cNvSpPr txBox="1"/>
          <p:nvPr/>
        </p:nvSpPr>
        <p:spPr>
          <a:xfrm>
            <a:off x="396000" y="1587000"/>
            <a:ext cx="11406000" cy="50390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1" marL="7429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Integrate real-world banking datasets to strengthen model accuracy and generalizability.</a:t>
            </a:r>
            <a:endParaRPr b="0" i="0" sz="1800" u="none" cap="none" strike="noStrike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-285750" lvl="1" marL="7429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Build mobile apps and REST APIs for large-scale, real-time loan eligibility predictions.</a:t>
            </a:r>
            <a:endParaRPr/>
          </a:p>
          <a:p>
            <a:pPr indent="-285750" lvl="1" marL="7429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Add Explainable AI methods (SHAP, LIME) to improve transparency and compliance.</a:t>
            </a:r>
            <a:endParaRPr/>
          </a:p>
          <a:p>
            <a:pPr indent="-285750" lvl="1" marL="7429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Extend the system to advanced credit risk tasks like risk grading and default probability prediction.</a:t>
            </a:r>
            <a:endParaRPr/>
          </a:p>
          <a:p>
            <a:pPr indent="-285750" lvl="1" marL="7429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Implement continuous learning pipelines to update the model automatically with new data.</a:t>
            </a:r>
            <a:endParaRPr b="0" i="0" sz="1800" u="none" cap="none" strike="noStrike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-285750" lvl="1" marL="7429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Automate end-to-end ML workflows using CI/CD, cloud deployment, and containerization.</a:t>
            </a:r>
            <a:endParaRPr b="0" i="0" sz="1800" u="none" cap="none" strike="noStrike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-285750" lvl="1" marL="7429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Develop cross-platform mobile applications using Flutter or React Native for broader accessibility.</a:t>
            </a:r>
            <a:endParaRPr/>
          </a:p>
          <a:p>
            <a:pPr indent="0" lvl="1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b="0" i="0" lang="en-US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endParaRPr b="0" i="0" sz="1800" u="none" cap="none" strike="noStrike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-114300" lvl="0" marL="2286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551" name="Google Shape;551;p26"/>
          <p:cNvSpPr txBox="1"/>
          <p:nvPr/>
        </p:nvSpPr>
        <p:spPr>
          <a:xfrm>
            <a:off x="4633010" y="798237"/>
            <a:ext cx="2982772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Future Scope</a:t>
            </a:r>
            <a:endParaRPr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27"/>
          <p:cNvSpPr txBox="1"/>
          <p:nvPr/>
        </p:nvSpPr>
        <p:spPr>
          <a:xfrm>
            <a:off x="396000" y="1185000"/>
            <a:ext cx="11406000" cy="65984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400"/>
              <a:buFont typeface="Arial"/>
              <a:buChar char="•"/>
            </a:pPr>
            <a:r>
              <a:rPr lang="en-US" sz="1400">
                <a:solidFill>
                  <a:srgbClr val="404040"/>
                </a:solidFill>
                <a:latin typeface="Poppins Light"/>
                <a:ea typeface="Poppins Light"/>
                <a:cs typeface="Poppins Light"/>
                <a:sym typeface="Poppins Light"/>
              </a:rPr>
              <a:t>[1] A. Alagic </a:t>
            </a:r>
            <a:r>
              <a:rPr i="1" lang="en-US" sz="1400">
                <a:solidFill>
                  <a:srgbClr val="404040"/>
                </a:solidFill>
                <a:latin typeface="Poppins Light"/>
                <a:ea typeface="Poppins Light"/>
                <a:cs typeface="Poppins Light"/>
                <a:sym typeface="Poppins Light"/>
              </a:rPr>
              <a:t>et al.</a:t>
            </a:r>
            <a:r>
              <a:rPr lang="en-US" sz="1400">
                <a:solidFill>
                  <a:srgbClr val="404040"/>
                </a:solidFill>
                <a:latin typeface="Poppins Light"/>
                <a:ea typeface="Poppins Light"/>
                <a:cs typeface="Poppins Light"/>
                <a:sym typeface="Poppins Light"/>
              </a:rPr>
              <a:t>, "Machine Learning for an Enhanced Credit Risk Analysis: A Comparative Study of Loan Approval Prediction Models Integrating Mental Health Data," </a:t>
            </a:r>
            <a:r>
              <a:rPr i="1" lang="en-US" sz="1400">
                <a:solidFill>
                  <a:srgbClr val="404040"/>
                </a:solidFill>
                <a:latin typeface="Poppins Light"/>
                <a:ea typeface="Poppins Light"/>
                <a:cs typeface="Poppins Light"/>
                <a:sym typeface="Poppins Light"/>
              </a:rPr>
              <a:t>Mach. Learn. Knowl. Extr.</a:t>
            </a:r>
            <a:r>
              <a:rPr lang="en-US" sz="1400">
                <a:solidFill>
                  <a:srgbClr val="404040"/>
                </a:solidFill>
                <a:latin typeface="Poppins Light"/>
                <a:ea typeface="Poppins Light"/>
                <a:cs typeface="Poppins Light"/>
                <a:sym typeface="Poppins Light"/>
              </a:rPr>
              <a:t>, vol. 6, no. 1, pp. 53-77, 2024, doi: 10.3390/make6010004</a:t>
            </a:r>
            <a:endParaRPr sz="14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-285750" lvl="0" marL="285750" marR="0" rtl="0" algn="l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Clr>
                <a:srgbClr val="404040"/>
              </a:buClr>
              <a:buSzPts val="1400"/>
              <a:buFont typeface="Arial"/>
              <a:buChar char="•"/>
            </a:pPr>
            <a:r>
              <a:rPr lang="en-US" sz="1400">
                <a:solidFill>
                  <a:srgbClr val="404040"/>
                </a:solidFill>
                <a:latin typeface="Poppins Light"/>
                <a:ea typeface="Poppins Light"/>
                <a:cs typeface="Poppins Light"/>
                <a:sym typeface="Poppins Light"/>
              </a:rPr>
              <a:t>[2] A. Kulothungan, N. b, H. c, and K. Gupta, "Loan Forecast by Using Machine Learning," </a:t>
            </a:r>
            <a:r>
              <a:rPr i="1" lang="en-US" sz="1400">
                <a:solidFill>
                  <a:srgbClr val="404040"/>
                </a:solidFill>
                <a:latin typeface="Poppins Light"/>
                <a:ea typeface="Poppins Light"/>
                <a:cs typeface="Poppins Light"/>
                <a:sym typeface="Poppins Light"/>
              </a:rPr>
              <a:t>Turkish J. Comput. Math. Educ.</a:t>
            </a:r>
            <a:r>
              <a:rPr lang="en-US" sz="1400">
                <a:solidFill>
                  <a:srgbClr val="404040"/>
                </a:solidFill>
                <a:latin typeface="Poppins Light"/>
                <a:ea typeface="Poppins Light"/>
                <a:cs typeface="Poppins Light"/>
                <a:sym typeface="Poppins Light"/>
              </a:rPr>
              <a:t>, vol. 12, no. 7, pp. 894–900, 2021.</a:t>
            </a:r>
            <a:endParaRPr/>
          </a:p>
          <a:p>
            <a:pPr indent="-285750" lvl="0" marL="285750" marR="0" rtl="0" algn="l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Clr>
                <a:srgbClr val="404040"/>
              </a:buClr>
              <a:buSzPts val="1400"/>
              <a:buFont typeface="Arial"/>
              <a:buChar char="•"/>
            </a:pPr>
            <a:r>
              <a:rPr lang="en-US" sz="1400">
                <a:solidFill>
                  <a:srgbClr val="404040"/>
                </a:solidFill>
                <a:latin typeface="Poppins Light"/>
                <a:ea typeface="Poppins Light"/>
                <a:cs typeface="Poppins Light"/>
                <a:sym typeface="Poppins Light"/>
              </a:rPr>
              <a:t>[3] M. Madaan </a:t>
            </a:r>
            <a:r>
              <a:rPr i="1" lang="en-US" sz="1400">
                <a:solidFill>
                  <a:srgbClr val="404040"/>
                </a:solidFill>
                <a:latin typeface="Poppins Light"/>
                <a:ea typeface="Poppins Light"/>
                <a:cs typeface="Poppins Light"/>
                <a:sym typeface="Poppins Light"/>
              </a:rPr>
              <a:t>et al.</a:t>
            </a:r>
            <a:r>
              <a:rPr lang="en-US" sz="1400">
                <a:solidFill>
                  <a:srgbClr val="404040"/>
                </a:solidFill>
                <a:latin typeface="Poppins Light"/>
                <a:ea typeface="Poppins Light"/>
                <a:cs typeface="Poppins Light"/>
                <a:sym typeface="Poppins Light"/>
              </a:rPr>
              <a:t>, "Loan default prediction using decision trees and random forest: A comparative study," </a:t>
            </a:r>
            <a:r>
              <a:rPr i="1" lang="en-US" sz="1400">
                <a:solidFill>
                  <a:srgbClr val="404040"/>
                </a:solidFill>
                <a:latin typeface="Poppins Light"/>
                <a:ea typeface="Poppins Light"/>
                <a:cs typeface="Poppins Light"/>
                <a:sym typeface="Poppins Light"/>
              </a:rPr>
              <a:t>IOP Conf. Ser.: Mater. Sci. Eng.</a:t>
            </a:r>
            <a:r>
              <a:rPr lang="en-US" sz="1400">
                <a:solidFill>
                  <a:srgbClr val="404040"/>
                </a:solidFill>
                <a:latin typeface="Poppins Light"/>
                <a:ea typeface="Poppins Light"/>
                <a:cs typeface="Poppins Light"/>
                <a:sym typeface="Poppins Light"/>
              </a:rPr>
              <a:t>, vol. 1022, no. 1, p. 012042, 2021, doi: 10.1088/1757-899X/1022/1/012042.</a:t>
            </a:r>
            <a:endParaRPr/>
          </a:p>
          <a:p>
            <a:pPr indent="-285750" lvl="0" marL="285750" marR="0" rtl="0" algn="l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Clr>
                <a:srgbClr val="404040"/>
              </a:buClr>
              <a:buSzPts val="1400"/>
              <a:buFont typeface="Arial"/>
              <a:buChar char="•"/>
            </a:pPr>
            <a:r>
              <a:rPr lang="en-US" sz="1400">
                <a:solidFill>
                  <a:srgbClr val="404040"/>
                </a:solidFill>
                <a:latin typeface="Poppins Light"/>
                <a:ea typeface="Poppins Light"/>
                <a:cs typeface="Poppins Light"/>
                <a:sym typeface="Poppins Light"/>
              </a:rPr>
              <a:t>[4] N. A. Azeez and A. O. Emmanuel, "LOAN APPROVAL PREDICTION BASED ON MACHINE LEARNING APPROACH," </a:t>
            </a:r>
            <a:r>
              <a:rPr i="1" lang="en-US" sz="1400">
                <a:solidFill>
                  <a:srgbClr val="404040"/>
                </a:solidFill>
                <a:latin typeface="Poppins Light"/>
                <a:ea typeface="Poppins Light"/>
                <a:cs typeface="Poppins Light"/>
                <a:sym typeface="Poppins Light"/>
              </a:rPr>
              <a:t>FUDMA J. Sci.</a:t>
            </a:r>
            <a:r>
              <a:rPr lang="en-US" sz="1400">
                <a:solidFill>
                  <a:srgbClr val="404040"/>
                </a:solidFill>
                <a:latin typeface="Poppins Light"/>
                <a:ea typeface="Poppins Light"/>
                <a:cs typeface="Poppins Light"/>
                <a:sym typeface="Poppins Light"/>
              </a:rPr>
              <a:t>, vol. 6, no. 3, pp. 41–50, 2022, doi: 10.33003/fjs-2022-0603-830.</a:t>
            </a:r>
            <a:endParaRPr sz="1400">
              <a:solidFill>
                <a:srgbClr val="404040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-285750" lvl="0" marL="285750" marR="0" rtl="0" algn="l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Clr>
                <a:srgbClr val="404040"/>
              </a:buClr>
              <a:buSzPts val="1400"/>
              <a:buFont typeface="Arial"/>
              <a:buChar char="•"/>
            </a:pPr>
            <a:r>
              <a:rPr lang="en-US" sz="1400">
                <a:solidFill>
                  <a:srgbClr val="404040"/>
                </a:solidFill>
                <a:latin typeface="Poppins Light"/>
                <a:ea typeface="Poppins Light"/>
                <a:cs typeface="Poppins Light"/>
                <a:sym typeface="Poppins Light"/>
              </a:rPr>
              <a:t>[5] I. Emmanuel, Y. Sun, and Z. Wang, “A machine learning-based credit risk prediction engine system using a stacked classifier and a filter-based feature selection method,” </a:t>
            </a:r>
            <a:r>
              <a:rPr i="1" lang="en-US" sz="1400">
                <a:solidFill>
                  <a:srgbClr val="404040"/>
                </a:solidFill>
                <a:latin typeface="Poppins Light"/>
                <a:ea typeface="Poppins Light"/>
                <a:cs typeface="Poppins Light"/>
                <a:sym typeface="Poppins Light"/>
              </a:rPr>
              <a:t>J. Big Data</a:t>
            </a:r>
            <a:r>
              <a:rPr lang="en-US" sz="1400">
                <a:solidFill>
                  <a:srgbClr val="404040"/>
                </a:solidFill>
                <a:latin typeface="Poppins Light"/>
                <a:ea typeface="Poppins Light"/>
                <a:cs typeface="Poppins Light"/>
                <a:sym typeface="Poppins Light"/>
              </a:rPr>
              <a:t>, vol. 11, 2024, no. 1, Art. 23, doi: 10.1186/s40537-024-00882-0.</a:t>
            </a:r>
            <a:endParaRPr sz="14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-285750" lvl="0" marL="285750" marR="0" rtl="0" algn="l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Clr>
                <a:srgbClr val="404040"/>
              </a:buClr>
              <a:buSzPts val="1400"/>
              <a:buFont typeface="Arial"/>
              <a:buChar char="•"/>
            </a:pPr>
            <a:r>
              <a:rPr lang="en-US" sz="1400">
                <a:solidFill>
                  <a:srgbClr val="404040"/>
                </a:solidFill>
                <a:latin typeface="Poppins Light"/>
                <a:ea typeface="Poppins Light"/>
                <a:cs typeface="Poppins Light"/>
                <a:sym typeface="Poppins Light"/>
              </a:rPr>
              <a:t>[6] M. Patel, P. Bhardwaj, and Y. Arora, “Credit risk prediction using machine learning and deep learning,” </a:t>
            </a:r>
            <a:r>
              <a:rPr i="1" lang="en-US" sz="1400">
                <a:solidFill>
                  <a:srgbClr val="404040"/>
                </a:solidFill>
                <a:latin typeface="Poppins Light"/>
                <a:ea typeface="Poppins Light"/>
                <a:cs typeface="Poppins Light"/>
                <a:sym typeface="Poppins Light"/>
              </a:rPr>
              <a:t>Risks</a:t>
            </a:r>
            <a:r>
              <a:rPr lang="en-US" sz="1400">
                <a:solidFill>
                  <a:srgbClr val="404040"/>
                </a:solidFill>
                <a:latin typeface="Poppins Light"/>
                <a:ea typeface="Poppins Light"/>
                <a:cs typeface="Poppins Light"/>
                <a:sym typeface="Poppins Light"/>
              </a:rPr>
              <a:t>, vol. 12, no. 11, p. 174, 2024, doi: 10.3390/risks12110174.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None/>
            </a:pPr>
            <a:br>
              <a:rPr lang="en-US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4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-196850" lvl="0" marL="285750" marR="0" rtl="0" algn="l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-171450" lvl="1" marL="742950" marR="0" rtl="0" algn="l">
              <a:lnSpc>
                <a:spcPct val="15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557" name="Google Shape;557;p27"/>
          <p:cNvSpPr txBox="1"/>
          <p:nvPr/>
        </p:nvSpPr>
        <p:spPr>
          <a:xfrm>
            <a:off x="4609010" y="588237"/>
            <a:ext cx="2982772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References</a:t>
            </a:r>
            <a:endParaRPr sz="18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letter of approval for a company&#10;&#10;AI-generated content may be incorrect." id="562" name="Google Shape;562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60433" y="549921"/>
            <a:ext cx="4063134" cy="5773247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descr="A letter with a graphic design on it&#10;&#10;AI-generated content may be incorrect." id="563" name="Google Shape;563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12305" y="540000"/>
            <a:ext cx="4011389" cy="57720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p29"/>
          <p:cNvSpPr txBox="1"/>
          <p:nvPr/>
        </p:nvSpPr>
        <p:spPr>
          <a:xfrm>
            <a:off x="4226078" y="3012237"/>
            <a:ext cx="7091881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800">
                <a:solidFill>
                  <a:srgbClr val="7D7DB2"/>
                </a:solidFill>
                <a:latin typeface="Poppins Light"/>
                <a:ea typeface="Poppins Light"/>
                <a:cs typeface="Poppins Light"/>
                <a:sym typeface="Poppins Light"/>
              </a:rPr>
              <a:t>Thank you</a:t>
            </a:r>
            <a:endParaRPr b="1" sz="4800">
              <a:solidFill>
                <a:srgbClr val="7D7DB2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Gradient Circle">
  <a:themeElements>
    <a:clrScheme name="Custom 2">
      <a:dk1>
        <a:srgbClr val="000000"/>
      </a:dk1>
      <a:lt1>
        <a:srgbClr val="FFFFFF"/>
      </a:lt1>
      <a:dk2>
        <a:srgbClr val="2C3932"/>
      </a:dk2>
      <a:lt2>
        <a:srgbClr val="FDF6EA"/>
      </a:lt2>
      <a:accent1>
        <a:srgbClr val="F0D4DB"/>
      </a:accent1>
      <a:accent2>
        <a:srgbClr val="DBE7F5"/>
      </a:accent2>
      <a:accent3>
        <a:srgbClr val="C9E2D6"/>
      </a:accent3>
      <a:accent4>
        <a:srgbClr val="BABAD6"/>
      </a:accent4>
      <a:accent5>
        <a:srgbClr val="F0D2BF"/>
      </a:accent5>
      <a:accent6>
        <a:srgbClr val="F3E49A"/>
      </a:accent6>
      <a:hlink>
        <a:srgbClr val="7030A0"/>
      </a:hlink>
      <a:folHlink>
        <a:srgbClr val="107573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2025-11-14T18:07:06Z</dcterms:creat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