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sldIdLst>
    <p:sldId id="257" r:id="rId2"/>
    <p:sldId id="279" r:id="rId3"/>
    <p:sldId id="290" r:id="rId4"/>
    <p:sldId id="260" r:id="rId5"/>
    <p:sldId id="280" r:id="rId6"/>
    <p:sldId id="285" r:id="rId7"/>
    <p:sldId id="286" r:id="rId8"/>
    <p:sldId id="287" r:id="rId9"/>
    <p:sldId id="258" r:id="rId10"/>
    <p:sldId id="289" r:id="rId11"/>
    <p:sldId id="275" r:id="rId12"/>
    <p:sldId id="277" r:id="rId13"/>
    <p:sldId id="291" r:id="rId14"/>
    <p:sldId id="263" r:id="rId15"/>
    <p:sldId id="265" r:id="rId16"/>
    <p:sldId id="266" r:id="rId17"/>
    <p:sldId id="267" r:id="rId18"/>
    <p:sldId id="268" r:id="rId19"/>
    <p:sldId id="269" r:id="rId20"/>
    <p:sldId id="274" r:id="rId21"/>
    <p:sldId id="27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07" autoAdjust="0"/>
    <p:restoredTop sz="94660"/>
  </p:normalViewPr>
  <p:slideViewPr>
    <p:cSldViewPr snapToGrid="0">
      <p:cViewPr varScale="1">
        <p:scale>
          <a:sx n="77" d="100"/>
          <a:sy n="77" d="100"/>
        </p:scale>
        <p:origin x="86"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25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3102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74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2538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33107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37630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99430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96242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46718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19889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23672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509A250-FF31-4206-8172-F9D3106AACB1}" type="datetimeFigureOut">
              <a:rPr lang="en-US" smtClean="0"/>
              <a:t>11/15/2025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02111984F565}"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06744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www.jair.org/index.php/jair/article/view/10302" TargetMode="External"/><Relationship Id="rId3" Type="http://schemas.openxmlformats.org/officeDocument/2006/relationships/hyperlink" Target="https://imbalanced-learn.org/stable/references/generated/imblearn.over_sampling.%20SMOTE.html" TargetMode="External"/><Relationship Id="rId7" Type="http://schemas.openxmlformats.org/officeDocument/2006/relationships/hyperlink" Target="https://www.saedsayad.com/decision_tree.htm" TargetMode="External"/><Relationship Id="rId2" Type="http://schemas.openxmlformats.org/officeDocument/2006/relationships/hyperlink" Target="https://github.com/selva86/datasets/blob/master/JM1.csv" TargetMode="External"/><Relationship Id="rId1" Type="http://schemas.openxmlformats.org/officeDocument/2006/relationships/slideLayout" Target="../slideLayouts/slideLayout2.xml"/><Relationship Id="rId6" Type="http://schemas.openxmlformats.org/officeDocument/2006/relationships/hyperlink" Target="https://towardsdatascience.com/logistic-regression-detailed-overview-46c4da4303bc" TargetMode="External"/><Relationship Id="rId5" Type="http://schemas.openxmlformats.org/officeDocument/2006/relationships/hyperlink" Target="https://link.springer.com/article/10.1023/A:1010933404324" TargetMode="External"/><Relationship Id="rId4" Type="http://schemas.openxmlformats.org/officeDocument/2006/relationships/hyperlink" Target="https://pandas.pydata.org/" TargetMode="External"/><Relationship Id="rId9" Type="http://schemas.openxmlformats.org/officeDocument/2006/relationships/hyperlink" Target="https://scikit-learn.org/stable/modules/svm.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379509" y="3797030"/>
            <a:ext cx="7744408" cy="1785745"/>
          </a:xfrm>
          <a:prstGeom prst="rect">
            <a:avLst/>
          </a:prstGeom>
        </p:spPr>
        <p:txBody>
          <a:bodyPr vert="horz" wrap="square" lIns="0" tIns="15875" rIns="0" bIns="0" rtlCol="0">
            <a:spAutoFit/>
          </a:bodyPr>
          <a:lstStyle/>
          <a:p>
            <a:pPr algn="ctr"/>
            <a:r>
              <a:rPr lang="en-GB" sz="1600" b="1" dirty="0">
                <a:latin typeface="Times New Roman" panose="02020603050405020304" pitchFamily="18" charset="0"/>
                <a:cs typeface="Times New Roman" panose="02020603050405020304" pitchFamily="18" charset="0"/>
              </a:rPr>
              <a:t>Title : </a:t>
            </a:r>
            <a:r>
              <a:rPr lang="en-IN" sz="1600" b="1" dirty="0">
                <a:latin typeface="Times New Roman" panose="02020603050405020304" pitchFamily="18" charset="0"/>
                <a:cs typeface="Times New Roman" panose="02020603050405020304" pitchFamily="18" charset="0"/>
              </a:rPr>
              <a:t>Comparative Analysis of 4 Machine Learning Models for Software Bug Prediction Using the JM1 Dataset</a:t>
            </a:r>
            <a:r>
              <a:rPr lang="en-GB" sz="1600" b="1" dirty="0">
                <a:latin typeface="Times New Roman" panose="02020603050405020304" pitchFamily="18" charset="0"/>
                <a:cs typeface="Times New Roman" panose="02020603050405020304" pitchFamily="18" charset="0"/>
              </a:rPr>
              <a:t> </a:t>
            </a:r>
          </a:p>
          <a:p>
            <a:pPr algn="ctr"/>
            <a:r>
              <a:rPr lang="en-GB" sz="1600" dirty="0">
                <a:latin typeface="Times New Roman" panose="02020603050405020304" pitchFamily="18" charset="0"/>
                <a:cs typeface="Times New Roman" panose="02020603050405020304" pitchFamily="18" charset="0"/>
              </a:rPr>
              <a:t>PRESENTED BY Haniya Shaik (160622733116)</a:t>
            </a:r>
          </a:p>
          <a:p>
            <a:pPr algn="ctr"/>
            <a:r>
              <a:rPr lang="en-GB" sz="1600" dirty="0">
                <a:latin typeface="Times New Roman" panose="02020603050405020304" pitchFamily="18" charset="0"/>
                <a:cs typeface="Times New Roman" panose="02020603050405020304" pitchFamily="18" charset="0"/>
              </a:rPr>
              <a:t>Under the Guidance of  </a:t>
            </a:r>
            <a:r>
              <a:rPr lang="en-US" sz="1600" b="1" dirty="0">
                <a:latin typeface="Times New Roman" panose="02020603050405020304" pitchFamily="18" charset="0"/>
                <a:cs typeface="Times New Roman" panose="02020603050405020304" pitchFamily="18" charset="0"/>
              </a:rPr>
              <a:t>Mrs. Shaheda Begum</a:t>
            </a:r>
            <a:r>
              <a:rPr lang="en-GB" sz="1600" b="1"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Assistant Professor </a:t>
            </a:r>
          </a:p>
          <a:p>
            <a:pPr algn="ctr"/>
            <a:r>
              <a:rPr lang="en-GB" sz="1600" dirty="0">
                <a:latin typeface="Times New Roman" panose="02020603050405020304" pitchFamily="18" charset="0"/>
                <a:cs typeface="Times New Roman" panose="02020603050405020304" pitchFamily="18" charset="0"/>
              </a:rPr>
              <a:t>Department of Computer Science and Engineering  </a:t>
            </a:r>
          </a:p>
          <a:p>
            <a:br>
              <a:rPr lang="en-GB" dirty="0"/>
            </a:br>
            <a:endParaRPr sz="1700" dirty="0">
              <a:latin typeface="Times New Roman"/>
              <a:cs typeface="Times New Roman"/>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9260" y="1858038"/>
            <a:ext cx="1356422" cy="1356422"/>
          </a:xfrm>
          <a:prstGeom prst="rect">
            <a:avLst/>
          </a:prstGeom>
        </p:spPr>
      </p:pic>
      <p:sp>
        <p:nvSpPr>
          <p:cNvPr id="10" name="TextBox 9">
            <a:extLst>
              <a:ext uri="{FF2B5EF4-FFF2-40B4-BE49-F238E27FC236}">
                <a16:creationId xmlns:a16="http://schemas.microsoft.com/office/drawing/2014/main" id="{63627AFC-80DD-EA84-29B4-998B30C26251}"/>
              </a:ext>
            </a:extLst>
          </p:cNvPr>
          <p:cNvSpPr txBox="1"/>
          <p:nvPr/>
        </p:nvSpPr>
        <p:spPr>
          <a:xfrm>
            <a:off x="914400" y="289679"/>
            <a:ext cx="10674626" cy="1938992"/>
          </a:xfrm>
          <a:prstGeom prst="rect">
            <a:avLst/>
          </a:prstGeom>
          <a:noFill/>
        </p:spPr>
        <p:txBody>
          <a:bodyPr wrap="square">
            <a:spAutoFit/>
          </a:bodyPr>
          <a:lstStyle/>
          <a:p>
            <a:pPr algn="ctr" rtl="0">
              <a:buNone/>
            </a:pPr>
            <a:r>
              <a:rPr lang="en-GB" sz="1400" b="1" i="0" u="none" strike="noStrike" dirty="0">
                <a:solidFill>
                  <a:srgbClr val="000000"/>
                </a:solidFill>
                <a:effectLst/>
                <a:latin typeface="Times New Roman" panose="02020603050405020304" pitchFamily="18" charset="0"/>
                <a:cs typeface="Times New Roman" panose="02020603050405020304" pitchFamily="18" charset="0"/>
              </a:rPr>
              <a:t>STANLEY COLLEGE OF ENGINEERING AND TECHNOLGY FOR WOMEN </a:t>
            </a:r>
            <a:endParaRPr lang="en-GB" sz="1400" b="0" dirty="0">
              <a:effectLst/>
              <a:latin typeface="Times New Roman" panose="02020603050405020304" pitchFamily="18" charset="0"/>
              <a:cs typeface="Times New Roman" panose="02020603050405020304" pitchFamily="18" charset="0"/>
            </a:endParaRPr>
          </a:p>
          <a:p>
            <a:pPr algn="ctr" rtl="0">
              <a:buNone/>
            </a:pPr>
            <a:r>
              <a:rPr lang="en-GB" sz="1400" b="1" i="0" u="none" strike="noStrike" dirty="0">
                <a:solidFill>
                  <a:srgbClr val="000000"/>
                </a:solidFill>
                <a:effectLst/>
                <a:latin typeface="Times New Roman" panose="02020603050405020304" pitchFamily="18" charset="0"/>
                <a:cs typeface="Times New Roman" panose="02020603050405020304" pitchFamily="18" charset="0"/>
              </a:rPr>
              <a:t>(AUTONOMOUS), Abids. Hyderabad - 500 001 </a:t>
            </a:r>
            <a:endParaRPr lang="en-GB" sz="1400" b="0" dirty="0">
              <a:effectLst/>
              <a:latin typeface="Times New Roman" panose="02020603050405020304" pitchFamily="18" charset="0"/>
              <a:cs typeface="Times New Roman" panose="02020603050405020304" pitchFamily="18" charset="0"/>
            </a:endParaRPr>
          </a:p>
          <a:p>
            <a:pPr algn="ctr" rtl="0">
              <a:buNone/>
            </a:pPr>
            <a:r>
              <a:rPr lang="en-GB" sz="1400" b="1" i="0" u="none" strike="noStrike" dirty="0">
                <a:solidFill>
                  <a:srgbClr val="000000"/>
                </a:solidFill>
                <a:effectLst/>
                <a:latin typeface="Times New Roman" panose="02020603050405020304" pitchFamily="18" charset="0"/>
                <a:cs typeface="Times New Roman" panose="02020603050405020304" pitchFamily="18" charset="0"/>
              </a:rPr>
              <a:t>(Affiliated to Osmania University &amp; Approved by AICTE) </a:t>
            </a:r>
            <a:endParaRPr lang="en-GB" sz="1400" b="0" dirty="0">
              <a:effectLst/>
              <a:latin typeface="Times New Roman" panose="02020603050405020304" pitchFamily="18" charset="0"/>
              <a:cs typeface="Times New Roman" panose="02020603050405020304" pitchFamily="18" charset="0"/>
            </a:endParaRPr>
          </a:p>
          <a:p>
            <a:pPr algn="ctr" rtl="0">
              <a:buNone/>
            </a:pPr>
            <a:r>
              <a:rPr lang="en-GB" sz="1400" b="1" i="0" u="none" strike="noStrike" dirty="0">
                <a:solidFill>
                  <a:srgbClr val="000000"/>
                </a:solidFill>
                <a:effectLst/>
                <a:latin typeface="Times New Roman" panose="02020603050405020304" pitchFamily="18" charset="0"/>
                <a:cs typeface="Times New Roman" panose="02020603050405020304" pitchFamily="18" charset="0"/>
              </a:rPr>
              <a:t>(All eligible UG Courses are accredited by NBA &amp; Accredited by NAAC with 'A' Grade) </a:t>
            </a:r>
            <a:endParaRPr lang="en-GB" sz="1400" b="0" dirty="0">
              <a:effectLst/>
              <a:latin typeface="Times New Roman" panose="02020603050405020304" pitchFamily="18" charset="0"/>
              <a:cs typeface="Times New Roman" panose="02020603050405020304" pitchFamily="18" charset="0"/>
            </a:endParaRPr>
          </a:p>
          <a:p>
            <a:pPr algn="ctr" rtl="0">
              <a:buNone/>
            </a:pPr>
            <a:r>
              <a:rPr lang="en-GB" sz="1400" b="1" i="0" u="none" strike="noStrike" dirty="0">
                <a:solidFill>
                  <a:srgbClr val="000000"/>
                </a:solidFill>
                <a:effectLst/>
                <a:latin typeface="Times New Roman" panose="02020603050405020304" pitchFamily="18" charset="0"/>
                <a:cs typeface="Times New Roman" panose="02020603050405020304" pitchFamily="18" charset="0"/>
              </a:rPr>
              <a:t>Department of CSE B.E in Computer Science and Engineering </a:t>
            </a:r>
            <a:endParaRPr lang="en-GB" sz="1400" b="0" dirty="0">
              <a:effectLst/>
              <a:latin typeface="Times New Roman" panose="02020603050405020304" pitchFamily="18" charset="0"/>
              <a:cs typeface="Times New Roman" panose="02020603050405020304" pitchFamily="18" charset="0"/>
            </a:endParaRPr>
          </a:p>
          <a:p>
            <a:pPr algn="ctr" rtl="0">
              <a:buNone/>
            </a:pPr>
            <a:r>
              <a:rPr lang="en-GB" sz="1400" b="1" i="0" u="none" strike="noStrike" dirty="0">
                <a:solidFill>
                  <a:srgbClr val="000000"/>
                </a:solidFill>
                <a:effectLst/>
                <a:latin typeface="Times New Roman" panose="02020603050405020304" pitchFamily="18" charset="0"/>
                <a:cs typeface="Times New Roman" panose="02020603050405020304" pitchFamily="18" charset="0"/>
              </a:rPr>
              <a:t>Academic Year: 2024-2025</a:t>
            </a:r>
            <a:endParaRPr lang="en-GB" sz="1400" b="0" dirty="0">
              <a:effectLst/>
              <a:latin typeface="Times New Roman" panose="02020603050405020304" pitchFamily="18" charset="0"/>
              <a:cs typeface="Times New Roman" panose="02020603050405020304" pitchFamily="18" charset="0"/>
            </a:endParaRPr>
          </a:p>
          <a:p>
            <a:pPr>
              <a:buNone/>
            </a:pPr>
            <a:br>
              <a:rPr lang="en-GB" dirty="0"/>
            </a:br>
            <a:endParaRPr lang="en-IN" dirty="0"/>
          </a:p>
        </p:txBody>
      </p:sp>
    </p:spTree>
    <p:extLst>
      <p:ext uri="{BB962C8B-B14F-4D97-AF65-F5344CB8AC3E}">
        <p14:creationId xmlns:p14="http://schemas.microsoft.com/office/powerpoint/2010/main" val="426739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7549F1-3379-017E-3E30-0595F10C593C}"/>
              </a:ext>
            </a:extLst>
          </p:cNvPr>
          <p:cNvSpPr txBox="1"/>
          <p:nvPr/>
        </p:nvSpPr>
        <p:spPr>
          <a:xfrm>
            <a:off x="1066800" y="830600"/>
            <a:ext cx="10058400" cy="1077218"/>
          </a:xfrm>
          <a:prstGeom prst="rect">
            <a:avLst/>
          </a:prstGeom>
          <a:noFill/>
        </p:spPr>
        <p:txBody>
          <a:bodyPr wrap="square">
            <a:spAutoFit/>
          </a:bodyPr>
          <a:lstStyle/>
          <a:p>
            <a:pPr algn="ctr" rtl="0">
              <a:buNone/>
            </a:pPr>
            <a:r>
              <a:rPr lang="en-IN" sz="3200" b="1" i="0" u="none" strike="noStrike" dirty="0">
                <a:effectLst/>
                <a:latin typeface="Times New Roman" panose="02020603050405020304" pitchFamily="18" charset="0"/>
                <a:cs typeface="Times New Roman" panose="02020603050405020304" pitchFamily="18" charset="0"/>
              </a:rPr>
              <a:t>Internship Details</a:t>
            </a:r>
            <a:br>
              <a:rPr lang="en-IN" sz="3200" dirty="0"/>
            </a:br>
            <a:endParaRPr lang="en-IN" sz="3200" dirty="0"/>
          </a:p>
        </p:txBody>
      </p:sp>
      <p:pic>
        <p:nvPicPr>
          <p:cNvPr id="8" name="Picture 7">
            <a:extLst>
              <a:ext uri="{FF2B5EF4-FFF2-40B4-BE49-F238E27FC236}">
                <a16:creationId xmlns:a16="http://schemas.microsoft.com/office/drawing/2014/main" id="{DE9A212E-5E9B-1EF8-DA21-0D6A6E42AD42}"/>
              </a:ext>
            </a:extLst>
          </p:cNvPr>
          <p:cNvPicPr>
            <a:picLocks noChangeAspect="1"/>
          </p:cNvPicPr>
          <p:nvPr/>
        </p:nvPicPr>
        <p:blipFill>
          <a:blip r:embed="rId2"/>
          <a:stretch>
            <a:fillRect/>
          </a:stretch>
        </p:blipFill>
        <p:spPr>
          <a:xfrm>
            <a:off x="1355034" y="1846263"/>
            <a:ext cx="9481931" cy="4301805"/>
          </a:xfrm>
          <a:prstGeom prst="rect">
            <a:avLst/>
          </a:prstGeom>
        </p:spPr>
      </p:pic>
    </p:spTree>
    <p:extLst>
      <p:ext uri="{BB962C8B-B14F-4D97-AF65-F5344CB8AC3E}">
        <p14:creationId xmlns:p14="http://schemas.microsoft.com/office/powerpoint/2010/main" val="2746611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6A92-786E-7D6A-9636-30679F7A7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EE1ED-3902-1F52-59F6-08C1F7DCF24B}"/>
              </a:ext>
            </a:extLst>
          </p:cNvPr>
          <p:cNvSpPr>
            <a:spLocks noGrp="1"/>
          </p:cNvSpPr>
          <p:nvPr>
            <p:ph type="title"/>
          </p:nvPr>
        </p:nvSpPr>
        <p:spPr/>
        <p:txBody>
          <a:bodyPr>
            <a:normAutofit/>
          </a:bodyPr>
          <a:lstStyle/>
          <a:p>
            <a:pPr algn="ctr"/>
            <a:r>
              <a:rPr lang="en-GB" b="1" dirty="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BC3AD8B-807B-C882-BA22-74F1F98DA183}"/>
              </a:ext>
            </a:extLst>
          </p:cNvPr>
          <p:cNvSpPr txBox="1"/>
          <p:nvPr/>
        </p:nvSpPr>
        <p:spPr>
          <a:xfrm>
            <a:off x="1097279" y="1849437"/>
            <a:ext cx="8881607" cy="4847481"/>
          </a:xfrm>
          <a:prstGeom prst="rect">
            <a:avLst/>
          </a:prstGeom>
          <a:noFill/>
        </p:spPr>
        <p:txBody>
          <a:bodyPr wrap="square">
            <a:spAutoFit/>
          </a:bodyPr>
          <a:lstStyle/>
          <a:p>
            <a:pPr rtl="0" fontAlgn="base">
              <a:buFont typeface="+mj-lt"/>
              <a:buAutoNum type="arabicPeriod"/>
            </a:pPr>
            <a:r>
              <a:rPr lang="en-GB" b="1" dirty="0">
                <a:solidFill>
                  <a:srgbClr val="000000"/>
                </a:solidFill>
                <a:latin typeface="Times New Roman" panose="02020603050405020304" pitchFamily="18" charset="0"/>
              </a:rPr>
              <a:t>A</a:t>
            </a:r>
            <a:r>
              <a:rPr lang="en-GB" sz="1800" b="1" i="0" u="none" strike="noStrike" dirty="0">
                <a:solidFill>
                  <a:srgbClr val="000000"/>
                </a:solidFill>
                <a:effectLst/>
                <a:latin typeface="Times New Roman" panose="02020603050405020304" pitchFamily="18" charset="0"/>
              </a:rPr>
              <a:t>bstract</a:t>
            </a:r>
          </a:p>
          <a:p>
            <a:pPr rtl="0" fontAlgn="base">
              <a:buFont typeface="+mj-lt"/>
              <a:buAutoNum type="arabicPeriod"/>
            </a:pPr>
            <a:r>
              <a:rPr lang="en-GB" sz="1800" b="1" i="0" u="none" strike="noStrike" dirty="0">
                <a:solidFill>
                  <a:srgbClr val="000000"/>
                </a:solidFill>
                <a:effectLst/>
                <a:latin typeface="Times New Roman" panose="02020603050405020304" pitchFamily="18" charset="0"/>
              </a:rPr>
              <a:t>Problem Statement</a:t>
            </a:r>
            <a:endParaRPr lang="en-GB" sz="1800" b="1"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GB" sz="1800" b="1" i="0" u="none" strike="noStrike" dirty="0">
                <a:solidFill>
                  <a:srgbClr val="000000"/>
                </a:solidFill>
                <a:effectLst/>
                <a:latin typeface="Times New Roman" panose="02020603050405020304" pitchFamily="18" charset="0"/>
              </a:rPr>
              <a:t>Background and Literature / Technology Review</a:t>
            </a:r>
            <a:endParaRPr lang="en-GB" sz="1800" b="1"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GB" sz="1800" b="1" i="0" u="none" strike="noStrike" dirty="0">
                <a:solidFill>
                  <a:srgbClr val="000000"/>
                </a:solidFill>
                <a:effectLst/>
                <a:latin typeface="Times New Roman" panose="02020603050405020304" pitchFamily="18" charset="0"/>
              </a:rPr>
              <a:t>Planning and Design of Work</a:t>
            </a:r>
            <a:endParaRPr lang="en-GB" sz="1800" b="1"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GB" sz="1800" b="1" i="0" u="none" strike="noStrike" dirty="0">
                <a:solidFill>
                  <a:srgbClr val="000000"/>
                </a:solidFill>
                <a:effectLst/>
                <a:latin typeface="Times New Roman" panose="02020603050405020304" pitchFamily="18" charset="0"/>
              </a:rPr>
              <a:t>Implementation and Execution</a:t>
            </a:r>
            <a:endParaRPr lang="en-GB" sz="1800" b="1"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GB" sz="1800" b="1" i="0" u="none" strike="noStrike" dirty="0">
                <a:solidFill>
                  <a:srgbClr val="000000"/>
                </a:solidFill>
                <a:effectLst/>
                <a:latin typeface="Times New Roman" panose="02020603050405020304" pitchFamily="18" charset="0"/>
              </a:rPr>
              <a:t>Testing and Validation</a:t>
            </a:r>
            <a:endParaRPr lang="en-GB" sz="1800" b="1"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GB" sz="1800" b="1" i="0" u="none" strike="noStrike" dirty="0">
                <a:solidFill>
                  <a:srgbClr val="000000"/>
                </a:solidFill>
                <a:effectLst/>
                <a:latin typeface="Times New Roman" panose="02020603050405020304" pitchFamily="18" charset="0"/>
              </a:rPr>
              <a:t>Results and Analysis</a:t>
            </a:r>
            <a:endParaRPr lang="en-GB" sz="1800" b="1"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GB" sz="1800" b="1" i="0" u="none" strike="noStrike" dirty="0">
                <a:solidFill>
                  <a:srgbClr val="000000"/>
                </a:solidFill>
                <a:effectLst/>
                <a:latin typeface="Times New Roman" panose="02020603050405020304" pitchFamily="18" charset="0"/>
              </a:rPr>
              <a:t>Challenges and Solutions</a:t>
            </a:r>
            <a:endParaRPr lang="en-GB" sz="1800" b="1"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GB" sz="1800" b="1" i="0" u="none" strike="noStrike" dirty="0">
                <a:solidFill>
                  <a:srgbClr val="000000"/>
                </a:solidFill>
                <a:effectLst/>
                <a:latin typeface="Times New Roman" panose="02020603050405020304" pitchFamily="18" charset="0"/>
              </a:rPr>
              <a:t>Conclusion and Future Scope</a:t>
            </a:r>
            <a:endParaRPr lang="en-GB" sz="1800" b="1"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GB" sz="1800" b="1" i="0" u="none" strike="noStrike" dirty="0">
                <a:solidFill>
                  <a:srgbClr val="000000"/>
                </a:solidFill>
                <a:effectLst/>
                <a:latin typeface="Times New Roman" panose="02020603050405020304" pitchFamily="18" charset="0"/>
              </a:rPr>
              <a:t>References</a:t>
            </a:r>
            <a:endParaRPr lang="en-GB" sz="1800" b="1"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GB" sz="1800" b="1" i="0" u="none" strike="noStrike" dirty="0">
                <a:solidFill>
                  <a:srgbClr val="000000"/>
                </a:solidFill>
                <a:effectLst/>
                <a:latin typeface="Times New Roman" panose="02020603050405020304" pitchFamily="18" charset="0"/>
              </a:rPr>
              <a:t>Internship Certificates</a:t>
            </a:r>
            <a:endParaRPr lang="en-GB" sz="1800" b="1" i="0" u="none" strike="noStrike" dirty="0">
              <a:solidFill>
                <a:srgbClr val="000000"/>
              </a:solidFill>
              <a:effectLst/>
              <a:latin typeface="Arial" panose="020B0604020202020204" pitchFamily="34" charset="0"/>
            </a:endParaRPr>
          </a:p>
          <a:p>
            <a:pPr>
              <a:buNone/>
            </a:pPr>
            <a:br>
              <a:rPr lang="en-GB" b="0" dirty="0">
                <a:effectLst/>
              </a:rPr>
            </a:br>
            <a:endParaRPr lang="en-IN" dirty="0"/>
          </a:p>
        </p:txBody>
      </p:sp>
    </p:spTree>
    <p:extLst>
      <p:ext uri="{BB962C8B-B14F-4D97-AF65-F5344CB8AC3E}">
        <p14:creationId xmlns:p14="http://schemas.microsoft.com/office/powerpoint/2010/main" val="828697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568" y="1053548"/>
            <a:ext cx="9982863" cy="663934"/>
          </a:xfrm>
        </p:spPr>
        <p:txBody>
          <a:bodyPr>
            <a:normAutofit/>
          </a:bodyPr>
          <a:lstStyle/>
          <a:p>
            <a:pPr algn="ctr"/>
            <a:r>
              <a:rPr lang="en-GB" sz="3200" b="1" dirty="0">
                <a:latin typeface="Times New Roman" panose="02020603050405020304" pitchFamily="18" charset="0"/>
                <a:cs typeface="Times New Roman" panose="02020603050405020304" pitchFamily="18" charset="0"/>
              </a:rPr>
              <a:t>Abstract</a:t>
            </a:r>
            <a:endParaRPr lang="en-IN"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60350C6-71C1-7DC9-9FBB-AF6CAF942E6C}"/>
              </a:ext>
            </a:extLst>
          </p:cNvPr>
          <p:cNvSpPr txBox="1"/>
          <p:nvPr/>
        </p:nvSpPr>
        <p:spPr>
          <a:xfrm>
            <a:off x="1584296" y="1859339"/>
            <a:ext cx="8881607" cy="4247317"/>
          </a:xfrm>
          <a:prstGeom prst="rect">
            <a:avLst/>
          </a:prstGeom>
          <a:noFill/>
        </p:spPr>
        <p:txBody>
          <a:bodyPr wrap="square">
            <a:spAutoFit/>
          </a:bodyPr>
          <a:lstStyle/>
          <a:p>
            <a:pPr algn="just">
              <a:buNone/>
            </a:pPr>
            <a:r>
              <a:rPr lang="en-GB" dirty="0">
                <a:latin typeface="Times New Roman" panose="02020603050405020304" pitchFamily="18" charset="0"/>
                <a:cs typeface="Times New Roman" panose="02020603050405020304" pitchFamily="18" charset="0"/>
              </a:rPr>
              <a:t>This internship focused on applying Artificial Intelligence and Machine Learning techniques to improve software reliability through accurate bug prediction. Using NASA’s JM1 dataset, four supervised learning models—Logistic Regression, Decision Tree, Random Forest, and SVM—were developed, trained, and compared to identify defect-prone software modules. The work involved dataset preprocessing, balancing using SMOTE, model optimization, and evaluation through accuracy, precision, recall, and F1-score metrics. Random Forest delivered the strongest performance, proving its effectiveness for complex and high-dimensional data. The study demonstrated how AI-driven prediction can reduce maintenance costs, prevent failures, and support decision-making in defence software systems. Throughout this internship, I gained hands-on experience in Python-based data analysis, model evaluation, and visualization techniques. It also strengthened my understanding of supervised learning workflows, highlighted the importance of clean and balanced datasets, and improved my ability to compare algorithms objectively. Overall, the internship enhanced both my technical confidence and my awareness of how intelligent systems contribute to building reliable, efficient, and secure modern software solutions.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701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2B1A8D4-06CB-CE62-3A9F-A720F0FF450E}"/>
              </a:ext>
            </a:extLst>
          </p:cNvPr>
          <p:cNvSpPr txBox="1"/>
          <p:nvPr/>
        </p:nvSpPr>
        <p:spPr>
          <a:xfrm>
            <a:off x="1097279" y="765312"/>
            <a:ext cx="10058399" cy="861774"/>
          </a:xfrm>
          <a:prstGeom prst="rect">
            <a:avLst/>
          </a:prstGeom>
          <a:noFill/>
        </p:spPr>
        <p:txBody>
          <a:bodyPr wrap="square">
            <a:spAutoFit/>
          </a:bodyPr>
          <a:lstStyle/>
          <a:p>
            <a:pPr algn="ctr" rtl="0">
              <a:buNone/>
            </a:pPr>
            <a:r>
              <a:rPr lang="en-IN" sz="3200" b="1" i="0" u="none" strike="noStrike" dirty="0">
                <a:effectLst/>
                <a:latin typeface="Times New Roman" panose="02020603050405020304" pitchFamily="18" charset="0"/>
              </a:rPr>
              <a:t>Problem Statement</a:t>
            </a:r>
            <a:br>
              <a:rPr lang="en-IN" dirty="0"/>
            </a:br>
            <a:endParaRPr lang="en-IN" dirty="0"/>
          </a:p>
        </p:txBody>
      </p:sp>
      <p:sp>
        <p:nvSpPr>
          <p:cNvPr id="11" name="TextBox 10">
            <a:extLst>
              <a:ext uri="{FF2B5EF4-FFF2-40B4-BE49-F238E27FC236}">
                <a16:creationId xmlns:a16="http://schemas.microsoft.com/office/drawing/2014/main" id="{6B4483E3-22B2-9A2D-2AC8-06453C5824A2}"/>
              </a:ext>
            </a:extLst>
          </p:cNvPr>
          <p:cNvSpPr txBox="1"/>
          <p:nvPr/>
        </p:nvSpPr>
        <p:spPr>
          <a:xfrm>
            <a:off x="2021617" y="1957799"/>
            <a:ext cx="8364773" cy="4611519"/>
          </a:xfrm>
          <a:prstGeom prst="rect">
            <a:avLst/>
          </a:prstGeom>
          <a:noFill/>
        </p:spPr>
        <p:txBody>
          <a:bodyPr wrap="square">
            <a:spAutoFit/>
          </a:bodyPr>
          <a:lstStyle/>
          <a:p>
            <a:pPr marL="285750" indent="-285750" fontAlgn="base">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To research and compare multiple machine learning algorithms for software bug prediction.</a:t>
            </a:r>
            <a:endParaRPr lang="en-GB"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fontAlgn="base">
              <a:spcBef>
                <a:spcPts val="1000"/>
              </a:spcBef>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To work with real-world datasets, specifically the NASA JM1 dataset, used in defect analysis.</a:t>
            </a:r>
            <a:endParaRPr lang="en-GB"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fontAlgn="base">
              <a:spcBef>
                <a:spcPts val="1000"/>
              </a:spcBef>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To evaluate supervised ML models like Logistic Regression, Decision Tree, Random Forest, and SVM.</a:t>
            </a:r>
            <a:endParaRPr lang="en-GB" b="0" dirty="0">
              <a:effectLst/>
              <a:latin typeface="Times New Roman" panose="02020603050405020304" pitchFamily="18" charset="0"/>
              <a:cs typeface="Times New Roman" panose="02020603050405020304" pitchFamily="18" charset="0"/>
            </a:endParaRPr>
          </a:p>
          <a:p>
            <a:pPr marL="285750" indent="-285750" fontAlgn="base">
              <a:spcBef>
                <a:spcPts val="1000"/>
              </a:spcBef>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To identify the most accurate and reliable model for predicting defect-prone software modules.</a:t>
            </a:r>
            <a:endParaRPr lang="en-GB"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fontAlgn="base">
              <a:spcBef>
                <a:spcPts val="1000"/>
              </a:spcBef>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To support DRDL by improving software reliability, reducing maintenance costs, and enhancing defect detection accuracy</a:t>
            </a:r>
            <a:endParaRPr lang="en-GB"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fontAlgn="base">
              <a:spcBef>
                <a:spcPts val="1000"/>
              </a:spcBef>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To bridge the gap between theoretical ML concepts and their practical use in defence-oriented software quality assurance.</a:t>
            </a:r>
            <a:endParaRPr lang="en-GB" b="0" i="0" u="none" strike="noStrike" dirty="0">
              <a:solidFill>
                <a:srgbClr val="000000"/>
              </a:solidFill>
              <a:effectLst/>
              <a:latin typeface="Times New Roman" panose="02020603050405020304" pitchFamily="18" charset="0"/>
              <a:cs typeface="Times New Roman" panose="02020603050405020304" pitchFamily="18" charset="0"/>
            </a:endParaRPr>
          </a:p>
          <a:p>
            <a:pPr>
              <a:buNone/>
            </a:pPr>
            <a:br>
              <a:rPr lang="en-GB" b="0" dirty="0">
                <a:effectLst/>
              </a:rPr>
            </a:br>
            <a:endParaRPr lang="en-IN" dirty="0"/>
          </a:p>
        </p:txBody>
      </p:sp>
    </p:spTree>
    <p:extLst>
      <p:ext uri="{BB962C8B-B14F-4D97-AF65-F5344CB8AC3E}">
        <p14:creationId xmlns:p14="http://schemas.microsoft.com/office/powerpoint/2010/main" val="205261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451C7-552C-5AD9-7DE8-6A19245AEACC}"/>
              </a:ext>
            </a:extLst>
          </p:cNvPr>
          <p:cNvSpPr>
            <a:spLocks noGrp="1"/>
          </p:cNvSpPr>
          <p:nvPr>
            <p:ph type="title"/>
          </p:nvPr>
        </p:nvSpPr>
        <p:spPr>
          <a:xfrm>
            <a:off x="69574" y="2431111"/>
            <a:ext cx="3985591" cy="1858618"/>
          </a:xfrm>
        </p:spPr>
        <p:txBody>
          <a:bodyPr>
            <a:normAutofit/>
          </a:bodyPr>
          <a:lstStyle/>
          <a:p>
            <a:r>
              <a:rPr lang="en-US" b="1" dirty="0">
                <a:latin typeface="Times New Roman" panose="02020603050405020304" pitchFamily="18" charset="0"/>
                <a:cs typeface="Times New Roman" panose="02020603050405020304" pitchFamily="18" charset="0"/>
              </a:rPr>
              <a:t>Background and Literature Review</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D1CBA077-EEB8-4BA2-BBA0-1A51DD1F6DC5}"/>
              </a:ext>
            </a:extLst>
          </p:cNvPr>
          <p:cNvPicPr>
            <a:picLocks noGrp="1" noChangeAspect="1"/>
          </p:cNvPicPr>
          <p:nvPr>
            <p:ph idx="1"/>
          </p:nvPr>
        </p:nvPicPr>
        <p:blipFill>
          <a:blip r:embed="rId2"/>
          <a:stretch>
            <a:fillRect/>
          </a:stretch>
        </p:blipFill>
        <p:spPr>
          <a:xfrm>
            <a:off x="4303643" y="188843"/>
            <a:ext cx="7818783" cy="6480314"/>
          </a:xfrm>
          <a:prstGeom prst="rect">
            <a:avLst/>
          </a:prstGeom>
        </p:spPr>
      </p:pic>
    </p:spTree>
    <p:extLst>
      <p:ext uri="{BB962C8B-B14F-4D97-AF65-F5344CB8AC3E}">
        <p14:creationId xmlns:p14="http://schemas.microsoft.com/office/powerpoint/2010/main" val="3073637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E0DD9-388C-F6A6-7B77-146642596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CF885-C856-662C-062A-A9C87C0B5C12}"/>
              </a:ext>
            </a:extLst>
          </p:cNvPr>
          <p:cNvSpPr>
            <a:spLocks noGrp="1"/>
          </p:cNvSpPr>
          <p:nvPr>
            <p:ph type="title"/>
          </p:nvPr>
        </p:nvSpPr>
        <p:spPr>
          <a:xfrm>
            <a:off x="69574" y="2431111"/>
            <a:ext cx="3985591" cy="1858618"/>
          </a:xfrm>
        </p:spPr>
        <p:txBody>
          <a:bodyPr>
            <a:normAutofit/>
          </a:bodyPr>
          <a:lstStyle/>
          <a:p>
            <a:r>
              <a:rPr lang="en-US" b="1" dirty="0">
                <a:latin typeface="Times New Roman" panose="02020603050405020304" pitchFamily="18" charset="0"/>
                <a:cs typeface="Times New Roman" panose="02020603050405020304" pitchFamily="18" charset="0"/>
              </a:rPr>
              <a:t>Background and Literature Review</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7D1AEE8-9784-7D39-9280-38290A5CF6AA}"/>
              </a:ext>
            </a:extLst>
          </p:cNvPr>
          <p:cNvPicPr>
            <a:picLocks noChangeAspect="1"/>
          </p:cNvPicPr>
          <p:nvPr/>
        </p:nvPicPr>
        <p:blipFill>
          <a:blip r:embed="rId2"/>
          <a:stretch>
            <a:fillRect/>
          </a:stretch>
        </p:blipFill>
        <p:spPr>
          <a:xfrm>
            <a:off x="4393096" y="107234"/>
            <a:ext cx="7583556" cy="6685039"/>
          </a:xfrm>
          <a:prstGeom prst="rect">
            <a:avLst/>
          </a:prstGeom>
        </p:spPr>
      </p:pic>
    </p:spTree>
    <p:extLst>
      <p:ext uri="{BB962C8B-B14F-4D97-AF65-F5344CB8AC3E}">
        <p14:creationId xmlns:p14="http://schemas.microsoft.com/office/powerpoint/2010/main" val="1826363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28643-CD37-A291-F157-D202B5E2C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B4E63-E516-8C24-A8A3-7D6A660628F3}"/>
              </a:ext>
            </a:extLst>
          </p:cNvPr>
          <p:cNvSpPr>
            <a:spLocks noGrp="1"/>
          </p:cNvSpPr>
          <p:nvPr>
            <p:ph type="title"/>
          </p:nvPr>
        </p:nvSpPr>
        <p:spPr>
          <a:xfrm>
            <a:off x="69574" y="2431111"/>
            <a:ext cx="3985591" cy="1858618"/>
          </a:xfrm>
        </p:spPr>
        <p:txBody>
          <a:bodyPr>
            <a:normAutofit/>
          </a:bodyPr>
          <a:lstStyle/>
          <a:p>
            <a:r>
              <a:rPr lang="en-US" b="1" dirty="0">
                <a:latin typeface="Times New Roman" panose="02020603050405020304" pitchFamily="18" charset="0"/>
                <a:cs typeface="Times New Roman" panose="02020603050405020304" pitchFamily="18" charset="0"/>
              </a:rPr>
              <a:t>Technology Review</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0C3879A-CAA7-AC01-59CB-84E525ECD0ED}"/>
              </a:ext>
            </a:extLst>
          </p:cNvPr>
          <p:cNvGraphicFramePr>
            <a:graphicFrameLocks noGrp="1"/>
          </p:cNvGraphicFramePr>
          <p:nvPr>
            <p:extLst>
              <p:ext uri="{D42A27DB-BD31-4B8C-83A1-F6EECF244321}">
                <p14:modId xmlns:p14="http://schemas.microsoft.com/office/powerpoint/2010/main" val="215298591"/>
              </p:ext>
            </p:extLst>
          </p:nvPr>
        </p:nvGraphicFramePr>
        <p:xfrm>
          <a:off x="4204252" y="178903"/>
          <a:ext cx="7841973" cy="6490250"/>
        </p:xfrm>
        <a:graphic>
          <a:graphicData uri="http://schemas.openxmlformats.org/drawingml/2006/table">
            <a:tbl>
              <a:tblPr firstRow="1" bandRow="1">
                <a:tableStyleId>{5940675A-B579-460E-94D1-54222C63F5DA}</a:tableStyleId>
              </a:tblPr>
              <a:tblGrid>
                <a:gridCol w="2037522">
                  <a:extLst>
                    <a:ext uri="{9D8B030D-6E8A-4147-A177-3AD203B41FA5}">
                      <a16:colId xmlns:a16="http://schemas.microsoft.com/office/drawing/2014/main" val="2745040129"/>
                    </a:ext>
                  </a:extLst>
                </a:gridCol>
                <a:gridCol w="2961861">
                  <a:extLst>
                    <a:ext uri="{9D8B030D-6E8A-4147-A177-3AD203B41FA5}">
                      <a16:colId xmlns:a16="http://schemas.microsoft.com/office/drawing/2014/main" val="1515019382"/>
                    </a:ext>
                  </a:extLst>
                </a:gridCol>
                <a:gridCol w="2842590">
                  <a:extLst>
                    <a:ext uri="{9D8B030D-6E8A-4147-A177-3AD203B41FA5}">
                      <a16:colId xmlns:a16="http://schemas.microsoft.com/office/drawing/2014/main" val="3582339727"/>
                    </a:ext>
                  </a:extLst>
                </a:gridCol>
              </a:tblGrid>
              <a:tr h="649025">
                <a:tc>
                  <a:txBody>
                    <a:bodyPr/>
                    <a:lstStyle/>
                    <a:p>
                      <a:pPr algn="ctr"/>
                      <a:r>
                        <a:rPr lang="en-IN" sz="2000" b="1" dirty="0">
                          <a:latin typeface="Times New Roman" panose="02020603050405020304" pitchFamily="18" charset="0"/>
                          <a:cs typeface="Times New Roman" panose="02020603050405020304" pitchFamily="18" charset="0"/>
                        </a:rPr>
                        <a:t>Technology</a:t>
                      </a:r>
                    </a:p>
                  </a:txBody>
                  <a:tcPr/>
                </a:tc>
                <a:tc>
                  <a:txBody>
                    <a:bodyPr/>
                    <a:lstStyle/>
                    <a:p>
                      <a:pPr algn="ctr"/>
                      <a:r>
                        <a:rPr lang="en-IN" sz="2000" b="1" dirty="0">
                          <a:latin typeface="Times New Roman" panose="02020603050405020304" pitchFamily="18" charset="0"/>
                          <a:cs typeface="Times New Roman" panose="02020603050405020304" pitchFamily="18" charset="0"/>
                        </a:rPr>
                        <a:t>Models</a:t>
                      </a:r>
                    </a:p>
                  </a:txBody>
                  <a:tcPr/>
                </a:tc>
                <a:tc>
                  <a:txBody>
                    <a:bodyPr/>
                    <a:lstStyle/>
                    <a:p>
                      <a:pPr algn="ctr"/>
                      <a:r>
                        <a:rPr lang="en-IN" sz="2000" b="1" dirty="0">
                          <a:latin typeface="Times New Roman" panose="02020603050405020304" pitchFamily="18" charset="0"/>
                          <a:cs typeface="Times New Roman" panose="02020603050405020304" pitchFamily="18" charset="0"/>
                        </a:rPr>
                        <a:t>Why It Was Important</a:t>
                      </a:r>
                    </a:p>
                  </a:txBody>
                  <a:tcPr/>
                </a:tc>
                <a:extLst>
                  <a:ext uri="{0D108BD9-81ED-4DB2-BD59-A6C34878D82A}">
                    <a16:rowId xmlns:a16="http://schemas.microsoft.com/office/drawing/2014/main" val="2231977512"/>
                  </a:ext>
                </a:extLst>
              </a:tr>
              <a:tr h="649025">
                <a:tc>
                  <a:txBody>
                    <a:bodyPr/>
                    <a:lstStyle/>
                    <a:p>
                      <a:r>
                        <a:rPr lang="en-IN" dirty="0">
                          <a:latin typeface="Times New Roman" panose="02020603050405020304" pitchFamily="18" charset="0"/>
                          <a:cs typeface="Times New Roman" panose="02020603050405020304" pitchFamily="18" charset="0"/>
                        </a:rPr>
                        <a:t>Machine Learning (ML)</a:t>
                      </a:r>
                    </a:p>
                  </a:txBody>
                  <a:tcPr/>
                </a:tc>
                <a:tc>
                  <a:txBody>
                    <a:bodyPr/>
                    <a:lstStyle/>
                    <a:p>
                      <a:r>
                        <a:rPr lang="en-GB" dirty="0">
                          <a:latin typeface="Times New Roman" panose="02020603050405020304" pitchFamily="18" charset="0"/>
                          <a:cs typeface="Times New Roman" panose="02020603050405020304" pitchFamily="18" charset="0"/>
                        </a:rPr>
                        <a:t>Predict software defects using models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Automates defect detection &amp; improves reliability</a:t>
                      </a:r>
                    </a:p>
                  </a:txBody>
                  <a:tcPr/>
                </a:tc>
                <a:extLst>
                  <a:ext uri="{0D108BD9-81ED-4DB2-BD59-A6C34878D82A}">
                    <a16:rowId xmlns:a16="http://schemas.microsoft.com/office/drawing/2014/main" val="1367243214"/>
                  </a:ext>
                </a:extLst>
              </a:tr>
              <a:tr h="649025">
                <a:tc>
                  <a:txBody>
                    <a:bodyPr/>
                    <a:lstStyle/>
                    <a:p>
                      <a:r>
                        <a:rPr lang="en-IN" dirty="0">
                          <a:latin typeface="Times New Roman" panose="02020603050405020304" pitchFamily="18" charset="0"/>
                          <a:cs typeface="Times New Roman" panose="02020603050405020304" pitchFamily="18" charset="0"/>
                        </a:rPr>
                        <a:t>JM1 Dataset (NASA)</a:t>
                      </a:r>
                    </a:p>
                  </a:txBody>
                  <a:tcPr/>
                </a:tc>
                <a:tc>
                  <a:txBody>
                    <a:bodyPr/>
                    <a:lstStyle/>
                    <a:p>
                      <a:r>
                        <a:rPr lang="en-GB" dirty="0">
                          <a:latin typeface="Times New Roman" panose="02020603050405020304" pitchFamily="18" charset="0"/>
                          <a:cs typeface="Times New Roman" panose="02020603050405020304" pitchFamily="18" charset="0"/>
                        </a:rPr>
                        <a:t>Real-world defect dataset for training models</a:t>
                      </a:r>
                      <a:endParaRPr lang="en-IN"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Provides authentic data for accurate prediction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1449829"/>
                  </a:ext>
                </a:extLst>
              </a:tr>
              <a:tr h="649025">
                <a:tc>
                  <a:txBody>
                    <a:bodyPr/>
                    <a:lstStyle/>
                    <a:p>
                      <a:r>
                        <a:rPr lang="en-IN" dirty="0">
                          <a:latin typeface="Times New Roman" panose="02020603050405020304" pitchFamily="18" charset="0"/>
                          <a:cs typeface="Times New Roman" panose="02020603050405020304" pitchFamily="18" charset="0"/>
                        </a:rPr>
                        <a:t>Logistic Regression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Times New Roman" panose="02020603050405020304" pitchFamily="18" charset="0"/>
                          <a:cs typeface="Times New Roman" panose="02020603050405020304" pitchFamily="18" charset="0"/>
                        </a:rPr>
                        <a:t>Base model for binary classification</a:t>
                      </a:r>
                      <a:endParaRPr lang="en-IN"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Simple, interpretable, good for comparison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2198954"/>
                  </a:ext>
                </a:extLst>
              </a:tr>
              <a:tr h="649025">
                <a:tc>
                  <a:txBody>
                    <a:bodyPr/>
                    <a:lstStyle/>
                    <a:p>
                      <a:r>
                        <a:rPr lang="en-IN" dirty="0">
                          <a:latin typeface="Times New Roman" panose="02020603050405020304" pitchFamily="18" charset="0"/>
                          <a:cs typeface="Times New Roman" panose="02020603050405020304" pitchFamily="18" charset="0"/>
                        </a:rPr>
                        <a:t>Decision Tree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Rule-based predictive model</a:t>
                      </a:r>
                    </a:p>
                    <a:p>
                      <a:endParaRPr lang="en-IN"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Helps understand defect patterns clearly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570067"/>
                  </a:ext>
                </a:extLst>
              </a:tr>
              <a:tr h="649025">
                <a:tc>
                  <a:txBody>
                    <a:bodyPr/>
                    <a:lstStyle/>
                    <a:p>
                      <a:r>
                        <a:rPr lang="en-IN" dirty="0">
                          <a:latin typeface="Times New Roman" panose="02020603050405020304" pitchFamily="18" charset="0"/>
                          <a:cs typeface="Times New Roman" panose="02020603050405020304" pitchFamily="18" charset="0"/>
                        </a:rPr>
                        <a:t>Random Forest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Ensemble model combining multiple trees</a:t>
                      </a:r>
                    </a:p>
                  </a:txBody>
                  <a:tcPr/>
                </a:tc>
                <a:tc>
                  <a:txBody>
                    <a:bodyPr/>
                    <a:lstStyle/>
                    <a:p>
                      <a:r>
                        <a:rPr lang="en-GB" dirty="0">
                          <a:latin typeface="Times New Roman" panose="02020603050405020304" pitchFamily="18" charset="0"/>
                          <a:cs typeface="Times New Roman" panose="02020603050405020304" pitchFamily="18" charset="0"/>
                        </a:rPr>
                        <a:t>Gives higher accuracy &amp; handles imbalance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80173960"/>
                  </a:ext>
                </a:extLst>
              </a:tr>
              <a:tr h="649025">
                <a:tc>
                  <a:txBody>
                    <a:bodyPr/>
                    <a:lstStyle/>
                    <a:p>
                      <a:r>
                        <a:rPr lang="en-IN" dirty="0">
                          <a:latin typeface="Times New Roman" panose="02020603050405020304" pitchFamily="18" charset="0"/>
                          <a:cs typeface="Times New Roman" panose="02020603050405020304" pitchFamily="18" charset="0"/>
                        </a:rPr>
                        <a:t>Support Vector Machine (SVM)</a:t>
                      </a:r>
                    </a:p>
                  </a:txBody>
                  <a:tcPr/>
                </a:tc>
                <a:tc>
                  <a:txBody>
                    <a:bodyPr/>
                    <a:lstStyle/>
                    <a:p>
                      <a:r>
                        <a:rPr lang="en-IN" dirty="0">
                          <a:latin typeface="Times New Roman" panose="02020603050405020304" pitchFamily="18" charset="0"/>
                          <a:cs typeface="Times New Roman" panose="02020603050405020304" pitchFamily="18" charset="0"/>
                        </a:rPr>
                        <a:t>High-margin classifier</a:t>
                      </a:r>
                    </a:p>
                  </a:txBody>
                  <a:tcPr/>
                </a:tc>
                <a:tc>
                  <a:txBody>
                    <a:bodyPr/>
                    <a:lstStyle/>
                    <a:p>
                      <a:r>
                        <a:rPr lang="en-GB" dirty="0">
                          <a:latin typeface="Times New Roman" panose="02020603050405020304" pitchFamily="18" charset="0"/>
                          <a:cs typeface="Times New Roman" panose="02020603050405020304" pitchFamily="18" charset="0"/>
                        </a:rPr>
                        <a:t>Performs well on complex defect data</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4936665"/>
                  </a:ext>
                </a:extLst>
              </a:tr>
              <a:tr h="649025">
                <a:tc>
                  <a:txBody>
                    <a:bodyPr/>
                    <a:lstStyle/>
                    <a:p>
                      <a:r>
                        <a:rPr lang="en-IN" dirty="0">
                          <a:latin typeface="Times New Roman" panose="02020603050405020304" pitchFamily="18" charset="0"/>
                          <a:cs typeface="Times New Roman" panose="02020603050405020304" pitchFamily="18" charset="0"/>
                        </a:rPr>
                        <a:t>SMOTE</a:t>
                      </a:r>
                    </a:p>
                  </a:txBody>
                  <a:tcPr/>
                </a:tc>
                <a:tc>
                  <a:txBody>
                    <a:bodyPr/>
                    <a:lstStyle/>
                    <a:p>
                      <a:r>
                        <a:rPr lang="en-GB" dirty="0">
                          <a:latin typeface="Times New Roman" panose="02020603050405020304" pitchFamily="18" charset="0"/>
                          <a:cs typeface="Times New Roman" panose="02020603050405020304" pitchFamily="18" charset="0"/>
                        </a:rPr>
                        <a:t>Oversampling technique for class imbalance</a:t>
                      </a:r>
                      <a:endParaRPr lang="en-IN"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Ensures fair training &amp; better accuracy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36809642"/>
                  </a:ext>
                </a:extLst>
              </a:tr>
              <a:tr h="649025">
                <a:tc>
                  <a:txBody>
                    <a:bodyPr/>
                    <a:lstStyle/>
                    <a:p>
                      <a:r>
                        <a:rPr lang="en-IN" dirty="0">
                          <a:latin typeface="Times New Roman" panose="02020603050405020304" pitchFamily="18" charset="0"/>
                          <a:cs typeface="Times New Roman" panose="02020603050405020304" pitchFamily="18" charset="0"/>
                        </a:rPr>
                        <a:t>pandas &amp; NumPy</a:t>
                      </a:r>
                    </a:p>
                  </a:txBody>
                  <a:tcPr/>
                </a:tc>
                <a:tc>
                  <a:txBody>
                    <a:bodyPr/>
                    <a:lstStyle/>
                    <a:p>
                      <a:r>
                        <a:rPr lang="en-IN" dirty="0">
                          <a:latin typeface="Times New Roman" panose="02020603050405020304" pitchFamily="18" charset="0"/>
                          <a:cs typeface="Times New Roman" panose="02020603050405020304" pitchFamily="18" charset="0"/>
                        </a:rPr>
                        <a:t>Data cleaning and preprocessing</a:t>
                      </a:r>
                    </a:p>
                  </a:txBody>
                  <a:tcPr/>
                </a:tc>
                <a:tc>
                  <a:txBody>
                    <a:bodyPr/>
                    <a:lstStyle/>
                    <a:p>
                      <a:r>
                        <a:rPr lang="en-GB" dirty="0">
                          <a:latin typeface="Times New Roman" panose="02020603050405020304" pitchFamily="18" charset="0"/>
                          <a:cs typeface="Times New Roman" panose="02020603050405020304" pitchFamily="18" charset="0"/>
                        </a:rPr>
                        <a:t>Required for handling large defect datasets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6888954"/>
                  </a:ext>
                </a:extLst>
              </a:tr>
              <a:tr h="649025">
                <a:tc>
                  <a:txBody>
                    <a:bodyPr/>
                    <a:lstStyle/>
                    <a:p>
                      <a:r>
                        <a:rPr lang="en-IN" dirty="0">
                          <a:latin typeface="Times New Roman" panose="02020603050405020304" pitchFamily="18" charset="0"/>
                          <a:cs typeface="Times New Roman" panose="02020603050405020304" pitchFamily="18" charset="0"/>
                        </a:rPr>
                        <a:t>Python &amp; scikit-learn</a:t>
                      </a:r>
                    </a:p>
                  </a:txBody>
                  <a:tcPr/>
                </a:tc>
                <a:tc>
                  <a:txBody>
                    <a:bodyPr/>
                    <a:lstStyle/>
                    <a:p>
                      <a:r>
                        <a:rPr lang="en-IN" dirty="0">
                          <a:latin typeface="Times New Roman" panose="02020603050405020304" pitchFamily="18" charset="0"/>
                          <a:cs typeface="Times New Roman" panose="02020603050405020304" pitchFamily="18" charset="0"/>
                        </a:rPr>
                        <a:t>Model building, training &amp; evaluation</a:t>
                      </a:r>
                    </a:p>
                  </a:txBody>
                  <a:tcPr/>
                </a:tc>
                <a:tc>
                  <a:txBody>
                    <a:bodyPr/>
                    <a:lstStyle/>
                    <a:p>
                      <a:r>
                        <a:rPr lang="en-GB" dirty="0">
                          <a:latin typeface="Times New Roman" panose="02020603050405020304" pitchFamily="18" charset="0"/>
                          <a:cs typeface="Times New Roman" panose="02020603050405020304" pitchFamily="18" charset="0"/>
                        </a:rPr>
                        <a:t>Simplifies ML workflow &amp; boosts efficiency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7388568"/>
                  </a:ext>
                </a:extLst>
              </a:tr>
            </a:tbl>
          </a:graphicData>
        </a:graphic>
      </p:graphicFrame>
    </p:spTree>
    <p:extLst>
      <p:ext uri="{BB962C8B-B14F-4D97-AF65-F5344CB8AC3E}">
        <p14:creationId xmlns:p14="http://schemas.microsoft.com/office/powerpoint/2010/main" val="3573673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DD96F7-50CB-7DE8-26BD-5FFB66C5DC36}"/>
              </a:ext>
            </a:extLst>
          </p:cNvPr>
          <p:cNvSpPr txBox="1"/>
          <p:nvPr/>
        </p:nvSpPr>
        <p:spPr>
          <a:xfrm>
            <a:off x="1659835" y="1987826"/>
            <a:ext cx="7712765" cy="3693319"/>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Internship Plan &amp; Timeline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Duration:</a:t>
            </a:r>
            <a:r>
              <a:rPr lang="en-IN" dirty="0">
                <a:latin typeface="Times New Roman" panose="02020603050405020304" pitchFamily="18" charset="0"/>
                <a:cs typeface="Times New Roman" panose="02020603050405020304" pitchFamily="18" charset="0"/>
              </a:rPr>
              <a:t> 6 Weeks (May–June 2025)</a:t>
            </a:r>
          </a:p>
          <a:p>
            <a:r>
              <a:rPr lang="en-IN" b="1" dirty="0">
                <a:latin typeface="Times New Roman" panose="02020603050405020304" pitchFamily="18" charset="0"/>
                <a:cs typeface="Times New Roman" panose="02020603050405020304" pitchFamily="18" charset="0"/>
              </a:rPr>
              <a:t>Week-wise Plan:</a:t>
            </a:r>
            <a:endParaRPr lang="en-IN" dirty="0">
              <a:latin typeface="Times New Roman" panose="02020603050405020304" pitchFamily="18" charset="0"/>
              <a:cs typeface="Times New Roman" panose="02020603050405020304" pitchFamily="18" charset="0"/>
            </a:endParaRPr>
          </a:p>
          <a:p>
            <a:pPr fontAlgn="base"/>
            <a:r>
              <a:rPr lang="en-IN" b="1" dirty="0">
                <a:latin typeface="Times New Roman" panose="02020603050405020304" pitchFamily="18" charset="0"/>
                <a:cs typeface="Times New Roman" panose="02020603050405020304" pitchFamily="18" charset="0"/>
              </a:rPr>
              <a:t>Week 1</a:t>
            </a:r>
            <a:r>
              <a:rPr lang="en-IN" dirty="0">
                <a:latin typeface="Times New Roman" panose="02020603050405020304" pitchFamily="18" charset="0"/>
                <a:cs typeface="Times New Roman" panose="02020603050405020304" pitchFamily="18" charset="0"/>
              </a:rPr>
              <a:t>: Orientation &amp; Literature Review</a:t>
            </a:r>
            <a:endParaRPr lang="en-IN" b="1" dirty="0">
              <a:latin typeface="Times New Roman" panose="02020603050405020304" pitchFamily="18" charset="0"/>
              <a:cs typeface="Times New Roman" panose="02020603050405020304" pitchFamily="18" charset="0"/>
            </a:endParaRPr>
          </a:p>
          <a:p>
            <a:pPr fontAlgn="base"/>
            <a:r>
              <a:rPr lang="en-IN" b="1" dirty="0">
                <a:latin typeface="Times New Roman" panose="02020603050405020304" pitchFamily="18" charset="0"/>
                <a:cs typeface="Times New Roman" panose="02020603050405020304" pitchFamily="18" charset="0"/>
              </a:rPr>
              <a:t>Week 2</a:t>
            </a:r>
            <a:r>
              <a:rPr lang="en-IN" dirty="0">
                <a:latin typeface="Times New Roman" panose="02020603050405020304" pitchFamily="18" charset="0"/>
                <a:cs typeface="Times New Roman" panose="02020603050405020304" pitchFamily="18" charset="0"/>
              </a:rPr>
              <a:t>: Dataset Preparation</a:t>
            </a:r>
            <a:endParaRPr lang="en-IN" b="1" dirty="0">
              <a:latin typeface="Times New Roman" panose="02020603050405020304" pitchFamily="18" charset="0"/>
              <a:cs typeface="Times New Roman" panose="02020603050405020304" pitchFamily="18" charset="0"/>
            </a:endParaRPr>
          </a:p>
          <a:p>
            <a:pPr fontAlgn="base"/>
            <a:r>
              <a:rPr lang="en-IN" b="1" dirty="0">
                <a:latin typeface="Times New Roman" panose="02020603050405020304" pitchFamily="18" charset="0"/>
                <a:cs typeface="Times New Roman" panose="02020603050405020304" pitchFamily="18" charset="0"/>
              </a:rPr>
              <a:t>Week 3</a:t>
            </a:r>
            <a:r>
              <a:rPr lang="en-IN" dirty="0">
                <a:latin typeface="Times New Roman" panose="02020603050405020304" pitchFamily="18" charset="0"/>
                <a:cs typeface="Times New Roman" panose="02020603050405020304" pitchFamily="18" charset="0"/>
              </a:rPr>
              <a:t>: Model Development</a:t>
            </a:r>
            <a:endParaRPr lang="en-IN" b="1" dirty="0">
              <a:latin typeface="Times New Roman" panose="02020603050405020304" pitchFamily="18" charset="0"/>
              <a:cs typeface="Times New Roman" panose="02020603050405020304" pitchFamily="18" charset="0"/>
            </a:endParaRPr>
          </a:p>
          <a:p>
            <a:pPr fontAlgn="base"/>
            <a:r>
              <a:rPr lang="en-IN" b="1" dirty="0">
                <a:latin typeface="Times New Roman" panose="02020603050405020304" pitchFamily="18" charset="0"/>
                <a:cs typeface="Times New Roman" panose="02020603050405020304" pitchFamily="18" charset="0"/>
              </a:rPr>
              <a:t>Week 4</a:t>
            </a:r>
            <a:r>
              <a:rPr lang="en-IN" dirty="0">
                <a:latin typeface="Times New Roman" panose="02020603050405020304" pitchFamily="18" charset="0"/>
                <a:cs typeface="Times New Roman" panose="02020603050405020304" pitchFamily="18" charset="0"/>
              </a:rPr>
              <a:t>: Evaluation &amp; Analysis</a:t>
            </a:r>
            <a:endParaRPr lang="en-IN" b="1" dirty="0">
              <a:latin typeface="Times New Roman" panose="02020603050405020304" pitchFamily="18" charset="0"/>
              <a:cs typeface="Times New Roman" panose="02020603050405020304" pitchFamily="18" charset="0"/>
            </a:endParaRPr>
          </a:p>
          <a:p>
            <a:pPr fontAlgn="base"/>
            <a:r>
              <a:rPr lang="en-IN" b="1" dirty="0">
                <a:latin typeface="Times New Roman" panose="02020603050405020304" pitchFamily="18" charset="0"/>
                <a:cs typeface="Times New Roman" panose="02020603050405020304" pitchFamily="18" charset="0"/>
              </a:rPr>
              <a:t>Week 5</a:t>
            </a:r>
            <a:r>
              <a:rPr lang="en-IN" dirty="0">
                <a:latin typeface="Times New Roman" panose="02020603050405020304" pitchFamily="18" charset="0"/>
                <a:cs typeface="Times New Roman" panose="02020603050405020304" pitchFamily="18" charset="0"/>
              </a:rPr>
              <a:t>: Documentation &amp; Reporting</a:t>
            </a:r>
            <a:endParaRPr lang="en-IN" b="1" dirty="0">
              <a:latin typeface="Times New Roman" panose="02020603050405020304" pitchFamily="18" charset="0"/>
              <a:cs typeface="Times New Roman" panose="02020603050405020304" pitchFamily="18" charset="0"/>
            </a:endParaRPr>
          </a:p>
          <a:p>
            <a:pPr fontAlgn="base"/>
            <a:endParaRPr lang="en-IN" b="1" dirty="0"/>
          </a:p>
          <a:p>
            <a:br>
              <a:rPr lang="en-IN" dirty="0"/>
            </a:br>
            <a:br>
              <a:rPr lang="en-IN" dirty="0"/>
            </a:br>
            <a:br>
              <a:rPr lang="en-GB" dirty="0"/>
            </a:br>
            <a:endParaRPr lang="en-IN" dirty="0"/>
          </a:p>
        </p:txBody>
      </p:sp>
      <p:sp>
        <p:nvSpPr>
          <p:cNvPr id="8" name="TextBox 7">
            <a:extLst>
              <a:ext uri="{FF2B5EF4-FFF2-40B4-BE49-F238E27FC236}">
                <a16:creationId xmlns:a16="http://schemas.microsoft.com/office/drawing/2014/main" id="{C91B8004-AE91-B2B2-3BEC-591B79E87E3A}"/>
              </a:ext>
            </a:extLst>
          </p:cNvPr>
          <p:cNvSpPr txBox="1"/>
          <p:nvPr/>
        </p:nvSpPr>
        <p:spPr>
          <a:xfrm>
            <a:off x="1404730" y="1133060"/>
            <a:ext cx="9382539"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Planning and Design of Work</a:t>
            </a:r>
          </a:p>
        </p:txBody>
      </p:sp>
    </p:spTree>
    <p:extLst>
      <p:ext uri="{BB962C8B-B14F-4D97-AF65-F5344CB8AC3E}">
        <p14:creationId xmlns:p14="http://schemas.microsoft.com/office/powerpoint/2010/main" val="683412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07B98-38DF-945A-4826-4CE7A1A4777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B7E1E3F-06EC-151D-3D81-2CFFC60A43EC}"/>
              </a:ext>
            </a:extLst>
          </p:cNvPr>
          <p:cNvSpPr txBox="1"/>
          <p:nvPr/>
        </p:nvSpPr>
        <p:spPr>
          <a:xfrm>
            <a:off x="1404730" y="1133060"/>
            <a:ext cx="9382539"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Planning and Design of Work</a:t>
            </a:r>
          </a:p>
        </p:txBody>
      </p:sp>
      <p:sp>
        <p:nvSpPr>
          <p:cNvPr id="3" name="TextBox 2">
            <a:extLst>
              <a:ext uri="{FF2B5EF4-FFF2-40B4-BE49-F238E27FC236}">
                <a16:creationId xmlns:a16="http://schemas.microsoft.com/office/drawing/2014/main" id="{70266765-2AD1-FA5C-BDA6-4D16BF000528}"/>
              </a:ext>
            </a:extLst>
          </p:cNvPr>
          <p:cNvSpPr txBox="1"/>
          <p:nvPr/>
        </p:nvSpPr>
        <p:spPr>
          <a:xfrm>
            <a:off x="1090819" y="2015930"/>
            <a:ext cx="6097656" cy="4355038"/>
          </a:xfrm>
          <a:prstGeom prst="rect">
            <a:avLst/>
          </a:prstGeom>
          <a:noFill/>
        </p:spPr>
        <p:txBody>
          <a:bodyPr wrap="square">
            <a:spAutoFit/>
          </a:bodyPr>
          <a:lstStyle/>
          <a:p>
            <a:pPr indent="-228600" rtl="0">
              <a:buNone/>
            </a:pPr>
            <a:r>
              <a:rPr lang="en-IN" sz="1800" b="1" i="0" u="none" strike="noStrike" dirty="0">
                <a:solidFill>
                  <a:srgbClr val="000000"/>
                </a:solidFill>
                <a:effectLst/>
                <a:latin typeface="Times New Roman" panose="02020603050405020304" pitchFamily="18" charset="0"/>
              </a:rPr>
              <a:t>Workflow of the System</a:t>
            </a:r>
            <a:endParaRPr lang="en-IN" b="0" dirty="0">
              <a:effectLst/>
            </a:endParaRPr>
          </a:p>
          <a:p>
            <a:pPr indent="-228600" rtl="0">
              <a:spcBef>
                <a:spcPts val="1000"/>
              </a:spcBef>
              <a:buNone/>
            </a:pPr>
            <a:r>
              <a:rPr lang="en-IN" b="1" dirty="0">
                <a:solidFill>
                  <a:srgbClr val="000000"/>
                </a:solidFill>
                <a:latin typeface="Times New Roman" panose="02020603050405020304" pitchFamily="18" charset="0"/>
              </a:rPr>
              <a:t>Conceptual Framework</a:t>
            </a:r>
            <a:endParaRPr lang="en-IN" b="0" dirty="0">
              <a:effectLst/>
            </a:endParaRPr>
          </a:p>
          <a:p>
            <a:pPr marL="285750" indent="-285750" fontAlgn="base">
              <a:spcBef>
                <a:spcPts val="1000"/>
              </a:spcBef>
              <a:buFont typeface="Arial" panose="020B0604020202020204" pitchFamily="34" charset="0"/>
              <a:buChar char="•"/>
            </a:pPr>
            <a:r>
              <a:rPr lang="en-GB" dirty="0"/>
              <a:t>Starts with the </a:t>
            </a:r>
            <a:r>
              <a:rPr lang="en-GB" b="1" dirty="0"/>
              <a:t>JM1 dataset</a:t>
            </a:r>
            <a:r>
              <a:rPr lang="en-GB" dirty="0"/>
              <a:t> containing software metrics.</a:t>
            </a:r>
          </a:p>
          <a:p>
            <a:pPr marL="285750" indent="-285750" fontAlgn="base">
              <a:spcBef>
                <a:spcPts val="1000"/>
              </a:spcBef>
              <a:buFont typeface="Arial" panose="020B0604020202020204" pitchFamily="34" charset="0"/>
              <a:buChar char="•"/>
            </a:pPr>
            <a:r>
              <a:rPr lang="en-GB" dirty="0"/>
              <a:t>Data is </a:t>
            </a:r>
            <a:r>
              <a:rPr lang="en-GB" b="1" dirty="0"/>
              <a:t>cleaned and processed</a:t>
            </a:r>
            <a:r>
              <a:rPr lang="en-GB" dirty="0"/>
              <a:t> (tokenization, feature extraction, etc.).</a:t>
            </a:r>
            <a:endParaRPr lang="en-IN" sz="1800" b="1" i="0" u="none" strike="noStrike" dirty="0">
              <a:solidFill>
                <a:srgbClr val="000000"/>
              </a:solidFill>
              <a:effectLst/>
              <a:latin typeface="Arial" panose="020B0604020202020204" pitchFamily="34" charset="0"/>
            </a:endParaRPr>
          </a:p>
          <a:p>
            <a:pPr marL="285750" indent="-285750">
              <a:buFont typeface="Arial" panose="020B0604020202020204" pitchFamily="34" charset="0"/>
              <a:buChar char="•"/>
            </a:pPr>
            <a:r>
              <a:rPr lang="en-GB" dirty="0"/>
              <a:t>Processed data is given to </a:t>
            </a:r>
            <a:r>
              <a:rPr lang="en-GB" b="1" dirty="0"/>
              <a:t>ML models</a:t>
            </a:r>
            <a:r>
              <a:rPr lang="en-GB" dirty="0"/>
              <a:t> like Random Forest, SVM, and Logistic Regression.</a:t>
            </a:r>
          </a:p>
          <a:p>
            <a:pPr marL="285750" indent="-285750">
              <a:buFont typeface="Arial" panose="020B0604020202020204" pitchFamily="34" charset="0"/>
              <a:buChar char="•"/>
            </a:pPr>
            <a:r>
              <a:rPr lang="en-IN" dirty="0"/>
              <a:t>Models perform </a:t>
            </a:r>
            <a:r>
              <a:rPr lang="en-IN" b="1" dirty="0"/>
              <a:t>bug prediction</a:t>
            </a:r>
            <a:r>
              <a:rPr lang="en-IN" dirty="0"/>
              <a:t>.</a:t>
            </a:r>
          </a:p>
          <a:p>
            <a:pPr marL="285750" indent="-285750">
              <a:buFont typeface="Arial" panose="020B0604020202020204" pitchFamily="34" charset="0"/>
              <a:buChar char="•"/>
            </a:pPr>
            <a:r>
              <a:rPr lang="en-GB" dirty="0"/>
              <a:t>Performance is checked using </a:t>
            </a:r>
            <a:r>
              <a:rPr lang="en-GB" b="1" dirty="0"/>
              <a:t>Accuracy, Precision, Recall, F1-Score</a:t>
            </a:r>
            <a:r>
              <a:rPr lang="en-GB" dirty="0"/>
              <a:t>.</a:t>
            </a:r>
          </a:p>
          <a:p>
            <a:pPr marL="285750" indent="-285750">
              <a:buFont typeface="Arial" panose="020B0604020202020204" pitchFamily="34" charset="0"/>
              <a:buChar char="•"/>
            </a:pPr>
            <a:r>
              <a:rPr lang="en-GB" dirty="0"/>
              <a:t>The best model can be used in the </a:t>
            </a:r>
            <a:r>
              <a:rPr lang="en-GB" b="1" dirty="0"/>
              <a:t>software development process</a:t>
            </a:r>
            <a:r>
              <a:rPr lang="en-GB" dirty="0"/>
              <a:t> to improve reliability.</a:t>
            </a:r>
          </a:p>
          <a:p>
            <a:pPr>
              <a:buNone/>
            </a:pPr>
            <a:br>
              <a:rPr lang="en-IN" b="0" dirty="0">
                <a:effectLst/>
              </a:rPr>
            </a:br>
            <a:endParaRPr lang="en-IN" dirty="0"/>
          </a:p>
        </p:txBody>
      </p:sp>
      <p:pic>
        <p:nvPicPr>
          <p:cNvPr id="9" name="Picture 8">
            <a:extLst>
              <a:ext uri="{FF2B5EF4-FFF2-40B4-BE49-F238E27FC236}">
                <a16:creationId xmlns:a16="http://schemas.microsoft.com/office/drawing/2014/main" id="{535CB1DF-C4FE-67AB-FA95-23CF06F7EC93}"/>
              </a:ext>
            </a:extLst>
          </p:cNvPr>
          <p:cNvPicPr>
            <a:picLocks noChangeAspect="1"/>
          </p:cNvPicPr>
          <p:nvPr/>
        </p:nvPicPr>
        <p:blipFill>
          <a:blip r:embed="rId2"/>
          <a:stretch>
            <a:fillRect/>
          </a:stretch>
        </p:blipFill>
        <p:spPr>
          <a:xfrm>
            <a:off x="6953489" y="2191420"/>
            <a:ext cx="5107642" cy="2231494"/>
          </a:xfrm>
          <a:prstGeom prst="rect">
            <a:avLst/>
          </a:prstGeom>
        </p:spPr>
      </p:pic>
    </p:spTree>
    <p:extLst>
      <p:ext uri="{BB962C8B-B14F-4D97-AF65-F5344CB8AC3E}">
        <p14:creationId xmlns:p14="http://schemas.microsoft.com/office/powerpoint/2010/main" val="1702303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457C-2194-F802-6E6F-08F6A641A05F}"/>
              </a:ext>
            </a:extLst>
          </p:cNvPr>
          <p:cNvSpPr>
            <a:spLocks noGrp="1"/>
          </p:cNvSpPr>
          <p:nvPr>
            <p:ph type="title"/>
          </p:nvPr>
        </p:nvSpPr>
        <p:spPr>
          <a:xfrm>
            <a:off x="1139355" y="854766"/>
            <a:ext cx="9913289" cy="832899"/>
          </a:xfrm>
        </p:spPr>
        <p:txBody>
          <a:bodyPr>
            <a:normAutofit/>
          </a:bodyPr>
          <a:lstStyle/>
          <a:p>
            <a:pPr algn="ctr"/>
            <a:r>
              <a:rPr lang="en-GB" sz="3200" b="1" dirty="0">
                <a:latin typeface="Times New Roman" panose="02020603050405020304" pitchFamily="18" charset="0"/>
                <a:cs typeface="Times New Roman" panose="02020603050405020304" pitchFamily="18" charset="0"/>
              </a:rPr>
              <a:t>About the Project</a:t>
            </a:r>
            <a:endParaRPr lang="en-IN" sz="3200" b="1" dirty="0"/>
          </a:p>
        </p:txBody>
      </p:sp>
      <p:sp>
        <p:nvSpPr>
          <p:cNvPr id="3" name="Content Placeholder 2">
            <a:extLst>
              <a:ext uri="{FF2B5EF4-FFF2-40B4-BE49-F238E27FC236}">
                <a16:creationId xmlns:a16="http://schemas.microsoft.com/office/drawing/2014/main" id="{B0E13F05-521F-D3FB-FEB1-D973D554C3C0}"/>
              </a:ext>
            </a:extLst>
          </p:cNvPr>
          <p:cNvSpPr>
            <a:spLocks noGrp="1"/>
          </p:cNvSpPr>
          <p:nvPr>
            <p:ph idx="1"/>
          </p:nvPr>
        </p:nvSpPr>
        <p:spPr/>
        <p:txBody>
          <a:bodyPr>
            <a:normAutofit fontScale="92500" lnSpcReduction="10000"/>
          </a:bodyPr>
          <a:lstStyle/>
          <a:p>
            <a:r>
              <a:rPr lang="en-US" sz="1900" dirty="0">
                <a:latin typeface="Times New Roman" panose="02020603050405020304" pitchFamily="18" charset="0"/>
                <a:cs typeface="Times New Roman" panose="02020603050405020304" pitchFamily="18" charset="0"/>
              </a:rPr>
              <a:t>This project focuses on analyzing and comparing the performance of four different machine learning models for predicting software bugs in source code. The primary objective is to identify which model provides the highest accuracy and reliability in detecting potential defects early in the software development lifecycle. The dataset used for this study includes various software metrics such as lines of code, code complexity, coupling, cohesion, and past defect history. These features help in training models to classify modules as buggy or non-buggy.</a:t>
            </a:r>
          </a:p>
          <a:p>
            <a:r>
              <a:rPr lang="en-US" sz="1900" dirty="0">
                <a:latin typeface="Times New Roman" panose="02020603050405020304" pitchFamily="18" charset="0"/>
                <a:cs typeface="Times New Roman" panose="02020603050405020304" pitchFamily="18" charset="0"/>
              </a:rPr>
              <a:t>Four popular models—</a:t>
            </a:r>
            <a:r>
              <a:rPr lang="en-US" sz="1900" b="1" dirty="0">
                <a:latin typeface="Times New Roman" panose="02020603050405020304" pitchFamily="18" charset="0"/>
                <a:cs typeface="Times New Roman" panose="02020603050405020304" pitchFamily="18" charset="0"/>
              </a:rPr>
              <a:t>Logistic Regression, Decision Tree, Random Forest, and Support Vector Machine (SVM)</a:t>
            </a:r>
            <a:r>
              <a:rPr lang="en-US" sz="1900" dirty="0">
                <a:latin typeface="Times New Roman" panose="02020603050405020304" pitchFamily="18" charset="0"/>
                <a:cs typeface="Times New Roman" panose="02020603050405020304" pitchFamily="18" charset="0"/>
              </a:rPr>
              <a:t>—were implemented and evaluated based on performance metrics like accuracy, precision, recall, F1-score, and ROC-AUC. Each model was trained and tested on the same dataset to ensure fair comparison. The analysis revealed that ensemble-based methods like Random Forest generally outperform individual models due to their ability to reduce overfitting and capture complex feature interactions.</a:t>
            </a:r>
          </a:p>
          <a:p>
            <a:r>
              <a:rPr lang="en-US" sz="1900" dirty="0">
                <a:latin typeface="Times New Roman" panose="02020603050405020304" pitchFamily="18" charset="0"/>
                <a:cs typeface="Times New Roman" panose="02020603050405020304" pitchFamily="18" charset="0"/>
              </a:rPr>
              <a:t>This project demonstrates how predictive analytics can assist software engineers and quality assurance teams in proactively identifying high-risk modules, reducing testing costs, and improving overall software quality. It provides valuable insights into the strengths and limitations of different machine learning approaches for defect prediction and highlights the importance of data-driven decision-making in software engineering.</a:t>
            </a:r>
          </a:p>
          <a:p>
            <a:endParaRPr lang="en-IN" dirty="0"/>
          </a:p>
        </p:txBody>
      </p:sp>
    </p:spTree>
    <p:extLst>
      <p:ext uri="{BB962C8B-B14F-4D97-AF65-F5344CB8AC3E}">
        <p14:creationId xmlns:p14="http://schemas.microsoft.com/office/powerpoint/2010/main" val="1299694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FBE6A-1217-36FB-6D46-E7198732510A}"/>
              </a:ext>
            </a:extLst>
          </p:cNvPr>
          <p:cNvSpPr>
            <a:spLocks noGrp="1"/>
          </p:cNvSpPr>
          <p:nvPr>
            <p:ph type="title"/>
          </p:nvPr>
        </p:nvSpPr>
        <p:spPr/>
        <p:txBody>
          <a:bodyPr/>
          <a:lstStyle/>
          <a:p>
            <a:pPr algn="ctr"/>
            <a:r>
              <a:rPr lang="en-GB" sz="3200" b="1" dirty="0">
                <a:latin typeface="Times New Roman" panose="02020603050405020304" pitchFamily="18" charset="0"/>
                <a:cs typeface="Times New Roman" panose="02020603050405020304" pitchFamily="18" charset="0"/>
              </a:rPr>
              <a:t>Objectives of the Project</a:t>
            </a:r>
            <a:endParaRPr lang="en-IN" dirty="0"/>
          </a:p>
        </p:txBody>
      </p:sp>
      <p:sp>
        <p:nvSpPr>
          <p:cNvPr id="3" name="Content Placeholder 2">
            <a:extLst>
              <a:ext uri="{FF2B5EF4-FFF2-40B4-BE49-F238E27FC236}">
                <a16:creationId xmlns:a16="http://schemas.microsoft.com/office/drawing/2014/main" id="{1B91DE34-546F-0A11-07C8-A80EFA269D94}"/>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main objective of this project is to develop and compare machine learning models that can accurately predict software bugs based on historical software metrics. The project aims to build a data-driven framework that helps identify defect-prone modules early in the software development lifecycle, thereby improving software reliability and reducing maintenance costs. Specifically, it focuses on implementing four machine learning models—</a:t>
            </a:r>
            <a:r>
              <a:rPr lang="en-US" b="1" dirty="0">
                <a:latin typeface="Times New Roman" panose="02020603050405020304" pitchFamily="18" charset="0"/>
                <a:cs typeface="Times New Roman" panose="02020603050405020304" pitchFamily="18" charset="0"/>
              </a:rPr>
              <a:t>Logistic Regression, Decision Tree, Random Forest, and Support Vector Machine (SVM)</a:t>
            </a:r>
            <a:r>
              <a:rPr lang="en-US" dirty="0">
                <a:latin typeface="Times New Roman" panose="02020603050405020304" pitchFamily="18" charset="0"/>
                <a:cs typeface="Times New Roman" panose="02020603050405020304" pitchFamily="18" charset="0"/>
              </a:rPr>
              <a:t>—and evaluating their performance using metrics such as accuracy, precision, recall, F1-score, and ROC-AUC. Through this comparative analysis, the project seeks to determine the most effective model for software bug prediction. Additionally, it aims to understand the influence of key software metrics like code complexity, coupling, and cohesion on defect occurrence. Ultimately, the project strives to assist developers and testers in prioritizing testing efforts, enhancing software quality, and promoting the use of intelligent, automated tools in software engineering.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2729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35630-31EF-37D0-4E56-2E2123AD2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72CD9-1DC9-EB58-27E8-0F5858C91FD1}"/>
              </a:ext>
            </a:extLst>
          </p:cNvPr>
          <p:cNvSpPr>
            <a:spLocks noGrp="1"/>
          </p:cNvSpPr>
          <p:nvPr>
            <p:ph type="title"/>
          </p:nvPr>
        </p:nvSpPr>
        <p:spPr/>
        <p:txBody>
          <a:bodyPr/>
          <a:lstStyle/>
          <a:p>
            <a:pPr algn="ctr"/>
            <a:r>
              <a:rPr lang="en-GB" sz="3200" b="1" dirty="0">
                <a:latin typeface="Times New Roman" panose="02020603050405020304" pitchFamily="18" charset="0"/>
                <a:cs typeface="Times New Roman" panose="02020603050405020304" pitchFamily="18" charset="0"/>
              </a:rPr>
              <a:t>Graph Representation</a:t>
            </a:r>
            <a:endParaRPr lang="en-IN" dirty="0"/>
          </a:p>
        </p:txBody>
      </p:sp>
      <p:pic>
        <p:nvPicPr>
          <p:cNvPr id="5" name="Picture 4">
            <a:extLst>
              <a:ext uri="{FF2B5EF4-FFF2-40B4-BE49-F238E27FC236}">
                <a16:creationId xmlns:a16="http://schemas.microsoft.com/office/drawing/2014/main" id="{435A431B-4500-0FCE-08D1-83EE03DDF29A}"/>
              </a:ext>
            </a:extLst>
          </p:cNvPr>
          <p:cNvPicPr>
            <a:picLocks noChangeAspect="1"/>
          </p:cNvPicPr>
          <p:nvPr/>
        </p:nvPicPr>
        <p:blipFill>
          <a:blip r:embed="rId2"/>
          <a:stretch>
            <a:fillRect/>
          </a:stretch>
        </p:blipFill>
        <p:spPr>
          <a:xfrm>
            <a:off x="1244379" y="1737360"/>
            <a:ext cx="9764202" cy="4568417"/>
          </a:xfrm>
          <a:prstGeom prst="rect">
            <a:avLst/>
          </a:prstGeom>
        </p:spPr>
      </p:pic>
    </p:spTree>
    <p:extLst>
      <p:ext uri="{BB962C8B-B14F-4D97-AF65-F5344CB8AC3E}">
        <p14:creationId xmlns:p14="http://schemas.microsoft.com/office/powerpoint/2010/main" val="2445627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2938738807"/>
              </p:ext>
            </p:extLst>
          </p:nvPr>
        </p:nvGraphicFramePr>
        <p:xfrm>
          <a:off x="1724351" y="1890440"/>
          <a:ext cx="9197174" cy="310388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dirty="0">
                          <a:latin typeface="Times New Roman" panose="02020603050405020304" pitchFamily="18" charset="0"/>
                          <a:cs typeface="Times New Roman" panose="02020603050405020304" pitchFamily="18" charset="0"/>
                        </a:rPr>
                        <a:t>1</a:t>
                      </a:r>
                      <a:r>
                        <a:rPr lang="en-GB" sz="1400" baseline="0" dirty="0">
                          <a:latin typeface="Times New Roman" panose="02020603050405020304" pitchFamily="18" charset="0"/>
                          <a:cs typeface="Times New Roman" panose="02020603050405020304" pitchFamily="18" charset="0"/>
                        </a:rPr>
                        <a:t> :</a:t>
                      </a:r>
                      <a:r>
                        <a:rPr lang="en-US" sz="1400" dirty="0" err="1"/>
                        <a:t>Siswantoro</a:t>
                      </a:r>
                      <a:r>
                        <a:rPr lang="en-US" sz="1400" dirty="0"/>
                        <a:t> M. Z. F., </a:t>
                      </a:r>
                      <a:r>
                        <a:rPr lang="en-US" sz="1400" dirty="0" err="1"/>
                        <a:t>Yuhana</a:t>
                      </a:r>
                      <a:r>
                        <a:rPr lang="en-US" sz="1400" dirty="0"/>
                        <a:t> U. L., “Software Defect Prediction Based on Optimized Machine Learning Models: A Comparative Study”, </a:t>
                      </a:r>
                      <a:r>
                        <a:rPr lang="en-US" sz="1400" i="1" dirty="0" err="1"/>
                        <a:t>Teknika</a:t>
                      </a:r>
                      <a:r>
                        <a:rPr lang="en-US" sz="1400" dirty="0"/>
                        <a:t>, 2022.</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Predicting software defects (bug-prone modules) using ML</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k-Nearest Neighbours (k-NN), Decision Tree, Logistic Regression, Linear Discriminant Analysis (LDA), Single Hidden-Layer MLP, SVM — with hyperparameter tuning + PCA + SMOTE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NASA MDP datasets (public) </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Accuracy (classification accuracy)</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Use of PCA + hyperparameter tuning improved over baseline models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Performance varies by dataset; logistic regression &amp; LDA underperformed</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91246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1295353632"/>
              </p:ext>
            </p:extLst>
          </p:nvPr>
        </p:nvGraphicFramePr>
        <p:xfrm>
          <a:off x="1724351" y="1890440"/>
          <a:ext cx="9197174" cy="274320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baseline="0" dirty="0">
                          <a:latin typeface="Times New Roman" panose="02020603050405020304" pitchFamily="18" charset="0"/>
                          <a:cs typeface="Times New Roman" panose="02020603050405020304" pitchFamily="18" charset="0"/>
                        </a:rPr>
                        <a:t>2 :</a:t>
                      </a:r>
                      <a:r>
                        <a:rPr lang="en-US" sz="1400" dirty="0"/>
                        <a:t>Gautam S., </a:t>
                      </a:r>
                      <a:r>
                        <a:rPr lang="en-US" sz="1400" dirty="0" err="1"/>
                        <a:t>Khunteta</a:t>
                      </a:r>
                      <a:r>
                        <a:rPr lang="en-US" sz="1400" dirty="0"/>
                        <a:t> A., Ghosh D., “Comparison of Machine Learning Models for Effective Software Fault Detection”, </a:t>
                      </a:r>
                      <a:r>
                        <a:rPr lang="en-US" sz="1400" i="1" dirty="0"/>
                        <a:t>International Journal of Intelligent Systems and Applications in Engineering</a:t>
                      </a:r>
                      <a:r>
                        <a:rPr lang="en-US" sz="1400" dirty="0"/>
                        <a:t>, 2023.</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Bug/defect prediction in software modules (open-source)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Decision Tree, Naïve Bayes, KNN, SVM, Random Forest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P</a:t>
                      </a:r>
                      <a:r>
                        <a:rPr lang="en-IN" sz="1400" dirty="0"/>
                        <a:t>ROMISE repository (KC2 dataset)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Accuracy, Precision, Recall</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Comparative insight showing NB and SVM strong performers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Only KC2 dataset used; may not generalize across projects.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81921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3525009010"/>
              </p:ext>
            </p:extLst>
          </p:nvPr>
        </p:nvGraphicFramePr>
        <p:xfrm>
          <a:off x="1724351" y="1890440"/>
          <a:ext cx="9197174" cy="274320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baseline="0" dirty="0">
                          <a:latin typeface="Times New Roman" panose="02020603050405020304" pitchFamily="18" charset="0"/>
                          <a:cs typeface="Times New Roman" panose="02020603050405020304" pitchFamily="18" charset="0"/>
                        </a:rPr>
                        <a:t>3 :</a:t>
                      </a:r>
                      <a:r>
                        <a:rPr lang="en-US" sz="1400" dirty="0"/>
                        <a:t>Goyal J., Sinha R. R., “Machine Learning-Based Defect Prediction for Software Efficiency”, </a:t>
                      </a:r>
                      <a:r>
                        <a:rPr lang="en-US" sz="1400" i="1" dirty="0"/>
                        <a:t>International Journal of Intelligent Systems and Applications in Engineering</a:t>
                      </a:r>
                      <a:r>
                        <a:rPr lang="en-US" sz="1400" dirty="0"/>
                        <a:t>, 2023.</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Predicting defects (fault-prone modules) in software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SVM, Random Forest, Naïve Bayes, Logistic Regression, Artificial Neural Network</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JM1, KC1, KC2, PC1, DS1 (public)</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Accuracy, possibly F1-score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ANN achieved highest accuracy (~93.8%) on these datasets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Focus on publicly available datasets; mobile-app specific contexts limited</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64646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2131218324"/>
              </p:ext>
            </p:extLst>
          </p:nvPr>
        </p:nvGraphicFramePr>
        <p:xfrm>
          <a:off x="1724351" y="1890440"/>
          <a:ext cx="9197174" cy="330708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baseline="0" dirty="0">
                          <a:latin typeface="Times New Roman" panose="02020603050405020304" pitchFamily="18" charset="0"/>
                          <a:cs typeface="Times New Roman" panose="02020603050405020304" pitchFamily="18" charset="0"/>
                        </a:rPr>
                        <a:t>4 :</a:t>
                      </a:r>
                      <a:r>
                        <a:rPr lang="en-IN" sz="1400" dirty="0"/>
                        <a:t>Khalid A., Badshah G., Ayub N., Shiraz M., Ghouse M., “Software Defect Prediction Analysis Using Machine Learning Techniques”, </a:t>
                      </a:r>
                      <a:r>
                        <a:rPr lang="en-IN" sz="1400" i="1" dirty="0"/>
                        <a:t>Sustainability</a:t>
                      </a:r>
                      <a:r>
                        <a:rPr lang="en-IN" sz="1400" dirty="0"/>
                        <a:t>, 2023</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Bug prediction in software modules using ML + optimization &amp; clustering</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K-means clustering (for class label grouping) + classification models (SVM, NB, RF) + Particle Swarm Optimization (PSO)</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PROMISE repository (CM1 dataset and others)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Precision, Accuracy, Recall, F-measure, confusion matrix</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Optimization (PSO) plus clustering improved performance; SVM (optimized) achieved ~99%</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pPr>
                        <a:buNone/>
                      </a:pPr>
                      <a:r>
                        <a:rPr lang="en-US" dirty="0"/>
                        <a:t>Limited dataset size; claim that larger diverse datasets needed for validation</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34370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3213632545"/>
              </p:ext>
            </p:extLst>
          </p:nvPr>
        </p:nvGraphicFramePr>
        <p:xfrm>
          <a:off x="1724351" y="1890440"/>
          <a:ext cx="9197174" cy="289052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baseline="0" dirty="0">
                          <a:latin typeface="Times New Roman" panose="02020603050405020304" pitchFamily="18" charset="0"/>
                          <a:cs typeface="Times New Roman" panose="02020603050405020304" pitchFamily="18" charset="0"/>
                        </a:rPr>
                        <a:t>5 :</a:t>
                      </a:r>
                      <a:r>
                        <a:rPr lang="en-IN" sz="1400" dirty="0"/>
                        <a:t>Harshal Shah &amp; Prashant </a:t>
                      </a:r>
                      <a:r>
                        <a:rPr lang="en-IN" sz="1400" dirty="0" err="1"/>
                        <a:t>Sahatiya</a:t>
                      </a:r>
                      <a:r>
                        <a:rPr lang="en-IN" sz="1400" dirty="0"/>
                        <a:t>, “A Comparative Analysis Study of Software Defect Prediction using Machine Learning Algorithms on NASA Dataset”, </a:t>
                      </a:r>
                      <a:r>
                        <a:rPr lang="en-IN" sz="1400" i="1" dirty="0"/>
                        <a:t>Journal of Harbin Institute of Technology</a:t>
                      </a:r>
                      <a:r>
                        <a:rPr lang="en-IN" sz="1400" dirty="0"/>
                        <a:t>, 2022.</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Bug/defect prediction in software modules using ML</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SVM, Decision Tree, Random Forest, Linear Regression, Naïve Bayes, K-NN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NASA / PROMISE datasets: JM1, CM1 and PC1 </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Accuracy (and comparative results)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Demonstrated which ML algorithms yield higher accuracy on these datasets for defect prediction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Only three datasets used; may not </a:t>
                      </a:r>
                      <a:r>
                        <a:rPr lang="en-US" sz="1400" dirty="0" err="1"/>
                        <a:t>generalise</a:t>
                      </a:r>
                      <a:r>
                        <a:rPr lang="en-US" sz="1400" dirty="0"/>
                        <a:t> across many software systems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01686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3255"/>
          </a:xfrm>
        </p:spPr>
        <p:txBody>
          <a:bodyPr>
            <a:normAutofit fontScale="90000"/>
          </a:bodyPr>
          <a:lstStyle/>
          <a:p>
            <a:r>
              <a:rPr lang="en-GB" dirty="0"/>
              <a:t>Literature Survey</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3073654374"/>
              </p:ext>
            </p:extLst>
          </p:nvPr>
        </p:nvGraphicFramePr>
        <p:xfrm>
          <a:off x="1724351" y="1890440"/>
          <a:ext cx="9197174" cy="3185160"/>
        </p:xfrm>
        <a:graphic>
          <a:graphicData uri="http://schemas.openxmlformats.org/drawingml/2006/table">
            <a:tbl>
              <a:tblPr firstRow="1" bandRow="1">
                <a:tableStyleId>{5940675A-B579-460E-94D1-54222C63F5DA}</a:tableStyleId>
              </a:tblPr>
              <a:tblGrid>
                <a:gridCol w="2864448">
                  <a:extLst>
                    <a:ext uri="{9D8B030D-6E8A-4147-A177-3AD203B41FA5}">
                      <a16:colId xmlns:a16="http://schemas.microsoft.com/office/drawing/2014/main" val="20000"/>
                    </a:ext>
                  </a:extLst>
                </a:gridCol>
                <a:gridCol w="6332726">
                  <a:extLst>
                    <a:ext uri="{9D8B030D-6E8A-4147-A177-3AD203B41FA5}">
                      <a16:colId xmlns:a16="http://schemas.microsoft.com/office/drawing/2014/main" val="20001"/>
                    </a:ext>
                  </a:extLst>
                </a:gridCol>
              </a:tblGrid>
              <a:tr h="370840">
                <a:tc gridSpan="2">
                  <a:txBody>
                    <a:bodyPr/>
                    <a:lstStyle/>
                    <a:p>
                      <a:r>
                        <a:rPr lang="en-GB" sz="1400" baseline="0" dirty="0">
                          <a:latin typeface="Times New Roman" panose="02020603050405020304" pitchFamily="18" charset="0"/>
                          <a:cs typeface="Times New Roman" panose="02020603050405020304" pitchFamily="18" charset="0"/>
                        </a:rPr>
                        <a:t>6 :</a:t>
                      </a:r>
                      <a:r>
                        <a:rPr lang="en-IN" sz="1400" dirty="0"/>
                        <a:t>Aimen Khalid, Gran Badshah, Nasir Ayub, Muhammad Shiraz &amp; Mohamed Ghouse, “Software Defect Prediction Analysis Using Machine Learning Techniques”, </a:t>
                      </a:r>
                      <a:r>
                        <a:rPr lang="en-IN" sz="1400" i="1" dirty="0"/>
                        <a:t>Sustainability</a:t>
                      </a:r>
                      <a:r>
                        <a:rPr lang="en-IN" sz="1400" dirty="0"/>
                        <a:t>, 2023</a:t>
                      </a:r>
                      <a:endParaRPr lang="en-IN" sz="1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0000"/>
                  </a:ext>
                </a:extLst>
              </a:tr>
              <a:tr h="370840">
                <a:tc>
                  <a:txBody>
                    <a:bodyPr/>
                    <a:lstStyle/>
                    <a:p>
                      <a:r>
                        <a:rPr lang="en-GB" sz="1400" dirty="0">
                          <a:latin typeface="Times New Roman" panose="02020603050405020304" pitchFamily="18" charset="0"/>
                          <a:cs typeface="Times New Roman" panose="02020603050405020304" pitchFamily="18" charset="0"/>
                        </a:rPr>
                        <a:t>Problem Taken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Software defect prediction; improving model performance via optimization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GB" sz="1400" dirty="0">
                          <a:latin typeface="Times New Roman" panose="02020603050405020304" pitchFamily="18" charset="0"/>
                          <a:cs typeface="Times New Roman" panose="02020603050405020304" pitchFamily="18" charset="0"/>
                        </a:rPr>
                        <a:t>Applied</a:t>
                      </a:r>
                      <a:r>
                        <a:rPr lang="en-GB" sz="1400" baseline="0" dirty="0">
                          <a:latin typeface="Times New Roman" panose="02020603050405020304" pitchFamily="18" charset="0"/>
                          <a:cs typeface="Times New Roman" panose="02020603050405020304" pitchFamily="18" charset="0"/>
                        </a:rPr>
                        <a:t> Algorithm/Methodology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K-means clustering (for class label grouping) + SVM, NB (Naïve Bayes), Random Forest (RF) + Particle Swarm Optimization (PSO) for optimizing models </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GB" sz="1400" dirty="0">
                          <a:latin typeface="Times New Roman" panose="02020603050405020304" pitchFamily="18" charset="0"/>
                          <a:cs typeface="Times New Roman" panose="02020603050405020304" pitchFamily="18" charset="0"/>
                        </a:rPr>
                        <a:t>Data</a:t>
                      </a:r>
                      <a:r>
                        <a:rPr lang="en-GB" sz="1400" baseline="0" dirty="0">
                          <a:latin typeface="Times New Roman" panose="02020603050405020304" pitchFamily="18" charset="0"/>
                          <a:cs typeface="Times New Roman" panose="02020603050405020304" pitchFamily="18" charset="0"/>
                        </a:rPr>
                        <a:t> 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Public software defect datasets (software metrics)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GB" sz="1400" dirty="0">
                          <a:latin typeface="Times New Roman" panose="02020603050405020304" pitchFamily="18" charset="0"/>
                          <a:cs typeface="Times New Roman" panose="02020603050405020304" pitchFamily="18" charset="0"/>
                        </a:rPr>
                        <a:t>Performance Measures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Precision, Accuracy, Recall, F-measure, Confusion Matrix </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GB" sz="1400" dirty="0">
                          <a:latin typeface="Times New Roman" panose="02020603050405020304" pitchFamily="18" charset="0"/>
                          <a:cs typeface="Times New Roman" panose="02020603050405020304" pitchFamily="18" charset="0"/>
                        </a:rPr>
                        <a:t>Improvements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Optimized SVM achieved very high accuracy (~99%); clustering + PSO improved classifier performance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GB"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High accuracy possibly due to dataset characteristics; further validation needed on more diverse datasets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84058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55943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lvl="0"/>
            <a:r>
              <a:rPr lang="en-IN" dirty="0"/>
              <a:t>1.Dataset: https: </a:t>
            </a:r>
            <a:r>
              <a:rPr lang="en-IN" dirty="0">
                <a:hlinkClick r:id="rId2"/>
              </a:rPr>
              <a:t>https://github.com/selva86/datasets/blob/master/JM1.csv</a:t>
            </a:r>
            <a:r>
              <a:rPr lang="en-IN" dirty="0"/>
              <a:t> </a:t>
            </a:r>
          </a:p>
          <a:p>
            <a:pPr lvl="0"/>
            <a:r>
              <a:rPr lang="en-IN" dirty="0"/>
              <a:t>2.SMOTE Documentation: </a:t>
            </a:r>
            <a:r>
              <a:rPr lang="en-IN" dirty="0">
                <a:hlinkClick r:id="rId3"/>
              </a:rPr>
              <a:t>https://imbalanced-learn.org/stable/references/generated/imblearn.over_sampling. SMOTE.html</a:t>
            </a:r>
            <a:r>
              <a:rPr lang="en-IN" dirty="0"/>
              <a:t> </a:t>
            </a:r>
          </a:p>
          <a:p>
            <a:pPr lvl="0"/>
            <a:r>
              <a:rPr lang="en-IN" dirty="0"/>
              <a:t>3.pandas Library: </a:t>
            </a:r>
            <a:r>
              <a:rPr lang="en-IN" dirty="0">
                <a:hlinkClick r:id="rId4"/>
              </a:rPr>
              <a:t>https://pandas.pydata.org/</a:t>
            </a:r>
            <a:r>
              <a:rPr lang="en-IN" dirty="0"/>
              <a:t> </a:t>
            </a:r>
          </a:p>
          <a:p>
            <a:pPr lvl="0"/>
            <a:r>
              <a:rPr lang="en-IN" dirty="0"/>
              <a:t>4.Random Forest Paper: </a:t>
            </a:r>
            <a:r>
              <a:rPr lang="en-IN" dirty="0">
                <a:hlinkClick r:id="rId5"/>
              </a:rPr>
              <a:t>https://link.springer.com/article/10.1023/A:1010933404324</a:t>
            </a:r>
            <a:r>
              <a:rPr lang="en-IN" dirty="0"/>
              <a:t> </a:t>
            </a:r>
          </a:p>
          <a:p>
            <a:pPr lvl="0"/>
            <a:r>
              <a:rPr lang="en-IN" dirty="0"/>
              <a:t>5.Logistic Regression Basics: </a:t>
            </a:r>
            <a:r>
              <a:rPr lang="en-IN" dirty="0">
                <a:hlinkClick r:id="rId6"/>
              </a:rPr>
              <a:t>https://towardsdatascience.com/logistic-regression-detailed-overview-46c4da4303bc</a:t>
            </a:r>
            <a:r>
              <a:rPr lang="en-IN" dirty="0"/>
              <a:t> </a:t>
            </a:r>
          </a:p>
          <a:p>
            <a:pPr lvl="0"/>
            <a:r>
              <a:rPr lang="en-IN" dirty="0"/>
              <a:t>6.Decision Tree Theory: </a:t>
            </a:r>
            <a:r>
              <a:rPr lang="en-IN" dirty="0">
                <a:hlinkClick r:id="rId7"/>
              </a:rPr>
              <a:t>https://www.saedsayad.com/decision_tree.htm</a:t>
            </a:r>
            <a:r>
              <a:rPr lang="en-IN" dirty="0"/>
              <a:t> </a:t>
            </a:r>
          </a:p>
          <a:p>
            <a:pPr lvl="0"/>
            <a:r>
              <a:rPr lang="en-IN" dirty="0"/>
              <a:t>7.SMOTE for Imbalanced Learning: </a:t>
            </a:r>
            <a:r>
              <a:rPr lang="en-IN" dirty="0">
                <a:hlinkClick r:id="rId8"/>
              </a:rPr>
              <a:t>https://www.jair.org/index.php/jair/article/view/10302</a:t>
            </a:r>
            <a:r>
              <a:rPr lang="en-IN" dirty="0"/>
              <a:t> </a:t>
            </a:r>
          </a:p>
          <a:p>
            <a:pPr marL="0" indent="0">
              <a:buNone/>
            </a:pPr>
            <a:r>
              <a:rPr lang="en-IN" dirty="0"/>
              <a:t>8.SVM Introduction: </a:t>
            </a:r>
            <a:r>
              <a:rPr lang="en-IN" dirty="0">
                <a:hlinkClick r:id="rId9"/>
              </a:rPr>
              <a:t>https://scikit-learn.org/stable/modules/svm.html</a:t>
            </a:r>
            <a:endParaRPr lang="en-IN" dirty="0"/>
          </a:p>
        </p:txBody>
      </p:sp>
    </p:spTree>
    <p:extLst>
      <p:ext uri="{BB962C8B-B14F-4D97-AF65-F5344CB8AC3E}">
        <p14:creationId xmlns:p14="http://schemas.microsoft.com/office/powerpoint/2010/main" val="2268787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60834-250F-DE70-D10B-CA6A54D20333}"/>
              </a:ext>
            </a:extLst>
          </p:cNvPr>
          <p:cNvSpPr>
            <a:spLocks noGrp="1"/>
          </p:cNvSpPr>
          <p:nvPr>
            <p:ph type="title"/>
          </p:nvPr>
        </p:nvSpPr>
        <p:spPr>
          <a:xfrm>
            <a:off x="3765834" y="2488627"/>
            <a:ext cx="10058400" cy="1450757"/>
          </a:xfrm>
        </p:spPr>
        <p:txBody>
          <a:bodyPr/>
          <a:lstStyle/>
          <a:p>
            <a:r>
              <a:rPr lang="en-IN" sz="5400" dirty="0"/>
              <a:t>THANK YOU </a:t>
            </a:r>
            <a:br>
              <a:rPr lang="en-IN" dirty="0"/>
            </a:br>
            <a:endParaRPr lang="en-IN" dirty="0"/>
          </a:p>
        </p:txBody>
      </p:sp>
    </p:spTree>
    <p:extLst>
      <p:ext uri="{BB962C8B-B14F-4D97-AF65-F5344CB8AC3E}">
        <p14:creationId xmlns:p14="http://schemas.microsoft.com/office/powerpoint/2010/main" val="205717514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719</TotalTime>
  <Words>1988</Words>
  <Application>Microsoft Office PowerPoint</Application>
  <PresentationFormat>Widescreen</PresentationFormat>
  <Paragraphs>191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Times New Roman</vt:lpstr>
      <vt:lpstr>Wingdings</vt:lpstr>
      <vt:lpstr>Retrospect</vt:lpstr>
      <vt:lpstr>PowerPoint Presentation</vt:lpstr>
      <vt:lpstr>PowerPoint Presentation</vt:lpstr>
      <vt:lpstr>Contents</vt:lpstr>
      <vt:lpstr>Abstract</vt:lpstr>
      <vt:lpstr>PowerPoint Presentation</vt:lpstr>
      <vt:lpstr>Background and Literature Review </vt:lpstr>
      <vt:lpstr>Background and Literature Review </vt:lpstr>
      <vt:lpstr>Technology Review </vt:lpstr>
      <vt:lpstr>PowerPoint Presentation</vt:lpstr>
      <vt:lpstr>PowerPoint Presentation</vt:lpstr>
      <vt:lpstr>About the Project</vt:lpstr>
      <vt:lpstr>Objectives of the Project</vt:lpstr>
      <vt:lpstr>Graph Representation</vt:lpstr>
      <vt:lpstr>Literature Survey</vt:lpstr>
      <vt:lpstr>Literature Survey</vt:lpstr>
      <vt:lpstr>Literature Survey</vt:lpstr>
      <vt:lpstr>Literature Survey</vt:lpstr>
      <vt:lpstr>Literature Survey</vt:lpstr>
      <vt:lpstr>Literature Survey</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STANLEY COLLEGE OF ENGINEERING AND TECHNOLGY FOR WOMEN (AUTONOMOUS) , Abids. Hyderabad – 500 001</dc:title>
  <dc:creator>Microsoft account</dc:creator>
  <cp:lastModifiedBy>haniyashaik65@gmail.com</cp:lastModifiedBy>
  <cp:revision>7</cp:revision>
  <dcterms:created xsi:type="dcterms:W3CDTF">2025-11-09T15:30:20Z</dcterms:created>
  <dcterms:modified xsi:type="dcterms:W3CDTF">2025-11-15T04:58:07Z</dcterms:modified>
</cp:coreProperties>
</file>