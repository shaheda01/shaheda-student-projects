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88" r:id="rId1"/>
  </p:sldMasterIdLst>
  <p:sldIdLst>
    <p:sldId id="257" r:id="rId2"/>
    <p:sldId id="260" r:id="rId3"/>
    <p:sldId id="291" r:id="rId4"/>
    <p:sldId id="258" r:id="rId5"/>
    <p:sldId id="261" r:id="rId6"/>
    <p:sldId id="262" r:id="rId7"/>
    <p:sldId id="275" r:id="rId8"/>
    <p:sldId id="277" r:id="rId9"/>
    <p:sldId id="276" r:id="rId10"/>
    <p:sldId id="263" r:id="rId11"/>
    <p:sldId id="265" r:id="rId12"/>
    <p:sldId id="266" r:id="rId13"/>
    <p:sldId id="267" r:id="rId14"/>
    <p:sldId id="268" r:id="rId15"/>
    <p:sldId id="269" r:id="rId16"/>
    <p:sldId id="279" r:id="rId17"/>
    <p:sldId id="280" r:id="rId18"/>
    <p:sldId id="281" r:id="rId19"/>
    <p:sldId id="282" r:id="rId20"/>
    <p:sldId id="290" r:id="rId21"/>
    <p:sldId id="286" r:id="rId22"/>
    <p:sldId id="287" r:id="rId23"/>
    <p:sldId id="288" r:id="rId24"/>
    <p:sldId id="284" r:id="rId25"/>
    <p:sldId id="285" r:id="rId26"/>
    <p:sldId id="274" r:id="rId27"/>
    <p:sldId id="289" r:id="rId28"/>
    <p:sldId id="278"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85" d="100"/>
          <a:sy n="85" d="100"/>
        </p:scale>
        <p:origin x="590"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AKANKSHA LAXMI" userId="541aac588f54bbf2" providerId="LiveId" clId="{93FA4551-2B04-4173-BC2F-0E3F91CFBAA4}"/>
    <pc:docChg chg="addSld">
      <pc:chgData name="AAKANKSHA LAXMI" userId="541aac588f54bbf2" providerId="LiveId" clId="{93FA4551-2B04-4173-BC2F-0E3F91CFBAA4}" dt="2025-11-15T04:14:59.996" v="0" actId="680"/>
      <pc:docMkLst>
        <pc:docMk/>
      </pc:docMkLst>
      <pc:sldChg chg="new">
        <pc:chgData name="AAKANKSHA LAXMI" userId="541aac588f54bbf2" providerId="LiveId" clId="{93FA4551-2B04-4173-BC2F-0E3F91CFBAA4}" dt="2025-11-15T04:14:59.996" v="0" actId="680"/>
        <pc:sldMkLst>
          <pc:docMk/>
          <pc:sldMk cId="1986435636" sldId="291"/>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smtClean="0"/>
              <a:t>11/15/2025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552507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11/15/2025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7431029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smtClean="0"/>
              <a:t>11/15/2025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847443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509A250-FF31-4206-8172-F9D3106AACB1}" type="datetimeFigureOut">
              <a:rPr lang="en-US" smtClean="0"/>
              <a:t>11/15/2025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9253899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509A250-FF31-4206-8172-F9D3106AACB1}" type="datetimeFigureOut">
              <a:rPr lang="en-US" smtClean="0"/>
              <a:t>11/15/2025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41331077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509A250-FF31-4206-8172-F9D3106AACB1}" type="datetimeFigureOut">
              <a:rPr lang="en-US" smtClean="0"/>
              <a:t>11/15/2025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7376308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4509A250-FF31-4206-8172-F9D3106AACB1}" type="datetimeFigureOut">
              <a:rPr lang="en-US" smtClean="0"/>
              <a:t>11/15/2025</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7994306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4509A250-FF31-4206-8172-F9D3106AACB1}" type="datetimeFigureOut">
              <a:rPr lang="en-US" smtClean="0"/>
              <a:t>11/15/2025</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D57F1E4F-1CFF-5643-939E-02111984F565}" type="slidenum">
              <a:rPr lang="en-US" smtClean="0"/>
              <a:t>‹#›</a:t>
            </a:fld>
            <a:endParaRPr lang="en-US" dirty="0"/>
          </a:p>
        </p:txBody>
      </p:sp>
    </p:spTree>
    <p:extLst>
      <p:ext uri="{BB962C8B-B14F-4D97-AF65-F5344CB8AC3E}">
        <p14:creationId xmlns:p14="http://schemas.microsoft.com/office/powerpoint/2010/main" val="19624235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11/15/2025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3467187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11/15/2025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0198892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11/15/2025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6236727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4509A250-FF31-4206-8172-F9D3106AACB1}" type="datetimeFigureOut">
              <a:rPr lang="en-US" smtClean="0"/>
              <a:t>11/15/2025</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D57F1E4F-1CFF-5643-939E-02111984F565}" type="slidenum">
              <a:rPr lang="en-US" smtClean="0"/>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85067445"/>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Lst>
  <p:hf sldNum="0"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hyperlink" Target="https://www.who.int/"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01699" y="258254"/>
            <a:ext cx="9968230" cy="654685"/>
          </a:xfrm>
          <a:prstGeom prst="rect">
            <a:avLst/>
          </a:prstGeom>
        </p:spPr>
        <p:txBody>
          <a:bodyPr vert="horz" wrap="square" lIns="0" tIns="52705" rIns="0" bIns="0" rtlCol="0">
            <a:spAutoFit/>
          </a:bodyPr>
          <a:lstStyle/>
          <a:p>
            <a:pPr algn="ctr">
              <a:lnSpc>
                <a:spcPct val="100000"/>
              </a:lnSpc>
              <a:spcBef>
                <a:spcPts val="415"/>
              </a:spcBef>
            </a:pPr>
            <a:r>
              <a:rPr sz="1800" b="1" spc="-20" dirty="0">
                <a:latin typeface="Times New Roman" panose="02020603050405020304" pitchFamily="18" charset="0"/>
                <a:cs typeface="Times New Roman" panose="02020603050405020304" pitchFamily="18" charset="0"/>
              </a:rPr>
              <a:t>STANLEY</a:t>
            </a:r>
            <a:r>
              <a:rPr sz="1800" b="1" spc="-40" dirty="0">
                <a:latin typeface="Times New Roman" panose="02020603050405020304" pitchFamily="18" charset="0"/>
                <a:cs typeface="Times New Roman" panose="02020603050405020304" pitchFamily="18" charset="0"/>
              </a:rPr>
              <a:t> </a:t>
            </a:r>
            <a:r>
              <a:rPr sz="1800" b="1" dirty="0">
                <a:latin typeface="Times New Roman" panose="02020603050405020304" pitchFamily="18" charset="0"/>
                <a:cs typeface="Times New Roman" panose="02020603050405020304" pitchFamily="18" charset="0"/>
              </a:rPr>
              <a:t>COLLEGE</a:t>
            </a:r>
            <a:r>
              <a:rPr sz="1800" b="1" spc="-15" dirty="0">
                <a:latin typeface="Times New Roman" panose="02020603050405020304" pitchFamily="18" charset="0"/>
                <a:cs typeface="Times New Roman" panose="02020603050405020304" pitchFamily="18" charset="0"/>
              </a:rPr>
              <a:t> </a:t>
            </a:r>
            <a:r>
              <a:rPr sz="1800" b="1" dirty="0">
                <a:latin typeface="Times New Roman" panose="02020603050405020304" pitchFamily="18" charset="0"/>
                <a:cs typeface="Times New Roman" panose="02020603050405020304" pitchFamily="18" charset="0"/>
              </a:rPr>
              <a:t>OF</a:t>
            </a:r>
            <a:r>
              <a:rPr sz="1800" b="1" spc="-65" dirty="0">
                <a:latin typeface="Times New Roman" panose="02020603050405020304" pitchFamily="18" charset="0"/>
                <a:cs typeface="Times New Roman" panose="02020603050405020304" pitchFamily="18" charset="0"/>
              </a:rPr>
              <a:t> </a:t>
            </a:r>
            <a:r>
              <a:rPr sz="1800" b="1" spc="-10" dirty="0">
                <a:latin typeface="Times New Roman" panose="02020603050405020304" pitchFamily="18" charset="0"/>
                <a:cs typeface="Times New Roman" panose="02020603050405020304" pitchFamily="18" charset="0"/>
              </a:rPr>
              <a:t>ENGINEERING</a:t>
            </a:r>
            <a:r>
              <a:rPr sz="1800" b="1" spc="-60" dirty="0">
                <a:latin typeface="Times New Roman" panose="02020603050405020304" pitchFamily="18" charset="0"/>
                <a:cs typeface="Times New Roman" panose="02020603050405020304" pitchFamily="18" charset="0"/>
              </a:rPr>
              <a:t> </a:t>
            </a:r>
            <a:r>
              <a:rPr sz="1800" b="1" dirty="0">
                <a:latin typeface="Times New Roman" panose="02020603050405020304" pitchFamily="18" charset="0"/>
                <a:cs typeface="Times New Roman" panose="02020603050405020304" pitchFamily="18" charset="0"/>
              </a:rPr>
              <a:t>AND</a:t>
            </a:r>
            <a:r>
              <a:rPr sz="1800" b="1" spc="-40" dirty="0">
                <a:latin typeface="Times New Roman" panose="02020603050405020304" pitchFamily="18" charset="0"/>
                <a:cs typeface="Times New Roman" panose="02020603050405020304" pitchFamily="18" charset="0"/>
              </a:rPr>
              <a:t> </a:t>
            </a:r>
            <a:r>
              <a:rPr sz="1800" b="1" dirty="0">
                <a:latin typeface="Times New Roman" panose="02020603050405020304" pitchFamily="18" charset="0"/>
                <a:cs typeface="Times New Roman" panose="02020603050405020304" pitchFamily="18" charset="0"/>
              </a:rPr>
              <a:t>TECHNOLGY</a:t>
            </a:r>
            <a:r>
              <a:rPr sz="1800" b="1" spc="-110" dirty="0">
                <a:latin typeface="Times New Roman" panose="02020603050405020304" pitchFamily="18" charset="0"/>
                <a:cs typeface="Times New Roman" panose="02020603050405020304" pitchFamily="18" charset="0"/>
              </a:rPr>
              <a:t> </a:t>
            </a:r>
            <a:r>
              <a:rPr sz="1800" b="1" dirty="0">
                <a:latin typeface="Times New Roman" panose="02020603050405020304" pitchFamily="18" charset="0"/>
                <a:cs typeface="Times New Roman" panose="02020603050405020304" pitchFamily="18" charset="0"/>
              </a:rPr>
              <a:t>FOR</a:t>
            </a:r>
            <a:r>
              <a:rPr sz="1800" b="1" spc="-40" dirty="0">
                <a:latin typeface="Times New Roman" panose="02020603050405020304" pitchFamily="18" charset="0"/>
                <a:cs typeface="Times New Roman" panose="02020603050405020304" pitchFamily="18" charset="0"/>
              </a:rPr>
              <a:t> </a:t>
            </a:r>
            <a:r>
              <a:rPr sz="1800" b="1" dirty="0">
                <a:latin typeface="Times New Roman" panose="02020603050405020304" pitchFamily="18" charset="0"/>
                <a:cs typeface="Times New Roman" panose="02020603050405020304" pitchFamily="18" charset="0"/>
              </a:rPr>
              <a:t>WOMEN</a:t>
            </a:r>
            <a:r>
              <a:rPr sz="1800" b="1" spc="-40" dirty="0">
                <a:latin typeface="Times New Roman" panose="02020603050405020304" pitchFamily="18" charset="0"/>
                <a:cs typeface="Times New Roman" panose="02020603050405020304" pitchFamily="18" charset="0"/>
              </a:rPr>
              <a:t> </a:t>
            </a:r>
            <a:r>
              <a:rPr sz="1800" b="1" dirty="0">
                <a:latin typeface="Times New Roman" panose="02020603050405020304" pitchFamily="18" charset="0"/>
                <a:cs typeface="Times New Roman" panose="02020603050405020304" pitchFamily="18" charset="0"/>
              </a:rPr>
              <a:t>(AUTONOMOUS)</a:t>
            </a:r>
          </a:p>
          <a:p>
            <a:pPr algn="ctr">
              <a:lnSpc>
                <a:spcPct val="100000"/>
              </a:lnSpc>
              <a:spcBef>
                <a:spcPts val="315"/>
              </a:spcBef>
            </a:pPr>
            <a:r>
              <a:rPr sz="1800" dirty="0">
                <a:latin typeface="Times New Roman" panose="02020603050405020304" pitchFamily="18" charset="0"/>
                <a:cs typeface="Times New Roman" panose="02020603050405020304" pitchFamily="18" charset="0"/>
              </a:rPr>
              <a:t>Abids.</a:t>
            </a:r>
            <a:r>
              <a:rPr sz="1800" spc="-1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Hyderabad</a:t>
            </a:r>
            <a:r>
              <a:rPr sz="1800" spc="-3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a:t>
            </a:r>
            <a:r>
              <a:rPr sz="1800" spc="-1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500</a:t>
            </a:r>
            <a:r>
              <a:rPr sz="1800" spc="-15" dirty="0">
                <a:latin typeface="Times New Roman" panose="02020603050405020304" pitchFamily="18" charset="0"/>
                <a:cs typeface="Times New Roman" panose="02020603050405020304" pitchFamily="18" charset="0"/>
              </a:rPr>
              <a:t> </a:t>
            </a:r>
            <a:r>
              <a:rPr sz="1800" spc="-25" dirty="0">
                <a:latin typeface="Times New Roman" panose="02020603050405020304" pitchFamily="18" charset="0"/>
                <a:cs typeface="Times New Roman" panose="02020603050405020304" pitchFamily="18" charset="0"/>
              </a:rPr>
              <a:t>001</a:t>
            </a:r>
            <a:endParaRPr sz="1800" dirty="0">
              <a:latin typeface="Times New Roman" panose="02020603050405020304" pitchFamily="18" charset="0"/>
              <a:cs typeface="Times New Roman" panose="02020603050405020304" pitchFamily="18" charset="0"/>
            </a:endParaRPr>
          </a:p>
        </p:txBody>
      </p:sp>
      <p:sp>
        <p:nvSpPr>
          <p:cNvPr id="3" name="object 3"/>
          <p:cNvSpPr txBox="1"/>
          <p:nvPr/>
        </p:nvSpPr>
        <p:spPr>
          <a:xfrm>
            <a:off x="3886200" y="900747"/>
            <a:ext cx="5638800" cy="447558"/>
          </a:xfrm>
          <a:prstGeom prst="rect">
            <a:avLst/>
          </a:prstGeom>
        </p:spPr>
        <p:txBody>
          <a:bodyPr vert="horz" wrap="square" lIns="0" tIns="39370" rIns="0" bIns="0" rtlCol="0">
            <a:spAutoFit/>
          </a:bodyPr>
          <a:lstStyle/>
          <a:p>
            <a:pPr marL="7620" algn="ctr">
              <a:lnSpc>
                <a:spcPct val="100000"/>
              </a:lnSpc>
              <a:spcBef>
                <a:spcPts val="310"/>
              </a:spcBef>
            </a:pPr>
            <a:r>
              <a:rPr sz="1200" b="1" i="1" dirty="0">
                <a:latin typeface="Times New Roman" panose="02020603050405020304" pitchFamily="18" charset="0"/>
                <a:cs typeface="Times New Roman" panose="02020603050405020304" pitchFamily="18" charset="0"/>
              </a:rPr>
              <a:t>(Affiliated</a:t>
            </a:r>
            <a:r>
              <a:rPr sz="1200" b="1" i="1" spc="-40" dirty="0">
                <a:latin typeface="Times New Roman" panose="02020603050405020304" pitchFamily="18" charset="0"/>
                <a:cs typeface="Times New Roman" panose="02020603050405020304" pitchFamily="18" charset="0"/>
              </a:rPr>
              <a:t> </a:t>
            </a:r>
            <a:r>
              <a:rPr sz="1200" b="1" i="1" dirty="0">
                <a:latin typeface="Times New Roman" panose="02020603050405020304" pitchFamily="18" charset="0"/>
                <a:cs typeface="Times New Roman" panose="02020603050405020304" pitchFamily="18" charset="0"/>
              </a:rPr>
              <a:t>to</a:t>
            </a:r>
            <a:r>
              <a:rPr sz="1200" b="1" i="1" spc="35" dirty="0">
                <a:latin typeface="Times New Roman" panose="02020603050405020304" pitchFamily="18" charset="0"/>
                <a:cs typeface="Times New Roman" panose="02020603050405020304" pitchFamily="18" charset="0"/>
              </a:rPr>
              <a:t> </a:t>
            </a:r>
            <a:r>
              <a:rPr sz="1200" b="1" i="1" dirty="0">
                <a:latin typeface="Times New Roman" panose="02020603050405020304" pitchFamily="18" charset="0"/>
                <a:cs typeface="Times New Roman" panose="02020603050405020304" pitchFamily="18" charset="0"/>
              </a:rPr>
              <a:t>Osmania</a:t>
            </a:r>
            <a:r>
              <a:rPr sz="1200" b="1" i="1" spc="25" dirty="0">
                <a:latin typeface="Times New Roman" panose="02020603050405020304" pitchFamily="18" charset="0"/>
                <a:cs typeface="Times New Roman" panose="02020603050405020304" pitchFamily="18" charset="0"/>
              </a:rPr>
              <a:t> </a:t>
            </a:r>
            <a:r>
              <a:rPr sz="1200" b="1" i="1" spc="-10" dirty="0">
                <a:latin typeface="Times New Roman" panose="02020603050405020304" pitchFamily="18" charset="0"/>
                <a:cs typeface="Times New Roman" panose="02020603050405020304" pitchFamily="18" charset="0"/>
              </a:rPr>
              <a:t>University</a:t>
            </a:r>
            <a:r>
              <a:rPr sz="1200" b="1" i="1" spc="-50" dirty="0">
                <a:latin typeface="Times New Roman" panose="02020603050405020304" pitchFamily="18" charset="0"/>
                <a:cs typeface="Times New Roman" panose="02020603050405020304" pitchFamily="18" charset="0"/>
              </a:rPr>
              <a:t> </a:t>
            </a:r>
            <a:r>
              <a:rPr sz="1200" b="1" i="1" dirty="0">
                <a:latin typeface="Times New Roman" panose="02020603050405020304" pitchFamily="18" charset="0"/>
                <a:cs typeface="Times New Roman" panose="02020603050405020304" pitchFamily="18" charset="0"/>
              </a:rPr>
              <a:t>&amp;</a:t>
            </a:r>
            <a:r>
              <a:rPr sz="1200" b="1" i="1" spc="-20" dirty="0">
                <a:latin typeface="Times New Roman" panose="02020603050405020304" pitchFamily="18" charset="0"/>
                <a:cs typeface="Times New Roman" panose="02020603050405020304" pitchFamily="18" charset="0"/>
              </a:rPr>
              <a:t> </a:t>
            </a:r>
            <a:r>
              <a:rPr sz="1200" b="1" i="1" dirty="0">
                <a:latin typeface="Times New Roman" panose="02020603050405020304" pitchFamily="18" charset="0"/>
                <a:cs typeface="Times New Roman" panose="02020603050405020304" pitchFamily="18" charset="0"/>
              </a:rPr>
              <a:t>Approved</a:t>
            </a:r>
            <a:r>
              <a:rPr sz="1200" b="1" i="1" spc="-40" dirty="0">
                <a:latin typeface="Times New Roman" panose="02020603050405020304" pitchFamily="18" charset="0"/>
                <a:cs typeface="Times New Roman" panose="02020603050405020304" pitchFamily="18" charset="0"/>
              </a:rPr>
              <a:t> </a:t>
            </a:r>
            <a:r>
              <a:rPr sz="1200" b="1" i="1" dirty="0">
                <a:latin typeface="Times New Roman" panose="02020603050405020304" pitchFamily="18" charset="0"/>
                <a:cs typeface="Times New Roman" panose="02020603050405020304" pitchFamily="18" charset="0"/>
              </a:rPr>
              <a:t>by</a:t>
            </a:r>
            <a:r>
              <a:rPr sz="1200" b="1" i="1" spc="-45" dirty="0">
                <a:latin typeface="Times New Roman" panose="02020603050405020304" pitchFamily="18" charset="0"/>
                <a:cs typeface="Times New Roman" panose="02020603050405020304" pitchFamily="18" charset="0"/>
              </a:rPr>
              <a:t> </a:t>
            </a:r>
            <a:r>
              <a:rPr sz="1200" b="1" i="1" spc="-10" dirty="0">
                <a:latin typeface="Times New Roman" panose="02020603050405020304" pitchFamily="18" charset="0"/>
                <a:cs typeface="Times New Roman" panose="02020603050405020304" pitchFamily="18" charset="0"/>
              </a:rPr>
              <a:t>AICTE)</a:t>
            </a:r>
            <a:endParaRPr lang="en-GB" sz="1200" b="1" i="1" spc="-10" dirty="0">
              <a:latin typeface="Times New Roman" panose="02020603050405020304" pitchFamily="18" charset="0"/>
              <a:cs typeface="Times New Roman" panose="02020603050405020304" pitchFamily="18" charset="0"/>
            </a:endParaRPr>
          </a:p>
          <a:p>
            <a:pPr marL="7620" algn="ctr">
              <a:lnSpc>
                <a:spcPct val="100000"/>
              </a:lnSpc>
              <a:spcBef>
                <a:spcPts val="310"/>
              </a:spcBef>
            </a:pPr>
            <a:r>
              <a:rPr lang="en-GB" sz="1200" b="1" i="1" spc="-10" dirty="0">
                <a:latin typeface="Times New Roman" panose="02020603050405020304" pitchFamily="18" charset="0"/>
                <a:cs typeface="Times New Roman" panose="02020603050405020304" pitchFamily="18" charset="0"/>
              </a:rPr>
              <a:t>(</a:t>
            </a:r>
            <a:r>
              <a:rPr lang="en-GB" sz="1200" b="1" spc="-10" dirty="0">
                <a:latin typeface="Times New Roman" panose="02020603050405020304" pitchFamily="18" charset="0"/>
                <a:cs typeface="Times New Roman" panose="02020603050405020304" pitchFamily="18" charset="0"/>
              </a:rPr>
              <a:t>All eligible UGC courses are accredited by NBA &amp; NAAC with ‘A’ Grade)</a:t>
            </a:r>
            <a:endParaRPr sz="1200" dirty="0">
              <a:latin typeface="Times New Roman" panose="02020603050405020304" pitchFamily="18" charset="0"/>
              <a:cs typeface="Times New Roman" panose="02020603050405020304" pitchFamily="18" charset="0"/>
            </a:endParaRPr>
          </a:p>
        </p:txBody>
      </p:sp>
      <p:sp>
        <p:nvSpPr>
          <p:cNvPr id="4" name="object 4"/>
          <p:cNvSpPr txBox="1"/>
          <p:nvPr/>
        </p:nvSpPr>
        <p:spPr>
          <a:xfrm>
            <a:off x="2098675" y="1769998"/>
            <a:ext cx="8001000" cy="1005532"/>
          </a:xfrm>
          <a:prstGeom prst="rect">
            <a:avLst/>
          </a:prstGeom>
        </p:spPr>
        <p:txBody>
          <a:bodyPr vert="horz" wrap="square" lIns="0" tIns="7620" rIns="0" bIns="0" rtlCol="0">
            <a:spAutoFit/>
          </a:bodyPr>
          <a:lstStyle/>
          <a:p>
            <a:pPr marL="12700" marR="5080" indent="-5080" algn="ctr">
              <a:lnSpc>
                <a:spcPct val="116500"/>
              </a:lnSpc>
              <a:spcBef>
                <a:spcPts val="60"/>
              </a:spcBef>
            </a:pPr>
            <a:r>
              <a:rPr sz="1800" b="1" spc="-10" dirty="0">
                <a:latin typeface="Times New Roman"/>
                <a:cs typeface="Times New Roman"/>
              </a:rPr>
              <a:t>Department </a:t>
            </a:r>
            <a:r>
              <a:rPr lang="en-US" sz="1800" b="1" spc="-10" dirty="0">
                <a:latin typeface="Times New Roman"/>
                <a:cs typeface="Times New Roman"/>
              </a:rPr>
              <a:t> of Computer Science and Engineering</a:t>
            </a:r>
          </a:p>
          <a:p>
            <a:pPr marL="12700" marR="5080" indent="-5080" algn="ctr">
              <a:lnSpc>
                <a:spcPct val="116500"/>
              </a:lnSpc>
              <a:spcBef>
                <a:spcPts val="60"/>
              </a:spcBef>
            </a:pPr>
            <a:r>
              <a:rPr sz="1800" b="1" dirty="0">
                <a:latin typeface="Times New Roman"/>
                <a:cs typeface="Times New Roman"/>
              </a:rPr>
              <a:t>Academic</a:t>
            </a:r>
            <a:r>
              <a:rPr sz="1800" b="1" spc="-135" dirty="0">
                <a:latin typeface="Times New Roman"/>
                <a:cs typeface="Times New Roman"/>
              </a:rPr>
              <a:t> </a:t>
            </a:r>
            <a:r>
              <a:rPr sz="1800" b="1" spc="-25" dirty="0">
                <a:latin typeface="Times New Roman"/>
                <a:cs typeface="Times New Roman"/>
              </a:rPr>
              <a:t>Year:</a:t>
            </a:r>
            <a:r>
              <a:rPr sz="1800" b="1" spc="-45" dirty="0">
                <a:latin typeface="Times New Roman"/>
                <a:cs typeface="Times New Roman"/>
              </a:rPr>
              <a:t> </a:t>
            </a:r>
            <a:r>
              <a:rPr sz="1800" b="1" dirty="0">
                <a:latin typeface="Times New Roman"/>
                <a:cs typeface="Times New Roman"/>
              </a:rPr>
              <a:t>202</a:t>
            </a:r>
            <a:r>
              <a:rPr lang="en-US" sz="1800" b="1" dirty="0">
                <a:latin typeface="Times New Roman"/>
                <a:cs typeface="Times New Roman"/>
              </a:rPr>
              <a:t>5</a:t>
            </a:r>
            <a:r>
              <a:rPr sz="1800" b="1" dirty="0">
                <a:latin typeface="Times New Roman"/>
                <a:cs typeface="Times New Roman"/>
              </a:rPr>
              <a:t>-</a:t>
            </a:r>
            <a:r>
              <a:rPr sz="1800" b="1" spc="-20" dirty="0">
                <a:latin typeface="Times New Roman"/>
                <a:cs typeface="Times New Roman"/>
              </a:rPr>
              <a:t>202</a:t>
            </a:r>
            <a:r>
              <a:rPr lang="en-US" sz="1800" b="1" spc="-20" dirty="0">
                <a:latin typeface="Times New Roman"/>
                <a:cs typeface="Times New Roman"/>
              </a:rPr>
              <a:t>6</a:t>
            </a:r>
          </a:p>
          <a:p>
            <a:pPr marL="12700" marR="5080" indent="-5080" algn="ctr">
              <a:lnSpc>
                <a:spcPct val="116500"/>
              </a:lnSpc>
              <a:spcBef>
                <a:spcPts val="60"/>
              </a:spcBef>
            </a:pPr>
            <a:r>
              <a:rPr lang="en-US" b="1" spc="-20" dirty="0">
                <a:latin typeface="Times New Roman"/>
                <a:cs typeface="Times New Roman"/>
              </a:rPr>
              <a:t>B.E </a:t>
            </a:r>
            <a:r>
              <a:rPr lang="en-US" b="1" spc="-20" dirty="0" err="1">
                <a:latin typeface="Times New Roman"/>
                <a:cs typeface="Times New Roman"/>
              </a:rPr>
              <a:t>Intership</a:t>
            </a:r>
            <a:r>
              <a:rPr lang="en-US" b="1" spc="-20" dirty="0">
                <a:latin typeface="Times New Roman"/>
                <a:cs typeface="Times New Roman"/>
              </a:rPr>
              <a:t> –II</a:t>
            </a:r>
            <a:r>
              <a:rPr sz="1800" b="1" spc="-20" dirty="0">
                <a:latin typeface="Times New Roman"/>
                <a:cs typeface="Times New Roman"/>
              </a:rPr>
              <a:t> </a:t>
            </a:r>
            <a:endParaRPr sz="1800" dirty="0">
              <a:latin typeface="Times New Roman"/>
              <a:cs typeface="Times New Roman"/>
            </a:endParaRPr>
          </a:p>
        </p:txBody>
      </p:sp>
      <p:sp>
        <p:nvSpPr>
          <p:cNvPr id="5" name="object 5"/>
          <p:cNvSpPr txBox="1"/>
          <p:nvPr/>
        </p:nvSpPr>
        <p:spPr>
          <a:xfrm>
            <a:off x="4435277" y="3356857"/>
            <a:ext cx="3901073" cy="293029"/>
          </a:xfrm>
          <a:prstGeom prst="rect">
            <a:avLst/>
          </a:prstGeom>
        </p:spPr>
        <p:txBody>
          <a:bodyPr vert="horz" wrap="square" lIns="0" tIns="15875" rIns="0" bIns="0" rtlCol="0">
            <a:spAutoFit/>
          </a:bodyPr>
          <a:lstStyle/>
          <a:p>
            <a:pPr marL="12700">
              <a:lnSpc>
                <a:spcPct val="100000"/>
              </a:lnSpc>
              <a:spcBef>
                <a:spcPts val="125"/>
              </a:spcBef>
            </a:pPr>
            <a:r>
              <a:rPr lang="en-IN" b="1" dirty="0"/>
              <a:t>Mental Health assessment with AI</a:t>
            </a:r>
            <a:endParaRPr sz="1700" dirty="0">
              <a:latin typeface="Times New Roman"/>
              <a:cs typeface="Times New Roman"/>
            </a:endParaRPr>
          </a:p>
        </p:txBody>
      </p:sp>
      <p:sp>
        <p:nvSpPr>
          <p:cNvPr id="6" name="object 6"/>
          <p:cNvSpPr txBox="1"/>
          <p:nvPr/>
        </p:nvSpPr>
        <p:spPr>
          <a:xfrm>
            <a:off x="1330845" y="4643884"/>
            <a:ext cx="2625335" cy="832279"/>
          </a:xfrm>
          <a:prstGeom prst="rect">
            <a:avLst/>
          </a:prstGeom>
        </p:spPr>
        <p:txBody>
          <a:bodyPr vert="horz" wrap="square" lIns="0" tIns="41910" rIns="0" bIns="0" rtlCol="0">
            <a:spAutoFit/>
          </a:bodyPr>
          <a:lstStyle/>
          <a:p>
            <a:pPr marL="57150">
              <a:spcBef>
                <a:spcPts val="229"/>
              </a:spcBef>
            </a:pPr>
            <a:r>
              <a:rPr lang="en-IN" b="1" dirty="0"/>
              <a:t>Mrs. Swathi Sree</a:t>
            </a:r>
            <a:endParaRPr lang="en-IN" dirty="0"/>
          </a:p>
          <a:p>
            <a:pPr marL="57150">
              <a:lnSpc>
                <a:spcPct val="100000"/>
              </a:lnSpc>
              <a:spcBef>
                <a:spcPts val="229"/>
              </a:spcBef>
            </a:pPr>
            <a:r>
              <a:rPr lang="en-GB" sz="1500" b="1" spc="-20" dirty="0">
                <a:latin typeface="Times New Roman"/>
                <a:cs typeface="Times New Roman"/>
              </a:rPr>
              <a:t>Assistant professor</a:t>
            </a:r>
          </a:p>
          <a:p>
            <a:pPr marL="57150">
              <a:lnSpc>
                <a:spcPct val="100000"/>
              </a:lnSpc>
              <a:spcBef>
                <a:spcPts val="229"/>
              </a:spcBef>
            </a:pPr>
            <a:r>
              <a:rPr lang="en-GB" sz="1500" b="1" spc="-20" dirty="0">
                <a:latin typeface="Times New Roman"/>
                <a:cs typeface="Times New Roman"/>
              </a:rPr>
              <a:t>Department </a:t>
            </a:r>
            <a:r>
              <a:rPr lang="en-GB" sz="1500" b="1" dirty="0">
                <a:latin typeface="Times New Roman"/>
                <a:cs typeface="Times New Roman"/>
              </a:rPr>
              <a:t>of CSE</a:t>
            </a:r>
            <a:endParaRPr sz="1500" b="1" dirty="0">
              <a:latin typeface="Times New Roman"/>
              <a:cs typeface="Times New Roman"/>
            </a:endParaRPr>
          </a:p>
        </p:txBody>
      </p:sp>
      <p:sp>
        <p:nvSpPr>
          <p:cNvPr id="7" name="object 7"/>
          <p:cNvSpPr txBox="1"/>
          <p:nvPr/>
        </p:nvSpPr>
        <p:spPr>
          <a:xfrm>
            <a:off x="8034655" y="4524243"/>
            <a:ext cx="3469990" cy="784189"/>
          </a:xfrm>
          <a:prstGeom prst="rect">
            <a:avLst/>
          </a:prstGeom>
        </p:spPr>
        <p:txBody>
          <a:bodyPr vert="horz" wrap="square" lIns="0" tIns="41910" rIns="0" bIns="0" rtlCol="0">
            <a:spAutoFit/>
          </a:bodyPr>
          <a:lstStyle/>
          <a:p>
            <a:pPr marL="12700">
              <a:lnSpc>
                <a:spcPct val="100000"/>
              </a:lnSpc>
              <a:spcBef>
                <a:spcPts val="330"/>
              </a:spcBef>
            </a:pPr>
            <a:r>
              <a:rPr sz="1500" b="1" dirty="0">
                <a:latin typeface="Times New Roman"/>
                <a:cs typeface="Times New Roman"/>
              </a:rPr>
              <a:t>PRESENTED</a:t>
            </a:r>
            <a:r>
              <a:rPr sz="1500" b="1" spc="20" dirty="0">
                <a:latin typeface="Times New Roman"/>
                <a:cs typeface="Times New Roman"/>
              </a:rPr>
              <a:t> </a:t>
            </a:r>
            <a:r>
              <a:rPr sz="1500" b="1" spc="-25" dirty="0">
                <a:latin typeface="Times New Roman"/>
                <a:cs typeface="Times New Roman"/>
              </a:rPr>
              <a:t>BY</a:t>
            </a:r>
            <a:endParaRPr sz="1500" dirty="0">
              <a:latin typeface="Times New Roman"/>
              <a:cs typeface="Times New Roman"/>
            </a:endParaRPr>
          </a:p>
          <a:p>
            <a:pPr marL="23495" marR="896619" indent="-1270">
              <a:lnSpc>
                <a:spcPct val="108500"/>
              </a:lnSpc>
              <a:spcBef>
                <a:spcPts val="75"/>
              </a:spcBef>
            </a:pPr>
            <a:r>
              <a:rPr lang="en-IN" sz="1500" spc="-20" dirty="0" err="1">
                <a:latin typeface="Times New Roman"/>
                <a:cs typeface="Times New Roman"/>
              </a:rPr>
              <a:t>Aakanksha</a:t>
            </a:r>
            <a:r>
              <a:rPr lang="en-IN" sz="1500" spc="-20" dirty="0">
                <a:latin typeface="Times New Roman"/>
                <a:cs typeface="Times New Roman"/>
              </a:rPr>
              <a:t> Laxmi</a:t>
            </a:r>
          </a:p>
          <a:p>
            <a:pPr marL="23495" marR="896619" indent="-1270">
              <a:lnSpc>
                <a:spcPct val="108500"/>
              </a:lnSpc>
              <a:spcBef>
                <a:spcPts val="75"/>
              </a:spcBef>
            </a:pPr>
            <a:r>
              <a:rPr lang="en-IN" sz="1500" spc="-20" dirty="0">
                <a:latin typeface="Times New Roman"/>
                <a:cs typeface="Times New Roman"/>
              </a:rPr>
              <a:t>160622733122</a:t>
            </a:r>
            <a:r>
              <a:rPr sz="1500" spc="-20" dirty="0">
                <a:latin typeface="Times New Roman"/>
                <a:cs typeface="Times New Roman"/>
              </a:rPr>
              <a:t> </a:t>
            </a:r>
            <a:endParaRPr sz="1500" dirty="0">
              <a:latin typeface="Times New Roman"/>
              <a:cs typeface="Times New Roman"/>
            </a:endParaRPr>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3644" y="234728"/>
            <a:ext cx="1356422" cy="1356422"/>
          </a:xfrm>
          <a:prstGeom prst="rect">
            <a:avLst/>
          </a:prstGeom>
        </p:spPr>
      </p:pic>
    </p:spTree>
    <p:extLst>
      <p:ext uri="{BB962C8B-B14F-4D97-AF65-F5344CB8AC3E}">
        <p14:creationId xmlns:p14="http://schemas.microsoft.com/office/powerpoint/2010/main" val="4267392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Times New Roman" panose="02020603050405020304" pitchFamily="18" charset="0"/>
                <a:cs typeface="Times New Roman" panose="02020603050405020304" pitchFamily="18" charset="0"/>
              </a:rPr>
              <a:t>Contents</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85000" lnSpcReduction="20000"/>
          </a:bodyPr>
          <a:lstStyle/>
          <a:p>
            <a:pPr algn="just">
              <a:lnSpc>
                <a:spcPct val="150000"/>
              </a:lnSpc>
              <a:buFont typeface="Wingdings" panose="05000000000000000000" pitchFamily="2" charset="2"/>
              <a:buChar char="v"/>
            </a:pPr>
            <a:r>
              <a:rPr lang="en-GB" sz="1800" dirty="0">
                <a:latin typeface="Times New Roman" panose="02020603050405020304" pitchFamily="18" charset="0"/>
                <a:cs typeface="Times New Roman" panose="02020603050405020304" pitchFamily="18" charset="0"/>
              </a:rPr>
              <a:t>Abstract</a:t>
            </a:r>
          </a:p>
          <a:p>
            <a:pPr algn="just">
              <a:lnSpc>
                <a:spcPct val="150000"/>
              </a:lnSpc>
              <a:buFont typeface="Wingdings" panose="05000000000000000000" pitchFamily="2" charset="2"/>
              <a:buChar char="v"/>
            </a:pPr>
            <a:r>
              <a:rPr lang="en-GB" sz="1800" dirty="0">
                <a:latin typeface="Times New Roman" panose="02020603050405020304" pitchFamily="18" charset="0"/>
                <a:cs typeface="Times New Roman" panose="02020603050405020304" pitchFamily="18" charset="0"/>
              </a:rPr>
              <a:t>Introduction</a:t>
            </a:r>
          </a:p>
          <a:p>
            <a:pPr lvl="1" algn="just">
              <a:lnSpc>
                <a:spcPct val="150000"/>
              </a:lnSpc>
              <a:buFont typeface="Wingdings" panose="05000000000000000000" pitchFamily="2" charset="2"/>
              <a:buChar char="v"/>
            </a:pPr>
            <a:r>
              <a:rPr lang="en-GB" dirty="0">
                <a:latin typeface="Times New Roman" panose="02020603050405020304" pitchFamily="18" charset="0"/>
                <a:cs typeface="Times New Roman" panose="02020603050405020304" pitchFamily="18" charset="0"/>
              </a:rPr>
              <a:t>About the Project</a:t>
            </a:r>
          </a:p>
          <a:p>
            <a:pPr lvl="1" algn="just">
              <a:lnSpc>
                <a:spcPct val="150000"/>
              </a:lnSpc>
              <a:buFont typeface="Wingdings" panose="05000000000000000000" pitchFamily="2" charset="2"/>
              <a:buChar char="v"/>
            </a:pPr>
            <a:r>
              <a:rPr lang="en-GB" dirty="0">
                <a:latin typeface="Times New Roman" panose="02020603050405020304" pitchFamily="18" charset="0"/>
                <a:cs typeface="Times New Roman" panose="02020603050405020304" pitchFamily="18" charset="0"/>
              </a:rPr>
              <a:t>Problem Statement</a:t>
            </a:r>
          </a:p>
          <a:p>
            <a:pPr lvl="1" algn="just">
              <a:lnSpc>
                <a:spcPct val="150000"/>
              </a:lnSpc>
              <a:buFont typeface="Wingdings" panose="05000000000000000000" pitchFamily="2" charset="2"/>
              <a:buChar char="v"/>
            </a:pPr>
            <a:r>
              <a:rPr lang="en-GB" dirty="0">
                <a:latin typeface="Times New Roman" panose="02020603050405020304" pitchFamily="18" charset="0"/>
                <a:cs typeface="Times New Roman" panose="02020603050405020304" pitchFamily="18" charset="0"/>
              </a:rPr>
              <a:t>Literature Survey</a:t>
            </a:r>
          </a:p>
          <a:p>
            <a:pPr lvl="1" algn="just">
              <a:lnSpc>
                <a:spcPct val="150000"/>
              </a:lnSpc>
              <a:buFont typeface="Wingdings" panose="05000000000000000000" pitchFamily="2" charset="2"/>
              <a:buChar char="v"/>
            </a:pPr>
            <a:r>
              <a:rPr lang="en-GB" dirty="0">
                <a:latin typeface="Times New Roman" panose="02020603050405020304" pitchFamily="18" charset="0"/>
                <a:cs typeface="Times New Roman" panose="02020603050405020304" pitchFamily="18" charset="0"/>
              </a:rPr>
              <a:t>Objectives of the Project</a:t>
            </a:r>
          </a:p>
          <a:p>
            <a:pPr lvl="1" algn="just">
              <a:lnSpc>
                <a:spcPct val="150000"/>
              </a:lnSpc>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Planning and Design of Work</a:t>
            </a:r>
          </a:p>
          <a:p>
            <a:pPr lvl="1" algn="just">
              <a:lnSpc>
                <a:spcPct val="150000"/>
              </a:lnSpc>
              <a:buFont typeface="Wingdings" panose="05000000000000000000" pitchFamily="2" charset="2"/>
              <a:buChar char="v"/>
            </a:pPr>
            <a:r>
              <a:rPr lang="en-US" dirty="0"/>
              <a:t>Challenges and Solutions</a:t>
            </a:r>
          </a:p>
          <a:p>
            <a:pPr>
              <a:buFont typeface="Wingdings" panose="05000000000000000000" pitchFamily="2" charset="2"/>
              <a:buChar char="v"/>
            </a:pPr>
            <a:r>
              <a:rPr lang="en-US" dirty="0"/>
              <a:t>Conclusion and Future Scope</a:t>
            </a:r>
          </a:p>
          <a:p>
            <a:pPr>
              <a:buFont typeface="Wingdings" panose="05000000000000000000" pitchFamily="2" charset="2"/>
              <a:buChar char="v"/>
            </a:pPr>
            <a:r>
              <a:rPr lang="en-US" dirty="0"/>
              <a:t>References</a:t>
            </a:r>
            <a:endParaRPr lang="en-IN" dirty="0"/>
          </a:p>
          <a:p>
            <a:pPr marL="201168" lvl="1" indent="0" algn="just">
              <a:lnSpc>
                <a:spcPct val="150000"/>
              </a:lnSpc>
              <a:buNone/>
            </a:pPr>
            <a:endParaRPr lang="en-US" dirty="0"/>
          </a:p>
          <a:p>
            <a:pPr marL="201168" lvl="1" indent="0" algn="just">
              <a:lnSpc>
                <a:spcPct val="150000"/>
              </a:lnSpc>
              <a:buNone/>
            </a:pPr>
            <a:endParaRPr lang="en-US" dirty="0"/>
          </a:p>
          <a:p>
            <a:pPr lvl="1" algn="just">
              <a:lnSpc>
                <a:spcPct val="150000"/>
              </a:lnSpc>
              <a:buFont typeface="Wingdings" panose="05000000000000000000" pitchFamily="2" charset="2"/>
              <a:buChar char="v"/>
            </a:pPr>
            <a:endParaRPr lang="en-IN" dirty="0">
              <a:latin typeface="Times New Roman" panose="02020603050405020304" pitchFamily="18" charset="0"/>
              <a:cs typeface="Times New Roman" panose="02020603050405020304" pitchFamily="18" charset="0"/>
            </a:endParaRPr>
          </a:p>
          <a:p>
            <a:pPr lvl="1" algn="just">
              <a:lnSpc>
                <a:spcPct val="150000"/>
              </a:lnSpc>
              <a:buFont typeface="Wingdings" panose="05000000000000000000" pitchFamily="2" charset="2"/>
              <a:buChar char="v"/>
            </a:pPr>
            <a:endParaRPr lang="en-IN" dirty="0">
              <a:latin typeface="Times New Roman" panose="02020603050405020304" pitchFamily="18" charset="0"/>
              <a:cs typeface="Times New Roman" panose="02020603050405020304" pitchFamily="18" charset="0"/>
            </a:endParaRPr>
          </a:p>
          <a:p>
            <a:pPr lvl="1" algn="just">
              <a:lnSpc>
                <a:spcPct val="150000"/>
              </a:lnSpc>
              <a:buFont typeface="Wingdings" panose="05000000000000000000" pitchFamily="2" charset="2"/>
              <a:buChar char="v"/>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807012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2F56E-8A1E-5BF2-CA74-6927F65D21B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7170161-B0C3-AAAD-4A6D-8BFC180C9A93}"/>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19864356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286603"/>
            <a:ext cx="10058400" cy="704709"/>
          </a:xfrm>
        </p:spPr>
        <p:txBody>
          <a:bodyPr>
            <a:normAutofit fontScale="90000"/>
          </a:bodyPr>
          <a:lstStyle/>
          <a:p>
            <a:r>
              <a:rPr lang="en-GB" b="1" dirty="0">
                <a:latin typeface="Times New Roman" panose="02020603050405020304" pitchFamily="18" charset="0"/>
                <a:cs typeface="Times New Roman" panose="02020603050405020304" pitchFamily="18" charset="0"/>
              </a:rPr>
              <a:t>Review – I Suggestions</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dirty="0"/>
              <a:t>1.Provide a clear objective statement describing what the project aims to achieve using Python for data analytics.</a:t>
            </a:r>
          </a:p>
          <a:p>
            <a:r>
              <a:rPr lang="en-US" dirty="0"/>
              <a:t>2.Explain the importance of data analytics in real-world applications and why Python is chosen for implementation.</a:t>
            </a:r>
          </a:p>
          <a:p>
            <a:r>
              <a:rPr lang="en-US" dirty="0"/>
              <a:t>3.Add details about the dataset used — source, size, and type (numerical, categorical, etc.).</a:t>
            </a:r>
          </a:p>
          <a:p>
            <a:r>
              <a:rPr lang="en-US" dirty="0"/>
              <a:t>4.Include a brief description of the data analytics process (data cleaning, visualization, interpretation).</a:t>
            </a:r>
          </a:p>
          <a:p>
            <a:r>
              <a:rPr lang="en-US" dirty="0"/>
              <a:t>5.Show some sample outputs or visualizations (graphs, charts, correlation plots).</a:t>
            </a:r>
          </a:p>
          <a:p>
            <a:r>
              <a:rPr lang="en-US" dirty="0"/>
              <a:t>Highlight which Python libraries were used (Pandas, NumPy, Matplotlib, Seaborn, Scikit-learn).</a:t>
            </a:r>
            <a:endParaRPr lang="en-IN" dirty="0"/>
          </a:p>
        </p:txBody>
      </p:sp>
    </p:spTree>
    <p:extLst>
      <p:ext uri="{BB962C8B-B14F-4D97-AF65-F5344CB8AC3E}">
        <p14:creationId xmlns:p14="http://schemas.microsoft.com/office/powerpoint/2010/main" val="6834121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Times New Roman" panose="02020603050405020304" pitchFamily="18" charset="0"/>
                <a:cs typeface="Times New Roman" panose="02020603050405020304" pitchFamily="18" charset="0"/>
              </a:rPr>
              <a:t>Abstract</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92500" lnSpcReduction="20000"/>
          </a:bodyPr>
          <a:lstStyle/>
          <a:p>
            <a:r>
              <a:rPr lang="en-IN" dirty="0"/>
              <a:t>“Mental health assessment with AI” is an AI-powered mental health application designed to provide users with personalized mental wellness assessments and support through a seamless and secure interface. The system integrates face recognition technology to enable user registration and secure login, ensuring privacy and ease of access. After authentication, users can interact with an intelligent chatbot that collects various psychological, demographic, and lifestyle inputs to evaluate mental health status. Utilizing a trained neural network model, the project predicts potential mental health concerns such as anxiety, depression, and stress levels, offering users timely warnings and encouraging professional consultation when needed. The app incorporates advanced data preprocessing, including categorical encoding and feature scaling, to optimize model predictions. The project user-friendly interface allows individuals to track multiple health parameters, including sleep, physical activity, social support, and self-esteem. The application aims to reduce barriers to mental health resources by delivering accessible, confidential, and immediate insights. This project demonstrates the practical application of machine learning in mental healthcare, enhancing early detection and personalized intervention. By combining biometric security with AI-driven analytics, it represents a novel approach to mental health monitoring and support. The system can be further expanded with more sophisticated models, additional data inputs, and integration with professional mental health services.</a:t>
            </a:r>
          </a:p>
          <a:p>
            <a:endParaRPr lang="en-IN" dirty="0"/>
          </a:p>
        </p:txBody>
      </p:sp>
    </p:spTree>
    <p:extLst>
      <p:ext uri="{BB962C8B-B14F-4D97-AF65-F5344CB8AC3E}">
        <p14:creationId xmlns:p14="http://schemas.microsoft.com/office/powerpoint/2010/main" val="22541258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Times New Roman" panose="02020603050405020304" pitchFamily="18" charset="0"/>
                <a:cs typeface="Times New Roman" panose="02020603050405020304" pitchFamily="18" charset="0"/>
              </a:rPr>
              <a:t>Introduction</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92500" lnSpcReduction="20000"/>
          </a:bodyPr>
          <a:lstStyle/>
          <a:p>
            <a:r>
              <a:rPr lang="en-US" dirty="0"/>
              <a:t>Mental health has become one of the most critical aspects of human well-being in today’s fast-paced and digitally connected world. With increasing levels of stress, anxiety, and depression among students and working professionals, there is a growing need for intelligent systems that can assist in early detection and continuous monitoring of mental health conditions. Traditional assessment methods rely heavily on clinical consultations and manual questionnaires, which are often time-consuming, subjective, and inaccessible to many individuals.</a:t>
            </a:r>
          </a:p>
          <a:p>
            <a:r>
              <a:rPr lang="en-US" dirty="0"/>
              <a:t>The project </a:t>
            </a:r>
            <a:r>
              <a:rPr lang="en-US" b="1" dirty="0"/>
              <a:t>“Mental Health Assessment with AI”</a:t>
            </a:r>
            <a:r>
              <a:rPr lang="en-US" dirty="0"/>
              <a:t> aims to bridge this gap by developing an </a:t>
            </a:r>
            <a:r>
              <a:rPr lang="en-US" b="1" dirty="0"/>
              <a:t>AI-driven mental health monitoring application</a:t>
            </a:r>
            <a:r>
              <a:rPr lang="en-US" dirty="0"/>
              <a:t> that combines </a:t>
            </a:r>
            <a:r>
              <a:rPr lang="en-US" b="1" dirty="0"/>
              <a:t>face recognition, chatbot interaction, and machine learning-based mental health prediction</a:t>
            </a:r>
            <a:r>
              <a:rPr lang="en-US" dirty="0"/>
              <a:t>. The system enables users to register and log in securely using </a:t>
            </a:r>
            <a:r>
              <a:rPr lang="en-US" b="1" dirty="0"/>
              <a:t>facial recognition</a:t>
            </a:r>
            <a:r>
              <a:rPr lang="en-US" dirty="0"/>
              <a:t>, ensuring privacy and authentication. Once logged in, users interact with a </a:t>
            </a:r>
            <a:r>
              <a:rPr lang="en-US" b="1" dirty="0"/>
              <a:t>chatbot</a:t>
            </a:r>
            <a:r>
              <a:rPr lang="en-US" dirty="0"/>
              <a:t> that collects data related to psychological, behavioral, and lifestyle indicators such as sleep patterns, social engagement, stress levels, and mood variations.</a:t>
            </a:r>
          </a:p>
          <a:p>
            <a:r>
              <a:rPr lang="en-US" dirty="0"/>
              <a:t>The responses are analyzed using </a:t>
            </a:r>
            <a:r>
              <a:rPr lang="en-US" b="1" dirty="0"/>
              <a:t>trained neural network models</a:t>
            </a:r>
            <a:r>
              <a:rPr lang="en-US" dirty="0"/>
              <a:t> that predict mental health conditions like anxiety, depression, or stress. The application also employs </a:t>
            </a:r>
            <a:r>
              <a:rPr lang="en-US" b="1" dirty="0"/>
              <a:t>data preprocessing, encoding, and scaling techniques</a:t>
            </a:r>
            <a:r>
              <a:rPr lang="en-US" dirty="0"/>
              <a:t> to enhance model performance and accuracy. Built with technologies such as </a:t>
            </a:r>
            <a:r>
              <a:rPr lang="en-US" b="1" dirty="0"/>
              <a:t>Python, TensorFlow/</a:t>
            </a:r>
            <a:r>
              <a:rPr lang="en-US" b="1" dirty="0" err="1"/>
              <a:t>Keras</a:t>
            </a:r>
            <a:r>
              <a:rPr lang="en-US" b="1" dirty="0"/>
              <a:t>, OpenCV, and </a:t>
            </a:r>
            <a:r>
              <a:rPr lang="en-US" b="1" dirty="0" err="1"/>
              <a:t>Streamlit</a:t>
            </a:r>
            <a:r>
              <a:rPr lang="en-US" dirty="0"/>
              <a:t>, the system provides an intuitive, user-friendly interface suitable for individuals from various backgrounds.</a:t>
            </a:r>
          </a:p>
          <a:p>
            <a:endParaRPr lang="en-IN" dirty="0"/>
          </a:p>
        </p:txBody>
      </p:sp>
    </p:spTree>
    <p:extLst>
      <p:ext uri="{BB962C8B-B14F-4D97-AF65-F5344CB8AC3E}">
        <p14:creationId xmlns:p14="http://schemas.microsoft.com/office/powerpoint/2010/main" val="42818862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5B71F5-5B2A-6099-BDE6-50984378A1A7}"/>
              </a:ext>
            </a:extLst>
          </p:cNvPr>
          <p:cNvSpPr>
            <a:spLocks noGrp="1"/>
          </p:cNvSpPr>
          <p:nvPr>
            <p:ph type="title"/>
          </p:nvPr>
        </p:nvSpPr>
        <p:spPr/>
        <p:txBody>
          <a:bodyPr/>
          <a:lstStyle/>
          <a:p>
            <a:r>
              <a:rPr lang="en-GB" dirty="0">
                <a:latin typeface="Times New Roman" panose="02020603050405020304" pitchFamily="18" charset="0"/>
                <a:cs typeface="Times New Roman" panose="02020603050405020304" pitchFamily="18" charset="0"/>
              </a:rPr>
              <a:t>About the Project</a:t>
            </a:r>
            <a:br>
              <a:rPr lang="en-GB" dirty="0">
                <a:latin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7862EEC1-0A2B-4E22-DE5C-6D81E3990775}"/>
              </a:ext>
            </a:extLst>
          </p:cNvPr>
          <p:cNvSpPr>
            <a:spLocks noGrp="1"/>
          </p:cNvSpPr>
          <p:nvPr>
            <p:ph idx="1"/>
          </p:nvPr>
        </p:nvSpPr>
        <p:spPr/>
        <p:txBody>
          <a:bodyPr>
            <a:normAutofit lnSpcReduction="10000"/>
          </a:bodyPr>
          <a:lstStyle/>
          <a:p>
            <a:r>
              <a:rPr lang="en-US" dirty="0"/>
              <a:t>The project titled </a:t>
            </a:r>
            <a:r>
              <a:rPr lang="en-US" b="1" dirty="0"/>
              <a:t>“Mental Health Assessment with AI”</a:t>
            </a:r>
            <a:r>
              <a:rPr lang="en-US" dirty="0"/>
              <a:t> focuses on developing an intelligent system that helps users evaluate their mental well-being using Artificial Intelligence and Machine Learning techniques. In today’s fast-paced world, mental health challenges such as stress, anxiety, and depression are becoming increasingly common, yet timely detection and intervention remain limited. This project aims to provide a digital solution that combines </a:t>
            </a:r>
            <a:r>
              <a:rPr lang="en-US" b="1" dirty="0"/>
              <a:t>face recognition</a:t>
            </a:r>
            <a:r>
              <a:rPr lang="en-US" dirty="0"/>
              <a:t>, </a:t>
            </a:r>
            <a:r>
              <a:rPr lang="en-US" b="1" dirty="0"/>
              <a:t>chatbot-based conversation</a:t>
            </a:r>
            <a:r>
              <a:rPr lang="en-US" dirty="0"/>
              <a:t>, and </a:t>
            </a:r>
            <a:r>
              <a:rPr lang="en-US" b="1" dirty="0"/>
              <a:t>AI-driven prediction models</a:t>
            </a:r>
            <a:r>
              <a:rPr lang="en-US" dirty="0"/>
              <a:t> to assess an individual’s emotional and psychological state.</a:t>
            </a:r>
          </a:p>
          <a:p>
            <a:r>
              <a:rPr lang="en-US" dirty="0"/>
              <a:t>The system begins with a </a:t>
            </a:r>
            <a:r>
              <a:rPr lang="en-US" b="1" dirty="0"/>
              <a:t>secure face recognition-based login</a:t>
            </a:r>
            <a:r>
              <a:rPr lang="en-US" dirty="0"/>
              <a:t>, ensuring that only registered users can access their personal data. Once authenticated, the user interacts with a </a:t>
            </a:r>
            <a:r>
              <a:rPr lang="en-US" b="1" dirty="0"/>
              <a:t>chatbot</a:t>
            </a:r>
            <a:r>
              <a:rPr lang="en-US" dirty="0"/>
              <a:t> designed to ask relevant questions about mood, stress levels, sleep habits, and emotional responses. These inputs are analyzed using </a:t>
            </a:r>
            <a:r>
              <a:rPr lang="en-US" b="1" dirty="0"/>
              <a:t>machine learning algorithms</a:t>
            </a:r>
            <a:r>
              <a:rPr lang="en-US" dirty="0"/>
              <a:t> trained on mental health datasets to predict possible conditions such as anxiety or depression. The entire framework is implemented using </a:t>
            </a:r>
            <a:r>
              <a:rPr lang="en-US" b="1" dirty="0"/>
              <a:t>Python, TensorFlow, </a:t>
            </a:r>
            <a:r>
              <a:rPr lang="en-US" b="1" dirty="0" err="1"/>
              <a:t>Keras</a:t>
            </a:r>
            <a:r>
              <a:rPr lang="en-US" b="1" dirty="0"/>
              <a:t>, OpenCV, and </a:t>
            </a:r>
            <a:r>
              <a:rPr lang="en-US" b="1" dirty="0" err="1"/>
              <a:t>Streamlit</a:t>
            </a:r>
            <a:r>
              <a:rPr lang="en-US" dirty="0"/>
              <a:t>, providing a user-friendly interface that combines functionality with accessibility.</a:t>
            </a:r>
          </a:p>
          <a:p>
            <a:endParaRPr lang="en-IN" dirty="0"/>
          </a:p>
        </p:txBody>
      </p:sp>
    </p:spTree>
    <p:extLst>
      <p:ext uri="{BB962C8B-B14F-4D97-AF65-F5344CB8AC3E}">
        <p14:creationId xmlns:p14="http://schemas.microsoft.com/office/powerpoint/2010/main" val="20362837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E0C149-3514-46AA-D1E2-F0748F157AF6}"/>
              </a:ext>
            </a:extLst>
          </p:cNvPr>
          <p:cNvSpPr>
            <a:spLocks noGrp="1"/>
          </p:cNvSpPr>
          <p:nvPr>
            <p:ph type="title"/>
          </p:nvPr>
        </p:nvSpPr>
        <p:spPr/>
        <p:txBody>
          <a:bodyPr/>
          <a:lstStyle/>
          <a:p>
            <a:r>
              <a:rPr lang="en-GB" dirty="0">
                <a:latin typeface="Times New Roman" panose="02020603050405020304" pitchFamily="18" charset="0"/>
                <a:cs typeface="Times New Roman" panose="02020603050405020304" pitchFamily="18" charset="0"/>
              </a:rPr>
              <a:t>Objectives of the Project</a:t>
            </a:r>
            <a:br>
              <a:rPr lang="en-IN" dirty="0">
                <a:latin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01C35411-3BBE-8624-56C4-B04E2DAA1FAB}"/>
              </a:ext>
            </a:extLst>
          </p:cNvPr>
          <p:cNvSpPr>
            <a:spLocks noGrp="1"/>
          </p:cNvSpPr>
          <p:nvPr>
            <p:ph idx="1"/>
          </p:nvPr>
        </p:nvSpPr>
        <p:spPr/>
        <p:txBody>
          <a:bodyPr/>
          <a:lstStyle/>
          <a:p>
            <a:pPr lvl="1"/>
            <a:r>
              <a:rPr lang="en-IN" dirty="0"/>
              <a:t>To design and develop an </a:t>
            </a:r>
            <a:r>
              <a:rPr lang="en-IN" b="1" dirty="0"/>
              <a:t>AI-based system</a:t>
            </a:r>
            <a:r>
              <a:rPr lang="en-IN" dirty="0"/>
              <a:t> capable of predicting mental health conditions using text and facial emotion analysis.</a:t>
            </a:r>
          </a:p>
          <a:p>
            <a:pPr lvl="1"/>
            <a:r>
              <a:rPr lang="en-IN" dirty="0"/>
              <a:t>To implement </a:t>
            </a:r>
            <a:r>
              <a:rPr lang="en-IN" b="1" dirty="0"/>
              <a:t>face recognition-based authentication</a:t>
            </a:r>
            <a:r>
              <a:rPr lang="en-IN" dirty="0"/>
              <a:t> for secure and personalized user access.</a:t>
            </a:r>
          </a:p>
          <a:p>
            <a:pPr lvl="1"/>
            <a:r>
              <a:rPr lang="en-IN" dirty="0"/>
              <a:t>To automate the </a:t>
            </a:r>
            <a:r>
              <a:rPr lang="en-IN" b="1" dirty="0"/>
              <a:t>mental health screening process</a:t>
            </a:r>
            <a:r>
              <a:rPr lang="en-IN" dirty="0"/>
              <a:t>, reducing dependence on manual evaluation by professionals.</a:t>
            </a:r>
          </a:p>
          <a:p>
            <a:pPr lvl="1"/>
            <a:r>
              <a:rPr lang="en-IN" dirty="0"/>
              <a:t>To create a </a:t>
            </a:r>
            <a:r>
              <a:rPr lang="en-IN" b="1" dirty="0"/>
              <a:t>user-friendly, accessible, and ethical digital platform</a:t>
            </a:r>
            <a:r>
              <a:rPr lang="en-IN" dirty="0"/>
              <a:t> for early detection and continuous monitoring of mental wellness.</a:t>
            </a:r>
          </a:p>
          <a:p>
            <a:r>
              <a:rPr lang="en-IN" dirty="0"/>
              <a:t>To ensure </a:t>
            </a:r>
            <a:r>
              <a:rPr lang="en-IN" b="1" dirty="0"/>
              <a:t>data privacy and ethical compliance</a:t>
            </a:r>
            <a:r>
              <a:rPr lang="en-IN" dirty="0"/>
              <a:t> in handling sensitive psychological information</a:t>
            </a:r>
          </a:p>
        </p:txBody>
      </p:sp>
    </p:spTree>
    <p:extLst>
      <p:ext uri="{BB962C8B-B14F-4D97-AF65-F5344CB8AC3E}">
        <p14:creationId xmlns:p14="http://schemas.microsoft.com/office/powerpoint/2010/main" val="22608517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91F43-D0CA-5F15-2336-C96D00FEC59D}"/>
              </a:ext>
            </a:extLst>
          </p:cNvPr>
          <p:cNvSpPr>
            <a:spLocks noGrp="1"/>
          </p:cNvSpPr>
          <p:nvPr>
            <p:ph type="title"/>
          </p:nvPr>
        </p:nvSpPr>
        <p:spPr/>
        <p:txBody>
          <a:bodyPr/>
          <a:lstStyle/>
          <a:p>
            <a:r>
              <a:rPr lang="en-GB" dirty="0">
                <a:latin typeface="Times New Roman" panose="02020603050405020304" pitchFamily="18" charset="0"/>
                <a:cs typeface="Times New Roman" panose="02020603050405020304" pitchFamily="18" charset="0"/>
              </a:rPr>
              <a:t>Problem Statement</a:t>
            </a:r>
            <a:br>
              <a:rPr lang="en-GB" dirty="0">
                <a:latin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07FD49F2-D24B-3404-619F-6C4D5C7CB7FF}"/>
              </a:ext>
            </a:extLst>
          </p:cNvPr>
          <p:cNvSpPr>
            <a:spLocks noGrp="1"/>
          </p:cNvSpPr>
          <p:nvPr>
            <p:ph idx="1"/>
          </p:nvPr>
        </p:nvSpPr>
        <p:spPr/>
        <p:txBody>
          <a:bodyPr>
            <a:normAutofit lnSpcReduction="10000"/>
          </a:bodyPr>
          <a:lstStyle/>
          <a:p>
            <a:pPr lvl="0"/>
            <a:r>
              <a:rPr lang="en-IN" b="1" dirty="0"/>
              <a:t>Main Problem / Task:</a:t>
            </a:r>
            <a:br>
              <a:rPr lang="en-IN" dirty="0"/>
            </a:br>
            <a:r>
              <a:rPr lang="en-IN" dirty="0"/>
              <a:t>To develop an </a:t>
            </a:r>
            <a:r>
              <a:rPr lang="en-IN" b="1" dirty="0"/>
              <a:t>AI-driven Mental Health Assessment System</a:t>
            </a:r>
            <a:r>
              <a:rPr lang="en-IN" dirty="0"/>
              <a:t> integrated with </a:t>
            </a:r>
            <a:r>
              <a:rPr lang="en-IN" b="1" dirty="0"/>
              <a:t>secure face recognition authentication</a:t>
            </a:r>
            <a:r>
              <a:rPr lang="en-IN" dirty="0"/>
              <a:t> to enable early identification of mental health conditions through intelligent analysis of user inputs such as text responses, facial expressions, and </a:t>
            </a:r>
            <a:r>
              <a:rPr lang="en-IN" dirty="0" err="1"/>
              <a:t>behavioral</a:t>
            </a:r>
            <a:r>
              <a:rPr lang="en-IN" dirty="0"/>
              <a:t> indicators.</a:t>
            </a:r>
          </a:p>
          <a:p>
            <a:pPr lvl="0"/>
            <a:r>
              <a:rPr lang="en-IN" b="1" dirty="0"/>
              <a:t>Importance of the Problem for the Organization:</a:t>
            </a:r>
            <a:br>
              <a:rPr lang="en-IN" dirty="0"/>
            </a:br>
            <a:r>
              <a:rPr lang="en-IN" dirty="0"/>
              <a:t>The Defence Research and Development Laboratory (DRDL) recognized the increasing global concern over </a:t>
            </a:r>
            <a:r>
              <a:rPr lang="en-IN" b="1" dirty="0"/>
              <a:t>mental health issues</a:t>
            </a:r>
            <a:r>
              <a:rPr lang="en-IN" dirty="0"/>
              <a:t> and the challenges individuals face in seeking timely help due to </a:t>
            </a:r>
            <a:r>
              <a:rPr lang="en-IN" b="1" dirty="0"/>
              <a:t>social stigma, lack of accessibility, and inconsistent manual assessment methods</a:t>
            </a:r>
            <a:r>
              <a:rPr lang="en-IN" dirty="0"/>
              <a:t>. Addressing this problem is crucial for building a </a:t>
            </a:r>
            <a:r>
              <a:rPr lang="en-IN" b="1" dirty="0"/>
              <a:t>non-intrusive, reliable, and automated solution</a:t>
            </a:r>
            <a:r>
              <a:rPr lang="en-IN" dirty="0"/>
              <a:t> that could potentially assist in early mental health detection among individuals, including personnel in high-stress environments such as </a:t>
            </a:r>
            <a:r>
              <a:rPr lang="en-IN" dirty="0" err="1"/>
              <a:t>defense</a:t>
            </a:r>
            <a:r>
              <a:rPr lang="en-IN" dirty="0"/>
              <a:t> and research sectors. The integration of </a:t>
            </a:r>
            <a:r>
              <a:rPr lang="en-IN" b="1" dirty="0"/>
              <a:t>AI-based assessment with secure biometric authentication</a:t>
            </a:r>
            <a:r>
              <a:rPr lang="en-IN" dirty="0"/>
              <a:t> also enhances the reliability and privacy of sensitive mental health data — an important aspect for </a:t>
            </a:r>
            <a:r>
              <a:rPr lang="en-IN" dirty="0" err="1"/>
              <a:t>defense</a:t>
            </a:r>
            <a:r>
              <a:rPr lang="en-IN" dirty="0"/>
              <a:t>-related applications.</a:t>
            </a:r>
          </a:p>
          <a:p>
            <a:endParaRPr lang="en-IN" dirty="0"/>
          </a:p>
        </p:txBody>
      </p:sp>
    </p:spTree>
    <p:extLst>
      <p:ext uri="{BB962C8B-B14F-4D97-AF65-F5344CB8AC3E}">
        <p14:creationId xmlns:p14="http://schemas.microsoft.com/office/powerpoint/2010/main" val="9244549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81256" y="491876"/>
            <a:ext cx="10058400" cy="713255"/>
          </a:xfrm>
        </p:spPr>
        <p:txBody>
          <a:bodyPr>
            <a:normAutofit fontScale="90000"/>
          </a:bodyPr>
          <a:lstStyle/>
          <a:p>
            <a:r>
              <a:rPr lang="en-GB" dirty="0"/>
              <a:t>Literature Survey</a:t>
            </a:r>
            <a:endParaRPr lang="en-IN" dirty="0"/>
          </a:p>
        </p:txBody>
      </p:sp>
      <p:graphicFrame>
        <p:nvGraphicFramePr>
          <p:cNvPr id="6" name="Table 5"/>
          <p:cNvGraphicFramePr>
            <a:graphicFrameLocks noGrp="1"/>
          </p:cNvGraphicFramePr>
          <p:nvPr>
            <p:extLst>
              <p:ext uri="{D42A27DB-BD31-4B8C-83A1-F6EECF244321}">
                <p14:modId xmlns:p14="http://schemas.microsoft.com/office/powerpoint/2010/main" val="2489293116"/>
              </p:ext>
            </p:extLst>
          </p:nvPr>
        </p:nvGraphicFramePr>
        <p:xfrm>
          <a:off x="1724351" y="1890440"/>
          <a:ext cx="9197174" cy="3037840"/>
        </p:xfrm>
        <a:graphic>
          <a:graphicData uri="http://schemas.openxmlformats.org/drawingml/2006/table">
            <a:tbl>
              <a:tblPr firstRow="1" bandRow="1">
                <a:tableStyleId>{5940675A-B579-460E-94D1-54222C63F5DA}</a:tableStyleId>
              </a:tblPr>
              <a:tblGrid>
                <a:gridCol w="2864448">
                  <a:extLst>
                    <a:ext uri="{9D8B030D-6E8A-4147-A177-3AD203B41FA5}">
                      <a16:colId xmlns:a16="http://schemas.microsoft.com/office/drawing/2014/main" val="20000"/>
                    </a:ext>
                  </a:extLst>
                </a:gridCol>
                <a:gridCol w="6332726">
                  <a:extLst>
                    <a:ext uri="{9D8B030D-6E8A-4147-A177-3AD203B41FA5}">
                      <a16:colId xmlns:a16="http://schemas.microsoft.com/office/drawing/2014/main" val="20001"/>
                    </a:ext>
                  </a:extLst>
                </a:gridCol>
              </a:tblGrid>
              <a:tr h="370840">
                <a:tc gridSpan="2">
                  <a:txBody>
                    <a:bodyPr/>
                    <a:lstStyle/>
                    <a:p>
                      <a:r>
                        <a:rPr lang="en-GB" sz="1400" dirty="0">
                          <a:latin typeface="Times New Roman" panose="02020603050405020304" pitchFamily="18" charset="0"/>
                          <a:cs typeface="Times New Roman" panose="02020603050405020304" pitchFamily="18" charset="0"/>
                        </a:rPr>
                        <a:t>1</a:t>
                      </a:r>
                      <a:r>
                        <a:rPr lang="en-GB" sz="1400" baseline="0" dirty="0">
                          <a:latin typeface="Times New Roman" panose="02020603050405020304" pitchFamily="18" charset="0"/>
                          <a:cs typeface="Times New Roman" panose="02020603050405020304" pitchFamily="18" charset="0"/>
                        </a:rPr>
                        <a:t> :</a:t>
                      </a:r>
                      <a:r>
                        <a:rPr lang="en-IN" sz="1400" dirty="0"/>
                        <a:t>R. Reece et al</a:t>
                      </a:r>
                      <a:r>
                        <a:rPr lang="en-GB" sz="1400" baseline="0" dirty="0">
                          <a:latin typeface="Times New Roman" panose="02020603050405020304" pitchFamily="18" charset="0"/>
                          <a:cs typeface="Times New Roman" panose="02020603050405020304" pitchFamily="18" charset="0"/>
                        </a:rPr>
                        <a:t>,</a:t>
                      </a:r>
                      <a:r>
                        <a:rPr lang="en-US" sz="1400" dirty="0"/>
                        <a:t> “Machine Learning Models for Predicting Depression from Social Media Text”</a:t>
                      </a:r>
                      <a:r>
                        <a:rPr lang="en-GB" sz="1400" baseline="0" dirty="0">
                          <a:latin typeface="Times New Roman" panose="02020603050405020304" pitchFamily="18" charset="0"/>
                          <a:cs typeface="Times New Roman" panose="02020603050405020304" pitchFamily="18" charset="0"/>
                        </a:rPr>
                        <a:t>, Journal, </a:t>
                      </a:r>
                      <a:r>
                        <a:rPr lang="en-IN" sz="1400" i="1" dirty="0"/>
                        <a:t>IEEE Access</a:t>
                      </a:r>
                      <a:r>
                        <a:rPr lang="en-IN" sz="1400" dirty="0"/>
                        <a:t>, 2022</a:t>
                      </a:r>
                      <a:endParaRPr lang="en-IN" sz="1400" dirty="0">
                        <a:latin typeface="Times New Roman" panose="02020603050405020304" pitchFamily="18" charset="0"/>
                        <a:cs typeface="Times New Roman" panose="02020603050405020304" pitchFamily="18" charset="0"/>
                      </a:endParaRPr>
                    </a:p>
                  </a:txBody>
                  <a:tcPr/>
                </a:tc>
                <a:tc hMerge="1">
                  <a:txBody>
                    <a:bodyPr/>
                    <a:lstStyle/>
                    <a:p>
                      <a:endParaRPr lang="en-IN" dirty="0"/>
                    </a:p>
                  </a:txBody>
                  <a:tcPr/>
                </a:tc>
                <a:extLst>
                  <a:ext uri="{0D108BD9-81ED-4DB2-BD59-A6C34878D82A}">
                    <a16:rowId xmlns:a16="http://schemas.microsoft.com/office/drawing/2014/main" val="10000"/>
                  </a:ext>
                </a:extLst>
              </a:tr>
              <a:tr h="370840">
                <a:tc>
                  <a:txBody>
                    <a:bodyPr/>
                    <a:lstStyle/>
                    <a:p>
                      <a:r>
                        <a:rPr lang="en-GB" sz="1400" dirty="0">
                          <a:latin typeface="Times New Roman" panose="02020603050405020304" pitchFamily="18" charset="0"/>
                          <a:cs typeface="Times New Roman" panose="02020603050405020304" pitchFamily="18" charset="0"/>
                        </a:rPr>
                        <a:t>Problem Taken</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dirty="0"/>
                        <a:t>Automatic identification of depressive symptoms using users’ textual data from social media platforms.</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370840">
                <a:tc>
                  <a:txBody>
                    <a:bodyPr/>
                    <a:lstStyle/>
                    <a:p>
                      <a:r>
                        <a:rPr lang="en-GB" sz="1400" dirty="0">
                          <a:latin typeface="Times New Roman" panose="02020603050405020304" pitchFamily="18" charset="0"/>
                          <a:cs typeface="Times New Roman" panose="02020603050405020304" pitchFamily="18" charset="0"/>
                        </a:rPr>
                        <a:t>Applied</a:t>
                      </a:r>
                      <a:r>
                        <a:rPr lang="en-GB" sz="1400" baseline="0" dirty="0">
                          <a:latin typeface="Times New Roman" panose="02020603050405020304" pitchFamily="18" charset="0"/>
                          <a:cs typeface="Times New Roman" panose="02020603050405020304" pitchFamily="18" charset="0"/>
                        </a:rPr>
                        <a:t> Algorithm/Methodology</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dirty="0"/>
                        <a:t>Support Vector Machine (SVM) and Random Forest classifiers on NLP-extracted features.</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2"/>
                  </a:ext>
                </a:extLst>
              </a:tr>
              <a:tr h="370840">
                <a:tc>
                  <a:txBody>
                    <a:bodyPr/>
                    <a:lstStyle/>
                    <a:p>
                      <a:r>
                        <a:rPr lang="en-GB" sz="1400" dirty="0">
                          <a:latin typeface="Times New Roman" panose="02020603050405020304" pitchFamily="18" charset="0"/>
                          <a:cs typeface="Times New Roman" panose="02020603050405020304" pitchFamily="18" charset="0"/>
                        </a:rPr>
                        <a:t>Data</a:t>
                      </a:r>
                      <a:r>
                        <a:rPr lang="en-GB" sz="1400" baseline="0" dirty="0">
                          <a:latin typeface="Times New Roman" panose="02020603050405020304" pitchFamily="18" charset="0"/>
                          <a:cs typeface="Times New Roman" panose="02020603050405020304" pitchFamily="18" charset="0"/>
                        </a:rPr>
                        <a:t> Set</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dirty="0"/>
                        <a:t>Reddit and Twitter posts annotated for depressive content.</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3"/>
                  </a:ext>
                </a:extLst>
              </a:tr>
              <a:tr h="370840">
                <a:tc>
                  <a:txBody>
                    <a:bodyPr/>
                    <a:lstStyle/>
                    <a:p>
                      <a:r>
                        <a:rPr lang="en-GB" sz="1400" dirty="0">
                          <a:latin typeface="Times New Roman" panose="02020603050405020304" pitchFamily="18" charset="0"/>
                          <a:cs typeface="Times New Roman" panose="02020603050405020304" pitchFamily="18" charset="0"/>
                        </a:rPr>
                        <a:t>Performance Measures</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IN" sz="1400" dirty="0"/>
                        <a:t>Accuracy – 87%, Precision – 85%, Recall – 84%.</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4"/>
                  </a:ext>
                </a:extLst>
              </a:tr>
              <a:tr h="370840">
                <a:tc>
                  <a:txBody>
                    <a:bodyPr/>
                    <a:lstStyle/>
                    <a:p>
                      <a:r>
                        <a:rPr lang="en-GB" sz="1400" dirty="0">
                          <a:latin typeface="Times New Roman" panose="02020603050405020304" pitchFamily="18" charset="0"/>
                          <a:cs typeface="Times New Roman" panose="02020603050405020304" pitchFamily="18" charset="0"/>
                        </a:rPr>
                        <a:t>Improvements</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dirty="0"/>
                        <a:t>Enhanced emotion-based feature extraction and text normalization improved classification accuracy.</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5"/>
                  </a:ext>
                </a:extLst>
              </a:tr>
              <a:tr h="370840">
                <a:tc>
                  <a:txBody>
                    <a:bodyPr/>
                    <a:lstStyle/>
                    <a:p>
                      <a:r>
                        <a:rPr lang="en-GB" sz="1400" dirty="0">
                          <a:latin typeface="Times New Roman" panose="02020603050405020304" pitchFamily="18" charset="0"/>
                          <a:cs typeface="Times New Roman" panose="02020603050405020304" pitchFamily="18" charset="0"/>
                        </a:rPr>
                        <a:t>Limitations</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dirty="0"/>
                        <a:t>Model heavily depends on linguistic style; poor generalization across languages.</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7912466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286603"/>
            <a:ext cx="10058400" cy="713255"/>
          </a:xfrm>
        </p:spPr>
        <p:txBody>
          <a:bodyPr>
            <a:normAutofit fontScale="90000"/>
          </a:bodyPr>
          <a:lstStyle/>
          <a:p>
            <a:r>
              <a:rPr lang="en-GB" dirty="0"/>
              <a:t>Literature Survey</a:t>
            </a:r>
            <a:endParaRPr lang="en-IN" dirty="0"/>
          </a:p>
        </p:txBody>
      </p:sp>
      <p:graphicFrame>
        <p:nvGraphicFramePr>
          <p:cNvPr id="6" name="Table 5"/>
          <p:cNvGraphicFramePr>
            <a:graphicFrameLocks noGrp="1"/>
          </p:cNvGraphicFramePr>
          <p:nvPr>
            <p:extLst>
              <p:ext uri="{D42A27DB-BD31-4B8C-83A1-F6EECF244321}">
                <p14:modId xmlns:p14="http://schemas.microsoft.com/office/powerpoint/2010/main" val="672894918"/>
              </p:ext>
            </p:extLst>
          </p:nvPr>
        </p:nvGraphicFramePr>
        <p:xfrm>
          <a:off x="1724351" y="1890440"/>
          <a:ext cx="9197174" cy="2890520"/>
        </p:xfrm>
        <a:graphic>
          <a:graphicData uri="http://schemas.openxmlformats.org/drawingml/2006/table">
            <a:tbl>
              <a:tblPr firstRow="1" bandRow="1">
                <a:tableStyleId>{5940675A-B579-460E-94D1-54222C63F5DA}</a:tableStyleId>
              </a:tblPr>
              <a:tblGrid>
                <a:gridCol w="2864448">
                  <a:extLst>
                    <a:ext uri="{9D8B030D-6E8A-4147-A177-3AD203B41FA5}">
                      <a16:colId xmlns:a16="http://schemas.microsoft.com/office/drawing/2014/main" val="20000"/>
                    </a:ext>
                  </a:extLst>
                </a:gridCol>
                <a:gridCol w="6332726">
                  <a:extLst>
                    <a:ext uri="{9D8B030D-6E8A-4147-A177-3AD203B41FA5}">
                      <a16:colId xmlns:a16="http://schemas.microsoft.com/office/drawing/2014/main" val="20001"/>
                    </a:ext>
                  </a:extLst>
                </a:gridCol>
              </a:tblGrid>
              <a:tr h="370840">
                <a:tc gridSpan="2">
                  <a:txBody>
                    <a:bodyPr/>
                    <a:lstStyle/>
                    <a:p>
                      <a:r>
                        <a:rPr lang="en-GB" sz="1400" baseline="0" dirty="0">
                          <a:latin typeface="Times New Roman" panose="02020603050405020304" pitchFamily="18" charset="0"/>
                          <a:cs typeface="Times New Roman" panose="02020603050405020304" pitchFamily="18" charset="0"/>
                        </a:rPr>
                        <a:t>2 : </a:t>
                      </a:r>
                      <a:r>
                        <a:rPr lang="en-US" sz="1400" dirty="0"/>
                        <a:t>M. Gupta and A. Jain</a:t>
                      </a:r>
                      <a:r>
                        <a:rPr lang="en-GB" sz="1400" baseline="0" dirty="0">
                          <a:latin typeface="Times New Roman" panose="02020603050405020304" pitchFamily="18" charset="0"/>
                          <a:cs typeface="Times New Roman" panose="02020603050405020304" pitchFamily="18" charset="0"/>
                        </a:rPr>
                        <a:t>, </a:t>
                      </a:r>
                      <a:r>
                        <a:rPr lang="en-US" sz="1400" dirty="0"/>
                        <a:t>“AI-Based Emotion Recognition through Facial Expressions for Mental Health Monitoring”</a:t>
                      </a:r>
                      <a:r>
                        <a:rPr lang="en-GB" sz="1400" baseline="0" dirty="0">
                          <a:latin typeface="Times New Roman" panose="02020603050405020304" pitchFamily="18" charset="0"/>
                          <a:cs typeface="Times New Roman" panose="02020603050405020304" pitchFamily="18" charset="0"/>
                        </a:rPr>
                        <a:t>, </a:t>
                      </a:r>
                      <a:r>
                        <a:rPr lang="en-US" sz="1400" i="1" dirty="0"/>
                        <a:t>Elsevier Journal of Biomedical Informatics</a:t>
                      </a:r>
                      <a:r>
                        <a:rPr lang="en-US" sz="1400" dirty="0"/>
                        <a:t>, 2021</a:t>
                      </a:r>
                      <a:endParaRPr lang="en-IN" sz="1400" dirty="0">
                        <a:latin typeface="Times New Roman" panose="02020603050405020304" pitchFamily="18" charset="0"/>
                        <a:cs typeface="Times New Roman" panose="02020603050405020304" pitchFamily="18" charset="0"/>
                      </a:endParaRPr>
                    </a:p>
                  </a:txBody>
                  <a:tcPr/>
                </a:tc>
                <a:tc hMerge="1">
                  <a:txBody>
                    <a:bodyPr/>
                    <a:lstStyle/>
                    <a:p>
                      <a:endParaRPr lang="en-IN" dirty="0"/>
                    </a:p>
                  </a:txBody>
                  <a:tcPr/>
                </a:tc>
                <a:extLst>
                  <a:ext uri="{0D108BD9-81ED-4DB2-BD59-A6C34878D82A}">
                    <a16:rowId xmlns:a16="http://schemas.microsoft.com/office/drawing/2014/main" val="10000"/>
                  </a:ext>
                </a:extLst>
              </a:tr>
              <a:tr h="370840">
                <a:tc>
                  <a:txBody>
                    <a:bodyPr/>
                    <a:lstStyle/>
                    <a:p>
                      <a:r>
                        <a:rPr lang="en-GB" sz="1400" dirty="0">
                          <a:latin typeface="Times New Roman" panose="02020603050405020304" pitchFamily="18" charset="0"/>
                          <a:cs typeface="Times New Roman" panose="02020603050405020304" pitchFamily="18" charset="0"/>
                        </a:rPr>
                        <a:t>Problem Taken</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dirty="0"/>
                        <a:t>Detecting early signs of emotional distress and depression using facial images.</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370840">
                <a:tc>
                  <a:txBody>
                    <a:bodyPr/>
                    <a:lstStyle/>
                    <a:p>
                      <a:r>
                        <a:rPr lang="en-GB" sz="1400" dirty="0">
                          <a:latin typeface="Times New Roman" panose="02020603050405020304" pitchFamily="18" charset="0"/>
                          <a:cs typeface="Times New Roman" panose="02020603050405020304" pitchFamily="18" charset="0"/>
                        </a:rPr>
                        <a:t>Applied</a:t>
                      </a:r>
                      <a:r>
                        <a:rPr lang="en-GB" sz="1400" baseline="0" dirty="0">
                          <a:latin typeface="Times New Roman" panose="02020603050405020304" pitchFamily="18" charset="0"/>
                          <a:cs typeface="Times New Roman" panose="02020603050405020304" pitchFamily="18" charset="0"/>
                        </a:rPr>
                        <a:t> Algorithm/Methodology</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dirty="0"/>
                        <a:t>Convolutional Neural Network (CNN) and Haar Cascade for real-time face detection.</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2"/>
                  </a:ext>
                </a:extLst>
              </a:tr>
              <a:tr h="370840">
                <a:tc>
                  <a:txBody>
                    <a:bodyPr/>
                    <a:lstStyle/>
                    <a:p>
                      <a:r>
                        <a:rPr lang="en-GB" sz="1400" dirty="0">
                          <a:latin typeface="Times New Roman" panose="02020603050405020304" pitchFamily="18" charset="0"/>
                          <a:cs typeface="Times New Roman" panose="02020603050405020304" pitchFamily="18" charset="0"/>
                        </a:rPr>
                        <a:t>Data</a:t>
                      </a:r>
                      <a:r>
                        <a:rPr lang="en-GB" sz="1400" baseline="0" dirty="0">
                          <a:latin typeface="Times New Roman" panose="02020603050405020304" pitchFamily="18" charset="0"/>
                          <a:cs typeface="Times New Roman" panose="02020603050405020304" pitchFamily="18" charset="0"/>
                        </a:rPr>
                        <a:t> Set</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IN" sz="1400" dirty="0"/>
                        <a:t>FER2013 (Facial Expression Recognition Dataset).</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3"/>
                  </a:ext>
                </a:extLst>
              </a:tr>
              <a:tr h="370840">
                <a:tc>
                  <a:txBody>
                    <a:bodyPr/>
                    <a:lstStyle/>
                    <a:p>
                      <a:r>
                        <a:rPr lang="en-GB" sz="1400" dirty="0">
                          <a:latin typeface="Times New Roman" panose="02020603050405020304" pitchFamily="18" charset="0"/>
                          <a:cs typeface="Times New Roman" panose="02020603050405020304" pitchFamily="18" charset="0"/>
                        </a:rPr>
                        <a:t>Performance Measures</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IN" sz="1400" dirty="0"/>
                        <a:t>Accuracy – 89%, F1-score – 0.86.</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4"/>
                  </a:ext>
                </a:extLst>
              </a:tr>
              <a:tr h="370840">
                <a:tc>
                  <a:txBody>
                    <a:bodyPr/>
                    <a:lstStyle/>
                    <a:p>
                      <a:r>
                        <a:rPr lang="en-GB" sz="1400" dirty="0">
                          <a:latin typeface="Times New Roman" panose="02020603050405020304" pitchFamily="18" charset="0"/>
                          <a:cs typeface="Times New Roman" panose="02020603050405020304" pitchFamily="18" charset="0"/>
                        </a:rPr>
                        <a:t>Improvements</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dirty="0"/>
                        <a:t>Optimized CNN layers with dropout regularization to reduce overfitting.</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5"/>
                  </a:ext>
                </a:extLst>
              </a:tr>
              <a:tr h="370840">
                <a:tc>
                  <a:txBody>
                    <a:bodyPr/>
                    <a:lstStyle/>
                    <a:p>
                      <a:r>
                        <a:rPr lang="en-GB" sz="1400" dirty="0">
                          <a:latin typeface="Times New Roman" panose="02020603050405020304" pitchFamily="18" charset="0"/>
                          <a:cs typeface="Times New Roman" panose="02020603050405020304" pitchFamily="18" charset="0"/>
                        </a:rPr>
                        <a:t>Limitations</a:t>
                      </a:r>
                      <a:endParaRPr lang="en-IN" sz="14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Limited dataset diversity; results may vary under poor lighting or occlusion.</a:t>
                      </a:r>
                    </a:p>
                    <a:p>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7819211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286603"/>
            <a:ext cx="10058400" cy="713255"/>
          </a:xfrm>
        </p:spPr>
        <p:txBody>
          <a:bodyPr>
            <a:normAutofit fontScale="90000"/>
          </a:bodyPr>
          <a:lstStyle/>
          <a:p>
            <a:r>
              <a:rPr lang="en-GB" dirty="0"/>
              <a:t>Literature Survey</a:t>
            </a:r>
            <a:endParaRPr lang="en-IN" dirty="0"/>
          </a:p>
        </p:txBody>
      </p:sp>
      <p:graphicFrame>
        <p:nvGraphicFramePr>
          <p:cNvPr id="6" name="Table 5"/>
          <p:cNvGraphicFramePr>
            <a:graphicFrameLocks noGrp="1"/>
          </p:cNvGraphicFramePr>
          <p:nvPr>
            <p:extLst>
              <p:ext uri="{D42A27DB-BD31-4B8C-83A1-F6EECF244321}">
                <p14:modId xmlns:p14="http://schemas.microsoft.com/office/powerpoint/2010/main" val="3518261947"/>
              </p:ext>
            </p:extLst>
          </p:nvPr>
        </p:nvGraphicFramePr>
        <p:xfrm>
          <a:off x="1724351" y="1890440"/>
          <a:ext cx="9197174" cy="2743200"/>
        </p:xfrm>
        <a:graphic>
          <a:graphicData uri="http://schemas.openxmlformats.org/drawingml/2006/table">
            <a:tbl>
              <a:tblPr firstRow="1" bandRow="1">
                <a:tableStyleId>{5940675A-B579-460E-94D1-54222C63F5DA}</a:tableStyleId>
              </a:tblPr>
              <a:tblGrid>
                <a:gridCol w="2864448">
                  <a:extLst>
                    <a:ext uri="{9D8B030D-6E8A-4147-A177-3AD203B41FA5}">
                      <a16:colId xmlns:a16="http://schemas.microsoft.com/office/drawing/2014/main" val="20000"/>
                    </a:ext>
                  </a:extLst>
                </a:gridCol>
                <a:gridCol w="6332726">
                  <a:extLst>
                    <a:ext uri="{9D8B030D-6E8A-4147-A177-3AD203B41FA5}">
                      <a16:colId xmlns:a16="http://schemas.microsoft.com/office/drawing/2014/main" val="20001"/>
                    </a:ext>
                  </a:extLst>
                </a:gridCol>
              </a:tblGrid>
              <a:tr h="370840">
                <a:tc gridSpan="2">
                  <a:txBody>
                    <a:bodyPr/>
                    <a:lstStyle/>
                    <a:p>
                      <a:r>
                        <a:rPr lang="en-GB" sz="1400" baseline="0" dirty="0">
                          <a:latin typeface="Times New Roman" panose="02020603050405020304" pitchFamily="18" charset="0"/>
                          <a:cs typeface="Times New Roman" panose="02020603050405020304" pitchFamily="18" charset="0"/>
                        </a:rPr>
                        <a:t>3 : </a:t>
                      </a:r>
                      <a:r>
                        <a:rPr lang="en-IN" sz="1400" dirty="0"/>
                        <a:t>S. Li et al</a:t>
                      </a:r>
                      <a:r>
                        <a:rPr lang="en-GB" sz="1400" baseline="0" dirty="0">
                          <a:latin typeface="Times New Roman" panose="02020603050405020304" pitchFamily="18" charset="0"/>
                          <a:cs typeface="Times New Roman" panose="02020603050405020304" pitchFamily="18" charset="0"/>
                        </a:rPr>
                        <a:t>,</a:t>
                      </a:r>
                      <a:r>
                        <a:rPr lang="en-US" sz="1400" dirty="0"/>
                        <a:t> “Chatbot-Based Psychological Assessment Using Natural Language Understanding”</a:t>
                      </a:r>
                      <a:r>
                        <a:rPr lang="en-GB" sz="1400" baseline="0" dirty="0">
                          <a:latin typeface="Times New Roman" panose="02020603050405020304" pitchFamily="18" charset="0"/>
                          <a:cs typeface="Times New Roman" panose="02020603050405020304" pitchFamily="18" charset="0"/>
                        </a:rPr>
                        <a:t>, </a:t>
                      </a:r>
                      <a:r>
                        <a:rPr lang="en-IN" sz="1400" i="1" dirty="0"/>
                        <a:t>Springer AI &amp; Society</a:t>
                      </a:r>
                      <a:r>
                        <a:rPr lang="en-IN" sz="1400" dirty="0"/>
                        <a:t>, 2023</a:t>
                      </a:r>
                      <a:endParaRPr lang="en-IN" sz="1400" dirty="0">
                        <a:latin typeface="Times New Roman" panose="02020603050405020304" pitchFamily="18" charset="0"/>
                        <a:cs typeface="Times New Roman" panose="02020603050405020304" pitchFamily="18" charset="0"/>
                      </a:endParaRPr>
                    </a:p>
                  </a:txBody>
                  <a:tcPr/>
                </a:tc>
                <a:tc hMerge="1">
                  <a:txBody>
                    <a:bodyPr/>
                    <a:lstStyle/>
                    <a:p>
                      <a:endParaRPr lang="en-IN" dirty="0"/>
                    </a:p>
                  </a:txBody>
                  <a:tcPr/>
                </a:tc>
                <a:extLst>
                  <a:ext uri="{0D108BD9-81ED-4DB2-BD59-A6C34878D82A}">
                    <a16:rowId xmlns:a16="http://schemas.microsoft.com/office/drawing/2014/main" val="10000"/>
                  </a:ext>
                </a:extLst>
              </a:tr>
              <a:tr h="370840">
                <a:tc>
                  <a:txBody>
                    <a:bodyPr/>
                    <a:lstStyle/>
                    <a:p>
                      <a:r>
                        <a:rPr lang="en-GB" sz="1400" dirty="0">
                          <a:latin typeface="Times New Roman" panose="02020603050405020304" pitchFamily="18" charset="0"/>
                          <a:cs typeface="Times New Roman" panose="02020603050405020304" pitchFamily="18" charset="0"/>
                        </a:rPr>
                        <a:t>Problem Taken</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dirty="0"/>
                        <a:t>Evaluating users’ psychological states through intelligent conversational agents</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370840">
                <a:tc>
                  <a:txBody>
                    <a:bodyPr/>
                    <a:lstStyle/>
                    <a:p>
                      <a:r>
                        <a:rPr lang="en-GB" sz="1400" dirty="0">
                          <a:latin typeface="Times New Roman" panose="02020603050405020304" pitchFamily="18" charset="0"/>
                          <a:cs typeface="Times New Roman" panose="02020603050405020304" pitchFamily="18" charset="0"/>
                        </a:rPr>
                        <a:t>Applied</a:t>
                      </a:r>
                      <a:r>
                        <a:rPr lang="en-GB" sz="1400" baseline="0" dirty="0">
                          <a:latin typeface="Times New Roman" panose="02020603050405020304" pitchFamily="18" charset="0"/>
                          <a:cs typeface="Times New Roman" panose="02020603050405020304" pitchFamily="18" charset="0"/>
                        </a:rPr>
                        <a:t> Algorithm/Methodology</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dirty="0"/>
                        <a:t>BERT-based NLP model integrated into a rule-based chatbot for emotion classification.</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2"/>
                  </a:ext>
                </a:extLst>
              </a:tr>
              <a:tr h="370840">
                <a:tc>
                  <a:txBody>
                    <a:bodyPr/>
                    <a:lstStyle/>
                    <a:p>
                      <a:r>
                        <a:rPr lang="en-GB" sz="1400" dirty="0">
                          <a:latin typeface="Times New Roman" panose="02020603050405020304" pitchFamily="18" charset="0"/>
                          <a:cs typeface="Times New Roman" panose="02020603050405020304" pitchFamily="18" charset="0"/>
                        </a:rPr>
                        <a:t>Data</a:t>
                      </a:r>
                      <a:r>
                        <a:rPr lang="en-GB" sz="1400" baseline="0" dirty="0">
                          <a:latin typeface="Times New Roman" panose="02020603050405020304" pitchFamily="18" charset="0"/>
                          <a:cs typeface="Times New Roman" panose="02020603050405020304" pitchFamily="18" charset="0"/>
                        </a:rPr>
                        <a:t> Set</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dirty="0"/>
                        <a:t>Mental health conversation dataset (collected from therapy chat logs).</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3"/>
                  </a:ext>
                </a:extLst>
              </a:tr>
              <a:tr h="370840">
                <a:tc>
                  <a:txBody>
                    <a:bodyPr/>
                    <a:lstStyle/>
                    <a:p>
                      <a:r>
                        <a:rPr lang="en-GB" sz="1400" dirty="0">
                          <a:latin typeface="Times New Roman" panose="02020603050405020304" pitchFamily="18" charset="0"/>
                          <a:cs typeface="Times New Roman" panose="02020603050405020304" pitchFamily="18" charset="0"/>
                        </a:rPr>
                        <a:t>Performance Measures</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IN" sz="1400" dirty="0"/>
                        <a:t>Accuracy – 91%, Recall – 88%.</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4"/>
                  </a:ext>
                </a:extLst>
              </a:tr>
              <a:tr h="370840">
                <a:tc>
                  <a:txBody>
                    <a:bodyPr/>
                    <a:lstStyle/>
                    <a:p>
                      <a:r>
                        <a:rPr lang="en-GB" sz="1400" dirty="0">
                          <a:latin typeface="Times New Roman" panose="02020603050405020304" pitchFamily="18" charset="0"/>
                          <a:cs typeface="Times New Roman" panose="02020603050405020304" pitchFamily="18" charset="0"/>
                        </a:rPr>
                        <a:t>Improvements</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dirty="0"/>
                        <a:t>Used contextual embeddings for better emotion detection accuracy.</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5"/>
                  </a:ext>
                </a:extLst>
              </a:tr>
              <a:tr h="370840">
                <a:tc>
                  <a:txBody>
                    <a:bodyPr/>
                    <a:lstStyle/>
                    <a:p>
                      <a:r>
                        <a:rPr lang="en-GB" sz="1400" dirty="0">
                          <a:latin typeface="Times New Roman" panose="02020603050405020304" pitchFamily="18" charset="0"/>
                          <a:cs typeface="Times New Roman" panose="02020603050405020304" pitchFamily="18" charset="0"/>
                        </a:rPr>
                        <a:t>Limitations</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dirty="0"/>
                        <a:t>Difficulty in detecting sarcasm or ambiguous emotional tone.</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4646465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286603"/>
            <a:ext cx="10058400" cy="713255"/>
          </a:xfrm>
        </p:spPr>
        <p:txBody>
          <a:bodyPr>
            <a:normAutofit fontScale="90000"/>
          </a:bodyPr>
          <a:lstStyle/>
          <a:p>
            <a:r>
              <a:rPr lang="en-GB" dirty="0"/>
              <a:t>Literature Survey</a:t>
            </a:r>
            <a:endParaRPr lang="en-IN" dirty="0"/>
          </a:p>
        </p:txBody>
      </p:sp>
      <p:graphicFrame>
        <p:nvGraphicFramePr>
          <p:cNvPr id="6" name="Table 5"/>
          <p:cNvGraphicFramePr>
            <a:graphicFrameLocks noGrp="1"/>
          </p:cNvGraphicFramePr>
          <p:nvPr>
            <p:extLst>
              <p:ext uri="{D42A27DB-BD31-4B8C-83A1-F6EECF244321}">
                <p14:modId xmlns:p14="http://schemas.microsoft.com/office/powerpoint/2010/main" val="1980041307"/>
              </p:ext>
            </p:extLst>
          </p:nvPr>
        </p:nvGraphicFramePr>
        <p:xfrm>
          <a:off x="1724351" y="1890440"/>
          <a:ext cx="9197174" cy="3037840"/>
        </p:xfrm>
        <a:graphic>
          <a:graphicData uri="http://schemas.openxmlformats.org/drawingml/2006/table">
            <a:tbl>
              <a:tblPr firstRow="1" bandRow="1">
                <a:tableStyleId>{5940675A-B579-460E-94D1-54222C63F5DA}</a:tableStyleId>
              </a:tblPr>
              <a:tblGrid>
                <a:gridCol w="2864448">
                  <a:extLst>
                    <a:ext uri="{9D8B030D-6E8A-4147-A177-3AD203B41FA5}">
                      <a16:colId xmlns:a16="http://schemas.microsoft.com/office/drawing/2014/main" val="20000"/>
                    </a:ext>
                  </a:extLst>
                </a:gridCol>
                <a:gridCol w="6332726">
                  <a:extLst>
                    <a:ext uri="{9D8B030D-6E8A-4147-A177-3AD203B41FA5}">
                      <a16:colId xmlns:a16="http://schemas.microsoft.com/office/drawing/2014/main" val="20001"/>
                    </a:ext>
                  </a:extLst>
                </a:gridCol>
              </a:tblGrid>
              <a:tr h="370840">
                <a:tc gridSpan="2">
                  <a:txBody>
                    <a:bodyPr/>
                    <a:lstStyle/>
                    <a:p>
                      <a:r>
                        <a:rPr lang="en-GB" sz="1400" baseline="0" dirty="0">
                          <a:latin typeface="Times New Roman" panose="02020603050405020304" pitchFamily="18" charset="0"/>
                          <a:cs typeface="Times New Roman" panose="02020603050405020304" pitchFamily="18" charset="0"/>
                        </a:rPr>
                        <a:t>4 : </a:t>
                      </a:r>
                      <a:r>
                        <a:rPr lang="en-US" sz="1400" dirty="0"/>
                        <a:t>P. Kumar and R. Singh</a:t>
                      </a:r>
                      <a:r>
                        <a:rPr lang="en-GB" sz="1400" baseline="0" dirty="0">
                          <a:latin typeface="Times New Roman" panose="02020603050405020304" pitchFamily="18" charset="0"/>
                          <a:cs typeface="Times New Roman" panose="02020603050405020304" pitchFamily="18" charset="0"/>
                        </a:rPr>
                        <a:t>, </a:t>
                      </a:r>
                      <a:r>
                        <a:rPr lang="en-US" sz="1400" dirty="0"/>
                        <a:t>“Deep Learning Framework for Stress Detection Using Physiological Signals”</a:t>
                      </a:r>
                      <a:r>
                        <a:rPr lang="en-GB" sz="1400" baseline="0" dirty="0">
                          <a:latin typeface="Times New Roman" panose="02020603050405020304" pitchFamily="18" charset="0"/>
                          <a:cs typeface="Times New Roman" panose="02020603050405020304" pitchFamily="18" charset="0"/>
                        </a:rPr>
                        <a:t>, </a:t>
                      </a:r>
                      <a:r>
                        <a:rPr lang="en-IN" sz="1400" i="1" dirty="0"/>
                        <a:t>IEEE Transactions on Affective Computing</a:t>
                      </a:r>
                      <a:r>
                        <a:rPr lang="en-IN" sz="1400" dirty="0"/>
                        <a:t>, 2022</a:t>
                      </a:r>
                      <a:endParaRPr lang="en-IN" sz="1400" dirty="0">
                        <a:latin typeface="Times New Roman" panose="02020603050405020304" pitchFamily="18" charset="0"/>
                        <a:cs typeface="Times New Roman" panose="02020603050405020304" pitchFamily="18" charset="0"/>
                      </a:endParaRPr>
                    </a:p>
                  </a:txBody>
                  <a:tcPr/>
                </a:tc>
                <a:tc hMerge="1">
                  <a:txBody>
                    <a:bodyPr/>
                    <a:lstStyle/>
                    <a:p>
                      <a:endParaRPr lang="en-IN" dirty="0"/>
                    </a:p>
                  </a:txBody>
                  <a:tcPr/>
                </a:tc>
                <a:extLst>
                  <a:ext uri="{0D108BD9-81ED-4DB2-BD59-A6C34878D82A}">
                    <a16:rowId xmlns:a16="http://schemas.microsoft.com/office/drawing/2014/main" val="10000"/>
                  </a:ext>
                </a:extLst>
              </a:tr>
              <a:tr h="370840">
                <a:tc>
                  <a:txBody>
                    <a:bodyPr/>
                    <a:lstStyle/>
                    <a:p>
                      <a:r>
                        <a:rPr lang="en-GB" sz="1400" dirty="0">
                          <a:latin typeface="Times New Roman" panose="02020603050405020304" pitchFamily="18" charset="0"/>
                          <a:cs typeface="Times New Roman" panose="02020603050405020304" pitchFamily="18" charset="0"/>
                        </a:rPr>
                        <a:t>Problem Taken</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dirty="0"/>
                        <a:t>Predicting stress levels using wearable sensor data such as heart rate and skin conductance.</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370840">
                <a:tc>
                  <a:txBody>
                    <a:bodyPr/>
                    <a:lstStyle/>
                    <a:p>
                      <a:r>
                        <a:rPr lang="en-GB" sz="1400" dirty="0">
                          <a:latin typeface="Times New Roman" panose="02020603050405020304" pitchFamily="18" charset="0"/>
                          <a:cs typeface="Times New Roman" panose="02020603050405020304" pitchFamily="18" charset="0"/>
                        </a:rPr>
                        <a:t>Applied</a:t>
                      </a:r>
                      <a:r>
                        <a:rPr lang="en-GB" sz="1400" baseline="0" dirty="0">
                          <a:latin typeface="Times New Roman" panose="02020603050405020304" pitchFamily="18" charset="0"/>
                          <a:cs typeface="Times New Roman" panose="02020603050405020304" pitchFamily="18" charset="0"/>
                        </a:rPr>
                        <a:t> Algorithm/Methodology</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dirty="0"/>
                        <a:t>Long Short-Term Memory (LSTM) neural networks for sequential physiological data.</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2"/>
                  </a:ext>
                </a:extLst>
              </a:tr>
              <a:tr h="370840">
                <a:tc>
                  <a:txBody>
                    <a:bodyPr/>
                    <a:lstStyle/>
                    <a:p>
                      <a:r>
                        <a:rPr lang="en-GB" sz="1400" dirty="0">
                          <a:latin typeface="Times New Roman" panose="02020603050405020304" pitchFamily="18" charset="0"/>
                          <a:cs typeface="Times New Roman" panose="02020603050405020304" pitchFamily="18" charset="0"/>
                        </a:rPr>
                        <a:t>Data</a:t>
                      </a:r>
                      <a:r>
                        <a:rPr lang="en-GB" sz="1400" baseline="0" dirty="0">
                          <a:latin typeface="Times New Roman" panose="02020603050405020304" pitchFamily="18" charset="0"/>
                          <a:cs typeface="Times New Roman" panose="02020603050405020304" pitchFamily="18" charset="0"/>
                        </a:rPr>
                        <a:t> Set</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dirty="0"/>
                        <a:t>WESAD (Wearable Stress and Affect Detection dataset).</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3"/>
                  </a:ext>
                </a:extLst>
              </a:tr>
              <a:tr h="370840">
                <a:tc>
                  <a:txBody>
                    <a:bodyPr/>
                    <a:lstStyle/>
                    <a:p>
                      <a:r>
                        <a:rPr lang="en-GB" sz="1400" dirty="0">
                          <a:latin typeface="Times New Roman" panose="02020603050405020304" pitchFamily="18" charset="0"/>
                          <a:cs typeface="Times New Roman" panose="02020603050405020304" pitchFamily="18" charset="0"/>
                        </a:rPr>
                        <a:t>Performance Measures</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IN" sz="1400" dirty="0"/>
                        <a:t>Accuracy – 93%, AUC – 0.95.</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4"/>
                  </a:ext>
                </a:extLst>
              </a:tr>
              <a:tr h="370840">
                <a:tc>
                  <a:txBody>
                    <a:bodyPr/>
                    <a:lstStyle/>
                    <a:p>
                      <a:r>
                        <a:rPr lang="en-GB" sz="1400" dirty="0">
                          <a:latin typeface="Times New Roman" panose="02020603050405020304" pitchFamily="18" charset="0"/>
                          <a:cs typeface="Times New Roman" panose="02020603050405020304" pitchFamily="18" charset="0"/>
                        </a:rPr>
                        <a:t>Improvements</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dirty="0"/>
                        <a:t>Feature fusion between physiological and behavioral indicators increased robustness.</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5"/>
                  </a:ext>
                </a:extLst>
              </a:tr>
              <a:tr h="370840">
                <a:tc>
                  <a:txBody>
                    <a:bodyPr/>
                    <a:lstStyle/>
                    <a:p>
                      <a:r>
                        <a:rPr lang="en-GB" sz="1400" dirty="0">
                          <a:latin typeface="Times New Roman" panose="02020603050405020304" pitchFamily="18" charset="0"/>
                          <a:cs typeface="Times New Roman" panose="02020603050405020304" pitchFamily="18" charset="0"/>
                        </a:rPr>
                        <a:t>Limitations</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IN" sz="1400" dirty="0"/>
                        <a:t>Model performance depends on sensor quality and data consistency.</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7343701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286603"/>
            <a:ext cx="10058400" cy="713255"/>
          </a:xfrm>
        </p:spPr>
        <p:txBody>
          <a:bodyPr>
            <a:normAutofit fontScale="90000"/>
          </a:bodyPr>
          <a:lstStyle/>
          <a:p>
            <a:r>
              <a:rPr lang="en-GB" dirty="0"/>
              <a:t>Literature Survey</a:t>
            </a:r>
            <a:endParaRPr lang="en-IN" dirty="0"/>
          </a:p>
        </p:txBody>
      </p:sp>
      <p:graphicFrame>
        <p:nvGraphicFramePr>
          <p:cNvPr id="6" name="Table 5"/>
          <p:cNvGraphicFramePr>
            <a:graphicFrameLocks noGrp="1"/>
          </p:cNvGraphicFramePr>
          <p:nvPr>
            <p:extLst>
              <p:ext uri="{D42A27DB-BD31-4B8C-83A1-F6EECF244321}">
                <p14:modId xmlns:p14="http://schemas.microsoft.com/office/powerpoint/2010/main" val="154841104"/>
              </p:ext>
            </p:extLst>
          </p:nvPr>
        </p:nvGraphicFramePr>
        <p:xfrm>
          <a:off x="1724351" y="1890440"/>
          <a:ext cx="9197174" cy="2743200"/>
        </p:xfrm>
        <a:graphic>
          <a:graphicData uri="http://schemas.openxmlformats.org/drawingml/2006/table">
            <a:tbl>
              <a:tblPr firstRow="1" bandRow="1">
                <a:tableStyleId>{5940675A-B579-460E-94D1-54222C63F5DA}</a:tableStyleId>
              </a:tblPr>
              <a:tblGrid>
                <a:gridCol w="2864448">
                  <a:extLst>
                    <a:ext uri="{9D8B030D-6E8A-4147-A177-3AD203B41FA5}">
                      <a16:colId xmlns:a16="http://schemas.microsoft.com/office/drawing/2014/main" val="20000"/>
                    </a:ext>
                  </a:extLst>
                </a:gridCol>
                <a:gridCol w="6332726">
                  <a:extLst>
                    <a:ext uri="{9D8B030D-6E8A-4147-A177-3AD203B41FA5}">
                      <a16:colId xmlns:a16="http://schemas.microsoft.com/office/drawing/2014/main" val="20001"/>
                    </a:ext>
                  </a:extLst>
                </a:gridCol>
              </a:tblGrid>
              <a:tr h="370840">
                <a:tc gridSpan="2">
                  <a:txBody>
                    <a:bodyPr/>
                    <a:lstStyle/>
                    <a:p>
                      <a:r>
                        <a:rPr lang="en-GB" sz="1400" baseline="0" dirty="0">
                          <a:latin typeface="Times New Roman" panose="02020603050405020304" pitchFamily="18" charset="0"/>
                          <a:cs typeface="Times New Roman" panose="02020603050405020304" pitchFamily="18" charset="0"/>
                        </a:rPr>
                        <a:t>5.</a:t>
                      </a:r>
                      <a:r>
                        <a:rPr lang="en-IN" sz="1400" dirty="0"/>
                        <a:t> H. Zhang et al</a:t>
                      </a:r>
                      <a:r>
                        <a:rPr lang="en-GB" sz="1400" baseline="0" dirty="0">
                          <a:latin typeface="Times New Roman" panose="02020603050405020304" pitchFamily="18" charset="0"/>
                          <a:cs typeface="Times New Roman" panose="02020603050405020304" pitchFamily="18" charset="0"/>
                        </a:rPr>
                        <a:t>,</a:t>
                      </a:r>
                      <a:r>
                        <a:rPr lang="en-US" sz="1400" dirty="0"/>
                        <a:t> “Multi-Modal Mental Health Prediction Using Text and Image Fusion”</a:t>
                      </a:r>
                      <a:r>
                        <a:rPr lang="en-GB" sz="1400" baseline="0" dirty="0">
                          <a:latin typeface="Times New Roman" panose="02020603050405020304" pitchFamily="18" charset="0"/>
                          <a:cs typeface="Times New Roman" panose="02020603050405020304" pitchFamily="18" charset="0"/>
                        </a:rPr>
                        <a:t>, </a:t>
                      </a:r>
                      <a:r>
                        <a:rPr lang="en-US" sz="1400" dirty="0"/>
                        <a:t>“Multi-Modal Mental Health Prediction Using Text and Image Fusion”.</a:t>
                      </a:r>
                      <a:endParaRPr lang="en-IN" sz="1400" dirty="0">
                        <a:latin typeface="Times New Roman" panose="02020603050405020304" pitchFamily="18" charset="0"/>
                        <a:cs typeface="Times New Roman" panose="02020603050405020304" pitchFamily="18" charset="0"/>
                      </a:endParaRPr>
                    </a:p>
                  </a:txBody>
                  <a:tcPr/>
                </a:tc>
                <a:tc hMerge="1">
                  <a:txBody>
                    <a:bodyPr/>
                    <a:lstStyle/>
                    <a:p>
                      <a:endParaRPr lang="en-IN" dirty="0"/>
                    </a:p>
                  </a:txBody>
                  <a:tcPr/>
                </a:tc>
                <a:extLst>
                  <a:ext uri="{0D108BD9-81ED-4DB2-BD59-A6C34878D82A}">
                    <a16:rowId xmlns:a16="http://schemas.microsoft.com/office/drawing/2014/main" val="10000"/>
                  </a:ext>
                </a:extLst>
              </a:tr>
              <a:tr h="370840">
                <a:tc>
                  <a:txBody>
                    <a:bodyPr/>
                    <a:lstStyle/>
                    <a:p>
                      <a:r>
                        <a:rPr lang="en-GB" sz="1400" dirty="0">
                          <a:latin typeface="Times New Roman" panose="02020603050405020304" pitchFamily="18" charset="0"/>
                          <a:cs typeface="Times New Roman" panose="02020603050405020304" pitchFamily="18" charset="0"/>
                        </a:rPr>
                        <a:t>Problem Taken</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dirty="0"/>
                        <a:t>Combining textual and visual data for accurate mental health prediction.</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370840">
                <a:tc>
                  <a:txBody>
                    <a:bodyPr/>
                    <a:lstStyle/>
                    <a:p>
                      <a:r>
                        <a:rPr lang="en-GB" sz="1400" dirty="0">
                          <a:latin typeface="Times New Roman" panose="02020603050405020304" pitchFamily="18" charset="0"/>
                          <a:cs typeface="Times New Roman" panose="02020603050405020304" pitchFamily="18" charset="0"/>
                        </a:rPr>
                        <a:t>Applied</a:t>
                      </a:r>
                      <a:r>
                        <a:rPr lang="en-GB" sz="1400" baseline="0" dirty="0">
                          <a:latin typeface="Times New Roman" panose="02020603050405020304" pitchFamily="18" charset="0"/>
                          <a:cs typeface="Times New Roman" panose="02020603050405020304" pitchFamily="18" charset="0"/>
                        </a:rPr>
                        <a:t> Algorithm/Methodology</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IN" sz="1400" dirty="0"/>
                        <a:t>Hybrid CNN–LSTM model for multimodal feature fusion.</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2"/>
                  </a:ext>
                </a:extLst>
              </a:tr>
              <a:tr h="370840">
                <a:tc>
                  <a:txBody>
                    <a:bodyPr/>
                    <a:lstStyle/>
                    <a:p>
                      <a:r>
                        <a:rPr lang="en-GB" sz="1400" dirty="0">
                          <a:latin typeface="Times New Roman" panose="02020603050405020304" pitchFamily="18" charset="0"/>
                          <a:cs typeface="Times New Roman" panose="02020603050405020304" pitchFamily="18" charset="0"/>
                        </a:rPr>
                        <a:t>Data</a:t>
                      </a:r>
                      <a:r>
                        <a:rPr lang="en-GB" sz="1400" baseline="0" dirty="0">
                          <a:latin typeface="Times New Roman" panose="02020603050405020304" pitchFamily="18" charset="0"/>
                          <a:cs typeface="Times New Roman" panose="02020603050405020304" pitchFamily="18" charset="0"/>
                        </a:rPr>
                        <a:t> Set</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dirty="0"/>
                        <a:t>Reddit dataset with text and profile image data.</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3"/>
                  </a:ext>
                </a:extLst>
              </a:tr>
              <a:tr h="370840">
                <a:tc>
                  <a:txBody>
                    <a:bodyPr/>
                    <a:lstStyle/>
                    <a:p>
                      <a:r>
                        <a:rPr lang="en-GB" sz="1400" dirty="0">
                          <a:latin typeface="Times New Roman" panose="02020603050405020304" pitchFamily="18" charset="0"/>
                          <a:cs typeface="Times New Roman" panose="02020603050405020304" pitchFamily="18" charset="0"/>
                        </a:rPr>
                        <a:t>Performance Measures</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IN" sz="1400" dirty="0"/>
                        <a:t>Accuracy – 92%, Precision – 90%</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4"/>
                  </a:ext>
                </a:extLst>
              </a:tr>
              <a:tr h="370840">
                <a:tc>
                  <a:txBody>
                    <a:bodyPr/>
                    <a:lstStyle/>
                    <a:p>
                      <a:r>
                        <a:rPr lang="en-GB" sz="1400" dirty="0">
                          <a:latin typeface="Times New Roman" panose="02020603050405020304" pitchFamily="18" charset="0"/>
                          <a:cs typeface="Times New Roman" panose="02020603050405020304" pitchFamily="18" charset="0"/>
                        </a:rPr>
                        <a:t>Improvements</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dirty="0"/>
                        <a:t>Improved model interpretability using SHAP value-based feature importance.</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5"/>
                  </a:ext>
                </a:extLst>
              </a:tr>
              <a:tr h="370840">
                <a:tc>
                  <a:txBody>
                    <a:bodyPr/>
                    <a:lstStyle/>
                    <a:p>
                      <a:r>
                        <a:rPr lang="en-GB" sz="1400" dirty="0">
                          <a:latin typeface="Times New Roman" panose="02020603050405020304" pitchFamily="18" charset="0"/>
                          <a:cs typeface="Times New Roman" panose="02020603050405020304" pitchFamily="18" charset="0"/>
                        </a:rPr>
                        <a:t>Limitations</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dirty="0"/>
                        <a:t>High computational cost and large training time.</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9016865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286603"/>
            <a:ext cx="10058400" cy="713255"/>
          </a:xfrm>
        </p:spPr>
        <p:txBody>
          <a:bodyPr>
            <a:normAutofit fontScale="90000"/>
          </a:bodyPr>
          <a:lstStyle/>
          <a:p>
            <a:r>
              <a:rPr lang="en-GB" dirty="0"/>
              <a:t>Literature Survey</a:t>
            </a:r>
            <a:endParaRPr lang="en-IN" dirty="0"/>
          </a:p>
        </p:txBody>
      </p:sp>
      <p:graphicFrame>
        <p:nvGraphicFramePr>
          <p:cNvPr id="6" name="Table 5"/>
          <p:cNvGraphicFramePr>
            <a:graphicFrameLocks noGrp="1"/>
          </p:cNvGraphicFramePr>
          <p:nvPr>
            <p:extLst>
              <p:ext uri="{D42A27DB-BD31-4B8C-83A1-F6EECF244321}">
                <p14:modId xmlns:p14="http://schemas.microsoft.com/office/powerpoint/2010/main" val="3280171316"/>
              </p:ext>
            </p:extLst>
          </p:nvPr>
        </p:nvGraphicFramePr>
        <p:xfrm>
          <a:off x="1724351" y="1890440"/>
          <a:ext cx="9197174" cy="3185160"/>
        </p:xfrm>
        <a:graphic>
          <a:graphicData uri="http://schemas.openxmlformats.org/drawingml/2006/table">
            <a:tbl>
              <a:tblPr firstRow="1" bandRow="1">
                <a:tableStyleId>{5940675A-B579-460E-94D1-54222C63F5DA}</a:tableStyleId>
              </a:tblPr>
              <a:tblGrid>
                <a:gridCol w="2864448">
                  <a:extLst>
                    <a:ext uri="{9D8B030D-6E8A-4147-A177-3AD203B41FA5}">
                      <a16:colId xmlns:a16="http://schemas.microsoft.com/office/drawing/2014/main" val="20000"/>
                    </a:ext>
                  </a:extLst>
                </a:gridCol>
                <a:gridCol w="6332726">
                  <a:extLst>
                    <a:ext uri="{9D8B030D-6E8A-4147-A177-3AD203B41FA5}">
                      <a16:colId xmlns:a16="http://schemas.microsoft.com/office/drawing/2014/main" val="20001"/>
                    </a:ext>
                  </a:extLst>
                </a:gridCol>
              </a:tblGrid>
              <a:tr h="370840">
                <a:tc gridSpan="2">
                  <a:txBody>
                    <a:bodyPr/>
                    <a:lstStyle/>
                    <a:p>
                      <a:r>
                        <a:rPr lang="en-GB" sz="1400" baseline="0" dirty="0">
                          <a:latin typeface="Times New Roman" panose="02020603050405020304" pitchFamily="18" charset="0"/>
                          <a:cs typeface="Times New Roman" panose="02020603050405020304" pitchFamily="18" charset="0"/>
                        </a:rPr>
                        <a:t>6 :</a:t>
                      </a:r>
                      <a:r>
                        <a:rPr lang="en-US" sz="1400" dirty="0"/>
                        <a:t>A. Sharma and N. Patel</a:t>
                      </a:r>
                      <a:r>
                        <a:rPr lang="en-GB" sz="1400" baseline="0" dirty="0">
                          <a:latin typeface="Times New Roman" panose="02020603050405020304" pitchFamily="18" charset="0"/>
                          <a:cs typeface="Times New Roman" panose="02020603050405020304" pitchFamily="18" charset="0"/>
                        </a:rPr>
                        <a:t>, </a:t>
                      </a:r>
                      <a:r>
                        <a:rPr lang="en-US" sz="1400" dirty="0"/>
                        <a:t>“AI-Driven Face Recognition and Sentiment Analysis for Mental Health Assessment”</a:t>
                      </a:r>
                      <a:r>
                        <a:rPr lang="en-GB" sz="1400" baseline="0" dirty="0">
                          <a:latin typeface="Times New Roman" panose="02020603050405020304" pitchFamily="18" charset="0"/>
                          <a:cs typeface="Times New Roman" panose="02020603050405020304" pitchFamily="18" charset="0"/>
                        </a:rPr>
                        <a:t>, </a:t>
                      </a:r>
                      <a:r>
                        <a:rPr lang="en-IN" sz="1400" i="1" dirty="0"/>
                        <a:t>International Journal of Computer Applications</a:t>
                      </a:r>
                      <a:r>
                        <a:rPr lang="en-IN" sz="1400" dirty="0"/>
                        <a:t>, 2023.</a:t>
                      </a:r>
                      <a:endParaRPr lang="en-IN" sz="1400" dirty="0">
                        <a:latin typeface="Times New Roman" panose="02020603050405020304" pitchFamily="18" charset="0"/>
                        <a:cs typeface="Times New Roman" panose="02020603050405020304" pitchFamily="18" charset="0"/>
                      </a:endParaRPr>
                    </a:p>
                  </a:txBody>
                  <a:tcPr/>
                </a:tc>
                <a:tc hMerge="1">
                  <a:txBody>
                    <a:bodyPr/>
                    <a:lstStyle/>
                    <a:p>
                      <a:endParaRPr lang="en-IN" dirty="0"/>
                    </a:p>
                  </a:txBody>
                  <a:tcPr/>
                </a:tc>
                <a:extLst>
                  <a:ext uri="{0D108BD9-81ED-4DB2-BD59-A6C34878D82A}">
                    <a16:rowId xmlns:a16="http://schemas.microsoft.com/office/drawing/2014/main" val="10000"/>
                  </a:ext>
                </a:extLst>
              </a:tr>
              <a:tr h="370840">
                <a:tc>
                  <a:txBody>
                    <a:bodyPr/>
                    <a:lstStyle/>
                    <a:p>
                      <a:r>
                        <a:rPr lang="en-GB" sz="1400" dirty="0">
                          <a:latin typeface="Times New Roman" panose="02020603050405020304" pitchFamily="18" charset="0"/>
                          <a:cs typeface="Times New Roman" panose="02020603050405020304" pitchFamily="18" charset="0"/>
                        </a:rPr>
                        <a:t>Problem Taken</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dirty="0"/>
                        <a:t>Automating mental health evaluation through emotion recognition and secure facial login.</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370840">
                <a:tc>
                  <a:txBody>
                    <a:bodyPr/>
                    <a:lstStyle/>
                    <a:p>
                      <a:r>
                        <a:rPr lang="en-GB" sz="1400" dirty="0">
                          <a:latin typeface="Times New Roman" panose="02020603050405020304" pitchFamily="18" charset="0"/>
                          <a:cs typeface="Times New Roman" panose="02020603050405020304" pitchFamily="18" charset="0"/>
                        </a:rPr>
                        <a:t>Applied</a:t>
                      </a:r>
                      <a:r>
                        <a:rPr lang="en-GB" sz="1400" baseline="0" dirty="0">
                          <a:latin typeface="Times New Roman" panose="02020603050405020304" pitchFamily="18" charset="0"/>
                          <a:cs typeface="Times New Roman" panose="02020603050405020304" pitchFamily="18" charset="0"/>
                        </a:rPr>
                        <a:t> Algorithm/Methodology</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dirty="0" err="1"/>
                        <a:t>FaceNet</a:t>
                      </a:r>
                      <a:r>
                        <a:rPr lang="en-US" sz="1400" dirty="0"/>
                        <a:t> for recognition and CNN for emotion classification integrated with a Flask web app.</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2"/>
                  </a:ext>
                </a:extLst>
              </a:tr>
              <a:tr h="370840">
                <a:tc>
                  <a:txBody>
                    <a:bodyPr/>
                    <a:lstStyle/>
                    <a:p>
                      <a:r>
                        <a:rPr lang="en-GB" sz="1400" dirty="0">
                          <a:latin typeface="Times New Roman" panose="02020603050405020304" pitchFamily="18" charset="0"/>
                          <a:cs typeface="Times New Roman" panose="02020603050405020304" pitchFamily="18" charset="0"/>
                        </a:rPr>
                        <a:t>Data</a:t>
                      </a:r>
                      <a:r>
                        <a:rPr lang="en-GB" sz="1400" baseline="0" dirty="0">
                          <a:latin typeface="Times New Roman" panose="02020603050405020304" pitchFamily="18" charset="0"/>
                          <a:cs typeface="Times New Roman" panose="02020603050405020304" pitchFamily="18" charset="0"/>
                        </a:rPr>
                        <a:t> Set</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dirty="0"/>
                        <a:t>Custom dataset of user facial images and emotion labels.</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3"/>
                  </a:ext>
                </a:extLst>
              </a:tr>
              <a:tr h="370840">
                <a:tc>
                  <a:txBody>
                    <a:bodyPr/>
                    <a:lstStyle/>
                    <a:p>
                      <a:r>
                        <a:rPr lang="en-GB" sz="1400" dirty="0">
                          <a:latin typeface="Times New Roman" panose="02020603050405020304" pitchFamily="18" charset="0"/>
                          <a:cs typeface="Times New Roman" panose="02020603050405020304" pitchFamily="18" charset="0"/>
                        </a:rPr>
                        <a:t>Performance Measures</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IN" sz="1400" dirty="0"/>
                        <a:t>Recognition Accuracy – 95%, Emotion Classification – 90%.</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4"/>
                  </a:ext>
                </a:extLst>
              </a:tr>
              <a:tr h="370840">
                <a:tc>
                  <a:txBody>
                    <a:bodyPr/>
                    <a:lstStyle/>
                    <a:p>
                      <a:r>
                        <a:rPr lang="en-GB" sz="1400" dirty="0">
                          <a:latin typeface="Times New Roman" panose="02020603050405020304" pitchFamily="18" charset="0"/>
                          <a:cs typeface="Times New Roman" panose="02020603050405020304" pitchFamily="18" charset="0"/>
                        </a:rPr>
                        <a:t>Improvements</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dirty="0"/>
                        <a:t>Integration of face authentication with sentiment-based chatbot improved overall system usability.</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5"/>
                  </a:ext>
                </a:extLst>
              </a:tr>
              <a:tr h="370840">
                <a:tc>
                  <a:txBody>
                    <a:bodyPr/>
                    <a:lstStyle/>
                    <a:p>
                      <a:r>
                        <a:rPr lang="en-GB" sz="1400" dirty="0">
                          <a:latin typeface="Times New Roman" panose="02020603050405020304" pitchFamily="18" charset="0"/>
                          <a:cs typeface="Times New Roman" panose="02020603050405020304" pitchFamily="18" charset="0"/>
                        </a:rPr>
                        <a:t>Limitations</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dirty="0"/>
                        <a:t>Requires large and diverse dataset to improve model generalization.</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5840581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8A8CA9-27C6-F3A1-8CEA-BD04265B9DEB}"/>
              </a:ext>
            </a:extLst>
          </p:cNvPr>
          <p:cNvSpPr>
            <a:spLocks noGrp="1"/>
          </p:cNvSpPr>
          <p:nvPr>
            <p:ph type="title"/>
          </p:nvPr>
        </p:nvSpPr>
        <p:spPr/>
        <p:txBody>
          <a:bodyPr/>
          <a:lstStyle/>
          <a:p>
            <a:r>
              <a:rPr lang="en-US" dirty="0"/>
              <a:t>Planning and Designing of work</a:t>
            </a:r>
            <a:endParaRPr lang="en-IN" dirty="0"/>
          </a:p>
        </p:txBody>
      </p:sp>
      <p:sp>
        <p:nvSpPr>
          <p:cNvPr id="3" name="Content Placeholder 2">
            <a:extLst>
              <a:ext uri="{FF2B5EF4-FFF2-40B4-BE49-F238E27FC236}">
                <a16:creationId xmlns:a16="http://schemas.microsoft.com/office/drawing/2014/main" id="{06B912BD-D731-9E16-6525-2EE2168746B5}"/>
              </a:ext>
            </a:extLst>
          </p:cNvPr>
          <p:cNvSpPr>
            <a:spLocks noGrp="1"/>
          </p:cNvSpPr>
          <p:nvPr>
            <p:ph idx="1"/>
          </p:nvPr>
        </p:nvSpPr>
        <p:spPr>
          <a:xfrm>
            <a:off x="802312" y="1737360"/>
            <a:ext cx="10058400" cy="4023360"/>
          </a:xfrm>
        </p:spPr>
        <p:txBody>
          <a:bodyPr>
            <a:normAutofit fontScale="70000" lnSpcReduction="20000"/>
          </a:bodyPr>
          <a:lstStyle/>
          <a:p>
            <a:r>
              <a:rPr lang="en-IN" b="1" dirty="0"/>
              <a:t>Internship Task Planning and Workflow :</a:t>
            </a:r>
            <a:endParaRPr lang="en-IN" dirty="0"/>
          </a:p>
          <a:p>
            <a:pPr lvl="0" fontAlgn="base"/>
            <a:r>
              <a:rPr lang="en-IN" dirty="0"/>
              <a:t>The internship was organized into </a:t>
            </a:r>
            <a:r>
              <a:rPr lang="en-IN" b="1" dirty="0"/>
              <a:t>four major phases</a:t>
            </a:r>
            <a:r>
              <a:rPr lang="en-IN" dirty="0"/>
              <a:t> over the course of one month, focusing on designing, developing, and testing the </a:t>
            </a:r>
            <a:r>
              <a:rPr lang="en-IN" b="1" dirty="0" err="1"/>
              <a:t>MindNest</a:t>
            </a:r>
            <a:r>
              <a:rPr lang="en-IN" b="1" dirty="0"/>
              <a:t> AI-based Mental Health Assessment System</a:t>
            </a:r>
            <a:r>
              <a:rPr lang="en-IN" dirty="0"/>
              <a:t>. Each phase was planned with clear deliverables and progressive development goals.  </a:t>
            </a:r>
          </a:p>
          <a:p>
            <a:pPr lvl="0" fontAlgn="base"/>
            <a:r>
              <a:rPr lang="en-IN" b="1" dirty="0"/>
              <a:t>Week 1: Requirement Gathering and Research</a:t>
            </a:r>
            <a:r>
              <a:rPr lang="en-IN" dirty="0"/>
              <a:t>  </a:t>
            </a:r>
          </a:p>
          <a:p>
            <a:pPr lvl="0" fontAlgn="base"/>
            <a:r>
              <a:rPr lang="en-IN" dirty="0"/>
              <a:t>Studied existing AI models and digital tools for mental health assessment.  </a:t>
            </a:r>
          </a:p>
          <a:p>
            <a:pPr lvl="0" fontAlgn="base"/>
            <a:r>
              <a:rPr lang="en-IN" dirty="0" err="1"/>
              <a:t>Analyzed</a:t>
            </a:r>
            <a:r>
              <a:rPr lang="en-IN" dirty="0"/>
              <a:t> DRDL’s security protocols for data privacy and user authentication.  </a:t>
            </a:r>
          </a:p>
          <a:p>
            <a:pPr lvl="0" fontAlgn="base"/>
            <a:r>
              <a:rPr lang="en-IN" dirty="0"/>
              <a:t> Finalized project scope and technical stack (Python, </a:t>
            </a:r>
            <a:r>
              <a:rPr lang="en-IN" dirty="0" err="1"/>
              <a:t>Streamlit</a:t>
            </a:r>
            <a:r>
              <a:rPr lang="en-IN" dirty="0"/>
              <a:t>, OpenCV, TensorFlow).  </a:t>
            </a:r>
          </a:p>
          <a:p>
            <a:pPr lvl="0" fontAlgn="base"/>
            <a:r>
              <a:rPr lang="en-IN" dirty="0"/>
              <a:t>Collected and reviewed datasets related to mental health indicators.  </a:t>
            </a:r>
          </a:p>
          <a:p>
            <a:pPr lvl="0" fontAlgn="base"/>
            <a:r>
              <a:rPr lang="en-IN" b="1" dirty="0"/>
              <a:t>Week 2: UI and System Design</a:t>
            </a:r>
            <a:r>
              <a:rPr lang="en-IN" dirty="0"/>
              <a:t>  </a:t>
            </a:r>
          </a:p>
          <a:p>
            <a:pPr lvl="0" fontAlgn="base"/>
            <a:r>
              <a:rPr lang="en-IN" dirty="0"/>
              <a:t>Designed the system architecture for </a:t>
            </a:r>
            <a:r>
              <a:rPr lang="en-IN" dirty="0" err="1"/>
              <a:t>MindNest</a:t>
            </a:r>
            <a:r>
              <a:rPr lang="en-IN" dirty="0"/>
              <a:t>, defining UI, application logic, and backend layers.  </a:t>
            </a:r>
          </a:p>
          <a:p>
            <a:pPr lvl="0" fontAlgn="base"/>
            <a:r>
              <a:rPr lang="en-IN" dirty="0"/>
              <a:t>Built the </a:t>
            </a:r>
            <a:r>
              <a:rPr lang="en-IN" dirty="0" err="1"/>
              <a:t>Streamlit</a:t>
            </a:r>
            <a:r>
              <a:rPr lang="en-IN" dirty="0"/>
              <a:t>-based front-end for user registration, login, and chatbot interaction.  </a:t>
            </a:r>
          </a:p>
          <a:p>
            <a:pPr lvl="0" fontAlgn="base"/>
            <a:r>
              <a:rPr lang="en-IN" dirty="0"/>
              <a:t>Created workflow diagrams for data flow and system interaction.  </a:t>
            </a:r>
          </a:p>
          <a:p>
            <a:pPr marL="0" indent="0">
              <a:buNone/>
            </a:pPr>
            <a:endParaRPr lang="en-IN" dirty="0"/>
          </a:p>
        </p:txBody>
      </p:sp>
    </p:spTree>
    <p:extLst>
      <p:ext uri="{BB962C8B-B14F-4D97-AF65-F5344CB8AC3E}">
        <p14:creationId xmlns:p14="http://schemas.microsoft.com/office/powerpoint/2010/main" val="24793368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6595580-0F1A-351E-E9DE-C260405B015B}"/>
              </a:ext>
            </a:extLst>
          </p:cNvPr>
          <p:cNvSpPr>
            <a:spLocks noGrp="1"/>
          </p:cNvSpPr>
          <p:nvPr>
            <p:ph idx="1"/>
          </p:nvPr>
        </p:nvSpPr>
        <p:spPr/>
        <p:txBody>
          <a:bodyPr>
            <a:normAutofit fontScale="92500" lnSpcReduction="20000"/>
          </a:bodyPr>
          <a:lstStyle/>
          <a:p>
            <a:pPr lvl="0" fontAlgn="base"/>
            <a:r>
              <a:rPr lang="en-IN" b="1" dirty="0"/>
              <a:t>Week 3: Model Development and Integration</a:t>
            </a:r>
            <a:r>
              <a:rPr lang="en-IN" dirty="0"/>
              <a:t>  </a:t>
            </a:r>
          </a:p>
          <a:p>
            <a:pPr lvl="0" fontAlgn="base"/>
            <a:r>
              <a:rPr lang="en-IN" dirty="0"/>
              <a:t>Implemented </a:t>
            </a:r>
            <a:r>
              <a:rPr lang="en-IN" b="1" dirty="0"/>
              <a:t>Face Recognition Module</a:t>
            </a:r>
            <a:r>
              <a:rPr lang="en-IN" dirty="0"/>
              <a:t> using OpenCV and </a:t>
            </a:r>
            <a:r>
              <a:rPr lang="en-IN" dirty="0" err="1"/>
              <a:t>face_recognition</a:t>
            </a:r>
            <a:r>
              <a:rPr lang="en-IN" dirty="0"/>
              <a:t> libraries for authentication.  </a:t>
            </a:r>
          </a:p>
          <a:p>
            <a:pPr lvl="0" fontAlgn="base"/>
            <a:r>
              <a:rPr lang="en-IN" dirty="0"/>
              <a:t>Integrated </a:t>
            </a:r>
            <a:r>
              <a:rPr lang="en-IN" b="1" dirty="0"/>
              <a:t>ML Prediction Layer</a:t>
            </a:r>
            <a:r>
              <a:rPr lang="en-IN" dirty="0"/>
              <a:t> with a pre-trained </a:t>
            </a:r>
            <a:r>
              <a:rPr lang="en-IN" dirty="0" err="1"/>
              <a:t>Keras</a:t>
            </a:r>
            <a:r>
              <a:rPr lang="en-IN" dirty="0"/>
              <a:t> model (mental_health_nn.h5).  </a:t>
            </a:r>
          </a:p>
          <a:p>
            <a:pPr lvl="0" fontAlgn="base"/>
            <a:r>
              <a:rPr lang="en-IN" dirty="0"/>
              <a:t>Applied encoders and scalers (</a:t>
            </a:r>
            <a:r>
              <a:rPr lang="en-IN" dirty="0" err="1"/>
              <a:t>scaler.pkl</a:t>
            </a:r>
            <a:r>
              <a:rPr lang="en-IN" dirty="0"/>
              <a:t>, </a:t>
            </a:r>
            <a:r>
              <a:rPr lang="en-IN" dirty="0" err="1"/>
              <a:t>encoders.pkl</a:t>
            </a:r>
            <a:r>
              <a:rPr lang="en-IN" dirty="0"/>
              <a:t>) for preprocessing user input data.  </a:t>
            </a:r>
          </a:p>
          <a:p>
            <a:pPr lvl="0" fontAlgn="base"/>
            <a:r>
              <a:rPr lang="en-IN" dirty="0"/>
              <a:t>Managed session tracking using </a:t>
            </a:r>
            <a:r>
              <a:rPr lang="en-IN" dirty="0" err="1"/>
              <a:t>st.session_state</a:t>
            </a:r>
            <a:r>
              <a:rPr lang="en-IN" dirty="0"/>
              <a:t> to differentiate between logged-in and guest users.  </a:t>
            </a:r>
          </a:p>
          <a:p>
            <a:pPr lvl="0" fontAlgn="base"/>
            <a:r>
              <a:rPr lang="en-IN" b="1" dirty="0"/>
              <a:t>Week 4: Testing, Evaluation, and Documentation</a:t>
            </a:r>
            <a:r>
              <a:rPr lang="en-IN" dirty="0"/>
              <a:t>  </a:t>
            </a:r>
          </a:p>
          <a:p>
            <a:pPr lvl="0" fontAlgn="base"/>
            <a:r>
              <a:rPr lang="en-IN" dirty="0"/>
              <a:t>Conducted functional testing of login, prediction, and chatbot modules.  </a:t>
            </a:r>
          </a:p>
          <a:p>
            <a:pPr lvl="0" fontAlgn="base"/>
            <a:r>
              <a:rPr lang="en-IN" dirty="0"/>
              <a:t>Evaluated model performance on test data for accuracy and reliability.  </a:t>
            </a:r>
          </a:p>
          <a:p>
            <a:pPr lvl="0" fontAlgn="base"/>
            <a:r>
              <a:rPr lang="en-IN" dirty="0"/>
              <a:t>Fixed UI and data-handling issues for a smoother user experience.  </a:t>
            </a:r>
          </a:p>
          <a:p>
            <a:pPr lvl="0" fontAlgn="base"/>
            <a:r>
              <a:rPr lang="en-IN" dirty="0"/>
              <a:t>Compiled project documentation including architecture diagrams and workflow explanation.  </a:t>
            </a:r>
          </a:p>
          <a:p>
            <a:endParaRPr lang="en-IN" dirty="0"/>
          </a:p>
        </p:txBody>
      </p:sp>
    </p:spTree>
    <p:extLst>
      <p:ext uri="{BB962C8B-B14F-4D97-AF65-F5344CB8AC3E}">
        <p14:creationId xmlns:p14="http://schemas.microsoft.com/office/powerpoint/2010/main" val="4207131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136E272-4E11-9882-FDA4-303189DB2592}"/>
              </a:ext>
            </a:extLst>
          </p:cNvPr>
          <p:cNvSpPr>
            <a:spLocks noGrp="1"/>
          </p:cNvSpPr>
          <p:nvPr>
            <p:ph idx="1"/>
          </p:nvPr>
        </p:nvSpPr>
        <p:spPr/>
        <p:txBody>
          <a:bodyPr>
            <a:normAutofit fontScale="40000" lnSpcReduction="20000"/>
          </a:bodyPr>
          <a:lstStyle/>
          <a:p>
            <a:pPr lvl="0" fontAlgn="base"/>
            <a:r>
              <a:rPr lang="en-IN" sz="4000" b="1" dirty="0"/>
              <a:t>System Architecture: </a:t>
            </a:r>
            <a:r>
              <a:rPr lang="en-IN" sz="4000" b="1" dirty="0" err="1"/>
              <a:t>MindNest</a:t>
            </a:r>
            <a:r>
              <a:rPr lang="en-IN" sz="4000" b="1" dirty="0"/>
              <a:t> – AI-driven Mental Health Assessment </a:t>
            </a:r>
            <a:r>
              <a:rPr lang="en-IN" sz="4000" dirty="0"/>
              <a:t> </a:t>
            </a:r>
          </a:p>
          <a:p>
            <a:pPr lvl="0" fontAlgn="base"/>
            <a:r>
              <a:rPr lang="en-IN" sz="4000" dirty="0"/>
              <a:t>The </a:t>
            </a:r>
            <a:r>
              <a:rPr lang="en-IN" sz="4000" dirty="0" err="1"/>
              <a:t>MindNest</a:t>
            </a:r>
            <a:r>
              <a:rPr lang="en-IN" sz="4000" dirty="0"/>
              <a:t> system was designed using a </a:t>
            </a:r>
            <a:r>
              <a:rPr lang="en-IN" sz="4000" b="1" dirty="0"/>
              <a:t>three-tier architecture</a:t>
            </a:r>
            <a:r>
              <a:rPr lang="en-IN" sz="4000" dirty="0"/>
              <a:t> approach — separating the interface, logic, and data layers for scalability and modularity.  </a:t>
            </a:r>
          </a:p>
          <a:p>
            <a:pPr lvl="0" fontAlgn="base"/>
            <a:r>
              <a:rPr lang="en-IN" sz="4000" b="1" dirty="0"/>
              <a:t>User Interface (UI) Layer:</a:t>
            </a:r>
            <a:r>
              <a:rPr lang="en-IN" sz="4000" dirty="0"/>
              <a:t>  </a:t>
            </a:r>
          </a:p>
          <a:p>
            <a:pPr lvl="0" fontAlgn="base"/>
            <a:r>
              <a:rPr lang="en-IN" sz="4000" dirty="0"/>
              <a:t>Developed using </a:t>
            </a:r>
            <a:r>
              <a:rPr lang="en-IN" sz="4000" b="1" dirty="0" err="1"/>
              <a:t>Streamlit</a:t>
            </a:r>
            <a:r>
              <a:rPr lang="en-IN" sz="4000" dirty="0"/>
              <a:t> in Python.  </a:t>
            </a:r>
          </a:p>
          <a:p>
            <a:pPr lvl="0" fontAlgn="base"/>
            <a:r>
              <a:rPr lang="en-IN" sz="4000" dirty="0"/>
              <a:t>Handles user registration (Name, Email, Face Image Capture) and </a:t>
            </a:r>
            <a:r>
              <a:rPr lang="en-IN" sz="4000" b="1" dirty="0"/>
              <a:t>Face Login</a:t>
            </a:r>
            <a:r>
              <a:rPr lang="en-IN" sz="4000" dirty="0"/>
              <a:t> for authentication.  </a:t>
            </a:r>
          </a:p>
          <a:p>
            <a:pPr lvl="0" fontAlgn="base"/>
            <a:r>
              <a:rPr lang="en-IN" sz="4000" dirty="0"/>
              <a:t>Provides an interactive </a:t>
            </a:r>
            <a:r>
              <a:rPr lang="en-IN" sz="4000" b="1" dirty="0"/>
              <a:t>Query Response Interface</a:t>
            </a:r>
            <a:r>
              <a:rPr lang="en-IN" sz="4000" dirty="0"/>
              <a:t> to collect mental health indicators (e.g., age, sleep hours, lifestyle habits).  </a:t>
            </a:r>
          </a:p>
          <a:p>
            <a:pPr lvl="0" fontAlgn="base"/>
            <a:r>
              <a:rPr lang="en-IN" sz="4000" b="1" dirty="0"/>
              <a:t>Application Logic Layer:</a:t>
            </a:r>
            <a:r>
              <a:rPr lang="en-IN" sz="4000" dirty="0"/>
              <a:t>  </a:t>
            </a:r>
          </a:p>
          <a:p>
            <a:pPr lvl="0" fontAlgn="base"/>
            <a:r>
              <a:rPr lang="en-IN" sz="4000" dirty="0"/>
              <a:t>Manages session control via </a:t>
            </a:r>
            <a:r>
              <a:rPr lang="en-IN" sz="4000" dirty="0" err="1"/>
              <a:t>st.session_state</a:t>
            </a:r>
            <a:r>
              <a:rPr lang="en-IN" sz="4000" dirty="0"/>
              <a:t>.  </a:t>
            </a:r>
          </a:p>
          <a:p>
            <a:pPr lvl="0" fontAlgn="base"/>
            <a:r>
              <a:rPr lang="en-IN" sz="4000" dirty="0"/>
              <a:t>Implements routing between pages (Register, Login, Assessment).  </a:t>
            </a:r>
          </a:p>
          <a:p>
            <a:pPr lvl="0" fontAlgn="base"/>
            <a:r>
              <a:rPr lang="en-IN" sz="4000" dirty="0"/>
              <a:t>Integrates </a:t>
            </a:r>
            <a:r>
              <a:rPr lang="en-IN" sz="4000" b="1" dirty="0"/>
              <a:t>Face Recognition Module</a:t>
            </a:r>
            <a:r>
              <a:rPr lang="en-IN" sz="4000" dirty="0"/>
              <a:t> using OpenCV and </a:t>
            </a:r>
            <a:r>
              <a:rPr lang="en-IN" sz="4000" dirty="0" err="1"/>
              <a:t>face_recognition</a:t>
            </a:r>
            <a:r>
              <a:rPr lang="en-IN" sz="4000" dirty="0"/>
              <a:t> for facial comparison.</a:t>
            </a:r>
          </a:p>
        </p:txBody>
      </p:sp>
    </p:spTree>
    <p:extLst>
      <p:ext uri="{BB962C8B-B14F-4D97-AF65-F5344CB8AC3E}">
        <p14:creationId xmlns:p14="http://schemas.microsoft.com/office/powerpoint/2010/main" val="9306660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26A7635-36C5-D3B0-7CAA-C0E82BB95689}"/>
              </a:ext>
            </a:extLst>
          </p:cNvPr>
          <p:cNvSpPr>
            <a:spLocks noGrp="1"/>
          </p:cNvSpPr>
          <p:nvPr>
            <p:ph idx="1"/>
          </p:nvPr>
        </p:nvSpPr>
        <p:spPr>
          <a:xfrm>
            <a:off x="992349" y="1920685"/>
            <a:ext cx="10058400" cy="4023360"/>
          </a:xfrm>
        </p:spPr>
        <p:txBody>
          <a:bodyPr/>
          <a:lstStyle/>
          <a:p>
            <a:pPr lvl="0" fontAlgn="base"/>
            <a:r>
              <a:rPr lang="en-IN" b="1" dirty="0"/>
              <a:t>Backend Layer:</a:t>
            </a:r>
            <a:r>
              <a:rPr lang="en-IN" dirty="0"/>
              <a:t>  </a:t>
            </a:r>
          </a:p>
          <a:p>
            <a:pPr lvl="0" fontAlgn="base"/>
            <a:r>
              <a:rPr lang="en-IN" dirty="0"/>
              <a:t>Stores face images in </a:t>
            </a:r>
            <a:r>
              <a:rPr lang="en-IN" dirty="0" err="1"/>
              <a:t>user_images</a:t>
            </a:r>
            <a:r>
              <a:rPr lang="en-IN" dirty="0"/>
              <a:t>/ and embeddings in </a:t>
            </a:r>
            <a:r>
              <a:rPr lang="en-IN" dirty="0" err="1"/>
              <a:t>embeddings.pkl</a:t>
            </a:r>
            <a:r>
              <a:rPr lang="en-IN" dirty="0"/>
              <a:t>.  </a:t>
            </a:r>
          </a:p>
          <a:p>
            <a:pPr lvl="0" fontAlgn="base"/>
            <a:r>
              <a:rPr lang="en-IN" dirty="0"/>
              <a:t>Includes ML model files: mental_health_nn.h5, </a:t>
            </a:r>
            <a:r>
              <a:rPr lang="en-IN" dirty="0" err="1"/>
              <a:t>scaler.pkl</a:t>
            </a:r>
            <a:r>
              <a:rPr lang="en-IN" dirty="0"/>
              <a:t>, and </a:t>
            </a:r>
            <a:r>
              <a:rPr lang="en-IN" dirty="0" err="1"/>
              <a:t>encoders.pkl</a:t>
            </a:r>
            <a:r>
              <a:rPr lang="en-IN" dirty="0"/>
              <a:t>.  </a:t>
            </a:r>
          </a:p>
          <a:p>
            <a:pPr lvl="0" fontAlgn="base"/>
            <a:r>
              <a:rPr lang="en-IN" dirty="0"/>
              <a:t>Uses .csv dataset files for model training and analysis.  </a:t>
            </a:r>
          </a:p>
          <a:p>
            <a:r>
              <a:rPr lang="en-IN" dirty="0"/>
              <a:t>Ensures secure handling of user data and model outputs</a:t>
            </a:r>
          </a:p>
          <a:p>
            <a:pPr lvl="0" fontAlgn="base"/>
            <a:r>
              <a:rPr lang="en-IN" b="1" dirty="0"/>
              <a:t>Team Role Allocation (if applicable): </a:t>
            </a:r>
            <a:r>
              <a:rPr lang="en-IN" dirty="0"/>
              <a:t> </a:t>
            </a:r>
          </a:p>
          <a:p>
            <a:r>
              <a:rPr lang="en-IN" dirty="0"/>
              <a:t>This project was conducted under </a:t>
            </a:r>
            <a:r>
              <a:rPr lang="en-IN" b="1" dirty="0"/>
              <a:t>individual supervision</a:t>
            </a:r>
            <a:r>
              <a:rPr lang="en-IN" dirty="0"/>
              <a:t>, with collaborative guidance from mentors at DRDL. The intern (author) was responsible for </a:t>
            </a:r>
            <a:r>
              <a:rPr lang="en-IN" b="1" dirty="0"/>
              <a:t>end-to-end system development</a:t>
            </a:r>
            <a:r>
              <a:rPr lang="en-IN" dirty="0"/>
              <a:t>, including model integration, </a:t>
            </a:r>
            <a:r>
              <a:rPr lang="en-IN" dirty="0" err="1"/>
              <a:t>Streamlit</a:t>
            </a:r>
            <a:r>
              <a:rPr lang="en-IN" dirty="0"/>
              <a:t> UI design, face recognition setup, and documentation</a:t>
            </a:r>
          </a:p>
        </p:txBody>
      </p:sp>
    </p:spTree>
    <p:extLst>
      <p:ext uri="{BB962C8B-B14F-4D97-AF65-F5344CB8AC3E}">
        <p14:creationId xmlns:p14="http://schemas.microsoft.com/office/powerpoint/2010/main" val="24181352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A2287A5-A8CF-829C-F796-45114C330417}"/>
              </a:ext>
            </a:extLst>
          </p:cNvPr>
          <p:cNvPicPr>
            <a:picLocks noGrp="1" noChangeAspect="1"/>
          </p:cNvPicPr>
          <p:nvPr>
            <p:ph idx="1"/>
          </p:nvPr>
        </p:nvPicPr>
        <p:blipFill>
          <a:blip r:embed="rId2"/>
          <a:stretch>
            <a:fillRect/>
          </a:stretch>
        </p:blipFill>
        <p:spPr>
          <a:xfrm>
            <a:off x="4207374" y="1846263"/>
            <a:ext cx="3837578" cy="4022725"/>
          </a:xfrm>
        </p:spPr>
      </p:pic>
    </p:spTree>
    <p:extLst>
      <p:ext uri="{BB962C8B-B14F-4D97-AF65-F5344CB8AC3E}">
        <p14:creationId xmlns:p14="http://schemas.microsoft.com/office/powerpoint/2010/main" val="21606623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E21596-3E79-06CD-D687-B91A9DDA34E2}"/>
              </a:ext>
            </a:extLst>
          </p:cNvPr>
          <p:cNvSpPr>
            <a:spLocks noGrp="1"/>
          </p:cNvSpPr>
          <p:nvPr>
            <p:ph type="title"/>
          </p:nvPr>
        </p:nvSpPr>
        <p:spPr/>
        <p:txBody>
          <a:bodyPr/>
          <a:lstStyle/>
          <a:p>
            <a:r>
              <a:rPr lang="en-US" dirty="0" err="1"/>
              <a:t>Challengens</a:t>
            </a:r>
            <a:r>
              <a:rPr lang="en-US" dirty="0"/>
              <a:t> and Solutions</a:t>
            </a:r>
            <a:endParaRPr lang="en-IN" dirty="0"/>
          </a:p>
        </p:txBody>
      </p:sp>
      <p:sp>
        <p:nvSpPr>
          <p:cNvPr id="3" name="Content Placeholder 2">
            <a:extLst>
              <a:ext uri="{FF2B5EF4-FFF2-40B4-BE49-F238E27FC236}">
                <a16:creationId xmlns:a16="http://schemas.microsoft.com/office/drawing/2014/main" id="{547DDC91-1F9A-352B-AA84-98F5F1191511}"/>
              </a:ext>
            </a:extLst>
          </p:cNvPr>
          <p:cNvSpPr>
            <a:spLocks noGrp="1"/>
          </p:cNvSpPr>
          <p:nvPr>
            <p:ph idx="1"/>
          </p:nvPr>
        </p:nvSpPr>
        <p:spPr/>
        <p:txBody>
          <a:bodyPr>
            <a:normAutofit fontScale="77500" lnSpcReduction="20000"/>
          </a:bodyPr>
          <a:lstStyle/>
          <a:p>
            <a:r>
              <a:rPr lang="en-US" b="1" dirty="0"/>
              <a:t>1. Limited Availability of Mental Health Datasets</a:t>
            </a:r>
          </a:p>
          <a:p>
            <a:r>
              <a:rPr lang="en-US" dirty="0"/>
              <a:t>Mental health data is confidential and difficult to access due to ethical restrictions.</a:t>
            </a:r>
          </a:p>
          <a:p>
            <a:r>
              <a:rPr lang="en-US" dirty="0"/>
              <a:t>Used anonymized public datasets from </a:t>
            </a:r>
            <a:r>
              <a:rPr lang="en-US" b="1" dirty="0"/>
              <a:t>Kaggle</a:t>
            </a:r>
            <a:r>
              <a:rPr lang="en-US" dirty="0"/>
              <a:t> and </a:t>
            </a:r>
            <a:r>
              <a:rPr lang="en-US" b="1" dirty="0"/>
              <a:t>UCI</a:t>
            </a:r>
            <a:r>
              <a:rPr lang="en-US" dirty="0"/>
              <a:t> to maintain privacy.</a:t>
            </a:r>
          </a:p>
          <a:p>
            <a:r>
              <a:rPr lang="en-US" dirty="0"/>
              <a:t>Applied </a:t>
            </a:r>
            <a:r>
              <a:rPr lang="en-US" b="1" dirty="0"/>
              <a:t>data augmentation</a:t>
            </a:r>
            <a:r>
              <a:rPr lang="en-US" dirty="0"/>
              <a:t>, </a:t>
            </a:r>
            <a:r>
              <a:rPr lang="en-US" b="1" dirty="0"/>
              <a:t>transfer learning</a:t>
            </a:r>
            <a:r>
              <a:rPr lang="en-US" dirty="0"/>
              <a:t>, and </a:t>
            </a:r>
            <a:r>
              <a:rPr lang="en-US" b="1" dirty="0"/>
              <a:t>synthetic data generation</a:t>
            </a:r>
            <a:r>
              <a:rPr lang="en-US" dirty="0"/>
              <a:t> to increase dataset size and diversity.</a:t>
            </a:r>
          </a:p>
          <a:p>
            <a:r>
              <a:rPr lang="en-US" dirty="0"/>
              <a:t>Ensured full compliance with ethical and privacy standards.</a:t>
            </a:r>
          </a:p>
          <a:p>
            <a:br>
              <a:rPr lang="en-US" dirty="0"/>
            </a:br>
            <a:endParaRPr lang="en-US" dirty="0"/>
          </a:p>
          <a:p>
            <a:r>
              <a:rPr lang="en-US" b="1" dirty="0"/>
              <a:t>2. Handling Multimodal Data (Text, Facial Expressions, Behavioral Signals)</a:t>
            </a:r>
          </a:p>
          <a:p>
            <a:r>
              <a:rPr lang="en-US" dirty="0"/>
              <a:t>Integrating different modalities such as text, facial cues, and behavioral responses was complex.</a:t>
            </a:r>
          </a:p>
          <a:p>
            <a:r>
              <a:rPr lang="en-US" dirty="0"/>
              <a:t>Designed </a:t>
            </a:r>
            <a:r>
              <a:rPr lang="en-US" b="1" dirty="0"/>
              <a:t>preprocessing pipelines</a:t>
            </a:r>
            <a:r>
              <a:rPr lang="en-US" dirty="0"/>
              <a:t> using Python, Pandas, NumPy, and TensorFlow.</a:t>
            </a:r>
          </a:p>
          <a:p>
            <a:r>
              <a:rPr lang="en-US" dirty="0"/>
              <a:t>Implemented </a:t>
            </a:r>
            <a:r>
              <a:rPr lang="en-US" b="1" dirty="0"/>
              <a:t>feature fusion techniques</a:t>
            </a:r>
            <a:r>
              <a:rPr lang="en-US" dirty="0"/>
              <a:t> to combine NLP and computer vision outputs effectively.</a:t>
            </a:r>
          </a:p>
          <a:p>
            <a:r>
              <a:rPr lang="en-US" dirty="0"/>
              <a:t>Ensured synchronized data flow for accurate model training</a:t>
            </a:r>
          </a:p>
          <a:p>
            <a:pPr marL="0" indent="0">
              <a:buNone/>
            </a:pPr>
            <a:endParaRPr lang="en-IN" dirty="0"/>
          </a:p>
        </p:txBody>
      </p:sp>
    </p:spTree>
    <p:extLst>
      <p:ext uri="{BB962C8B-B14F-4D97-AF65-F5344CB8AC3E}">
        <p14:creationId xmlns:p14="http://schemas.microsoft.com/office/powerpoint/2010/main" val="8351744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61C5665-C346-9445-5D65-48E7F4221DF7}"/>
              </a:ext>
            </a:extLst>
          </p:cNvPr>
          <p:cNvSpPr>
            <a:spLocks noGrp="1"/>
          </p:cNvSpPr>
          <p:nvPr>
            <p:ph idx="1"/>
          </p:nvPr>
        </p:nvSpPr>
        <p:spPr/>
        <p:txBody>
          <a:bodyPr>
            <a:normAutofit fontScale="25000" lnSpcReduction="20000"/>
          </a:bodyPr>
          <a:lstStyle/>
          <a:p>
            <a:r>
              <a:rPr lang="en-US" sz="7200" b="1" dirty="0"/>
              <a:t>3. Overfitting Due to Limited Data</a:t>
            </a:r>
          </a:p>
          <a:p>
            <a:r>
              <a:rPr lang="en-US" sz="7200" dirty="0"/>
              <a:t>High dimensionality and small dataset size caused overfitting during training.</a:t>
            </a:r>
          </a:p>
          <a:p>
            <a:r>
              <a:rPr lang="en-US" sz="7200" dirty="0"/>
              <a:t>Applied </a:t>
            </a:r>
            <a:r>
              <a:rPr lang="en-US" sz="7200" b="1" dirty="0"/>
              <a:t>regularization</a:t>
            </a:r>
            <a:r>
              <a:rPr lang="en-US" sz="7200" dirty="0"/>
              <a:t>, </a:t>
            </a:r>
            <a:r>
              <a:rPr lang="en-US" sz="7200" b="1" dirty="0"/>
              <a:t>dropout</a:t>
            </a:r>
            <a:r>
              <a:rPr lang="en-US" sz="7200" dirty="0"/>
              <a:t>, and </a:t>
            </a:r>
            <a:r>
              <a:rPr lang="en-US" sz="7200" b="1" dirty="0"/>
              <a:t>early stopping</a:t>
            </a:r>
            <a:r>
              <a:rPr lang="en-US" sz="7200" dirty="0"/>
              <a:t> to stabilize training.</a:t>
            </a:r>
          </a:p>
          <a:p>
            <a:r>
              <a:rPr lang="en-US" sz="7200" dirty="0"/>
              <a:t>Used </a:t>
            </a:r>
            <a:r>
              <a:rPr lang="en-US" sz="7200" b="1" dirty="0"/>
              <a:t>cross-validation</a:t>
            </a:r>
            <a:r>
              <a:rPr lang="en-US" sz="7200" dirty="0"/>
              <a:t> and </a:t>
            </a:r>
            <a:r>
              <a:rPr lang="en-US" sz="7200" b="1" dirty="0"/>
              <a:t>hyperparameter tuning</a:t>
            </a:r>
            <a:r>
              <a:rPr lang="en-US" sz="7200" dirty="0"/>
              <a:t> to improve generalization.</a:t>
            </a:r>
          </a:p>
          <a:p>
            <a:r>
              <a:rPr lang="en-US" sz="7200" dirty="0"/>
              <a:t>Achieved a more robust and reliable model.</a:t>
            </a:r>
          </a:p>
          <a:p>
            <a:r>
              <a:rPr lang="en-US" sz="7200" b="1" dirty="0"/>
              <a:t>4. Challenges in Accurate Emotion Recognition</a:t>
            </a:r>
          </a:p>
          <a:p>
            <a:r>
              <a:rPr lang="en-US" sz="7200" dirty="0"/>
              <a:t>Subtle facial expressions and sentiment variations caused inconsistent predictions.</a:t>
            </a:r>
          </a:p>
          <a:p>
            <a:r>
              <a:rPr lang="en-US" sz="7200" dirty="0"/>
              <a:t>Built a </a:t>
            </a:r>
            <a:r>
              <a:rPr lang="en-US" sz="7200" b="1" dirty="0"/>
              <a:t>multimodal emotion recognition pipeline</a:t>
            </a:r>
            <a:r>
              <a:rPr lang="en-US" sz="7200" dirty="0"/>
              <a:t> combining:</a:t>
            </a:r>
          </a:p>
          <a:p>
            <a:pPr lvl="1"/>
            <a:r>
              <a:rPr lang="en-US" sz="7200" b="1" dirty="0"/>
              <a:t>Facial Emotion Recognition (FER)</a:t>
            </a:r>
            <a:r>
              <a:rPr lang="en-US" sz="7200" dirty="0"/>
              <a:t> using OpenCV for face detection and alignment</a:t>
            </a:r>
          </a:p>
          <a:p>
            <a:pPr lvl="1"/>
            <a:r>
              <a:rPr lang="en-US" sz="7200" b="1" dirty="0"/>
              <a:t>Text Sentiment Analysis</a:t>
            </a:r>
            <a:r>
              <a:rPr lang="en-US" sz="7200" dirty="0"/>
              <a:t> using Hugging Face Transformers</a:t>
            </a:r>
          </a:p>
          <a:p>
            <a:r>
              <a:rPr lang="en-US" sz="7200" dirty="0"/>
              <a:t>Implemented </a:t>
            </a:r>
            <a:r>
              <a:rPr lang="en-US" sz="7200" b="1" dirty="0"/>
              <a:t>ensemble learning</a:t>
            </a:r>
            <a:r>
              <a:rPr lang="en-US" sz="7200" dirty="0"/>
              <a:t> to merge predictions from multiple models.</a:t>
            </a:r>
          </a:p>
          <a:p>
            <a:endParaRPr lang="en-IN" dirty="0"/>
          </a:p>
        </p:txBody>
      </p:sp>
    </p:spTree>
    <p:extLst>
      <p:ext uri="{BB962C8B-B14F-4D97-AF65-F5344CB8AC3E}">
        <p14:creationId xmlns:p14="http://schemas.microsoft.com/office/powerpoint/2010/main" val="33299885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CD5F2ED-C598-1522-728C-E240F93D0ADB}"/>
              </a:ext>
            </a:extLst>
          </p:cNvPr>
          <p:cNvSpPr>
            <a:spLocks noGrp="1"/>
          </p:cNvSpPr>
          <p:nvPr>
            <p:ph idx="1"/>
          </p:nvPr>
        </p:nvSpPr>
        <p:spPr/>
        <p:txBody>
          <a:bodyPr>
            <a:normAutofit fontScale="77500" lnSpcReduction="20000"/>
          </a:bodyPr>
          <a:lstStyle/>
          <a:p>
            <a:r>
              <a:rPr lang="en-US" b="1" dirty="0"/>
              <a:t>5. Ethical &amp; Privacy Concerns</a:t>
            </a:r>
          </a:p>
          <a:p>
            <a:r>
              <a:rPr lang="en-US" dirty="0"/>
              <a:t>Mental health data required strict confidentiality and ethical compliance.</a:t>
            </a:r>
          </a:p>
          <a:p>
            <a:r>
              <a:rPr lang="en-US" dirty="0"/>
              <a:t>Used only </a:t>
            </a:r>
            <a:r>
              <a:rPr lang="en-US" b="1" dirty="0"/>
              <a:t>de-identified</a:t>
            </a:r>
            <a:r>
              <a:rPr lang="en-US" dirty="0"/>
              <a:t> and </a:t>
            </a:r>
            <a:r>
              <a:rPr lang="en-US" b="1" dirty="0"/>
              <a:t>anonymized</a:t>
            </a:r>
            <a:r>
              <a:rPr lang="en-US" dirty="0"/>
              <a:t> datasets.</a:t>
            </a:r>
          </a:p>
          <a:p>
            <a:r>
              <a:rPr lang="en-US" dirty="0"/>
              <a:t>Followed </a:t>
            </a:r>
            <a:r>
              <a:rPr lang="en-US" b="1" dirty="0"/>
              <a:t>DRDL guidelines</a:t>
            </a:r>
            <a:r>
              <a:rPr lang="en-US" dirty="0"/>
              <a:t>, </a:t>
            </a:r>
            <a:r>
              <a:rPr lang="en-US" b="1" dirty="0"/>
              <a:t>WHO standards</a:t>
            </a:r>
            <a:r>
              <a:rPr lang="en-US" dirty="0"/>
              <a:t>, and </a:t>
            </a:r>
            <a:r>
              <a:rPr lang="en-US" b="1" dirty="0"/>
              <a:t>APA ethical practices</a:t>
            </a:r>
            <a:r>
              <a:rPr lang="en-US" dirty="0"/>
              <a:t>.</a:t>
            </a:r>
          </a:p>
          <a:p>
            <a:r>
              <a:rPr lang="en-US" dirty="0"/>
              <a:t>Maintained responsible handling of sensitive psychological information.</a:t>
            </a:r>
          </a:p>
          <a:p>
            <a:br>
              <a:rPr lang="en-US" dirty="0"/>
            </a:br>
            <a:endParaRPr lang="en-US" dirty="0"/>
          </a:p>
          <a:p>
            <a:r>
              <a:rPr lang="en-US" b="1" dirty="0"/>
              <a:t>6. Balancing Technical AI with Psychological Understanding</a:t>
            </a:r>
          </a:p>
          <a:p>
            <a:r>
              <a:rPr lang="en-US" dirty="0"/>
              <a:t>Needed to align AI outputs with mental health frameworks and psychological theories.</a:t>
            </a:r>
          </a:p>
          <a:p>
            <a:r>
              <a:rPr lang="en-US" dirty="0"/>
              <a:t>Performed thorough </a:t>
            </a:r>
            <a:r>
              <a:rPr lang="en-US" b="1" dirty="0"/>
              <a:t>literature reviews</a:t>
            </a:r>
            <a:r>
              <a:rPr lang="en-US" dirty="0"/>
              <a:t> on mental health indicators and assessment models.</a:t>
            </a:r>
          </a:p>
          <a:p>
            <a:r>
              <a:rPr lang="en-US" dirty="0"/>
              <a:t>Consulted mentors from </a:t>
            </a:r>
            <a:r>
              <a:rPr lang="en-US" b="1" dirty="0"/>
              <a:t>AI</a:t>
            </a:r>
            <a:r>
              <a:rPr lang="en-US" dirty="0"/>
              <a:t>, </a:t>
            </a:r>
            <a:r>
              <a:rPr lang="en-US" b="1" dirty="0"/>
              <a:t>behavioral science</a:t>
            </a:r>
            <a:r>
              <a:rPr lang="en-US" dirty="0"/>
              <a:t>, and </a:t>
            </a:r>
            <a:r>
              <a:rPr lang="en-US" b="1" dirty="0"/>
              <a:t>psychology</a:t>
            </a:r>
            <a:r>
              <a:rPr lang="en-US" dirty="0"/>
              <a:t> backgrounds.</a:t>
            </a:r>
          </a:p>
          <a:p>
            <a:r>
              <a:rPr lang="en-US" dirty="0"/>
              <a:t>Ensured model predictions were meaningful and clinically relevant.</a:t>
            </a:r>
          </a:p>
          <a:p>
            <a:endParaRPr lang="en-IN" dirty="0"/>
          </a:p>
        </p:txBody>
      </p:sp>
    </p:spTree>
    <p:extLst>
      <p:ext uri="{BB962C8B-B14F-4D97-AF65-F5344CB8AC3E}">
        <p14:creationId xmlns:p14="http://schemas.microsoft.com/office/powerpoint/2010/main" val="2449121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997B3C-F0B8-E46D-B626-275931C889E0}"/>
              </a:ext>
            </a:extLst>
          </p:cNvPr>
          <p:cNvSpPr>
            <a:spLocks noGrp="1"/>
          </p:cNvSpPr>
          <p:nvPr>
            <p:ph type="title"/>
          </p:nvPr>
        </p:nvSpPr>
        <p:spPr/>
        <p:txBody>
          <a:bodyPr/>
          <a:lstStyle/>
          <a:p>
            <a:r>
              <a:rPr lang="en-US" dirty="0"/>
              <a:t>Conclusion and Future Scope</a:t>
            </a:r>
            <a:endParaRPr lang="en-IN" dirty="0"/>
          </a:p>
        </p:txBody>
      </p:sp>
      <p:sp>
        <p:nvSpPr>
          <p:cNvPr id="3" name="Content Placeholder 2">
            <a:extLst>
              <a:ext uri="{FF2B5EF4-FFF2-40B4-BE49-F238E27FC236}">
                <a16:creationId xmlns:a16="http://schemas.microsoft.com/office/drawing/2014/main" id="{4D19F2BD-71AB-887C-4222-D3EE0906E488}"/>
              </a:ext>
            </a:extLst>
          </p:cNvPr>
          <p:cNvSpPr>
            <a:spLocks noGrp="1"/>
          </p:cNvSpPr>
          <p:nvPr>
            <p:ph idx="1"/>
          </p:nvPr>
        </p:nvSpPr>
        <p:spPr/>
        <p:txBody>
          <a:bodyPr>
            <a:normAutofit fontScale="92500" lnSpcReduction="20000"/>
          </a:bodyPr>
          <a:lstStyle/>
          <a:p>
            <a:r>
              <a:rPr lang="en-US" dirty="0"/>
              <a:t>Conclusion:</a:t>
            </a:r>
          </a:p>
          <a:p>
            <a:r>
              <a:rPr lang="en-IN" dirty="0"/>
              <a:t> The Mental health assessment with AI successfully integrates face recognition, Query response interaction, and machine learning-based mental health assessment into a single, user-friendly platform. The system offers a secure and personalized experience by enabling face-based registration and login, eliminating the need for passwords while ensuring identity verification. Through a conversational interface powered by a mental health dataset, the query Response collects user responses and assesses psychological well-being. The incorporation of machine learning models allows for accurate prediction of mental health conditions such as depression, anxiety, and stress. Users are then presented with Result about their mental health. The application not only empowers users to monitor their mental health regularly but also promotes early detection and </a:t>
            </a:r>
            <a:r>
              <a:rPr lang="en-IN" dirty="0" err="1"/>
              <a:t>selfawareness</a:t>
            </a:r>
            <a:r>
              <a:rPr lang="en-IN" dirty="0"/>
              <a:t>. It serves as a bridge between technology and mental health support, offering a valuable resource to students, employees, and individuals in need of emotional guidance. Overall, Mental health assessment with AI demonstrates how AI can be used responsibly and effectively to address a critical societal issue — mental health. Future enhancements, such as integration with professional support networks and real-time emotion detection, can further expand the app’s impact and accessibility.   </a:t>
            </a:r>
          </a:p>
          <a:p>
            <a:r>
              <a:rPr lang="en-IN" b="1" dirty="0"/>
              <a:t> </a:t>
            </a:r>
            <a:r>
              <a:rPr lang="en-IN" dirty="0"/>
              <a:t> </a:t>
            </a:r>
          </a:p>
        </p:txBody>
      </p:sp>
    </p:spTree>
    <p:extLst>
      <p:ext uri="{BB962C8B-B14F-4D97-AF65-F5344CB8AC3E}">
        <p14:creationId xmlns:p14="http://schemas.microsoft.com/office/powerpoint/2010/main" val="14759732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26949E-6F5F-A1A4-D920-E9CE3840C2D8}"/>
              </a:ext>
            </a:extLst>
          </p:cNvPr>
          <p:cNvSpPr>
            <a:spLocks noGrp="1"/>
          </p:cNvSpPr>
          <p:nvPr>
            <p:ph type="title"/>
          </p:nvPr>
        </p:nvSpPr>
        <p:spPr/>
        <p:txBody>
          <a:bodyPr/>
          <a:lstStyle/>
          <a:p>
            <a:r>
              <a:rPr lang="en-US" dirty="0"/>
              <a:t>Future Scope</a:t>
            </a:r>
            <a:endParaRPr lang="en-IN" dirty="0"/>
          </a:p>
        </p:txBody>
      </p:sp>
      <p:sp>
        <p:nvSpPr>
          <p:cNvPr id="3" name="Content Placeholder 2">
            <a:extLst>
              <a:ext uri="{FF2B5EF4-FFF2-40B4-BE49-F238E27FC236}">
                <a16:creationId xmlns:a16="http://schemas.microsoft.com/office/drawing/2014/main" id="{A8BD9199-8D05-D868-6AC4-D7A2ECC3B5A1}"/>
              </a:ext>
            </a:extLst>
          </p:cNvPr>
          <p:cNvSpPr>
            <a:spLocks noGrp="1"/>
          </p:cNvSpPr>
          <p:nvPr>
            <p:ph idx="1"/>
          </p:nvPr>
        </p:nvSpPr>
        <p:spPr/>
        <p:txBody>
          <a:bodyPr>
            <a:normAutofit fontScale="92500" lnSpcReduction="20000"/>
          </a:bodyPr>
          <a:lstStyle/>
          <a:p>
            <a:r>
              <a:rPr lang="en-US" dirty="0"/>
              <a:t>The future scope of mental health assessment with AI is highly promising, as advancements in machine learning, natural language processing, and wearable technologies are transforming how psychological well-being is monitored and evaluated. AI systems will increasingly support early detection of mental health conditions by analyzing speech patterns, facial expressions, physiological signals, and behavioral data, enabling timely interventions before symptoms worsen. Continuous and real-time monitoring using smartphones and wearables will allow dynamic assessments instead of one-time clinical evaluations, improving accuracy and personalization. AI-driven models are also expected to create highly individualized mental-health profiles, predicting risks and recommending tailored assessments or treatment pathways. In clinical settings, AI will act as a decision-support tool for psychologists and psychiatrists, helping them interpret complex data, improve diagnostic precision, and reduce workload. Additionally, AI-powered chatbots and digital platforms will play a major role in providing accessible, low-cost screening in rural and underserved areas, bridging the gap where mental-health professionals are scarce. Future research will focus on explainable AI, privacy-preserving technologies, and hybrid human–AI collaboration to ensure trust, safety, and ethical use of sensitive mental health data. Overall, AI has the potential to create more proactive, personalized, and scalable mental health assessment systems, making mental-health care more efficient, equitable, and accessible worldwide.</a:t>
            </a:r>
            <a:endParaRPr lang="en-IN" dirty="0"/>
          </a:p>
        </p:txBody>
      </p:sp>
    </p:spTree>
    <p:extLst>
      <p:ext uri="{BB962C8B-B14F-4D97-AF65-F5344CB8AC3E}">
        <p14:creationId xmlns:p14="http://schemas.microsoft.com/office/powerpoint/2010/main" val="3355697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286603"/>
            <a:ext cx="10058400" cy="559431"/>
          </a:xfrm>
        </p:spPr>
        <p:txBody>
          <a:bodyPr>
            <a:normAutofit/>
          </a:bodyPr>
          <a:lstStyle/>
          <a:p>
            <a:r>
              <a:rPr lang="en-GB" sz="3600" b="1" dirty="0">
                <a:latin typeface="Times New Roman" panose="02020603050405020304" pitchFamily="18" charset="0"/>
                <a:cs typeface="Times New Roman" panose="02020603050405020304" pitchFamily="18" charset="0"/>
              </a:rPr>
              <a:t>References</a:t>
            </a:r>
            <a:endParaRPr lang="en-IN" sz="36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77500" lnSpcReduction="20000"/>
          </a:bodyPr>
          <a:lstStyle/>
          <a:p>
            <a:pPr lvl="0"/>
            <a:r>
              <a:rPr lang="en-IN" u="sng" dirty="0"/>
              <a:t>1.World Health Organization (WHO). (2023). Mental health: Strengthening our response. Retrieved from </a:t>
            </a:r>
            <a:r>
              <a:rPr lang="en-IN" u="sng" dirty="0">
                <a:hlinkClick r:id="rId2"/>
              </a:rPr>
              <a:t>https://www.who.int</a:t>
            </a:r>
            <a:endParaRPr lang="en-IN" dirty="0"/>
          </a:p>
          <a:p>
            <a:pPr lvl="0"/>
            <a:r>
              <a:rPr lang="en-IN" u="sng" dirty="0"/>
              <a:t>2.American Psychological Association. (2022). Artificial Intelligence in Mental Health: Opportunities and Challenges. APA Publications.</a:t>
            </a:r>
            <a:endParaRPr lang="en-IN" dirty="0"/>
          </a:p>
          <a:p>
            <a:pPr lvl="0"/>
            <a:r>
              <a:rPr lang="en-IN" u="sng" dirty="0"/>
              <a:t>3.Shatte, A. B. R., Hutchinson, D. M., &amp; Teague, S. J. (2019). Machine learning in mental health: A scoping review of methods and applications. Psychological Medicine, 49(9), 1426–1448.</a:t>
            </a:r>
            <a:br>
              <a:rPr lang="en-IN" u="sng" dirty="0"/>
            </a:br>
            <a:r>
              <a:rPr lang="en-IN" u="sng" dirty="0"/>
              <a:t>https://doi.org/10.1017/S0033291719000151</a:t>
            </a:r>
            <a:endParaRPr lang="en-IN" dirty="0"/>
          </a:p>
          <a:p>
            <a:pPr lvl="0"/>
            <a:r>
              <a:rPr lang="en-IN" u="sng" dirty="0"/>
              <a:t>4.Esteva, A., </a:t>
            </a:r>
            <a:r>
              <a:rPr lang="en-IN" u="sng" dirty="0" err="1"/>
              <a:t>Robicquet</a:t>
            </a:r>
            <a:r>
              <a:rPr lang="en-IN" u="sng" dirty="0"/>
              <a:t>, A., Ramsundar, B., et al. (2019). A guide to deep learning in healthcare. Nature Medicine, 25(1), 24–29.</a:t>
            </a:r>
            <a:br>
              <a:rPr lang="en-IN" u="sng" dirty="0"/>
            </a:br>
            <a:r>
              <a:rPr lang="en-IN" u="sng" dirty="0"/>
              <a:t>https://doi.org/10.1038/s41591-018-0316-z</a:t>
            </a:r>
            <a:endParaRPr lang="en-IN" dirty="0"/>
          </a:p>
          <a:p>
            <a:pPr lvl="0"/>
            <a:r>
              <a:rPr lang="en-IN" u="sng" dirty="0"/>
              <a:t>5.Inkster, B., Stillwell, D., Kosinski, M., &amp; Jones, P. B. (2016). Digital detection of depression (PREDICT): A pilot study. Journal of Affective Disorders, 232, 5–13.</a:t>
            </a:r>
            <a:br>
              <a:rPr lang="en-IN" u="sng" dirty="0"/>
            </a:br>
            <a:r>
              <a:rPr lang="en-IN" u="sng" dirty="0"/>
              <a:t>https://doi.org/10.1016/j.jad.2018.02.009</a:t>
            </a:r>
            <a:endParaRPr lang="en-IN" dirty="0"/>
          </a:p>
          <a:p>
            <a:pPr lvl="0"/>
            <a:r>
              <a:rPr lang="en-IN" u="sng" dirty="0"/>
              <a:t>6.Jacobson, N. C., Lekkas, D., Price, G., Heinz, M. V., Song, M., &amp; O'Malley, A. J. (2020). Flattening the mental health curve: COVID-19 stay-at-home orders are associated with alterations in mental health search </a:t>
            </a:r>
            <a:r>
              <a:rPr lang="en-IN" u="sng" dirty="0" err="1"/>
              <a:t>behavior</a:t>
            </a:r>
            <a:r>
              <a:rPr lang="en-IN" u="sng" dirty="0"/>
              <a:t> in the United States. JMIR Mental Health, 7(6), e19347.</a:t>
            </a:r>
            <a:br>
              <a:rPr lang="en-IN" u="sng" dirty="0"/>
            </a:br>
            <a:r>
              <a:rPr lang="en-IN" u="sng" dirty="0"/>
              <a:t>https://doi.org/10.2196/19347</a:t>
            </a:r>
            <a:endParaRPr lang="en-IN" dirty="0"/>
          </a:p>
          <a:p>
            <a:pPr marL="457200" indent="-457200">
              <a:buFont typeface="+mj-lt"/>
              <a:buAutoNum type="arabicPeriod"/>
            </a:pPr>
            <a:endParaRPr lang="en-IN" dirty="0"/>
          </a:p>
        </p:txBody>
      </p:sp>
    </p:spTree>
    <p:extLst>
      <p:ext uri="{BB962C8B-B14F-4D97-AF65-F5344CB8AC3E}">
        <p14:creationId xmlns:p14="http://schemas.microsoft.com/office/powerpoint/2010/main" val="22687872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24230B-E150-BE07-3AC8-E4238B7FC5D8}"/>
              </a:ext>
            </a:extLst>
          </p:cNvPr>
          <p:cNvSpPr>
            <a:spLocks noGrp="1"/>
          </p:cNvSpPr>
          <p:nvPr>
            <p:ph type="title"/>
          </p:nvPr>
        </p:nvSpPr>
        <p:spPr/>
        <p:txBody>
          <a:bodyPr/>
          <a:lstStyle/>
          <a:p>
            <a:r>
              <a:rPr lang="en-IN" dirty="0" err="1"/>
              <a:t>Intership</a:t>
            </a:r>
            <a:r>
              <a:rPr lang="en-IN" dirty="0"/>
              <a:t> completion certificate</a:t>
            </a:r>
          </a:p>
        </p:txBody>
      </p:sp>
      <p:pic>
        <p:nvPicPr>
          <p:cNvPr id="5" name="Content Placeholder 4">
            <a:extLst>
              <a:ext uri="{FF2B5EF4-FFF2-40B4-BE49-F238E27FC236}">
                <a16:creationId xmlns:a16="http://schemas.microsoft.com/office/drawing/2014/main" id="{FBA62B6E-3814-6E46-7D08-1F2104891372}"/>
              </a:ext>
            </a:extLst>
          </p:cNvPr>
          <p:cNvPicPr>
            <a:picLocks noGrp="1" noChangeAspect="1"/>
          </p:cNvPicPr>
          <p:nvPr>
            <p:ph idx="1"/>
          </p:nvPr>
        </p:nvPicPr>
        <p:blipFill>
          <a:blip r:embed="rId2"/>
          <a:stretch>
            <a:fillRect/>
          </a:stretch>
        </p:blipFill>
        <p:spPr>
          <a:xfrm>
            <a:off x="3949908" y="1787519"/>
            <a:ext cx="3417758" cy="4081470"/>
          </a:xfrm>
        </p:spPr>
      </p:pic>
    </p:spTree>
    <p:extLst>
      <p:ext uri="{BB962C8B-B14F-4D97-AF65-F5344CB8AC3E}">
        <p14:creationId xmlns:p14="http://schemas.microsoft.com/office/powerpoint/2010/main" val="3103075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AB35B9-3E9E-1FF1-56C1-84A61D475198}"/>
              </a:ext>
            </a:extLst>
          </p:cNvPr>
          <p:cNvSpPr>
            <a:spLocks noGrp="1"/>
          </p:cNvSpPr>
          <p:nvPr>
            <p:ph type="title"/>
          </p:nvPr>
        </p:nvSpPr>
        <p:spPr>
          <a:xfrm>
            <a:off x="3946849" y="251927"/>
            <a:ext cx="12396652" cy="3107094"/>
          </a:xfrm>
        </p:spPr>
        <p:txBody>
          <a:bodyPr/>
          <a:lstStyle/>
          <a:p>
            <a:r>
              <a:rPr lang="en-IN" dirty="0"/>
              <a:t>Thank you </a:t>
            </a:r>
          </a:p>
        </p:txBody>
      </p:sp>
    </p:spTree>
    <p:extLst>
      <p:ext uri="{BB962C8B-B14F-4D97-AF65-F5344CB8AC3E}">
        <p14:creationId xmlns:p14="http://schemas.microsoft.com/office/powerpoint/2010/main" val="3560663870"/>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127</TotalTime>
  <Words>3400</Words>
  <Application>Microsoft Office PowerPoint</Application>
  <PresentationFormat>Widescreen</PresentationFormat>
  <Paragraphs>225</Paragraphs>
  <Slides>28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Arial</vt:lpstr>
      <vt:lpstr>Calibri</vt:lpstr>
      <vt:lpstr>Calibri Light</vt:lpstr>
      <vt:lpstr>Times New Roman</vt:lpstr>
      <vt:lpstr>Wingdings</vt:lpstr>
      <vt:lpstr>Retrospect</vt:lpstr>
      <vt:lpstr>STANLEY COLLEGE OF ENGINEERING AND TECHNOLGY FOR WOMEN (AUTONOMOUS) Abids. Hyderabad – 500 001</vt:lpstr>
      <vt:lpstr>Contents</vt:lpstr>
      <vt:lpstr>PowerPoint Presentation</vt:lpstr>
      <vt:lpstr>Review – I Suggestions</vt:lpstr>
      <vt:lpstr>Abstract</vt:lpstr>
      <vt:lpstr>Introduction</vt:lpstr>
      <vt:lpstr>About the Project </vt:lpstr>
      <vt:lpstr>Objectives of the Project </vt:lpstr>
      <vt:lpstr>Problem Statement </vt:lpstr>
      <vt:lpstr>Literature Survey</vt:lpstr>
      <vt:lpstr>Literature Survey</vt:lpstr>
      <vt:lpstr>Literature Survey</vt:lpstr>
      <vt:lpstr>Literature Survey</vt:lpstr>
      <vt:lpstr>Literature Survey</vt:lpstr>
      <vt:lpstr>Literature Survey</vt:lpstr>
      <vt:lpstr>Planning and Designing of work</vt:lpstr>
      <vt:lpstr>PowerPoint Presentation</vt:lpstr>
      <vt:lpstr>PowerPoint Presentation</vt:lpstr>
      <vt:lpstr>PowerPoint Presentation</vt:lpstr>
      <vt:lpstr>PowerPoint Presentation</vt:lpstr>
      <vt:lpstr>Challengens and Solutions</vt:lpstr>
      <vt:lpstr>PowerPoint Presentation</vt:lpstr>
      <vt:lpstr>PowerPoint Presentation</vt:lpstr>
      <vt:lpstr>Conclusion and Future Scope</vt:lpstr>
      <vt:lpstr>Future Scope</vt:lpstr>
      <vt:lpstr>References</vt:lpstr>
      <vt:lpstr>Intership completion certificate</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STANLEY COLLEGE OF ENGINEERING AND TECHNOLGY FOR WOMEN (AUTONOMOUS) , Abids. Hyderabad – 500 001</dc:title>
  <dc:creator>Microsoft account</dc:creator>
  <cp:lastModifiedBy>AAKANKSHA LAXMI</cp:lastModifiedBy>
  <cp:revision>8</cp:revision>
  <dcterms:created xsi:type="dcterms:W3CDTF">2025-11-09T15:30:20Z</dcterms:created>
  <dcterms:modified xsi:type="dcterms:W3CDTF">2025-11-15T04:15:05Z</dcterms:modified>
</cp:coreProperties>
</file>