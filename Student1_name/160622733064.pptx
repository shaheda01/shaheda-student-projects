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8" r:id="rId1"/>
  </p:sldMasterIdLst>
  <p:sldIdLst>
    <p:sldId id="257" r:id="rId2"/>
    <p:sldId id="278" r:id="rId3"/>
    <p:sldId id="260" r:id="rId4"/>
    <p:sldId id="261" r:id="rId5"/>
    <p:sldId id="262" r:id="rId6"/>
    <p:sldId id="263" r:id="rId7"/>
    <p:sldId id="277" r:id="rId8"/>
    <p:sldId id="279" r:id="rId9"/>
    <p:sldId id="280" r:id="rId10"/>
    <p:sldId id="281" r:id="rId11"/>
    <p:sldId id="282" r:id="rId12"/>
    <p:sldId id="283" r:id="rId13"/>
    <p:sldId id="285" r:id="rId14"/>
    <p:sldId id="287" r:id="rId15"/>
    <p:sldId id="288" r:id="rId16"/>
    <p:sldId id="291" r:id="rId17"/>
    <p:sldId id="292" r:id="rId18"/>
    <p:sldId id="274" r:id="rId19"/>
    <p:sldId id="276"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93D68B-BAEC-4064-A437-0E574A560567}" v="175" dt="2025-11-14T11:32:42.9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5250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43102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4744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925389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1331077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737630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799430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509A250-FF31-4206-8172-F9D3106AACB1}" type="datetimeFigureOut">
              <a:rPr lang="en-US" smtClean="0"/>
              <a:t>11/15/2025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1962423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346718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019889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623672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509A250-FF31-4206-8172-F9D3106AACB1}" type="datetimeFigureOut">
              <a:rPr lang="en-US" smtClean="0"/>
              <a:t>11/15/2025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57F1E4F-1CFF-5643-939E-02111984F565}" type="slidenum">
              <a:rPr lang="en-US" smtClean="0"/>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5067445"/>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01699" y="258254"/>
            <a:ext cx="9968230" cy="654685"/>
          </a:xfrm>
          <a:prstGeom prst="rect">
            <a:avLst/>
          </a:prstGeom>
        </p:spPr>
        <p:txBody>
          <a:bodyPr vert="horz" wrap="square" lIns="0" tIns="52705" rIns="0" bIns="0" rtlCol="0">
            <a:spAutoFit/>
          </a:bodyPr>
          <a:lstStyle/>
          <a:p>
            <a:pPr algn="ctr">
              <a:lnSpc>
                <a:spcPct val="100000"/>
              </a:lnSpc>
              <a:spcBef>
                <a:spcPts val="415"/>
              </a:spcBef>
            </a:pPr>
            <a:r>
              <a:rPr sz="1800" b="1" spc="-20" dirty="0">
                <a:latin typeface="Times New Roman" panose="02020603050405020304" pitchFamily="18" charset="0"/>
                <a:cs typeface="Times New Roman" panose="02020603050405020304" pitchFamily="18" charset="0"/>
              </a:rPr>
              <a:t>STANLEY</a:t>
            </a:r>
            <a:r>
              <a:rPr sz="1800" b="1" spc="-4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COLLEGE</a:t>
            </a:r>
            <a:r>
              <a:rPr sz="1800" b="1" spc="-15"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OF</a:t>
            </a:r>
            <a:r>
              <a:rPr sz="1800" b="1" spc="-65" dirty="0">
                <a:latin typeface="Times New Roman" panose="02020603050405020304" pitchFamily="18" charset="0"/>
                <a:cs typeface="Times New Roman" panose="02020603050405020304" pitchFamily="18" charset="0"/>
              </a:rPr>
              <a:t> </a:t>
            </a:r>
            <a:r>
              <a:rPr sz="1800" b="1" spc="-10" dirty="0">
                <a:latin typeface="Times New Roman" panose="02020603050405020304" pitchFamily="18" charset="0"/>
                <a:cs typeface="Times New Roman" panose="02020603050405020304" pitchFamily="18" charset="0"/>
              </a:rPr>
              <a:t>ENGINEERING</a:t>
            </a:r>
            <a:r>
              <a:rPr sz="1800" b="1" spc="-6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AND</a:t>
            </a:r>
            <a:r>
              <a:rPr sz="1800" b="1" spc="-4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TECHNOLGY</a:t>
            </a:r>
            <a:r>
              <a:rPr sz="1800" b="1" spc="-11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FOR</a:t>
            </a:r>
            <a:r>
              <a:rPr sz="1800" b="1" spc="-4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WOMEN</a:t>
            </a:r>
            <a:r>
              <a:rPr sz="1800" b="1" spc="-4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(AUTONOMOUS)</a:t>
            </a:r>
          </a:p>
          <a:p>
            <a:pPr algn="ctr">
              <a:lnSpc>
                <a:spcPct val="100000"/>
              </a:lnSpc>
              <a:spcBef>
                <a:spcPts val="315"/>
              </a:spcBef>
            </a:pPr>
            <a:r>
              <a:rPr sz="1800" dirty="0">
                <a:latin typeface="Times New Roman" panose="02020603050405020304" pitchFamily="18" charset="0"/>
                <a:cs typeface="Times New Roman" panose="02020603050405020304" pitchFamily="18" charset="0"/>
              </a:rPr>
              <a:t>Abids.</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Hyderabad</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500</a:t>
            </a:r>
            <a:r>
              <a:rPr sz="1800" spc="-15"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001</a:t>
            </a:r>
            <a:endParaRPr sz="18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3886200" y="900747"/>
            <a:ext cx="5638800" cy="447558"/>
          </a:xfrm>
          <a:prstGeom prst="rect">
            <a:avLst/>
          </a:prstGeom>
        </p:spPr>
        <p:txBody>
          <a:bodyPr vert="horz" wrap="square" lIns="0" tIns="39370" rIns="0" bIns="0" rtlCol="0">
            <a:spAutoFit/>
          </a:bodyPr>
          <a:lstStyle/>
          <a:p>
            <a:pPr marL="7620" algn="ctr">
              <a:lnSpc>
                <a:spcPct val="100000"/>
              </a:lnSpc>
              <a:spcBef>
                <a:spcPts val="310"/>
              </a:spcBef>
            </a:pPr>
            <a:r>
              <a:rPr sz="1200" b="1" i="1" dirty="0">
                <a:latin typeface="Times New Roman" panose="02020603050405020304" pitchFamily="18" charset="0"/>
                <a:cs typeface="Times New Roman" panose="02020603050405020304" pitchFamily="18" charset="0"/>
              </a:rPr>
              <a:t>(Affiliated</a:t>
            </a:r>
            <a:r>
              <a:rPr sz="1200" b="1" i="1" spc="-40" dirty="0">
                <a:latin typeface="Times New Roman" panose="02020603050405020304" pitchFamily="18" charset="0"/>
                <a:cs typeface="Times New Roman" panose="02020603050405020304" pitchFamily="18" charset="0"/>
              </a:rPr>
              <a:t> </a:t>
            </a:r>
            <a:r>
              <a:rPr sz="1200" b="1" i="1" dirty="0">
                <a:latin typeface="Times New Roman" panose="02020603050405020304" pitchFamily="18" charset="0"/>
                <a:cs typeface="Times New Roman" panose="02020603050405020304" pitchFamily="18" charset="0"/>
              </a:rPr>
              <a:t>to</a:t>
            </a:r>
            <a:r>
              <a:rPr sz="1200" b="1" i="1" spc="35" dirty="0">
                <a:latin typeface="Times New Roman" panose="02020603050405020304" pitchFamily="18" charset="0"/>
                <a:cs typeface="Times New Roman" panose="02020603050405020304" pitchFamily="18" charset="0"/>
              </a:rPr>
              <a:t> </a:t>
            </a:r>
            <a:r>
              <a:rPr sz="1200" b="1" i="1" dirty="0">
                <a:latin typeface="Times New Roman" panose="02020603050405020304" pitchFamily="18" charset="0"/>
                <a:cs typeface="Times New Roman" panose="02020603050405020304" pitchFamily="18" charset="0"/>
              </a:rPr>
              <a:t>Osmania</a:t>
            </a:r>
            <a:r>
              <a:rPr sz="1200" b="1" i="1" spc="25" dirty="0">
                <a:latin typeface="Times New Roman" panose="02020603050405020304" pitchFamily="18" charset="0"/>
                <a:cs typeface="Times New Roman" panose="02020603050405020304" pitchFamily="18" charset="0"/>
              </a:rPr>
              <a:t> </a:t>
            </a:r>
            <a:r>
              <a:rPr sz="1200" b="1" i="1" spc="-10" dirty="0">
                <a:latin typeface="Times New Roman" panose="02020603050405020304" pitchFamily="18" charset="0"/>
                <a:cs typeface="Times New Roman" panose="02020603050405020304" pitchFamily="18" charset="0"/>
              </a:rPr>
              <a:t>University</a:t>
            </a:r>
            <a:r>
              <a:rPr sz="1200" b="1" i="1" spc="-50" dirty="0">
                <a:latin typeface="Times New Roman" panose="02020603050405020304" pitchFamily="18" charset="0"/>
                <a:cs typeface="Times New Roman" panose="02020603050405020304" pitchFamily="18" charset="0"/>
              </a:rPr>
              <a:t> </a:t>
            </a:r>
            <a:r>
              <a:rPr sz="1200" b="1" i="1" dirty="0">
                <a:latin typeface="Times New Roman" panose="02020603050405020304" pitchFamily="18" charset="0"/>
                <a:cs typeface="Times New Roman" panose="02020603050405020304" pitchFamily="18" charset="0"/>
              </a:rPr>
              <a:t>&amp;</a:t>
            </a:r>
            <a:r>
              <a:rPr sz="1200" b="1" i="1" spc="-20" dirty="0">
                <a:latin typeface="Times New Roman" panose="02020603050405020304" pitchFamily="18" charset="0"/>
                <a:cs typeface="Times New Roman" panose="02020603050405020304" pitchFamily="18" charset="0"/>
              </a:rPr>
              <a:t> </a:t>
            </a:r>
            <a:r>
              <a:rPr sz="1200" b="1" i="1" dirty="0">
                <a:latin typeface="Times New Roman" panose="02020603050405020304" pitchFamily="18" charset="0"/>
                <a:cs typeface="Times New Roman" panose="02020603050405020304" pitchFamily="18" charset="0"/>
              </a:rPr>
              <a:t>Approved</a:t>
            </a:r>
            <a:r>
              <a:rPr sz="1200" b="1" i="1" spc="-40" dirty="0">
                <a:latin typeface="Times New Roman" panose="02020603050405020304" pitchFamily="18" charset="0"/>
                <a:cs typeface="Times New Roman" panose="02020603050405020304" pitchFamily="18" charset="0"/>
              </a:rPr>
              <a:t> </a:t>
            </a:r>
            <a:r>
              <a:rPr sz="1200" b="1" i="1" dirty="0">
                <a:latin typeface="Times New Roman" panose="02020603050405020304" pitchFamily="18" charset="0"/>
                <a:cs typeface="Times New Roman" panose="02020603050405020304" pitchFamily="18" charset="0"/>
              </a:rPr>
              <a:t>by</a:t>
            </a:r>
            <a:r>
              <a:rPr sz="1200" b="1" i="1" spc="-45" dirty="0">
                <a:latin typeface="Times New Roman" panose="02020603050405020304" pitchFamily="18" charset="0"/>
                <a:cs typeface="Times New Roman" panose="02020603050405020304" pitchFamily="18" charset="0"/>
              </a:rPr>
              <a:t> </a:t>
            </a:r>
            <a:r>
              <a:rPr sz="1200" b="1" i="1" spc="-10" dirty="0">
                <a:latin typeface="Times New Roman" panose="02020603050405020304" pitchFamily="18" charset="0"/>
                <a:cs typeface="Times New Roman" panose="02020603050405020304" pitchFamily="18" charset="0"/>
              </a:rPr>
              <a:t>AICTE)</a:t>
            </a:r>
            <a:endParaRPr lang="en-GB" sz="1200" b="1" i="1" spc="-10" dirty="0">
              <a:latin typeface="Times New Roman" panose="02020603050405020304" pitchFamily="18" charset="0"/>
              <a:cs typeface="Times New Roman" panose="02020603050405020304" pitchFamily="18" charset="0"/>
            </a:endParaRPr>
          </a:p>
          <a:p>
            <a:pPr marL="7620" algn="ctr">
              <a:lnSpc>
                <a:spcPct val="100000"/>
              </a:lnSpc>
              <a:spcBef>
                <a:spcPts val="310"/>
              </a:spcBef>
            </a:pPr>
            <a:r>
              <a:rPr lang="en-GB" sz="1200" b="1" i="1" spc="-10" dirty="0">
                <a:latin typeface="Times New Roman" panose="02020603050405020304" pitchFamily="18" charset="0"/>
                <a:cs typeface="Times New Roman" panose="02020603050405020304" pitchFamily="18" charset="0"/>
              </a:rPr>
              <a:t>(</a:t>
            </a:r>
            <a:r>
              <a:rPr lang="en-GB" sz="1200" b="1" spc="-10" dirty="0">
                <a:latin typeface="Times New Roman" panose="02020603050405020304" pitchFamily="18" charset="0"/>
                <a:cs typeface="Times New Roman" panose="02020603050405020304" pitchFamily="18" charset="0"/>
              </a:rPr>
              <a:t>All eligible UGC courses are accredited by NBA &amp; NAAC with ‘A’ Grade)</a:t>
            </a:r>
            <a:endParaRPr sz="12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2098675" y="1769998"/>
            <a:ext cx="8001000" cy="1315553"/>
          </a:xfrm>
          <a:prstGeom prst="rect">
            <a:avLst/>
          </a:prstGeom>
        </p:spPr>
        <p:txBody>
          <a:bodyPr vert="horz" wrap="square" lIns="0" tIns="7620" rIns="0" bIns="0" rtlCol="0">
            <a:spAutoFit/>
          </a:bodyPr>
          <a:lstStyle/>
          <a:p>
            <a:pPr marL="12700" marR="5080" indent="-5080" algn="ctr">
              <a:lnSpc>
                <a:spcPct val="116500"/>
              </a:lnSpc>
              <a:spcBef>
                <a:spcPts val="60"/>
              </a:spcBef>
            </a:pPr>
            <a:r>
              <a:rPr sz="1800" b="1" spc="-10" dirty="0">
                <a:latin typeface="Times New Roman"/>
                <a:cs typeface="Times New Roman"/>
              </a:rPr>
              <a:t>Department </a:t>
            </a:r>
            <a:r>
              <a:rPr lang="en-US" sz="1800" b="1" spc="-10" dirty="0">
                <a:latin typeface="Times New Roman"/>
                <a:cs typeface="Times New Roman"/>
              </a:rPr>
              <a:t> of Computer Science and Engineering</a:t>
            </a:r>
          </a:p>
          <a:p>
            <a:pPr marL="12700" marR="5080" indent="-5080" algn="ctr">
              <a:lnSpc>
                <a:spcPct val="116500"/>
              </a:lnSpc>
              <a:spcBef>
                <a:spcPts val="60"/>
              </a:spcBef>
            </a:pPr>
            <a:r>
              <a:rPr sz="1800" b="1" dirty="0">
                <a:latin typeface="Times New Roman"/>
                <a:cs typeface="Times New Roman"/>
              </a:rPr>
              <a:t>Academic</a:t>
            </a:r>
            <a:r>
              <a:rPr sz="1800" b="1" spc="-135" dirty="0">
                <a:latin typeface="Times New Roman"/>
                <a:cs typeface="Times New Roman"/>
              </a:rPr>
              <a:t> </a:t>
            </a:r>
            <a:r>
              <a:rPr sz="1800" b="1" spc="-25" dirty="0">
                <a:latin typeface="Times New Roman"/>
                <a:cs typeface="Times New Roman"/>
              </a:rPr>
              <a:t>Year:</a:t>
            </a:r>
            <a:r>
              <a:rPr sz="1800" b="1" spc="-45" dirty="0">
                <a:latin typeface="Times New Roman"/>
                <a:cs typeface="Times New Roman"/>
              </a:rPr>
              <a:t> </a:t>
            </a:r>
            <a:r>
              <a:rPr sz="1800" b="1" dirty="0">
                <a:latin typeface="Times New Roman"/>
                <a:cs typeface="Times New Roman"/>
              </a:rPr>
              <a:t>202</a:t>
            </a:r>
            <a:r>
              <a:rPr lang="en-US" sz="1800" b="1" dirty="0">
                <a:latin typeface="Times New Roman"/>
                <a:cs typeface="Times New Roman"/>
              </a:rPr>
              <a:t>5</a:t>
            </a:r>
            <a:r>
              <a:rPr sz="1800" b="1" dirty="0">
                <a:latin typeface="Times New Roman"/>
                <a:cs typeface="Times New Roman"/>
              </a:rPr>
              <a:t>-</a:t>
            </a:r>
            <a:r>
              <a:rPr sz="1800" b="1" spc="-20" dirty="0">
                <a:latin typeface="Times New Roman"/>
                <a:cs typeface="Times New Roman"/>
              </a:rPr>
              <a:t>202</a:t>
            </a:r>
            <a:r>
              <a:rPr lang="en-US" sz="1800" b="1" spc="-20" dirty="0">
                <a:latin typeface="Times New Roman"/>
                <a:cs typeface="Times New Roman"/>
              </a:rPr>
              <a:t>6</a:t>
            </a:r>
          </a:p>
          <a:p>
            <a:pPr marL="12700" marR="5080" indent="-5080" algn="ctr">
              <a:lnSpc>
                <a:spcPct val="116500"/>
              </a:lnSpc>
              <a:spcBef>
                <a:spcPts val="60"/>
              </a:spcBef>
            </a:pPr>
            <a:endParaRPr lang="en-US" sz="1800" b="1" spc="-20" dirty="0">
              <a:latin typeface="Times New Roman"/>
              <a:cs typeface="Times New Roman"/>
            </a:endParaRPr>
          </a:p>
          <a:p>
            <a:pPr marL="12700" marR="5080" indent="-5080" algn="ctr">
              <a:lnSpc>
                <a:spcPct val="116500"/>
              </a:lnSpc>
              <a:spcBef>
                <a:spcPts val="60"/>
              </a:spcBef>
            </a:pPr>
            <a:r>
              <a:rPr lang="en-US" sz="1800" b="1" spc="-20" dirty="0">
                <a:latin typeface="Times New Roman"/>
                <a:cs typeface="Times New Roman"/>
              </a:rPr>
              <a:t>Internship </a:t>
            </a:r>
            <a:r>
              <a:rPr lang="en-US" b="1" spc="-20" dirty="0">
                <a:latin typeface="Times New Roman"/>
                <a:cs typeface="Times New Roman"/>
              </a:rPr>
              <a:t>Presentation</a:t>
            </a:r>
          </a:p>
        </p:txBody>
      </p:sp>
      <p:sp>
        <p:nvSpPr>
          <p:cNvPr id="5" name="object 5"/>
          <p:cNvSpPr txBox="1"/>
          <p:nvPr/>
        </p:nvSpPr>
        <p:spPr>
          <a:xfrm>
            <a:off x="2730260" y="3564242"/>
            <a:ext cx="6731479" cy="844462"/>
          </a:xfrm>
          <a:prstGeom prst="rect">
            <a:avLst/>
          </a:prstGeom>
        </p:spPr>
        <p:txBody>
          <a:bodyPr vert="horz" wrap="square" lIns="0" tIns="15875" rIns="0" bIns="0" rtlCol="0">
            <a:spAutoFit/>
          </a:bodyPr>
          <a:lstStyle/>
          <a:p>
            <a:pPr marL="12700" algn="ctr">
              <a:spcBef>
                <a:spcPts val="125"/>
              </a:spcBef>
            </a:pPr>
            <a:r>
              <a:rPr lang="en-US" b="1" dirty="0">
                <a:latin typeface="Times New Roman" panose="02020603050405020304" pitchFamily="18" charset="0"/>
                <a:cs typeface="Times New Roman" panose="02020603050405020304" pitchFamily="18" charset="0"/>
              </a:rPr>
              <a:t>Strategic Innovation and Business transformation : Bridging technology ,leadership and Global Impact </a:t>
            </a:r>
            <a:endParaRPr lang="en-IN" dirty="0">
              <a:latin typeface="Times New Roman" panose="02020603050405020304" pitchFamily="18" charset="0"/>
              <a:cs typeface="Times New Roman" panose="02020603050405020304" pitchFamily="18" charset="0"/>
            </a:endParaRPr>
          </a:p>
          <a:p>
            <a:pPr marL="12700" algn="ctr">
              <a:lnSpc>
                <a:spcPct val="100000"/>
              </a:lnSpc>
              <a:spcBef>
                <a:spcPts val="125"/>
              </a:spcBef>
            </a:pPr>
            <a:endParaRPr lang="en-US" sz="1700" dirty="0">
              <a:latin typeface="Times New Roman"/>
              <a:cs typeface="Times New Roman"/>
            </a:endParaRPr>
          </a:p>
        </p:txBody>
      </p:sp>
      <p:sp>
        <p:nvSpPr>
          <p:cNvPr id="6" name="object 6"/>
          <p:cNvSpPr txBox="1"/>
          <p:nvPr/>
        </p:nvSpPr>
        <p:spPr>
          <a:xfrm>
            <a:off x="1330845" y="4643884"/>
            <a:ext cx="2317497" cy="786113"/>
          </a:xfrm>
          <a:prstGeom prst="rect">
            <a:avLst/>
          </a:prstGeom>
        </p:spPr>
        <p:txBody>
          <a:bodyPr vert="horz" wrap="square" lIns="0" tIns="41910" rIns="0" bIns="0" rtlCol="0">
            <a:spAutoFit/>
          </a:bodyPr>
          <a:lstStyle/>
          <a:p>
            <a:pPr marL="57150">
              <a:lnSpc>
                <a:spcPct val="100000"/>
              </a:lnSpc>
              <a:spcBef>
                <a:spcPts val="229"/>
              </a:spcBef>
            </a:pPr>
            <a:r>
              <a:rPr lang="en-GB" sz="1500" b="1" spc="-20" dirty="0">
                <a:latin typeface="Times New Roman"/>
                <a:cs typeface="Times New Roman"/>
              </a:rPr>
              <a:t>Mr. M . Sai Ramakrishna </a:t>
            </a:r>
          </a:p>
          <a:p>
            <a:pPr marL="57150">
              <a:lnSpc>
                <a:spcPct val="100000"/>
              </a:lnSpc>
              <a:spcBef>
                <a:spcPts val="229"/>
              </a:spcBef>
            </a:pPr>
            <a:r>
              <a:rPr lang="en-GB" sz="1500" b="1" spc="-20" dirty="0">
                <a:latin typeface="Times New Roman"/>
                <a:cs typeface="Times New Roman"/>
              </a:rPr>
              <a:t>Assistant Professor</a:t>
            </a:r>
          </a:p>
          <a:p>
            <a:pPr marL="57150">
              <a:lnSpc>
                <a:spcPct val="100000"/>
              </a:lnSpc>
              <a:spcBef>
                <a:spcPts val="229"/>
              </a:spcBef>
            </a:pPr>
            <a:r>
              <a:rPr lang="en-GB" sz="1500" b="1" spc="-20" dirty="0">
                <a:latin typeface="Times New Roman"/>
                <a:cs typeface="Times New Roman"/>
              </a:rPr>
              <a:t>Department </a:t>
            </a:r>
            <a:r>
              <a:rPr lang="en-GB" sz="1500" b="1" dirty="0">
                <a:latin typeface="Times New Roman"/>
                <a:cs typeface="Times New Roman"/>
              </a:rPr>
              <a:t>of CSE</a:t>
            </a:r>
            <a:endParaRPr sz="1500" b="1" dirty="0">
              <a:latin typeface="Times New Roman"/>
              <a:cs typeface="Times New Roman"/>
            </a:endParaRPr>
          </a:p>
        </p:txBody>
      </p:sp>
      <p:sp>
        <p:nvSpPr>
          <p:cNvPr id="7" name="object 7"/>
          <p:cNvSpPr txBox="1"/>
          <p:nvPr/>
        </p:nvSpPr>
        <p:spPr>
          <a:xfrm>
            <a:off x="8034655" y="4643884"/>
            <a:ext cx="2065020" cy="784189"/>
          </a:xfrm>
          <a:prstGeom prst="rect">
            <a:avLst/>
          </a:prstGeom>
        </p:spPr>
        <p:txBody>
          <a:bodyPr vert="horz" wrap="square" lIns="0" tIns="41910" rIns="0" bIns="0" rtlCol="0">
            <a:spAutoFit/>
          </a:bodyPr>
          <a:lstStyle/>
          <a:p>
            <a:pPr marL="12700">
              <a:lnSpc>
                <a:spcPct val="100000"/>
              </a:lnSpc>
              <a:spcBef>
                <a:spcPts val="330"/>
              </a:spcBef>
            </a:pPr>
            <a:r>
              <a:rPr sz="1500" b="1" dirty="0">
                <a:latin typeface="Times New Roman"/>
                <a:cs typeface="Times New Roman"/>
              </a:rPr>
              <a:t>PRESENTED</a:t>
            </a:r>
            <a:r>
              <a:rPr sz="1500" b="1" spc="20" dirty="0">
                <a:latin typeface="Times New Roman"/>
                <a:cs typeface="Times New Roman"/>
              </a:rPr>
              <a:t> </a:t>
            </a:r>
            <a:r>
              <a:rPr sz="1500" b="1" spc="-25" dirty="0">
                <a:latin typeface="Times New Roman"/>
                <a:cs typeface="Times New Roman"/>
              </a:rPr>
              <a:t>BY</a:t>
            </a:r>
            <a:endParaRPr sz="1500" dirty="0">
              <a:latin typeface="Times New Roman"/>
              <a:cs typeface="Times New Roman"/>
            </a:endParaRPr>
          </a:p>
          <a:p>
            <a:pPr marL="23495" marR="896619" indent="-1270">
              <a:lnSpc>
                <a:spcPct val="108500"/>
              </a:lnSpc>
              <a:spcBef>
                <a:spcPts val="75"/>
              </a:spcBef>
            </a:pPr>
            <a:r>
              <a:rPr lang="en-US" sz="1500" spc="-20" dirty="0">
                <a:latin typeface="Times New Roman"/>
                <a:cs typeface="Times New Roman"/>
              </a:rPr>
              <a:t>Sri Akshainie</a:t>
            </a:r>
          </a:p>
          <a:p>
            <a:pPr marL="23495" marR="896619" indent="-1270">
              <a:lnSpc>
                <a:spcPct val="108500"/>
              </a:lnSpc>
              <a:spcBef>
                <a:spcPts val="75"/>
              </a:spcBef>
            </a:pPr>
            <a:r>
              <a:rPr lang="en-US" sz="1500" spc="-20" dirty="0">
                <a:latin typeface="Times New Roman"/>
                <a:cs typeface="Times New Roman"/>
              </a:rPr>
              <a:t>160622733064</a:t>
            </a:r>
            <a:endParaRPr sz="1500" dirty="0">
              <a:latin typeface="Times New Roman"/>
              <a:cs typeface="Times New Roman"/>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644" y="234728"/>
            <a:ext cx="1356422" cy="1356422"/>
          </a:xfrm>
          <a:prstGeom prst="rect">
            <a:avLst/>
          </a:prstGeom>
        </p:spPr>
      </p:pic>
      <p:sp>
        <p:nvSpPr>
          <p:cNvPr id="8" name="object 5">
            <a:extLst>
              <a:ext uri="{FF2B5EF4-FFF2-40B4-BE49-F238E27FC236}">
                <a16:creationId xmlns:a16="http://schemas.microsoft.com/office/drawing/2014/main" id="{5CD74944-DEC3-37BF-8F60-4AFC06DB94CC}"/>
              </a:ext>
            </a:extLst>
          </p:cNvPr>
          <p:cNvSpPr txBox="1"/>
          <p:nvPr/>
        </p:nvSpPr>
        <p:spPr>
          <a:xfrm>
            <a:off x="5594229" y="3208912"/>
            <a:ext cx="1003540" cy="277640"/>
          </a:xfrm>
          <a:prstGeom prst="rect">
            <a:avLst/>
          </a:prstGeom>
        </p:spPr>
        <p:txBody>
          <a:bodyPr vert="horz" wrap="square" lIns="0" tIns="15875" rIns="0" bIns="0" rtlCol="0">
            <a:spAutoFit/>
          </a:bodyPr>
          <a:lstStyle/>
          <a:p>
            <a:pPr marL="12700" algn="ctr">
              <a:lnSpc>
                <a:spcPct val="100000"/>
              </a:lnSpc>
              <a:spcBef>
                <a:spcPts val="125"/>
              </a:spcBef>
            </a:pPr>
            <a:r>
              <a:rPr lang="en-US" sz="1700" b="1" dirty="0">
                <a:latin typeface="Times New Roman"/>
                <a:cs typeface="Times New Roman"/>
              </a:rPr>
              <a:t>On</a:t>
            </a:r>
            <a:endParaRPr sz="1700" dirty="0">
              <a:latin typeface="Times New Roman"/>
              <a:cs typeface="Times New Roman"/>
            </a:endParaRPr>
          </a:p>
        </p:txBody>
      </p:sp>
    </p:spTree>
    <p:extLst>
      <p:ext uri="{BB962C8B-B14F-4D97-AF65-F5344CB8AC3E}">
        <p14:creationId xmlns:p14="http://schemas.microsoft.com/office/powerpoint/2010/main" val="426739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7ECBF36E-CDD1-27AF-3E7A-93FBC09D13CE}"/>
              </a:ext>
            </a:extLst>
          </p:cNvPr>
          <p:cNvSpPr txBox="1">
            <a:spLocks/>
          </p:cNvSpPr>
          <p:nvPr/>
        </p:nvSpPr>
        <p:spPr>
          <a:xfrm>
            <a:off x="763325" y="850789"/>
            <a:ext cx="10241280" cy="4899035"/>
          </a:xfrm>
          <a:prstGeom prst="rect">
            <a:avLst/>
          </a:prstGeom>
        </p:spPr>
        <p:txBody>
          <a:bodyPr>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ctr"/>
            <a:r>
              <a:rPr lang="en-US" sz="2800" b="1" dirty="0">
                <a:latin typeface="Times New Roman" pitchFamily="18" charset="0"/>
                <a:cs typeface="Times New Roman" pitchFamily="18" charset="0"/>
              </a:rPr>
              <a:t>INTERNSHIP - II DETAILS </a:t>
            </a:r>
          </a:p>
          <a:p>
            <a:r>
              <a:rPr lang="en-US" b="1" dirty="0">
                <a:latin typeface="Times New Roman" pitchFamily="18" charset="0"/>
                <a:cs typeface="Times New Roman" pitchFamily="18" charset="0"/>
              </a:rPr>
              <a:t>Course Code</a:t>
            </a:r>
            <a:r>
              <a:rPr lang="en-US" dirty="0">
                <a:latin typeface="Times New Roman" pitchFamily="18" charset="0"/>
                <a:cs typeface="Times New Roman" pitchFamily="18" charset="0"/>
              </a:rPr>
              <a:t>: SPW611 CS        </a:t>
            </a:r>
            <a:r>
              <a:rPr lang="en-US" b="1" dirty="0">
                <a:latin typeface="Times New Roman" pitchFamily="18" charset="0"/>
                <a:cs typeface="Times New Roman" pitchFamily="18" charset="0"/>
              </a:rPr>
              <a:t>Credits</a:t>
            </a:r>
            <a:r>
              <a:rPr lang="en-US" dirty="0">
                <a:latin typeface="Times New Roman" pitchFamily="18" charset="0"/>
                <a:cs typeface="Times New Roman" pitchFamily="18" charset="0"/>
              </a:rPr>
              <a:t>: 1                          </a:t>
            </a:r>
            <a:r>
              <a:rPr lang="en-US" b="1" dirty="0">
                <a:latin typeface="Times New Roman" pitchFamily="18" charset="0"/>
                <a:cs typeface="Times New Roman" pitchFamily="18" charset="0"/>
              </a:rPr>
              <a:t>Evaluation</a:t>
            </a:r>
            <a:r>
              <a:rPr lang="en-US" dirty="0">
                <a:latin typeface="Times New Roman" pitchFamily="18" charset="0"/>
                <a:cs typeface="Times New Roman" pitchFamily="18" charset="0"/>
              </a:rPr>
              <a:t>: CIE - 50 Marks</a:t>
            </a:r>
          </a:p>
          <a:p>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Title: Strategic</a:t>
            </a:r>
            <a:r>
              <a:rPr lang="en-US" dirty="0">
                <a:latin typeface="Times New Roman" panose="02020603050405020304" pitchFamily="18" charset="0"/>
                <a:cs typeface="Times New Roman" panose="02020603050405020304" pitchFamily="18" charset="0"/>
              </a:rPr>
              <a:t> Innovation and Business transformation : Bridging technology ,leadership and Global Impact </a:t>
            </a:r>
          </a:p>
          <a:p>
            <a:r>
              <a:rPr lang="en-US" b="1" dirty="0">
                <a:latin typeface="Times New Roman" pitchFamily="18" charset="0"/>
                <a:cs typeface="Times New Roman" pitchFamily="18" charset="0"/>
              </a:rPr>
              <a:t>Name of the Student</a:t>
            </a:r>
            <a:r>
              <a:rPr lang="en-US" dirty="0">
                <a:latin typeface="Times New Roman" pitchFamily="18" charset="0"/>
                <a:cs typeface="Times New Roman" pitchFamily="18" charset="0"/>
              </a:rPr>
              <a:t>: Sri Akshainie</a:t>
            </a:r>
          </a:p>
          <a:p>
            <a:r>
              <a:rPr lang="en-US" b="1" dirty="0">
                <a:latin typeface="Times New Roman" pitchFamily="18" charset="0"/>
                <a:cs typeface="Times New Roman" pitchFamily="18" charset="0"/>
              </a:rPr>
              <a:t>Roll Number</a:t>
            </a:r>
            <a:r>
              <a:rPr lang="en-US" dirty="0">
                <a:latin typeface="Times New Roman" pitchFamily="18" charset="0"/>
                <a:cs typeface="Times New Roman" pitchFamily="18" charset="0"/>
              </a:rPr>
              <a:t>: 160622733064</a:t>
            </a:r>
          </a:p>
          <a:p>
            <a:r>
              <a:rPr lang="en-US" b="1" dirty="0">
                <a:latin typeface="Times New Roman" pitchFamily="18" charset="0"/>
                <a:cs typeface="Times New Roman" pitchFamily="18" charset="0"/>
              </a:rPr>
              <a:t>Batch / Section</a:t>
            </a:r>
            <a:r>
              <a:rPr lang="en-US" dirty="0">
                <a:latin typeface="Times New Roman" pitchFamily="18" charset="0"/>
                <a:cs typeface="Times New Roman" pitchFamily="18" charset="0"/>
              </a:rPr>
              <a:t>: 2024 – 2025 / B </a:t>
            </a:r>
          </a:p>
          <a:p>
            <a:r>
              <a:rPr lang="en-US" b="1" dirty="0">
                <a:latin typeface="Times New Roman" pitchFamily="18" charset="0"/>
                <a:cs typeface="Times New Roman" pitchFamily="18" charset="0"/>
              </a:rPr>
              <a:t>Name of the Organization</a:t>
            </a:r>
            <a:r>
              <a:rPr lang="en-US" dirty="0">
                <a:latin typeface="Times New Roman" pitchFamily="18" charset="0"/>
                <a:cs typeface="Times New Roman" pitchFamily="18" charset="0"/>
              </a:rPr>
              <a:t>: Botho University</a:t>
            </a:r>
          </a:p>
          <a:p>
            <a:r>
              <a:rPr lang="en-US" b="1" dirty="0">
                <a:latin typeface="Times New Roman" pitchFamily="18" charset="0"/>
                <a:cs typeface="Times New Roman" pitchFamily="18" charset="0"/>
              </a:rPr>
              <a:t>Duration of Internship</a:t>
            </a:r>
            <a:r>
              <a:rPr lang="en-US" dirty="0">
                <a:latin typeface="Times New Roman" pitchFamily="18" charset="0"/>
                <a:cs typeface="Times New Roman" pitchFamily="18" charset="0"/>
              </a:rPr>
              <a:t>: From 07th April 2025 to 07th August 2025</a:t>
            </a:r>
          </a:p>
          <a:p>
            <a:r>
              <a:rPr lang="en-US" b="1" dirty="0">
                <a:latin typeface="Times New Roman" pitchFamily="18" charset="0"/>
                <a:cs typeface="Times New Roman" pitchFamily="18" charset="0"/>
              </a:rPr>
              <a:t>Mode (Onsite / Online / Hybrid) </a:t>
            </a:r>
            <a:r>
              <a:rPr lang="en-US" dirty="0">
                <a:latin typeface="Times New Roman" pitchFamily="18" charset="0"/>
                <a:cs typeface="Times New Roman" pitchFamily="18" charset="0"/>
              </a:rPr>
              <a:t>:</a:t>
            </a:r>
            <a:r>
              <a:rPr lang="en-US" b="1" dirty="0">
                <a:latin typeface="Times New Roman" pitchFamily="18" charset="0"/>
                <a:cs typeface="Times New Roman" pitchFamily="18" charset="0"/>
              </a:rPr>
              <a:t> </a:t>
            </a:r>
            <a:r>
              <a:rPr lang="en-US" dirty="0">
                <a:latin typeface="Times New Roman" pitchFamily="18" charset="0"/>
                <a:cs typeface="Times New Roman" pitchFamily="18" charset="0"/>
              </a:rPr>
              <a:t>Online</a:t>
            </a:r>
          </a:p>
          <a:p>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Industry Supervisor</a:t>
            </a:r>
            <a:r>
              <a:rPr lang="en-US" dirty="0">
                <a:latin typeface="Times New Roman" pitchFamily="18" charset="0"/>
                <a:cs typeface="Times New Roman" pitchFamily="18" charset="0"/>
              </a:rPr>
              <a:t>: Prof. Srinath Doss</a:t>
            </a:r>
          </a:p>
          <a:p>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Faculty Coordinator / Supervisor</a:t>
            </a:r>
            <a:r>
              <a:rPr lang="en-US" dirty="0">
                <a:latin typeface="Times New Roman" pitchFamily="18" charset="0"/>
                <a:cs typeface="Times New Roman" pitchFamily="18" charset="0"/>
              </a:rPr>
              <a:t>: Mr. M. Sai Ramakrishna  </a:t>
            </a:r>
            <a:endParaRPr lang="en-IN" dirty="0">
              <a:latin typeface="Times New Roman" panose="02020603050405020304" pitchFamily="18" charset="0"/>
              <a:cs typeface="Times New Roman" panose="02020603050405020304" pitchFamily="18" charset="0"/>
            </a:endParaRP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1046273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9045" y="0"/>
            <a:ext cx="10058400" cy="1450757"/>
          </a:xfrm>
        </p:spPr>
        <p:txBody>
          <a:bodyPr/>
          <a:lstStyle/>
          <a:p>
            <a:r>
              <a:rPr lang="en-GB" dirty="0">
                <a:latin typeface="Times New Roman" panose="02020603050405020304" pitchFamily="18" charset="0"/>
                <a:cs typeface="Times New Roman" panose="02020603050405020304" pitchFamily="18" charset="0"/>
              </a:rPr>
              <a:t>Contents</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53886" y="1653385"/>
            <a:ext cx="11038114" cy="4303139"/>
          </a:xfrm>
        </p:spPr>
        <p:txBody>
          <a:bodyPr>
            <a:noAutofit/>
          </a:bodyPr>
          <a:lstStyle/>
          <a:p>
            <a:pPr marL="0" algn="just">
              <a:lnSpc>
                <a:spcPct val="100000"/>
              </a:lnSpc>
              <a:spcBef>
                <a:spcPts val="600"/>
              </a:spcBef>
              <a:spcAft>
                <a:spcPts val="600"/>
              </a:spcAft>
              <a:buFont typeface="Wingdings" panose="05000000000000000000" pitchFamily="2" charset="2"/>
              <a:buChar char="v"/>
            </a:pPr>
            <a:r>
              <a:rPr lang="en-GB" sz="1800" dirty="0">
                <a:latin typeface="Times New Roman" panose="02020603050405020304" pitchFamily="18" charset="0"/>
                <a:cs typeface="Times New Roman" panose="02020603050405020304" pitchFamily="18" charset="0"/>
              </a:rPr>
              <a:t>Abstract</a:t>
            </a:r>
          </a:p>
          <a:p>
            <a:pPr marL="0" algn="just">
              <a:lnSpc>
                <a:spcPct val="100000"/>
              </a:lnSpc>
              <a:spcBef>
                <a:spcPts val="600"/>
              </a:spcBef>
              <a:spcAft>
                <a:spcPts val="600"/>
              </a:spcAft>
              <a:buFont typeface="Wingdings" panose="05000000000000000000" pitchFamily="2" charset="2"/>
              <a:buChar char="v"/>
            </a:pPr>
            <a:r>
              <a:rPr lang="en-GB" sz="1800" dirty="0">
                <a:latin typeface="Times New Roman" panose="02020603050405020304" pitchFamily="18" charset="0"/>
                <a:cs typeface="Times New Roman" panose="02020603050405020304" pitchFamily="18" charset="0"/>
              </a:rPr>
              <a:t>Problem Statement</a:t>
            </a:r>
          </a:p>
          <a:p>
            <a:pPr marL="0" algn="just">
              <a:lnSpc>
                <a:spcPct val="100000"/>
              </a:lnSpc>
              <a:spcBef>
                <a:spcPts val="600"/>
              </a:spcBef>
              <a:spcAft>
                <a:spcPts val="600"/>
              </a:spcAft>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Background and Literature Review </a:t>
            </a:r>
          </a:p>
          <a:p>
            <a:pPr marL="0" algn="just">
              <a:lnSpc>
                <a:spcPct val="100000"/>
              </a:lnSpc>
              <a:spcBef>
                <a:spcPts val="600"/>
              </a:spcBef>
              <a:spcAft>
                <a:spcPts val="600"/>
              </a:spcAft>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Planning and Design of Work</a:t>
            </a:r>
          </a:p>
          <a:p>
            <a:pPr marL="0" algn="just">
              <a:lnSpc>
                <a:spcPct val="100000"/>
              </a:lnSpc>
              <a:spcBef>
                <a:spcPts val="600"/>
              </a:spcBef>
              <a:spcAft>
                <a:spcPts val="600"/>
              </a:spcAft>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Research Frame work</a:t>
            </a:r>
          </a:p>
          <a:p>
            <a:pPr marL="0" algn="just">
              <a:lnSpc>
                <a:spcPct val="100000"/>
              </a:lnSpc>
              <a:spcBef>
                <a:spcPts val="600"/>
              </a:spcBef>
              <a:spcAft>
                <a:spcPts val="600"/>
              </a:spcAft>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Implementation and Execution </a:t>
            </a:r>
          </a:p>
          <a:p>
            <a:pPr marL="0" algn="just">
              <a:lnSpc>
                <a:spcPct val="100000"/>
              </a:lnSpc>
              <a:spcBef>
                <a:spcPts val="600"/>
              </a:spcBef>
              <a:spcAft>
                <a:spcPts val="600"/>
              </a:spcAft>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Proposed conceptual model</a:t>
            </a:r>
            <a:endParaRPr lang="en-IN" sz="1800" dirty="0">
              <a:latin typeface="Times New Roman" panose="02020603050405020304" pitchFamily="18" charset="0"/>
              <a:cs typeface="Times New Roman" panose="02020603050405020304" pitchFamily="18" charset="0"/>
            </a:endParaRPr>
          </a:p>
          <a:p>
            <a:pPr marL="0" algn="just">
              <a:lnSpc>
                <a:spcPct val="100000"/>
              </a:lnSpc>
              <a:spcBef>
                <a:spcPts val="600"/>
              </a:spcBef>
              <a:spcAft>
                <a:spcPts val="600"/>
              </a:spcAft>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Testing / Validation </a:t>
            </a:r>
          </a:p>
          <a:p>
            <a:pPr marL="0" algn="just">
              <a:lnSpc>
                <a:spcPct val="100000"/>
              </a:lnSpc>
              <a:spcBef>
                <a:spcPts val="600"/>
              </a:spcBef>
              <a:spcAft>
                <a:spcPts val="600"/>
              </a:spcAft>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Results and Analysis </a:t>
            </a:r>
          </a:p>
          <a:p>
            <a:pPr marL="0" algn="just">
              <a:lnSpc>
                <a:spcPct val="100000"/>
              </a:lnSpc>
              <a:spcBef>
                <a:spcPts val="600"/>
              </a:spcBef>
              <a:spcAft>
                <a:spcPts val="600"/>
              </a:spcAft>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Challenges and Solutions </a:t>
            </a:r>
          </a:p>
          <a:p>
            <a:pPr marL="0" algn="just">
              <a:lnSpc>
                <a:spcPct val="100000"/>
              </a:lnSpc>
              <a:spcBef>
                <a:spcPts val="600"/>
              </a:spcBef>
              <a:spcAft>
                <a:spcPts val="600"/>
              </a:spcAft>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Conclusion and Future Scope </a:t>
            </a:r>
            <a:endParaRPr lang="en-GB" sz="1800" dirty="0">
              <a:latin typeface="Times New Roman" panose="02020603050405020304" pitchFamily="18" charset="0"/>
              <a:cs typeface="Times New Roman" panose="02020603050405020304" pitchFamily="18" charset="0"/>
            </a:endParaRPr>
          </a:p>
          <a:p>
            <a:pPr marL="0" algn="just">
              <a:lnSpc>
                <a:spcPct val="100000"/>
              </a:lnSpc>
              <a:spcBef>
                <a:spcPts val="600"/>
              </a:spcBef>
              <a:spcAft>
                <a:spcPts val="600"/>
              </a:spcAft>
              <a:buFont typeface="Wingdings" panose="05000000000000000000" pitchFamily="2" charset="2"/>
              <a:buChar char="v"/>
            </a:pPr>
            <a:r>
              <a:rPr lang="en-GB" sz="1800"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1380701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Abstract</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983757"/>
            <a:ext cx="10058400" cy="4023360"/>
          </a:xfrm>
        </p:spPr>
        <p:txBody>
          <a:bodyPr/>
          <a:lstStyle/>
          <a:p>
            <a:pPr algn="just">
              <a:lnSpc>
                <a:spcPct val="150000"/>
              </a:lnSpc>
            </a:pPr>
            <a:r>
              <a:rPr lang="en-US" dirty="0">
                <a:latin typeface="Times New Roman" panose="02020603050405020304" pitchFamily="18" charset="0"/>
                <a:cs typeface="Times New Roman" panose="02020603050405020304" pitchFamily="18" charset="0"/>
              </a:rPr>
              <a:t>This project explores how businesses use modern technologies and strong leadership to drive innovation and digital transformation. It shows how tools like AI and IoT improve efficiency, support decision-making, and create new opportunities. The study also highlights the importance of ethical and sustainable practices in achieving long-term global impact, supported by real industry examples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4125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1. Problem Statement</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lnSpc>
                <a:spcPct val="150000"/>
              </a:lnSpc>
            </a:pPr>
            <a:r>
              <a:rPr lang="en-US" dirty="0">
                <a:latin typeface="Times New Roman" panose="02020603050405020304" pitchFamily="18" charset="0"/>
                <a:cs typeface="Times New Roman" panose="02020603050405020304" pitchFamily="18" charset="0"/>
              </a:rPr>
              <a:t>Businesses are experiencing rapid technological change but struggle to adopt innovation effectively. Many lack proper digital strategies, leadership alignment, and readiness for transformation. This results in slow adaptation, reduced competitiveness, and limited global impact..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1886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1037102"/>
            <a:ext cx="10058400" cy="713255"/>
          </a:xfrm>
        </p:spPr>
        <p:txBody>
          <a:bodyPr>
            <a:normAutofit fontScale="90000"/>
          </a:bodyPr>
          <a:lstStyle/>
          <a:p>
            <a:pPr algn="just">
              <a:lnSpc>
                <a:spcPct val="100000"/>
              </a:lnSpc>
              <a:spcBef>
                <a:spcPts val="600"/>
              </a:spcBef>
              <a:spcAft>
                <a:spcPts val="600"/>
              </a:spcAft>
            </a:pPr>
            <a:r>
              <a:rPr lang="en-US" dirty="0">
                <a:latin typeface="Times New Roman" panose="02020603050405020304" pitchFamily="18" charset="0"/>
                <a:cs typeface="Times New Roman" panose="02020603050405020304" pitchFamily="18" charset="0"/>
              </a:rPr>
              <a:t>2. Background and Literature Review </a:t>
            </a:r>
          </a:p>
        </p:txBody>
      </p:sp>
      <p:sp>
        <p:nvSpPr>
          <p:cNvPr id="4" name="TextBox 3">
            <a:extLst>
              <a:ext uri="{FF2B5EF4-FFF2-40B4-BE49-F238E27FC236}">
                <a16:creationId xmlns:a16="http://schemas.microsoft.com/office/drawing/2014/main" id="{C71B0965-9241-6740-6F21-6049310DE29D}"/>
              </a:ext>
            </a:extLst>
          </p:cNvPr>
          <p:cNvSpPr txBox="1"/>
          <p:nvPr/>
        </p:nvSpPr>
        <p:spPr>
          <a:xfrm>
            <a:off x="1066800" y="1750357"/>
            <a:ext cx="10058400" cy="4653646"/>
          </a:xfrm>
          <a:prstGeom prst="rect">
            <a:avLst/>
          </a:prstGeom>
          <a:noFill/>
        </p:spPr>
        <p:txBody>
          <a:bodyPr wrap="square">
            <a:spAutoFit/>
          </a:bodyPr>
          <a:lstStyle/>
          <a:p>
            <a:pPr marL="285750" indent="-285750" algn="just">
              <a:lnSpc>
                <a:spcPct val="150000"/>
              </a:lnSpc>
              <a:buClr>
                <a:schemeClr val="accent1"/>
              </a:buCl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Digital transformation is accelerating due to advancements in AI, IoT, cloud computing, and automation.</a:t>
            </a:r>
          </a:p>
          <a:p>
            <a:pPr marL="285750" indent="-285750" algn="just">
              <a:lnSpc>
                <a:spcPct val="150000"/>
              </a:lnSpc>
              <a:buClr>
                <a:schemeClr val="accent1"/>
              </a:buCl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Literature shows AI-driven analytics improves decision-making, forecasting, and operational efficiency.</a:t>
            </a:r>
          </a:p>
          <a:p>
            <a:pPr marL="285750" indent="-285750" algn="just">
              <a:lnSpc>
                <a:spcPct val="150000"/>
              </a:lnSpc>
              <a:buClr>
                <a:schemeClr val="accent1"/>
              </a:buCl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IoT enables real-time data collection and smart process optimization across industries.</a:t>
            </a:r>
          </a:p>
          <a:p>
            <a:pPr marL="285750" indent="-285750" algn="just">
              <a:lnSpc>
                <a:spcPct val="150000"/>
              </a:lnSpc>
              <a:buClr>
                <a:schemeClr val="accent1"/>
              </a:buCl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Cloud technologies support scalable, secure, and flexible business operations.</a:t>
            </a:r>
          </a:p>
          <a:p>
            <a:pPr marL="285750" indent="-285750" algn="just">
              <a:lnSpc>
                <a:spcPct val="150000"/>
              </a:lnSpc>
              <a:buClr>
                <a:schemeClr val="accent1"/>
              </a:buCl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Studies highlight that combining technology with strategic leadership results in successful business transformation.</a:t>
            </a:r>
          </a:p>
          <a:p>
            <a:pPr marL="285750" indent="-285750" algn="just">
              <a:lnSpc>
                <a:spcPct val="150000"/>
              </a:lnSpc>
              <a:buClr>
                <a:schemeClr val="accent1"/>
              </a:buCl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Research also stresses the importance of integrating ethical AI, cybersecurity, and data governance to ensure sustainable innovation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1246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3BE58B-6FA5-C872-EC52-F5646F6E3F0A}"/>
              </a:ext>
            </a:extLst>
          </p:cNvPr>
          <p:cNvSpPr txBox="1"/>
          <p:nvPr/>
        </p:nvSpPr>
        <p:spPr>
          <a:xfrm>
            <a:off x="888520" y="450202"/>
            <a:ext cx="10550106" cy="400110"/>
          </a:xfrm>
          <a:prstGeom prst="rect">
            <a:avLst/>
          </a:prstGeom>
          <a:noFill/>
        </p:spPr>
        <p:txBody>
          <a:bodyPr wrap="square">
            <a:spAutoFit/>
          </a:bodyPr>
          <a:lstStyle/>
          <a:p>
            <a:pPr algn="ctr"/>
            <a:r>
              <a:rPr lang="en-US" sz="2000" b="1" dirty="0">
                <a:effectLst/>
                <a:latin typeface="Times New Roman" panose="02020603050405020304" pitchFamily="18" charset="0"/>
                <a:ea typeface="Times New Roman" panose="02020603050405020304" pitchFamily="18" charset="0"/>
              </a:rPr>
              <a:t>Table 2.1: </a:t>
            </a:r>
            <a:r>
              <a:rPr lang="en-US" sz="2000" dirty="0">
                <a:effectLst/>
                <a:latin typeface="Times New Roman" panose="02020603050405020304" pitchFamily="18" charset="0"/>
                <a:ea typeface="Times New Roman" panose="02020603050405020304" pitchFamily="18" charset="0"/>
              </a:rPr>
              <a:t>Summary</a:t>
            </a:r>
            <a:r>
              <a:rPr lang="en-US" sz="2000" spc="-3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of reviewed</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literature</a:t>
            </a:r>
            <a:endParaRPr lang="en-IN" sz="2000" dirty="0"/>
          </a:p>
        </p:txBody>
      </p:sp>
      <p:pic>
        <p:nvPicPr>
          <p:cNvPr id="5" name="Picture 4">
            <a:extLst>
              <a:ext uri="{FF2B5EF4-FFF2-40B4-BE49-F238E27FC236}">
                <a16:creationId xmlns:a16="http://schemas.microsoft.com/office/drawing/2014/main" id="{D6D09789-195B-9633-FB86-DE45D7E87E92}"/>
              </a:ext>
            </a:extLst>
          </p:cNvPr>
          <p:cNvPicPr>
            <a:picLocks noChangeAspect="1"/>
          </p:cNvPicPr>
          <p:nvPr/>
        </p:nvPicPr>
        <p:blipFill>
          <a:blip r:embed="rId2"/>
          <a:stretch>
            <a:fillRect/>
          </a:stretch>
        </p:blipFill>
        <p:spPr>
          <a:xfrm>
            <a:off x="1371600" y="737118"/>
            <a:ext cx="9433249" cy="6120882"/>
          </a:xfrm>
          <a:prstGeom prst="rect">
            <a:avLst/>
          </a:prstGeom>
        </p:spPr>
      </p:pic>
    </p:spTree>
    <p:extLst>
      <p:ext uri="{BB962C8B-B14F-4D97-AF65-F5344CB8AC3E}">
        <p14:creationId xmlns:p14="http://schemas.microsoft.com/office/powerpoint/2010/main" val="1526282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F9DF3-F3EC-951A-49BE-2BF3937FEAF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87C2D2C-C069-4814-717F-7D126E7DC26C}"/>
              </a:ext>
            </a:extLst>
          </p:cNvPr>
          <p:cNvSpPr txBox="1"/>
          <p:nvPr/>
        </p:nvSpPr>
        <p:spPr>
          <a:xfrm>
            <a:off x="888520" y="450202"/>
            <a:ext cx="10550106" cy="400110"/>
          </a:xfrm>
          <a:prstGeom prst="rect">
            <a:avLst/>
          </a:prstGeom>
          <a:noFill/>
        </p:spPr>
        <p:txBody>
          <a:bodyPr wrap="square">
            <a:spAutoFit/>
          </a:bodyPr>
          <a:lstStyle/>
          <a:p>
            <a:pPr algn="ctr"/>
            <a:r>
              <a:rPr lang="en-US" sz="2000" b="1" dirty="0">
                <a:effectLst/>
                <a:latin typeface="Times New Roman" panose="02020603050405020304" pitchFamily="18" charset="0"/>
                <a:ea typeface="Times New Roman" panose="02020603050405020304" pitchFamily="18" charset="0"/>
              </a:rPr>
              <a:t>Table 2.1: </a:t>
            </a:r>
            <a:r>
              <a:rPr lang="en-US" sz="2000" dirty="0">
                <a:effectLst/>
                <a:latin typeface="Times New Roman" panose="02020603050405020304" pitchFamily="18" charset="0"/>
                <a:ea typeface="Times New Roman" panose="02020603050405020304" pitchFamily="18" charset="0"/>
              </a:rPr>
              <a:t>Summary</a:t>
            </a:r>
            <a:r>
              <a:rPr lang="en-US" sz="2000" spc="-3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of reviewed</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literature</a:t>
            </a:r>
            <a:r>
              <a:rPr lang="en-US" sz="2000" spc="-15" dirty="0">
                <a:effectLst/>
                <a:latin typeface="Times New Roman" panose="02020603050405020304" pitchFamily="18" charset="0"/>
                <a:ea typeface="Times New Roman" panose="02020603050405020304" pitchFamily="18" charset="0"/>
              </a:rPr>
              <a:t> </a:t>
            </a:r>
            <a:endParaRPr lang="en-IN" sz="2000" dirty="0"/>
          </a:p>
        </p:txBody>
      </p:sp>
      <p:pic>
        <p:nvPicPr>
          <p:cNvPr id="5" name="Picture 4">
            <a:extLst>
              <a:ext uri="{FF2B5EF4-FFF2-40B4-BE49-F238E27FC236}">
                <a16:creationId xmlns:a16="http://schemas.microsoft.com/office/drawing/2014/main" id="{0036233E-118B-0670-FC8A-D2442D1452B1}"/>
              </a:ext>
            </a:extLst>
          </p:cNvPr>
          <p:cNvPicPr>
            <a:picLocks noChangeAspect="1"/>
          </p:cNvPicPr>
          <p:nvPr/>
        </p:nvPicPr>
        <p:blipFill>
          <a:blip r:embed="rId2"/>
          <a:stretch>
            <a:fillRect/>
          </a:stretch>
        </p:blipFill>
        <p:spPr>
          <a:xfrm>
            <a:off x="1156996" y="1061454"/>
            <a:ext cx="9615973" cy="3623797"/>
          </a:xfrm>
          <a:prstGeom prst="rect">
            <a:avLst/>
          </a:prstGeom>
        </p:spPr>
      </p:pic>
    </p:spTree>
    <p:extLst>
      <p:ext uri="{BB962C8B-B14F-4D97-AF65-F5344CB8AC3E}">
        <p14:creationId xmlns:p14="http://schemas.microsoft.com/office/powerpoint/2010/main" val="3263537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6BAB3-D88A-3EFF-72E8-D8C23F106A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54F44E-54C6-D2C5-7215-8F1E8EEE7749}"/>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3. Planning and Design of Work </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DD7192D-98A2-9498-BA85-93313E671682}"/>
              </a:ext>
            </a:extLst>
          </p:cNvPr>
          <p:cNvSpPr>
            <a:spLocks noGrp="1"/>
          </p:cNvSpPr>
          <p:nvPr>
            <p:ph idx="1"/>
          </p:nvPr>
        </p:nvSpPr>
        <p:spPr/>
        <p:txBody>
          <a:bodyPr>
            <a:normAutofit/>
          </a:bodyPr>
          <a:lstStyle/>
          <a:p>
            <a:pPr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Identified key topics related to strategic innovation and digital transformation.</a:t>
            </a:r>
          </a:p>
          <a:p>
            <a:pPr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Collected relevant research papers, technical articles, and industry case studies.</a:t>
            </a:r>
          </a:p>
          <a:p>
            <a:pPr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Designed a structured framework to study AI, IoT, and other emerging technologies.</a:t>
            </a:r>
          </a:p>
          <a:p>
            <a:pPr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Analyzed leadership models and their role in technology-driven transformation.</a:t>
            </a:r>
          </a:p>
          <a:p>
            <a:pPr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Organized the findings into clear sections for the book chapter and presentation.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9830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BDCAE-4FAB-C6B8-FDA2-564C87756881}"/>
              </a:ext>
            </a:extLst>
          </p:cNvPr>
          <p:cNvSpPr>
            <a:spLocks noGrp="1"/>
          </p:cNvSpPr>
          <p:nvPr>
            <p:ph type="title"/>
          </p:nvPr>
        </p:nvSpPr>
        <p:spPr>
          <a:xfrm>
            <a:off x="1166292" y="864573"/>
            <a:ext cx="10058400" cy="757193"/>
          </a:xfrm>
        </p:spPr>
        <p:txBody>
          <a:bodyPr/>
          <a:lstStyle/>
          <a:p>
            <a:r>
              <a:rPr lang="en-IN" dirty="0">
                <a:latin typeface="Times New Roman" panose="02020603050405020304" pitchFamily="18" charset="0"/>
                <a:cs typeface="Times New Roman" panose="02020603050405020304" pitchFamily="18" charset="0"/>
              </a:rPr>
              <a:t>4 Research framework</a:t>
            </a:r>
          </a:p>
        </p:txBody>
      </p:sp>
      <p:sp>
        <p:nvSpPr>
          <p:cNvPr id="5" name="TextBox 4">
            <a:extLst>
              <a:ext uri="{FF2B5EF4-FFF2-40B4-BE49-F238E27FC236}">
                <a16:creationId xmlns:a16="http://schemas.microsoft.com/office/drawing/2014/main" id="{A5B2A362-B932-B34C-1927-7942E2A04A93}"/>
              </a:ext>
            </a:extLst>
          </p:cNvPr>
          <p:cNvSpPr txBox="1"/>
          <p:nvPr/>
        </p:nvSpPr>
        <p:spPr>
          <a:xfrm>
            <a:off x="1103032" y="1847849"/>
            <a:ext cx="6417442" cy="3741409"/>
          </a:xfrm>
          <a:prstGeom prst="rect">
            <a:avLst/>
          </a:prstGeom>
          <a:noFill/>
        </p:spPr>
        <p:txBody>
          <a:bodyPr wrap="square">
            <a:spAutoFit/>
          </a:bodyPr>
          <a:lstStyle/>
          <a:p>
            <a:pPr marR="374650" algn="just">
              <a:lnSpc>
                <a:spcPct val="150000"/>
              </a:lnSpc>
              <a:buNone/>
            </a:pPr>
            <a:r>
              <a:rPr lang="en-US" sz="1600" dirty="0">
                <a:latin typeface="Times New Roman" panose="02020603050405020304" pitchFamily="18" charset="0"/>
                <a:ea typeface="Times New Roman" panose="02020603050405020304" pitchFamily="18" charset="0"/>
              </a:rPr>
              <a:t>-&gt; Focuses on studying strategic innovation and digital transformation models.</a:t>
            </a:r>
          </a:p>
          <a:p>
            <a:pPr marR="374650" algn="just">
              <a:lnSpc>
                <a:spcPct val="150000"/>
              </a:lnSpc>
              <a:buNone/>
            </a:pPr>
            <a:r>
              <a:rPr lang="en-US" sz="1600" dirty="0">
                <a:latin typeface="Times New Roman" panose="02020603050405020304" pitchFamily="18" charset="0"/>
                <a:ea typeface="Times New Roman" panose="02020603050405020304" pitchFamily="18" charset="0"/>
              </a:rPr>
              <a:t>-&gt; Examines the role of AI, IoT, and other emerging technologies in shaping businesses.</a:t>
            </a:r>
          </a:p>
          <a:p>
            <a:pPr marR="374650" algn="just">
              <a:lnSpc>
                <a:spcPct val="150000"/>
              </a:lnSpc>
              <a:buNone/>
            </a:pPr>
            <a:r>
              <a:rPr lang="en-US" sz="1600" dirty="0">
                <a:latin typeface="Times New Roman" panose="02020603050405020304" pitchFamily="18" charset="0"/>
                <a:ea typeface="Times New Roman" panose="02020603050405020304" pitchFamily="18" charset="0"/>
              </a:rPr>
              <a:t>-&gt; Analyzes leadership approaches that support technology-driven change.</a:t>
            </a:r>
          </a:p>
          <a:p>
            <a:pPr marR="374650" algn="just">
              <a:lnSpc>
                <a:spcPct val="150000"/>
              </a:lnSpc>
              <a:buNone/>
            </a:pPr>
            <a:r>
              <a:rPr lang="en-US" sz="1600" dirty="0">
                <a:latin typeface="Times New Roman" panose="02020603050405020304" pitchFamily="18" charset="0"/>
                <a:ea typeface="Times New Roman" panose="02020603050405020304" pitchFamily="18" charset="0"/>
              </a:rPr>
              <a:t>-&gt; Integrates sustainability and ethical practices into the transformation process.</a:t>
            </a:r>
          </a:p>
          <a:p>
            <a:pPr marR="374650" algn="just">
              <a:lnSpc>
                <a:spcPct val="150000"/>
              </a:lnSpc>
              <a:buNone/>
            </a:pPr>
            <a:r>
              <a:rPr lang="en-US" sz="1600" dirty="0">
                <a:latin typeface="Times New Roman" panose="02020603050405020304" pitchFamily="18" charset="0"/>
                <a:ea typeface="Times New Roman" panose="02020603050405020304" pitchFamily="18" charset="0"/>
              </a:rPr>
              <a:t>-&gt; Connects technological, organizational, and global impact factors into a unified framework.</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621125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EA1AEE3-3BD3-2C07-09A6-D60552494202}"/>
              </a:ext>
            </a:extLst>
          </p:cNvPr>
          <p:cNvPicPr>
            <a:picLocks noChangeAspect="1"/>
          </p:cNvPicPr>
          <p:nvPr/>
        </p:nvPicPr>
        <p:blipFill>
          <a:blip r:embed="rId2"/>
          <a:stretch>
            <a:fillRect/>
          </a:stretch>
        </p:blipFill>
        <p:spPr>
          <a:xfrm>
            <a:off x="2559698" y="369725"/>
            <a:ext cx="7245220" cy="5433915"/>
          </a:xfrm>
          <a:prstGeom prst="rect">
            <a:avLst/>
          </a:prstGeom>
        </p:spPr>
      </p:pic>
    </p:spTree>
    <p:extLst>
      <p:ext uri="{BB962C8B-B14F-4D97-AF65-F5344CB8AC3E}">
        <p14:creationId xmlns:p14="http://schemas.microsoft.com/office/powerpoint/2010/main" val="34737668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E2949-9E7F-3EA8-B9F0-38F019E24A5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5. Implementation and Execution</a:t>
            </a:r>
            <a:endParaRPr lang="en-IN"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C24C8353-CD53-0F26-CF05-28DA13E25CC9}"/>
              </a:ext>
            </a:extLst>
          </p:cNvPr>
          <p:cNvSpPr txBox="1">
            <a:spLocks/>
          </p:cNvSpPr>
          <p:nvPr/>
        </p:nvSpPr>
        <p:spPr>
          <a:xfrm>
            <a:off x="1097280" y="1940625"/>
            <a:ext cx="6255242" cy="4023360"/>
          </a:xfrm>
          <a:prstGeom prst="rect">
            <a:avLst/>
          </a:prstGeom>
        </p:spPr>
        <p:txBody>
          <a:bodyPr>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1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Collected and reviewed research papers, industry reports, and global case studies.</a:t>
            </a:r>
          </a:p>
          <a:p>
            <a:pPr algn="just">
              <a:lnSpc>
                <a:spcPct val="11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Analyzed how AI, IoT, and digital technologies are applied in real business environments.</a:t>
            </a:r>
          </a:p>
          <a:p>
            <a:pPr algn="just">
              <a:lnSpc>
                <a:spcPct val="11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Compared different leadership models and transformation strategies across organizations.</a:t>
            </a:r>
          </a:p>
          <a:p>
            <a:pPr algn="just">
              <a:lnSpc>
                <a:spcPct val="11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Organized insights into tables, diagrams, and frameworks for clarity and evaluation.</a:t>
            </a:r>
          </a:p>
          <a:p>
            <a:pPr algn="just">
              <a:lnSpc>
                <a:spcPct val="11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Integrated all findings to develop a cohesive understanding of strategic innovation and business transformation.</a:t>
            </a:r>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E671B1F-4ABC-9D4E-DD48-EFEF01691E2F}"/>
              </a:ext>
            </a:extLst>
          </p:cNvPr>
          <p:cNvPicPr>
            <a:picLocks noChangeAspect="1"/>
          </p:cNvPicPr>
          <p:nvPr/>
        </p:nvPicPr>
        <p:blipFill>
          <a:blip r:embed="rId2"/>
          <a:stretch>
            <a:fillRect/>
          </a:stretch>
        </p:blipFill>
        <p:spPr>
          <a:xfrm>
            <a:off x="8640145" y="1832786"/>
            <a:ext cx="2780425" cy="4397113"/>
          </a:xfrm>
          <a:prstGeom prst="rect">
            <a:avLst/>
          </a:prstGeom>
        </p:spPr>
      </p:pic>
    </p:spTree>
    <p:extLst>
      <p:ext uri="{BB962C8B-B14F-4D97-AF65-F5344CB8AC3E}">
        <p14:creationId xmlns:p14="http://schemas.microsoft.com/office/powerpoint/2010/main" val="36132779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00AA4DD-D85A-9300-A386-0EAD6B4BF612}"/>
              </a:ext>
            </a:extLst>
          </p:cNvPr>
          <p:cNvSpPr txBox="1"/>
          <p:nvPr/>
        </p:nvSpPr>
        <p:spPr>
          <a:xfrm>
            <a:off x="890246" y="907156"/>
            <a:ext cx="6471607" cy="3785652"/>
          </a:xfrm>
          <a:prstGeom prst="rect">
            <a:avLst/>
          </a:prstGeom>
          <a:noFill/>
        </p:spPr>
        <p:txBody>
          <a:bodyPr wrap="square">
            <a:spAutoFit/>
          </a:bodyPr>
          <a:lstStyle/>
          <a:p>
            <a:pPr>
              <a:buNone/>
            </a:pPr>
            <a:r>
              <a:rPr lang="en-US" sz="1600" b="1" dirty="0">
                <a:latin typeface="Times New Roman" panose="02020603050405020304" pitchFamily="18" charset="0"/>
                <a:cs typeface="Times New Roman" panose="02020603050405020304" pitchFamily="18" charset="0"/>
              </a:rPr>
              <a:t>Technology Integration</a:t>
            </a:r>
            <a:r>
              <a:rPr lang="en-US" sz="1600" dirty="0">
                <a:latin typeface="Times New Roman" panose="02020603050405020304" pitchFamily="18" charset="0"/>
                <a:cs typeface="Times New Roman" panose="02020603050405020304" pitchFamily="18" charset="0"/>
              </a:rPr>
              <a:t>: Emerging tools like AI, IoT, and cloud computing act as the core drivers enabling innovation and operational efficiency.</a:t>
            </a:r>
          </a:p>
          <a:p>
            <a:pPr>
              <a:buNone/>
            </a:pPr>
            <a:endParaRPr lang="en-US" sz="1600" dirty="0">
              <a:latin typeface="Times New Roman" panose="02020603050405020304" pitchFamily="18" charset="0"/>
              <a:cs typeface="Times New Roman" panose="02020603050405020304" pitchFamily="18" charset="0"/>
            </a:endParaRPr>
          </a:p>
          <a:p>
            <a:pPr>
              <a:buNone/>
            </a:pPr>
            <a:r>
              <a:rPr lang="en-US" sz="1600" b="1" dirty="0">
                <a:latin typeface="Times New Roman" panose="02020603050405020304" pitchFamily="18" charset="0"/>
                <a:cs typeface="Times New Roman" panose="02020603050405020304" pitchFamily="18" charset="0"/>
              </a:rPr>
              <a:t>Leadership Alignment: </a:t>
            </a:r>
            <a:r>
              <a:rPr lang="en-US" sz="1600" dirty="0">
                <a:latin typeface="Times New Roman" panose="02020603050405020304" pitchFamily="18" charset="0"/>
                <a:cs typeface="Times New Roman" panose="02020603050405020304" pitchFamily="18" charset="0"/>
              </a:rPr>
              <a:t>Transformational and digital leadership guide technology adoption, change management, and strategic decision-making.</a:t>
            </a:r>
          </a:p>
          <a:p>
            <a:pPr>
              <a:buNone/>
            </a:pPr>
            <a:endParaRPr lang="en-US" sz="1600" dirty="0">
              <a:latin typeface="Times New Roman" panose="02020603050405020304" pitchFamily="18" charset="0"/>
              <a:cs typeface="Times New Roman" panose="02020603050405020304" pitchFamily="18" charset="0"/>
            </a:endParaRPr>
          </a:p>
          <a:p>
            <a:pPr>
              <a:buNone/>
            </a:pPr>
            <a:r>
              <a:rPr lang="en-US" sz="1600" b="1" dirty="0">
                <a:latin typeface="Times New Roman" panose="02020603050405020304" pitchFamily="18" charset="0"/>
                <a:cs typeface="Times New Roman" panose="02020603050405020304" pitchFamily="18" charset="0"/>
              </a:rPr>
              <a:t>Innovation Framework</a:t>
            </a:r>
            <a:r>
              <a:rPr lang="en-US" sz="1600" dirty="0">
                <a:latin typeface="Times New Roman" panose="02020603050405020304" pitchFamily="18" charset="0"/>
                <a:cs typeface="Times New Roman" panose="02020603050405020304" pitchFamily="18" charset="0"/>
              </a:rPr>
              <a:t>: Combining technology with organizational creativity encourages continuous improvement and new business models.</a:t>
            </a:r>
          </a:p>
          <a:p>
            <a:pPr>
              <a:buNone/>
            </a:pPr>
            <a:endParaRPr lang="en-US" sz="1600" dirty="0">
              <a:latin typeface="Times New Roman" panose="02020603050405020304" pitchFamily="18" charset="0"/>
              <a:cs typeface="Times New Roman" panose="02020603050405020304" pitchFamily="18" charset="0"/>
            </a:endParaRPr>
          </a:p>
          <a:p>
            <a:pPr>
              <a:buNone/>
            </a:pPr>
            <a:r>
              <a:rPr lang="en-US" sz="1600" b="1" dirty="0">
                <a:latin typeface="Times New Roman" panose="02020603050405020304" pitchFamily="18" charset="0"/>
                <a:cs typeface="Times New Roman" panose="02020603050405020304" pitchFamily="18" charset="0"/>
              </a:rPr>
              <a:t>Sustainability &amp; Ethics: </a:t>
            </a:r>
            <a:r>
              <a:rPr lang="en-US" sz="1600" dirty="0">
                <a:latin typeface="Times New Roman" panose="02020603050405020304" pitchFamily="18" charset="0"/>
                <a:cs typeface="Times New Roman" panose="02020603050405020304" pitchFamily="18" charset="0"/>
              </a:rPr>
              <a:t>Ethical AI, data governance, and sustainable practices ensure long-term responsible growth.</a:t>
            </a:r>
          </a:p>
          <a:p>
            <a:pPr>
              <a:buNone/>
            </a:pPr>
            <a:endParaRPr lang="en-US" sz="1600" dirty="0">
              <a:latin typeface="Times New Roman" panose="02020603050405020304" pitchFamily="18" charset="0"/>
              <a:cs typeface="Times New Roman" panose="02020603050405020304" pitchFamily="18" charset="0"/>
            </a:endParaRPr>
          </a:p>
          <a:p>
            <a:pPr>
              <a:buNone/>
            </a:pPr>
            <a:r>
              <a:rPr lang="en-US" sz="1600" b="1" dirty="0">
                <a:latin typeface="Times New Roman" panose="02020603050405020304" pitchFamily="18" charset="0"/>
                <a:cs typeface="Times New Roman" panose="02020603050405020304" pitchFamily="18" charset="0"/>
              </a:rPr>
              <a:t>Global Impact: </a:t>
            </a:r>
            <a:r>
              <a:rPr lang="en-US" sz="1600" dirty="0">
                <a:latin typeface="Times New Roman" panose="02020603050405020304" pitchFamily="18" charset="0"/>
                <a:cs typeface="Times New Roman" panose="02020603050405020304" pitchFamily="18" charset="0"/>
              </a:rPr>
              <a:t>When these elements work together, businesses achieve scalable transformation, enhanced competitiveness, and broader global influence</a:t>
            </a:r>
            <a:endParaRPr lang="en-IN" sz="1600" dirty="0">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99CF3087-40D8-DCF2-C50C-CC3376E9D313}"/>
              </a:ext>
            </a:extLst>
          </p:cNvPr>
          <p:cNvSpPr txBox="1">
            <a:spLocks/>
          </p:cNvSpPr>
          <p:nvPr/>
        </p:nvSpPr>
        <p:spPr>
          <a:xfrm>
            <a:off x="890246" y="260754"/>
            <a:ext cx="10058400" cy="728069"/>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600" dirty="0">
                <a:latin typeface="Times New Roman" panose="02020603050405020304" pitchFamily="18" charset="0"/>
                <a:cs typeface="Times New Roman" panose="02020603050405020304" pitchFamily="18" charset="0"/>
              </a:rPr>
              <a:t>6. Proposed conceptual model</a:t>
            </a:r>
            <a:endParaRPr lang="en-IN" sz="36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091C332-BA65-3B7F-6F71-EB8BDF0C5CB0}"/>
              </a:ext>
            </a:extLst>
          </p:cNvPr>
          <p:cNvPicPr>
            <a:picLocks noChangeAspect="1"/>
          </p:cNvPicPr>
          <p:nvPr/>
        </p:nvPicPr>
        <p:blipFill>
          <a:blip r:embed="rId2"/>
          <a:stretch>
            <a:fillRect/>
          </a:stretch>
        </p:blipFill>
        <p:spPr>
          <a:xfrm>
            <a:off x="7361853" y="2132874"/>
            <a:ext cx="4200525" cy="4200525"/>
          </a:xfrm>
          <a:prstGeom prst="rect">
            <a:avLst/>
          </a:prstGeom>
        </p:spPr>
      </p:pic>
    </p:spTree>
    <p:extLst>
      <p:ext uri="{BB962C8B-B14F-4D97-AF65-F5344CB8AC3E}">
        <p14:creationId xmlns:p14="http://schemas.microsoft.com/office/powerpoint/2010/main" val="1985442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7EA55-F0DC-AEEF-FC1C-D3A739CECED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7. Testing / Validation</a:t>
            </a:r>
            <a:endParaRPr lang="en-IN" dirty="0"/>
          </a:p>
        </p:txBody>
      </p:sp>
      <p:sp>
        <p:nvSpPr>
          <p:cNvPr id="5" name="Content Placeholder 2">
            <a:extLst>
              <a:ext uri="{FF2B5EF4-FFF2-40B4-BE49-F238E27FC236}">
                <a16:creationId xmlns:a16="http://schemas.microsoft.com/office/drawing/2014/main" id="{D815C90A-ADC9-E52E-4623-19CCAC705AD6}"/>
              </a:ext>
            </a:extLst>
          </p:cNvPr>
          <p:cNvSpPr txBox="1">
            <a:spLocks/>
          </p:cNvSpPr>
          <p:nvPr/>
        </p:nvSpPr>
        <p:spPr>
          <a:xfrm>
            <a:off x="1097280" y="1940625"/>
            <a:ext cx="10058400" cy="4023360"/>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Validated findings by comparing insights across multiple research papers and studies.</a:t>
            </a:r>
          </a:p>
          <a:p>
            <a:pPr algn="just">
              <a:lnSpc>
                <a:spcPct val="1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Cross-checked technological concepts like AI and IoT with industry case evidence.</a:t>
            </a:r>
          </a:p>
          <a:p>
            <a:pPr algn="just">
              <a:lnSpc>
                <a:spcPct val="1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Ensured consistency of the proposed framework with existing transformation models.</a:t>
            </a:r>
          </a:p>
          <a:p>
            <a:pPr algn="just">
              <a:lnSpc>
                <a:spcPct val="1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Verified relevance through real-world examples from different sectors.</a:t>
            </a:r>
          </a:p>
          <a:p>
            <a:pPr algn="just">
              <a:lnSpc>
                <a:spcPct val="1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Reviewed conclusions with standard research guidelines to ensure accuracy and reliability.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6762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199C1-24BD-BC91-67E3-6B0EEFAFC31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8. Results and Analysis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240673A-D0FA-B8BC-E66D-74CB1B7A763F}"/>
              </a:ext>
            </a:extLst>
          </p:cNvPr>
          <p:cNvSpPr txBox="1">
            <a:spLocks/>
          </p:cNvSpPr>
          <p:nvPr/>
        </p:nvSpPr>
        <p:spPr>
          <a:xfrm>
            <a:off x="1097280" y="1940625"/>
            <a:ext cx="10058400" cy="4023360"/>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study shows that AI, IoT, and cloud technologies significantly improve business efficiency and decision-making.</a:t>
            </a:r>
          </a:p>
          <a:p>
            <a:pPr algn="just">
              <a:lnSpc>
                <a:spcPct val="1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Analysis of literature reveals that organizations with strong digital leadership achieve smoother and faster transformation.</a:t>
            </a:r>
          </a:p>
          <a:p>
            <a:pPr algn="just">
              <a:lnSpc>
                <a:spcPct val="1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Case studies confirm that technology + leadership alignment leads to higher innovation performance.</a:t>
            </a:r>
          </a:p>
          <a:p>
            <a:pPr algn="just">
              <a:lnSpc>
                <a:spcPct val="1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Ethical and sustainable practices were found to enhance trust, long-term stability, and global relevance.</a:t>
            </a:r>
          </a:p>
          <a:p>
            <a:pPr algn="just">
              <a:lnSpc>
                <a:spcPct val="1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Overall results indicate that companies adopting strategic innovation frameworks gain better competitiveness and global impact.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37632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FBBE5-9417-C8B9-93E6-34D6979BA80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9. Challenges and Solutions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FF6DD06-CEDB-54B7-AAC9-F9E156F06E78}"/>
              </a:ext>
            </a:extLst>
          </p:cNvPr>
          <p:cNvSpPr txBox="1">
            <a:spLocks/>
          </p:cNvSpPr>
          <p:nvPr/>
        </p:nvSpPr>
        <p:spPr>
          <a:xfrm>
            <a:off x="1097280" y="1940625"/>
            <a:ext cx="10058400" cy="4023360"/>
          </a:xfrm>
          <a:prstGeom prst="rect">
            <a:avLst/>
          </a:prstGeom>
        </p:spPr>
        <p:txBody>
          <a:bodyPr>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0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Challenges: </a:t>
            </a:r>
            <a:r>
              <a:rPr lang="en-US" dirty="0">
                <a:latin typeface="Times New Roman" panose="02020603050405020304" pitchFamily="18" charset="0"/>
                <a:cs typeface="Times New Roman" panose="02020603050405020304" pitchFamily="18" charset="0"/>
              </a:rPr>
              <a:t>Difficulty in adopting emerging technologies like AI and IoT.</a:t>
            </a:r>
          </a:p>
          <a:p>
            <a:pPr algn="just">
              <a:lnSpc>
                <a:spcPct val="1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Lack of skilled workforce for digital transformation.</a:t>
            </a:r>
          </a:p>
          <a:p>
            <a:pPr algn="just">
              <a:lnSpc>
                <a:spcPct val="1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Limited leadership readiness for tech-driven </a:t>
            </a:r>
            <a:r>
              <a:rPr lang="en-US" dirty="0" err="1">
                <a:latin typeface="Times New Roman" panose="02020603050405020304" pitchFamily="18" charset="0"/>
                <a:cs typeface="Times New Roman" panose="02020603050405020304" pitchFamily="18" charset="0"/>
              </a:rPr>
              <a:t>change.Concerns</a:t>
            </a:r>
            <a:r>
              <a:rPr lang="en-US" dirty="0">
                <a:latin typeface="Times New Roman" panose="02020603050405020304" pitchFamily="18" charset="0"/>
                <a:cs typeface="Times New Roman" panose="02020603050405020304" pitchFamily="18" charset="0"/>
              </a:rPr>
              <a:t> related to data privacy, security, and ethics.</a:t>
            </a:r>
          </a:p>
          <a:p>
            <a:pPr algn="just">
              <a:lnSpc>
                <a:spcPct val="1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High cost of implementing advanced digital systems.</a:t>
            </a:r>
          </a:p>
          <a:p>
            <a:pPr algn="just">
              <a:lnSpc>
                <a:spcPct val="10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Solutions</a:t>
            </a:r>
            <a:r>
              <a:rPr lang="en-US" dirty="0">
                <a:latin typeface="Times New Roman" panose="02020603050405020304" pitchFamily="18" charset="0"/>
                <a:cs typeface="Times New Roman" panose="02020603050405020304" pitchFamily="18" charset="0"/>
              </a:rPr>
              <a:t>: Provide continuous digital training and skill </a:t>
            </a:r>
            <a:r>
              <a:rPr lang="en-US" dirty="0" err="1">
                <a:latin typeface="Times New Roman" panose="02020603050405020304" pitchFamily="18" charset="0"/>
                <a:cs typeface="Times New Roman" panose="02020603050405020304" pitchFamily="18" charset="0"/>
              </a:rPr>
              <a:t>development.Implement</a:t>
            </a:r>
            <a:r>
              <a:rPr lang="en-US" dirty="0">
                <a:latin typeface="Times New Roman" panose="02020603050405020304" pitchFamily="18" charset="0"/>
                <a:cs typeface="Times New Roman" panose="02020603050405020304" pitchFamily="18" charset="0"/>
              </a:rPr>
              <a:t> technology adoption in phased, strategic steps.</a:t>
            </a:r>
          </a:p>
          <a:p>
            <a:pPr algn="just">
              <a:lnSpc>
                <a:spcPct val="1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Promote transformational and innovation-focused leadership.</a:t>
            </a:r>
          </a:p>
          <a:p>
            <a:pPr algn="just">
              <a:lnSpc>
                <a:spcPct val="1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Strengthen data governance and ethical AI practices.</a:t>
            </a:r>
          </a:p>
          <a:p>
            <a:pPr algn="just">
              <a:lnSpc>
                <a:spcPct val="1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Use scalable, cost-effective cloud and automation tools..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6376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12F93-46B3-3427-ABD7-B57CC0AC54C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10. Conclusion and Future Scope</a:t>
            </a:r>
            <a:endParaRPr lang="en-IN" dirty="0"/>
          </a:p>
        </p:txBody>
      </p:sp>
      <p:sp>
        <p:nvSpPr>
          <p:cNvPr id="3" name="Content Placeholder 2">
            <a:extLst>
              <a:ext uri="{FF2B5EF4-FFF2-40B4-BE49-F238E27FC236}">
                <a16:creationId xmlns:a16="http://schemas.microsoft.com/office/drawing/2014/main" id="{AEC31091-A82E-592D-33A2-F688FAD600AF}"/>
              </a:ext>
            </a:extLst>
          </p:cNvPr>
          <p:cNvSpPr txBox="1">
            <a:spLocks/>
          </p:cNvSpPr>
          <p:nvPr/>
        </p:nvSpPr>
        <p:spPr>
          <a:xfrm>
            <a:off x="1097280" y="1940625"/>
            <a:ext cx="10058400" cy="4023360"/>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just">
              <a:lnSpc>
                <a:spcPct val="100000"/>
              </a:lnSpc>
              <a:buNone/>
            </a:pPr>
            <a:r>
              <a:rPr lang="en-US" b="1" dirty="0">
                <a:latin typeface="Times New Roman" panose="02020603050405020304" pitchFamily="18" charset="0"/>
                <a:cs typeface="Times New Roman" panose="02020603050405020304" pitchFamily="18" charset="0"/>
              </a:rPr>
              <a:t>Conclusion:</a:t>
            </a:r>
          </a:p>
          <a:p>
            <a:pPr marL="0" indent="0" algn="just">
              <a:lnSpc>
                <a:spcPct val="100000"/>
              </a:lnSpc>
              <a:buNone/>
            </a:pPr>
            <a:r>
              <a:rPr lang="en-US" dirty="0">
                <a:latin typeface="Times New Roman" panose="02020603050405020304" pitchFamily="18" charset="0"/>
                <a:cs typeface="Times New Roman" panose="02020603050405020304" pitchFamily="18" charset="0"/>
              </a:rPr>
              <a:t>Strategic innovation supported by AI, IoT, and digital tools is reshaping modern businesses.</a:t>
            </a:r>
          </a:p>
          <a:p>
            <a:pPr algn="just">
              <a:lnSpc>
                <a:spcPct val="1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Leadership plays a critical role in guiding technology adoption and driving transformation.</a:t>
            </a:r>
          </a:p>
          <a:p>
            <a:pPr algn="just">
              <a:lnSpc>
                <a:spcPct val="1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Ethical, sustainable, and data-driven practices strengthen long-term global impact.</a:t>
            </a:r>
          </a:p>
          <a:p>
            <a:pPr marL="0" indent="0" algn="just">
              <a:lnSpc>
                <a:spcPct val="100000"/>
              </a:lnSpc>
              <a:buNone/>
            </a:pPr>
            <a:r>
              <a:rPr lang="en-US" b="1" dirty="0">
                <a:latin typeface="Times New Roman" panose="02020603050405020304" pitchFamily="18" charset="0"/>
                <a:cs typeface="Times New Roman" panose="02020603050405020304" pitchFamily="18" charset="0"/>
              </a:rPr>
              <a:t>Future Scope</a:t>
            </a:r>
            <a:r>
              <a:rPr lang="en-US" dirty="0">
                <a:latin typeface="Times New Roman" panose="02020603050405020304" pitchFamily="18" charset="0"/>
                <a:cs typeface="Times New Roman" panose="02020603050405020304" pitchFamily="18" charset="0"/>
              </a:rPr>
              <a:t>:</a:t>
            </a:r>
          </a:p>
          <a:p>
            <a:pPr marL="0" indent="0" algn="just">
              <a:lnSpc>
                <a:spcPct val="100000"/>
              </a:lnSpc>
              <a:buNone/>
            </a:pPr>
            <a:r>
              <a:rPr lang="en-US" dirty="0">
                <a:latin typeface="Times New Roman" panose="02020603050405020304" pitchFamily="18" charset="0"/>
                <a:cs typeface="Times New Roman" panose="02020603050405020304" pitchFamily="18" charset="0"/>
              </a:rPr>
              <a:t>Increased use of AI automation and smart technologies across industries.</a:t>
            </a:r>
          </a:p>
          <a:p>
            <a:pPr algn="just">
              <a:lnSpc>
                <a:spcPct val="1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Higher focus on ethical AI, cybersecurity, and responsible innovation.</a:t>
            </a:r>
          </a:p>
          <a:p>
            <a:pPr algn="just">
              <a:lnSpc>
                <a:spcPct val="1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Growth of digital leadership models and global tech collaborations.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29888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1048603"/>
            <a:ext cx="10058400" cy="559431"/>
          </a:xfrm>
        </p:spPr>
        <p:txBody>
          <a:bodyPr>
            <a:normAutofit/>
          </a:bodyPr>
          <a:lstStyle/>
          <a:p>
            <a:r>
              <a:rPr lang="en-GB" sz="3600" b="1" dirty="0">
                <a:latin typeface="Times New Roman" panose="02020603050405020304" pitchFamily="18" charset="0"/>
                <a:cs typeface="Times New Roman" panose="02020603050405020304" pitchFamily="18" charset="0"/>
              </a:rPr>
              <a:t>References</a:t>
            </a:r>
            <a:endParaRPr lang="en-IN" sz="3600" b="1"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409DA4C9-D6E4-C83D-2437-AD1AD4DA9B0E}"/>
              </a:ext>
            </a:extLst>
          </p:cNvPr>
          <p:cNvSpPr>
            <a:spLocks noGrp="1"/>
          </p:cNvSpPr>
          <p:nvPr>
            <p:ph idx="1"/>
          </p:nvPr>
        </p:nvSpPr>
        <p:spPr>
          <a:xfrm>
            <a:off x="1097280" y="2013514"/>
            <a:ext cx="10058400" cy="4023360"/>
          </a:xfrm>
        </p:spPr>
        <p:txBody>
          <a:bodyPr>
            <a:normAutofit/>
          </a:bodyPr>
          <a:lstStyle/>
          <a:p>
            <a:pPr lvl="0"/>
            <a:r>
              <a:rPr lang="en-US" dirty="0"/>
              <a:t>-&gt; M. I. Haque, S. Saha, and A. Rahman, “Blockchain for Secure Medical Data Sharing Using Hyperledger Fabric,” </a:t>
            </a:r>
            <a:r>
              <a:rPr lang="en-US" i="1" dirty="0"/>
              <a:t>IEEE Access</a:t>
            </a:r>
            <a:r>
              <a:rPr lang="en-US" dirty="0"/>
              <a:t>, vol. 12, pp. 13842–13856, 2024.</a:t>
            </a:r>
            <a:endParaRPr lang="en-IN" dirty="0"/>
          </a:p>
          <a:p>
            <a:pPr lvl="0"/>
            <a:r>
              <a:rPr lang="en-US" dirty="0"/>
              <a:t>-&gt; AWS. (2023). </a:t>
            </a:r>
            <a:r>
              <a:rPr lang="en-US" i="1" dirty="0"/>
              <a:t>Human-in-the-loop and human-centric AI integration for startups</a:t>
            </a:r>
            <a:r>
              <a:rPr lang="en-US" dirty="0"/>
              <a:t>. AWS Whitepaper.</a:t>
            </a:r>
            <a:endParaRPr lang="en-IN" dirty="0"/>
          </a:p>
          <a:p>
            <a:r>
              <a:rPr lang="en-US" dirty="0"/>
              <a:t>-&gt; Brynjolfsson, E., &amp; McAfee, A. (2017). </a:t>
            </a:r>
            <a:r>
              <a:rPr lang="en-US" i="1" dirty="0"/>
              <a:t>Machine, platform, crowd: Harnessing our digital future</a:t>
            </a:r>
            <a:r>
              <a:rPr lang="en-US" dirty="0"/>
              <a:t>. W.W. Norton &amp; Company.</a:t>
            </a:r>
          </a:p>
          <a:p>
            <a:r>
              <a:rPr lang="en-US" dirty="0"/>
              <a:t>-&gt; Brynjolfsson, E., &amp; McAfee, A. (2021). </a:t>
            </a:r>
            <a:r>
              <a:rPr lang="en-US" i="1" dirty="0"/>
              <a:t>The future of work in the AI age</a:t>
            </a:r>
            <a:r>
              <a:rPr lang="en-US" dirty="0"/>
              <a:t>. MIT Press.</a:t>
            </a:r>
            <a:endParaRPr lang="en-IN" dirty="0"/>
          </a:p>
          <a:p>
            <a:r>
              <a:rPr lang="en-US" dirty="0"/>
              <a:t> </a:t>
            </a:r>
            <a:r>
              <a:rPr lang="en-IN" dirty="0"/>
              <a:t>-&gt; </a:t>
            </a:r>
            <a:r>
              <a:rPr lang="en-US" dirty="0" err="1"/>
              <a:t>Bughin</a:t>
            </a:r>
            <a:r>
              <a:rPr lang="en-US" dirty="0"/>
              <a:t>, J., Seong, J., Manyika, J., Chui, M., &amp; Joshi, R. (2018). </a:t>
            </a:r>
            <a:r>
              <a:rPr lang="en-US" i="1" dirty="0"/>
              <a:t>Skill shift: Automation and the </a:t>
            </a:r>
          </a:p>
          <a:p>
            <a:pPr lvl="0"/>
            <a:r>
              <a:rPr lang="en-US" i="1" dirty="0"/>
              <a:t>future of the workforce</a:t>
            </a:r>
            <a:r>
              <a:rPr lang="en-US" dirty="0"/>
              <a:t>. McKinsey Global Institute.</a:t>
            </a:r>
            <a:endParaRPr lang="en-IN" dirty="0"/>
          </a:p>
          <a:p>
            <a:pPr algn="just">
              <a:lnSpc>
                <a:spcPct val="12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87872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6D903-EC6E-069B-D32C-4E654F0ADD20}"/>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Internship Completion Certificate</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92B4001-8017-381F-4EA0-72A13B5053FE}"/>
              </a:ext>
            </a:extLst>
          </p:cNvPr>
          <p:cNvPicPr>
            <a:picLocks noChangeAspect="1"/>
          </p:cNvPicPr>
          <p:nvPr/>
        </p:nvPicPr>
        <p:blipFill>
          <a:blip r:embed="rId2"/>
          <a:stretch>
            <a:fillRect/>
          </a:stretch>
        </p:blipFill>
        <p:spPr>
          <a:xfrm>
            <a:off x="4012163" y="1859438"/>
            <a:ext cx="3945914" cy="4998562"/>
          </a:xfrm>
          <a:prstGeom prst="rect">
            <a:avLst/>
          </a:prstGeom>
        </p:spPr>
      </p:pic>
    </p:spTree>
    <p:extLst>
      <p:ext uri="{BB962C8B-B14F-4D97-AF65-F5344CB8AC3E}">
        <p14:creationId xmlns:p14="http://schemas.microsoft.com/office/powerpoint/2010/main" val="22409862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326</TotalTime>
  <Words>1236</Words>
  <Application>Microsoft Office PowerPoint</Application>
  <PresentationFormat>Widescreen</PresentationFormat>
  <Paragraphs>119</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Calibri</vt:lpstr>
      <vt:lpstr>Calibri Light</vt:lpstr>
      <vt:lpstr>Times New Roman</vt:lpstr>
      <vt:lpstr>Wingdings</vt:lpstr>
      <vt:lpstr>Retrospect</vt:lpstr>
      <vt:lpstr>STANLEY COLLEGE OF ENGINEERING AND TECHNOLGY FOR WOMEN (AUTONOMOUS) Abids. Hyderabad – 500 001</vt:lpstr>
      <vt:lpstr>PowerPoint Presentation</vt:lpstr>
      <vt:lpstr>Contents</vt:lpstr>
      <vt:lpstr>Abstract</vt:lpstr>
      <vt:lpstr>1. Problem Statement</vt:lpstr>
      <vt:lpstr>2. Background and Literature Review </vt:lpstr>
      <vt:lpstr>PowerPoint Presentation</vt:lpstr>
      <vt:lpstr>PowerPoint Presentation</vt:lpstr>
      <vt:lpstr>3. Planning and Design of Work </vt:lpstr>
      <vt:lpstr>4 Research framework</vt:lpstr>
      <vt:lpstr>PowerPoint Presentation</vt:lpstr>
      <vt:lpstr>5. Implementation and Execution</vt:lpstr>
      <vt:lpstr>PowerPoint Presentation</vt:lpstr>
      <vt:lpstr>7. Testing / Validation</vt:lpstr>
      <vt:lpstr>8. Results and Analysis</vt:lpstr>
      <vt:lpstr>9. Challenges and Solutions</vt:lpstr>
      <vt:lpstr>10. Conclusion and Future Scope</vt:lpstr>
      <vt:lpstr>References</vt:lpstr>
      <vt:lpstr>Internship Completion Certificate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STANLEY COLLEGE OF ENGINEERING AND TECHNOLGY FOR WOMEN (AUTONOMOUS) , Abids. Hyderabad – 500 001</dc:title>
  <dc:creator>Microsoft account</dc:creator>
  <cp:lastModifiedBy>Sri Akshainie</cp:lastModifiedBy>
  <cp:revision>9</cp:revision>
  <dcterms:created xsi:type="dcterms:W3CDTF">2025-11-09T15:30:20Z</dcterms:created>
  <dcterms:modified xsi:type="dcterms:W3CDTF">2025-11-15T04:02:38Z</dcterms:modified>
</cp:coreProperties>
</file>