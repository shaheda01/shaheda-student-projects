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sldIdLst>
    <p:sldId id="257" r:id="rId2"/>
    <p:sldId id="291" r:id="rId3"/>
    <p:sldId id="260"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92" r:id="rId18"/>
    <p:sldId id="288" r:id="rId19"/>
    <p:sldId id="289" r:id="rId20"/>
    <p:sldId id="29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25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3102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44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2538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33107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3763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99430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96242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34671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19889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23672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509A250-FF31-4206-8172-F9D3106AACB1}" type="datetimeFigureOut">
              <a:rPr lang="en-US" smtClean="0"/>
              <a:t>11/15/2025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06744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1699" y="258254"/>
            <a:ext cx="9968230" cy="654685"/>
          </a:xfrm>
          <a:prstGeom prst="rect">
            <a:avLst/>
          </a:prstGeom>
        </p:spPr>
        <p:txBody>
          <a:bodyPr vert="horz" wrap="square" lIns="0" tIns="52705" rIns="0" bIns="0" rtlCol="0">
            <a:spAutoFit/>
          </a:bodyPr>
          <a:lstStyle/>
          <a:p>
            <a:pPr algn="ctr">
              <a:lnSpc>
                <a:spcPct val="100000"/>
              </a:lnSpc>
              <a:spcBef>
                <a:spcPts val="415"/>
              </a:spcBef>
            </a:pPr>
            <a:r>
              <a:rPr sz="1800" b="1" spc="-20" dirty="0">
                <a:latin typeface="Times New Roman" panose="02020603050405020304" pitchFamily="18" charset="0"/>
                <a:cs typeface="Times New Roman" panose="02020603050405020304" pitchFamily="18" charset="0"/>
              </a:rPr>
              <a:t>STANLEY</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COLLEGE</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OF</a:t>
            </a:r>
            <a:r>
              <a:rPr sz="1800" b="1" spc="-6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ENGINEERING</a:t>
            </a:r>
            <a:r>
              <a:rPr sz="1800" b="1" spc="-6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TECHNOLGY</a:t>
            </a:r>
            <a:r>
              <a:rPr sz="1800" b="1" spc="-1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FOR</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WOMEN</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(AUTONOMOUS</a:t>
            </a:r>
            <a:r>
              <a:rPr sz="1800" b="1" dirty="0" smtClean="0">
                <a:latin typeface="Times New Roman" panose="02020603050405020304" pitchFamily="18" charset="0"/>
                <a:cs typeface="Times New Roman" panose="02020603050405020304" pitchFamily="18" charset="0"/>
              </a:rPr>
              <a:t>)</a:t>
            </a:r>
            <a:endParaRPr sz="1800" b="1" dirty="0">
              <a:latin typeface="Times New Roman" panose="02020603050405020304" pitchFamily="18" charset="0"/>
              <a:cs typeface="Times New Roman" panose="02020603050405020304" pitchFamily="18" charset="0"/>
            </a:endParaRPr>
          </a:p>
          <a:p>
            <a:pPr algn="ctr">
              <a:lnSpc>
                <a:spcPct val="100000"/>
              </a:lnSpc>
              <a:spcBef>
                <a:spcPts val="315"/>
              </a:spcBef>
            </a:pPr>
            <a:r>
              <a:rPr sz="1800" dirty="0">
                <a:latin typeface="Times New Roman" panose="02020603050405020304" pitchFamily="18" charset="0"/>
                <a:cs typeface="Times New Roman" panose="02020603050405020304" pitchFamily="18" charset="0"/>
              </a:rPr>
              <a:t>Abids.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Hyderabad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500</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001</a:t>
            </a: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86200" y="900747"/>
            <a:ext cx="5638800" cy="447558"/>
          </a:xfrm>
          <a:prstGeom prst="rect">
            <a:avLst/>
          </a:prstGeom>
        </p:spPr>
        <p:txBody>
          <a:bodyPr vert="horz" wrap="square" lIns="0" tIns="39370" rIns="0" bIns="0" rtlCol="0">
            <a:spAutoFit/>
          </a:bodyPr>
          <a:lstStyle/>
          <a:p>
            <a:pPr marL="7620" algn="ctr">
              <a:lnSpc>
                <a:spcPct val="100000"/>
              </a:lnSpc>
              <a:spcBef>
                <a:spcPts val="310"/>
              </a:spcBef>
            </a:pPr>
            <a:r>
              <a:rPr sz="1200" b="1" i="1" dirty="0">
                <a:latin typeface="Times New Roman" panose="02020603050405020304" pitchFamily="18" charset="0"/>
                <a:cs typeface="Times New Roman" panose="02020603050405020304" pitchFamily="18" charset="0"/>
              </a:rPr>
              <a:t>(Affiliated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to</a:t>
            </a:r>
            <a:r>
              <a:rPr sz="1200" b="1" i="1" spc="35"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Osmania</a:t>
            </a:r>
            <a:r>
              <a:rPr sz="1200" b="1" i="1" spc="2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University</a:t>
            </a:r>
            <a:r>
              <a:rPr sz="1200" b="1" i="1" spc="-5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&amp;</a:t>
            </a:r>
            <a:r>
              <a:rPr sz="1200" b="1" i="1" spc="-2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Approved</a:t>
            </a:r>
            <a:r>
              <a:rPr sz="1200" b="1" i="1" spc="-40" dirty="0">
                <a:latin typeface="Times New Roman" panose="02020603050405020304" pitchFamily="18" charset="0"/>
                <a:cs typeface="Times New Roman" panose="02020603050405020304" pitchFamily="18" charset="0"/>
              </a:rPr>
              <a:t> </a:t>
            </a:r>
            <a:r>
              <a:rPr sz="1200" b="1" i="1" dirty="0">
                <a:latin typeface="Times New Roman" panose="02020603050405020304" pitchFamily="18" charset="0"/>
                <a:cs typeface="Times New Roman" panose="02020603050405020304" pitchFamily="18" charset="0"/>
              </a:rPr>
              <a:t>by</a:t>
            </a:r>
            <a:r>
              <a:rPr sz="1200" b="1" i="1" spc="-45" dirty="0">
                <a:latin typeface="Times New Roman" panose="02020603050405020304" pitchFamily="18" charset="0"/>
                <a:cs typeface="Times New Roman" panose="02020603050405020304" pitchFamily="18" charset="0"/>
              </a:rPr>
              <a:t> </a:t>
            </a:r>
            <a:r>
              <a:rPr sz="1200" b="1" i="1" spc="-10" dirty="0">
                <a:latin typeface="Times New Roman" panose="02020603050405020304" pitchFamily="18" charset="0"/>
                <a:cs typeface="Times New Roman" panose="02020603050405020304" pitchFamily="18" charset="0"/>
              </a:rPr>
              <a:t>AICTE</a:t>
            </a:r>
            <a:r>
              <a:rPr sz="1200" b="1" i="1" spc="-10" dirty="0" smtClean="0">
                <a:latin typeface="Times New Roman" panose="02020603050405020304" pitchFamily="18" charset="0"/>
                <a:cs typeface="Times New Roman" panose="02020603050405020304" pitchFamily="18" charset="0"/>
              </a:rPr>
              <a:t>)</a:t>
            </a:r>
            <a:endParaRPr lang="en-GB" sz="1200" b="1" i="1" spc="-10" dirty="0" smtClean="0">
              <a:latin typeface="Times New Roman" panose="02020603050405020304" pitchFamily="18" charset="0"/>
              <a:cs typeface="Times New Roman" panose="02020603050405020304" pitchFamily="18" charset="0"/>
            </a:endParaRPr>
          </a:p>
          <a:p>
            <a:pPr marL="7620" algn="ctr">
              <a:lnSpc>
                <a:spcPct val="100000"/>
              </a:lnSpc>
              <a:spcBef>
                <a:spcPts val="310"/>
              </a:spcBef>
            </a:pPr>
            <a:r>
              <a:rPr lang="en-GB" sz="1200" b="1" i="1" spc="-10" dirty="0" smtClean="0">
                <a:latin typeface="Times New Roman" panose="02020603050405020304" pitchFamily="18" charset="0"/>
                <a:cs typeface="Times New Roman" panose="02020603050405020304" pitchFamily="18" charset="0"/>
              </a:rPr>
              <a:t>(</a:t>
            </a:r>
            <a:r>
              <a:rPr lang="en-GB" sz="1200" b="1" spc="-10" dirty="0" smtClean="0">
                <a:latin typeface="Times New Roman" panose="02020603050405020304" pitchFamily="18" charset="0"/>
                <a:cs typeface="Times New Roman" panose="02020603050405020304" pitchFamily="18" charset="0"/>
              </a:rPr>
              <a:t>All eligible UGC courses are accredited by NBA &amp; NAAC with ‘A’ Grade)</a:t>
            </a:r>
            <a:endParaRPr sz="12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098675" y="1769998"/>
            <a:ext cx="8001000" cy="1005532"/>
          </a:xfrm>
          <a:prstGeom prst="rect">
            <a:avLst/>
          </a:prstGeom>
        </p:spPr>
        <p:txBody>
          <a:bodyPr vert="horz" wrap="square" lIns="0" tIns="7620" rIns="0" bIns="0" rtlCol="0">
            <a:spAutoFit/>
          </a:bodyPr>
          <a:lstStyle/>
          <a:p>
            <a:pPr marL="12700" marR="5080" indent="-5080" algn="ctr">
              <a:lnSpc>
                <a:spcPct val="116500"/>
              </a:lnSpc>
              <a:spcBef>
                <a:spcPts val="60"/>
              </a:spcBef>
            </a:pPr>
            <a:r>
              <a:rPr sz="1800" b="1" spc="-10" dirty="0" smtClean="0">
                <a:latin typeface="Times New Roman"/>
                <a:cs typeface="Times New Roman"/>
              </a:rPr>
              <a:t>Department </a:t>
            </a:r>
            <a:r>
              <a:rPr lang="en-US" sz="1800" b="1" spc="-10" dirty="0" smtClean="0">
                <a:latin typeface="Times New Roman"/>
                <a:cs typeface="Times New Roman"/>
              </a:rPr>
              <a:t> of Computer Science and Engineering</a:t>
            </a:r>
          </a:p>
          <a:p>
            <a:pPr marL="12700" marR="5080" indent="-5080" algn="ctr">
              <a:lnSpc>
                <a:spcPct val="116500"/>
              </a:lnSpc>
              <a:spcBef>
                <a:spcPts val="60"/>
              </a:spcBef>
            </a:pPr>
            <a:r>
              <a:rPr sz="1800" b="1" dirty="0" smtClean="0">
                <a:latin typeface="Times New Roman"/>
                <a:cs typeface="Times New Roman"/>
              </a:rPr>
              <a:t>Academic</a:t>
            </a:r>
            <a:r>
              <a:rPr sz="1800" b="1" spc="-135" dirty="0" smtClean="0">
                <a:latin typeface="Times New Roman"/>
                <a:cs typeface="Times New Roman"/>
              </a:rPr>
              <a:t> </a:t>
            </a:r>
            <a:r>
              <a:rPr sz="1800" b="1" spc="-25" dirty="0">
                <a:latin typeface="Times New Roman"/>
                <a:cs typeface="Times New Roman"/>
              </a:rPr>
              <a:t>Year:</a:t>
            </a:r>
            <a:r>
              <a:rPr sz="1800" b="1" spc="-45" dirty="0">
                <a:latin typeface="Times New Roman"/>
                <a:cs typeface="Times New Roman"/>
              </a:rPr>
              <a:t> </a:t>
            </a:r>
            <a:r>
              <a:rPr sz="1800" b="1" dirty="0" smtClean="0">
                <a:latin typeface="Times New Roman"/>
                <a:cs typeface="Times New Roman"/>
              </a:rPr>
              <a:t>202</a:t>
            </a:r>
            <a:r>
              <a:rPr lang="en-US" sz="1800" b="1" dirty="0" smtClean="0">
                <a:latin typeface="Times New Roman"/>
                <a:cs typeface="Times New Roman"/>
              </a:rPr>
              <a:t>5</a:t>
            </a:r>
            <a:r>
              <a:rPr sz="1800" b="1" dirty="0" smtClean="0">
                <a:latin typeface="Times New Roman"/>
                <a:cs typeface="Times New Roman"/>
              </a:rPr>
              <a:t>-</a:t>
            </a:r>
            <a:r>
              <a:rPr sz="1800" b="1" spc="-20" dirty="0" smtClean="0">
                <a:latin typeface="Times New Roman"/>
                <a:cs typeface="Times New Roman"/>
              </a:rPr>
              <a:t>202</a:t>
            </a:r>
            <a:r>
              <a:rPr lang="en-US" sz="1800" b="1" spc="-20" dirty="0" smtClean="0">
                <a:latin typeface="Times New Roman"/>
                <a:cs typeface="Times New Roman"/>
              </a:rPr>
              <a:t>6</a:t>
            </a:r>
          </a:p>
          <a:p>
            <a:pPr marL="12700" marR="5080" indent="-5080" algn="ctr">
              <a:lnSpc>
                <a:spcPct val="116500"/>
              </a:lnSpc>
              <a:spcBef>
                <a:spcPts val="60"/>
              </a:spcBef>
            </a:pPr>
            <a:r>
              <a:rPr lang="en-US" b="1" spc="-20" dirty="0" smtClean="0">
                <a:latin typeface="Times New Roman"/>
                <a:cs typeface="Times New Roman"/>
              </a:rPr>
              <a:t>B.E Major Project Phase-I</a:t>
            </a:r>
            <a:r>
              <a:rPr sz="1800" b="1" spc="-20" dirty="0" smtClean="0">
                <a:latin typeface="Times New Roman"/>
                <a:cs typeface="Times New Roman"/>
              </a:rPr>
              <a:t> </a:t>
            </a:r>
            <a:endParaRPr sz="1800" dirty="0">
              <a:latin typeface="Times New Roman"/>
              <a:cs typeface="Times New Roman"/>
            </a:endParaRPr>
          </a:p>
        </p:txBody>
      </p:sp>
      <p:sp>
        <p:nvSpPr>
          <p:cNvPr id="5" name="object 5"/>
          <p:cNvSpPr txBox="1"/>
          <p:nvPr/>
        </p:nvSpPr>
        <p:spPr>
          <a:xfrm>
            <a:off x="4397696" y="2988355"/>
            <a:ext cx="3402957" cy="721351"/>
          </a:xfrm>
          <a:prstGeom prst="rect">
            <a:avLst/>
          </a:prstGeom>
        </p:spPr>
        <p:txBody>
          <a:bodyPr vert="horz" wrap="square" lIns="0" tIns="15875" rIns="0" bIns="0" rtlCol="0">
            <a:spAutoFit/>
          </a:bodyPr>
          <a:lstStyle/>
          <a:p>
            <a:pPr marL="12700" algn="ctr">
              <a:spcBef>
                <a:spcPts val="125"/>
              </a:spcBef>
            </a:pPr>
            <a:r>
              <a:rPr lang="en-US" sz="1400" b="1" dirty="0" smtClean="0">
                <a:latin typeface="Times New Roman" panose="02020603050405020304" pitchFamily="18" charset="0"/>
                <a:cs typeface="Times New Roman" panose="02020603050405020304" pitchFamily="18" charset="0"/>
              </a:rPr>
              <a:t>“Design </a:t>
            </a:r>
            <a:r>
              <a:rPr lang="en-US" sz="1400" b="1" dirty="0">
                <a:latin typeface="Times New Roman" panose="02020603050405020304" pitchFamily="18" charset="0"/>
                <a:cs typeface="Times New Roman" panose="02020603050405020304" pitchFamily="18" charset="0"/>
              </a:rPr>
              <a:t>&amp; Development of a Data-Driven Market and Forecast Web </a:t>
            </a:r>
            <a:r>
              <a:rPr lang="en-US" sz="1400" b="1" dirty="0" smtClean="0">
                <a:latin typeface="Times New Roman" panose="02020603050405020304" pitchFamily="18" charset="0"/>
                <a:cs typeface="Times New Roman" panose="02020603050405020304" pitchFamily="18" charset="0"/>
              </a:rPr>
              <a:t>Application”</a:t>
            </a:r>
            <a:endParaRPr lang="en-IN" sz="1400" dirty="0">
              <a:latin typeface="Times New Roman" panose="02020603050405020304" pitchFamily="18" charset="0"/>
              <a:cs typeface="Times New Roman" panose="02020603050405020304" pitchFamily="18" charset="0"/>
            </a:endParaRPr>
          </a:p>
          <a:p>
            <a:pPr marL="12700">
              <a:lnSpc>
                <a:spcPct val="100000"/>
              </a:lnSpc>
              <a:spcBef>
                <a:spcPts val="125"/>
              </a:spcBef>
            </a:pPr>
            <a:endParaRPr sz="1700" dirty="0">
              <a:latin typeface="Times New Roman"/>
              <a:cs typeface="Times New Roman"/>
            </a:endParaRPr>
          </a:p>
        </p:txBody>
      </p:sp>
      <p:sp>
        <p:nvSpPr>
          <p:cNvPr id="6" name="object 6"/>
          <p:cNvSpPr txBox="1"/>
          <p:nvPr/>
        </p:nvSpPr>
        <p:spPr>
          <a:xfrm>
            <a:off x="1330845" y="4643884"/>
            <a:ext cx="3356902" cy="786113"/>
          </a:xfrm>
          <a:prstGeom prst="rect">
            <a:avLst/>
          </a:prstGeom>
        </p:spPr>
        <p:txBody>
          <a:bodyPr vert="horz" wrap="square" lIns="0" tIns="41910" rIns="0" bIns="0" rtlCol="0">
            <a:spAutoFit/>
          </a:bodyPr>
          <a:lstStyle/>
          <a:p>
            <a:pPr marL="57150">
              <a:lnSpc>
                <a:spcPct val="100000"/>
              </a:lnSpc>
              <a:spcBef>
                <a:spcPts val="229"/>
              </a:spcBef>
            </a:pPr>
            <a:r>
              <a:rPr sz="1500" b="1" dirty="0" smtClean="0">
                <a:latin typeface="Times New Roman"/>
                <a:cs typeface="Times New Roman"/>
              </a:rPr>
              <a:t>Guide</a:t>
            </a:r>
            <a:r>
              <a:rPr sz="1500" b="1" spc="-45" dirty="0" smtClean="0">
                <a:latin typeface="Times New Roman"/>
                <a:cs typeface="Times New Roman"/>
              </a:rPr>
              <a:t> </a:t>
            </a:r>
            <a:r>
              <a:rPr lang="en-GB" sz="1500" b="1" spc="-20" dirty="0" smtClean="0">
                <a:latin typeface="Times New Roman"/>
                <a:cs typeface="Times New Roman"/>
              </a:rPr>
              <a:t>Name: </a:t>
            </a:r>
            <a:r>
              <a:rPr lang="en-GB" sz="1500" b="1" spc="-20" dirty="0" err="1" smtClean="0">
                <a:latin typeface="Times New Roman"/>
                <a:cs typeface="Times New Roman"/>
              </a:rPr>
              <a:t>Mr.</a:t>
            </a:r>
            <a:r>
              <a:rPr lang="en-GB" sz="1500" b="1" spc="-20" dirty="0" smtClean="0">
                <a:latin typeface="Times New Roman"/>
                <a:cs typeface="Times New Roman"/>
              </a:rPr>
              <a:t> M. </a:t>
            </a:r>
            <a:r>
              <a:rPr lang="en-GB" sz="1500" b="1" spc="-20" dirty="0" err="1" smtClean="0">
                <a:latin typeface="Times New Roman"/>
                <a:cs typeface="Times New Roman"/>
              </a:rPr>
              <a:t>Sai</a:t>
            </a:r>
            <a:r>
              <a:rPr lang="en-GB" sz="1500" b="1" spc="-20" dirty="0" smtClean="0">
                <a:latin typeface="Times New Roman"/>
                <a:cs typeface="Times New Roman"/>
              </a:rPr>
              <a:t> Ramakrishna</a:t>
            </a:r>
          </a:p>
          <a:p>
            <a:pPr marL="57150">
              <a:lnSpc>
                <a:spcPct val="100000"/>
              </a:lnSpc>
              <a:spcBef>
                <a:spcPts val="229"/>
              </a:spcBef>
            </a:pPr>
            <a:r>
              <a:rPr lang="en-GB" sz="1500" b="1" spc="-20" dirty="0" smtClean="0">
                <a:latin typeface="Times New Roman"/>
                <a:cs typeface="Times New Roman"/>
              </a:rPr>
              <a:t>Designation: Assistant Professor</a:t>
            </a:r>
          </a:p>
          <a:p>
            <a:pPr marL="57150">
              <a:lnSpc>
                <a:spcPct val="100000"/>
              </a:lnSpc>
              <a:spcBef>
                <a:spcPts val="229"/>
              </a:spcBef>
            </a:pPr>
            <a:r>
              <a:rPr lang="en-GB" sz="1500" b="1" spc="-20" dirty="0" smtClean="0">
                <a:latin typeface="Times New Roman"/>
                <a:cs typeface="Times New Roman"/>
              </a:rPr>
              <a:t>Department </a:t>
            </a:r>
            <a:r>
              <a:rPr lang="en-GB" sz="1500" b="1" dirty="0" smtClean="0">
                <a:latin typeface="Times New Roman"/>
                <a:cs typeface="Times New Roman"/>
              </a:rPr>
              <a:t>of CSE</a:t>
            </a:r>
            <a:endParaRPr sz="1500" b="1" dirty="0">
              <a:latin typeface="Times New Roman"/>
              <a:cs typeface="Times New Roman"/>
            </a:endParaRPr>
          </a:p>
        </p:txBody>
      </p:sp>
      <p:sp>
        <p:nvSpPr>
          <p:cNvPr id="7" name="object 7"/>
          <p:cNvSpPr txBox="1"/>
          <p:nvPr/>
        </p:nvSpPr>
        <p:spPr>
          <a:xfrm>
            <a:off x="8034654" y="4524243"/>
            <a:ext cx="2868697" cy="802014"/>
          </a:xfrm>
          <a:prstGeom prst="rect">
            <a:avLst/>
          </a:prstGeom>
        </p:spPr>
        <p:txBody>
          <a:bodyPr vert="horz" wrap="square" lIns="0" tIns="41910" rIns="0" bIns="0" rtlCol="0">
            <a:spAutoFit/>
          </a:bodyPr>
          <a:lstStyle/>
          <a:p>
            <a:pPr marL="12700">
              <a:lnSpc>
                <a:spcPct val="100000"/>
              </a:lnSpc>
              <a:spcBef>
                <a:spcPts val="330"/>
              </a:spcBef>
            </a:pPr>
            <a:r>
              <a:rPr sz="1500" b="1" dirty="0">
                <a:latin typeface="Times New Roman"/>
                <a:cs typeface="Times New Roman"/>
              </a:rPr>
              <a:t>PRESENTED</a:t>
            </a:r>
            <a:r>
              <a:rPr sz="1500" b="1" spc="20" dirty="0">
                <a:latin typeface="Times New Roman"/>
                <a:cs typeface="Times New Roman"/>
              </a:rPr>
              <a:t> </a:t>
            </a:r>
            <a:r>
              <a:rPr sz="1500" b="1" spc="-25" dirty="0">
                <a:latin typeface="Times New Roman"/>
                <a:cs typeface="Times New Roman"/>
              </a:rPr>
              <a:t>BY</a:t>
            </a:r>
            <a:endParaRPr sz="1500" dirty="0">
              <a:latin typeface="Times New Roman"/>
              <a:cs typeface="Times New Roman"/>
            </a:endParaRPr>
          </a:p>
          <a:p>
            <a:pPr marL="23495" marR="896619" indent="-1270">
              <a:lnSpc>
                <a:spcPct val="108500"/>
              </a:lnSpc>
              <a:spcBef>
                <a:spcPts val="75"/>
              </a:spcBef>
            </a:pPr>
            <a:r>
              <a:rPr sz="1500" spc="-20" dirty="0">
                <a:latin typeface="Times New Roman"/>
                <a:cs typeface="Times New Roman"/>
              </a:rPr>
              <a:t>Name </a:t>
            </a:r>
            <a:r>
              <a:rPr lang="en-US" sz="1500" spc="-20" dirty="0" smtClean="0">
                <a:latin typeface="Times New Roman"/>
                <a:cs typeface="Times New Roman"/>
              </a:rPr>
              <a:t>: Sana </a:t>
            </a:r>
            <a:r>
              <a:rPr lang="en-US" sz="1500" spc="-20" dirty="0" err="1" smtClean="0">
                <a:latin typeface="Times New Roman"/>
                <a:cs typeface="Times New Roman"/>
              </a:rPr>
              <a:t>Kaleem</a:t>
            </a:r>
            <a:endParaRPr lang="en-US" sz="1500" spc="-20" dirty="0" smtClean="0">
              <a:latin typeface="Times New Roman"/>
              <a:cs typeface="Times New Roman"/>
            </a:endParaRPr>
          </a:p>
          <a:p>
            <a:pPr marL="23495" marR="896619" indent="-1270">
              <a:lnSpc>
                <a:spcPct val="108500"/>
              </a:lnSpc>
              <a:spcBef>
                <a:spcPts val="75"/>
              </a:spcBef>
            </a:pPr>
            <a:r>
              <a:rPr sz="1500" dirty="0" smtClean="0">
                <a:latin typeface="Times New Roman"/>
                <a:cs typeface="Times New Roman"/>
              </a:rPr>
              <a:t>Roll</a:t>
            </a:r>
            <a:r>
              <a:rPr sz="1500" spc="-45" dirty="0" smtClean="0">
                <a:latin typeface="Times New Roman"/>
                <a:cs typeface="Times New Roman"/>
              </a:rPr>
              <a:t> </a:t>
            </a:r>
            <a:r>
              <a:rPr sz="1500" spc="-25" dirty="0" smtClean="0">
                <a:latin typeface="Times New Roman"/>
                <a:cs typeface="Times New Roman"/>
              </a:rPr>
              <a:t>no</a:t>
            </a:r>
            <a:r>
              <a:rPr lang="en-US" sz="1500" spc="-25" dirty="0" smtClean="0">
                <a:latin typeface="Times New Roman"/>
                <a:cs typeface="Times New Roman"/>
              </a:rPr>
              <a:t> : 160622733115</a:t>
            </a:r>
            <a:endParaRPr sz="1500" dirty="0">
              <a:latin typeface="Times New Roman"/>
              <a:cs typeface="Times New Roman"/>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44" y="234728"/>
            <a:ext cx="1356422" cy="1356422"/>
          </a:xfrm>
          <a:prstGeom prst="rect">
            <a:avLst/>
          </a:prstGeom>
        </p:spPr>
      </p:pic>
    </p:spTree>
    <p:extLst>
      <p:ext uri="{BB962C8B-B14F-4D97-AF65-F5344CB8AC3E}">
        <p14:creationId xmlns:p14="http://schemas.microsoft.com/office/powerpoint/2010/main" val="426739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44905" y="355389"/>
            <a:ext cx="9672810" cy="6024726"/>
          </a:xfrm>
          <a:prstGeom prst="rect">
            <a:avLst/>
          </a:prstGeom>
        </p:spPr>
        <p:txBody>
          <a:bodyPr wrap="square">
            <a:spAutoFit/>
          </a:bodyPr>
          <a:lstStyle/>
          <a:p>
            <a:pPr algn="ctr">
              <a:lnSpc>
                <a:spcPct val="150000"/>
              </a:lnSpc>
            </a:pPr>
            <a:r>
              <a:rPr lang="en-US" dirty="0">
                <a:latin typeface="Times New Roman" panose="02020603050405020304" pitchFamily="18" charset="0"/>
                <a:cs typeface="Times New Roman" panose="02020603050405020304" pitchFamily="18" charset="0"/>
              </a:rPr>
              <a:t>INTERNSHIP - II DETAILS</a:t>
            </a:r>
            <a:endParaRPr lang="en-IN" dirty="0">
              <a:latin typeface="Times New Roman" panose="02020603050405020304" pitchFamily="18" charset="0"/>
              <a:cs typeface="Times New Roman" panose="02020603050405020304" pitchFamily="18" charset="0"/>
            </a:endParaRPr>
          </a:p>
          <a:p>
            <a:pPr>
              <a:lnSpc>
                <a:spcPct val="150000"/>
              </a:lnSpc>
            </a:pPr>
            <a:r>
              <a:rPr lang="en-US" sz="1100" dirty="0"/>
              <a:t> </a:t>
            </a:r>
            <a:endParaRPr lang="en-IN" sz="1100" dirty="0"/>
          </a:p>
          <a:p>
            <a:pPr algn="ctr">
              <a:lnSpc>
                <a:spcPct val="150000"/>
              </a:lnSpc>
            </a:pPr>
            <a:r>
              <a:rPr lang="en-US" sz="1600" b="1" dirty="0" smtClean="0">
                <a:latin typeface="Times New Roman" panose="02020603050405020304" pitchFamily="18" charset="0"/>
                <a:cs typeface="Times New Roman" panose="02020603050405020304" pitchFamily="18" charset="0"/>
              </a:rPr>
              <a:t>     Course Code: </a:t>
            </a:r>
            <a:r>
              <a:rPr lang="en-US" sz="1600" dirty="0" smtClean="0">
                <a:latin typeface="Times New Roman" panose="02020603050405020304" pitchFamily="18" charset="0"/>
                <a:cs typeface="Times New Roman" panose="02020603050405020304" pitchFamily="18" charset="0"/>
              </a:rPr>
              <a:t>SPW611  CS       	    </a:t>
            </a:r>
            <a:r>
              <a:rPr lang="en-US" sz="1600" b="1" dirty="0" smtClean="0">
                <a:latin typeface="Times New Roman" panose="02020603050405020304" pitchFamily="18" charset="0"/>
                <a:cs typeface="Times New Roman" panose="02020603050405020304" pitchFamily="18" charset="0"/>
              </a:rPr>
              <a:t>Credits: </a:t>
            </a:r>
            <a:r>
              <a:rPr lang="en-US" sz="1600" dirty="0" smtClean="0">
                <a:latin typeface="Times New Roman" panose="02020603050405020304" pitchFamily="18" charset="0"/>
                <a:cs typeface="Times New Roman" panose="02020603050405020304" pitchFamily="18" charset="0"/>
              </a:rPr>
              <a:t>1           	</a:t>
            </a:r>
            <a:r>
              <a:rPr lang="en-US" sz="1600" b="1" dirty="0" smtClean="0">
                <a:latin typeface="Times New Roman" panose="02020603050405020304" pitchFamily="18" charset="0"/>
                <a:cs typeface="Times New Roman" panose="02020603050405020304" pitchFamily="18" charset="0"/>
              </a:rPr>
              <a:t>Evaluation: </a:t>
            </a:r>
            <a:r>
              <a:rPr lang="en-US" sz="1600" dirty="0" smtClean="0">
                <a:latin typeface="Times New Roman" panose="02020603050405020304" pitchFamily="18" charset="0"/>
                <a:cs typeface="Times New Roman" panose="02020603050405020304" pitchFamily="18" charset="0"/>
              </a:rPr>
              <a:t>CIE - 50 Marks</a:t>
            </a:r>
            <a:endParaRPr lang="en-IN" sz="1600" dirty="0" smtClean="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INTERNSHIP Presentation on “Design </a:t>
            </a:r>
            <a:r>
              <a:rPr lang="en-US" sz="1600" dirty="0">
                <a:latin typeface="Times New Roman" panose="02020603050405020304" pitchFamily="18" charset="0"/>
                <a:cs typeface="Times New Roman" panose="02020603050405020304" pitchFamily="18" charset="0"/>
              </a:rPr>
              <a:t>&amp; Development of a Data-Driven Market and Forecast Web Application”</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Name of the student: </a:t>
            </a:r>
            <a:r>
              <a:rPr lang="en-US" sz="1600" dirty="0">
                <a:latin typeface="Times New Roman" panose="02020603050405020304" pitchFamily="18" charset="0"/>
                <a:cs typeface="Times New Roman" panose="02020603050405020304" pitchFamily="18" charset="0"/>
              </a:rPr>
              <a:t>Sana </a:t>
            </a:r>
            <a:r>
              <a:rPr lang="en-US" sz="1600" dirty="0" err="1" smtClean="0">
                <a:latin typeface="Times New Roman" panose="02020603050405020304" pitchFamily="18" charset="0"/>
                <a:cs typeface="Times New Roman" panose="02020603050405020304" pitchFamily="18" charset="0"/>
              </a:rPr>
              <a:t>Kaleem</a:t>
            </a:r>
            <a:endParaRPr lang="en-US" sz="1600" dirty="0" smtClean="0">
              <a:latin typeface="Times New Roman" panose="02020603050405020304" pitchFamily="18" charset="0"/>
              <a:cs typeface="Times New Roman" panose="02020603050405020304" pitchFamily="18" charset="0"/>
            </a:endParaRPr>
          </a:p>
          <a:p>
            <a:pPr>
              <a:lnSpc>
                <a:spcPct val="150000"/>
              </a:lnSpc>
            </a:pPr>
            <a:r>
              <a:rPr lang="en-US" sz="1600" dirty="0" smtClean="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Roll Number</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160622733115</a:t>
            </a:r>
          </a:p>
          <a:p>
            <a:pPr>
              <a:lnSpc>
                <a:spcPct val="150000"/>
              </a:lnSpc>
            </a:pPr>
            <a:r>
              <a:rPr lang="en-US" sz="1600" dirty="0" smtClean="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Batch / Section</a:t>
            </a:r>
            <a:r>
              <a:rPr lang="en-US" sz="1600" dirty="0">
                <a:latin typeface="Times New Roman" panose="02020603050405020304" pitchFamily="18" charset="0"/>
                <a:cs typeface="Times New Roman" panose="02020603050405020304" pitchFamily="18" charset="0"/>
              </a:rPr>
              <a:t>: 2024 – 2025 / B</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Name of the Organization</a:t>
            </a:r>
            <a:r>
              <a:rPr lang="en-US" sz="1600" dirty="0">
                <a:latin typeface="Times New Roman" panose="02020603050405020304" pitchFamily="18" charset="0"/>
                <a:cs typeface="Times New Roman" panose="02020603050405020304" pitchFamily="18" charset="0"/>
              </a:rPr>
              <a:t>: Unified Mentor</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Duration of Internship</a:t>
            </a:r>
            <a:r>
              <a:rPr lang="en-US" sz="1600" dirty="0">
                <a:latin typeface="Times New Roman" panose="02020603050405020304" pitchFamily="18" charset="0"/>
                <a:cs typeface="Times New Roman" panose="02020603050405020304" pitchFamily="18" charset="0"/>
              </a:rPr>
              <a:t>: From 15th June 2025 to 15th July 2025</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Mode (Onsite / Online / Hybrid): </a:t>
            </a:r>
            <a:r>
              <a:rPr lang="en-US" sz="1600" dirty="0">
                <a:latin typeface="Times New Roman" panose="02020603050405020304" pitchFamily="18" charset="0"/>
                <a:cs typeface="Times New Roman" panose="02020603050405020304" pitchFamily="18" charset="0"/>
              </a:rPr>
              <a:t>Online</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Industry Supervisor</a:t>
            </a:r>
            <a:r>
              <a:rPr lang="en-US" sz="1600" dirty="0">
                <a:latin typeface="Times New Roman" panose="02020603050405020304" pitchFamily="18" charset="0"/>
                <a:cs typeface="Times New Roman" panose="02020603050405020304" pitchFamily="18" charset="0"/>
              </a:rPr>
              <a:t>: S. </a:t>
            </a:r>
            <a:r>
              <a:rPr lang="en-US" sz="1600" dirty="0" err="1">
                <a:latin typeface="Times New Roman" panose="02020603050405020304" pitchFamily="18" charset="0"/>
                <a:cs typeface="Times New Roman" panose="02020603050405020304" pitchFamily="18" charset="0"/>
              </a:rPr>
              <a:t>Kalpande</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Faculty Coordinator </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Supervisor: </a:t>
            </a:r>
            <a:r>
              <a:rPr lang="en-US" sz="1600" dirty="0" err="1">
                <a:latin typeface="Times New Roman" panose="02020603050405020304" pitchFamily="18" charset="0"/>
                <a:cs typeface="Times New Roman" panose="02020603050405020304" pitchFamily="18" charset="0"/>
              </a:rPr>
              <a:t>Mr</a:t>
            </a:r>
            <a:r>
              <a:rPr lang="en-US" sz="1600" dirty="0">
                <a:latin typeface="Times New Roman" panose="02020603050405020304" pitchFamily="18" charset="0"/>
                <a:cs typeface="Times New Roman" panose="02020603050405020304" pitchFamily="18" charset="0"/>
              </a:rPr>
              <a:t> . M. </a:t>
            </a:r>
            <a:r>
              <a:rPr lang="en-US" sz="1600" dirty="0" err="1">
                <a:latin typeface="Times New Roman" panose="02020603050405020304" pitchFamily="18" charset="0"/>
                <a:cs typeface="Times New Roman" panose="02020603050405020304" pitchFamily="18" charset="0"/>
              </a:rPr>
              <a:t>Sai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RamaKrishna</a:t>
            </a:r>
            <a:endParaRPr lang="en-IN" sz="1600" dirty="0">
              <a:latin typeface="Times New Roman" panose="02020603050405020304" pitchFamily="18" charset="0"/>
              <a:cs typeface="Times New Roman" panose="02020603050405020304" pitchFamily="18" charset="0"/>
            </a:endParaRPr>
          </a:p>
          <a:p>
            <a:r>
              <a:rPr lang="en-US" dirty="0"/>
              <a:t/>
            </a:r>
            <a:br>
              <a:rPr lang="en-US" dirty="0"/>
            </a:br>
            <a:r>
              <a:rPr lang="en-US" dirty="0">
                <a:latin typeface="Cambria" panose="02040503050406030204" pitchFamily="18" charset="0"/>
                <a:ea typeface="Times New Roman" panose="02020603050405020304" pitchFamily="18" charset="0"/>
                <a:cs typeface="Times New Roman" panose="02020603050405020304" pitchFamily="18" charset="0"/>
              </a:rPr>
              <a:t/>
            </a:r>
            <a:br>
              <a:rPr lang="en-US" dirty="0">
                <a:latin typeface="Cambria" panose="02040503050406030204" pitchFamily="18" charset="0"/>
                <a:ea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7722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ln>
            <a:solidFill>
              <a:schemeClr val="tx1"/>
            </a:solidFill>
          </a:ln>
        </p:spPr>
        <p:txBody>
          <a:bodyPr>
            <a:noAutofit/>
          </a:bodyPr>
          <a:lstStyle/>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Problem Statement</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Background / Literature Review</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Planning &amp; Design of work</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Implementation &amp; Execution</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Testing / Validation</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Result &amp; Analysis </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Challenges &amp; Solutions</a:t>
            </a:r>
          </a:p>
          <a:p>
            <a:pPr algn="just">
              <a:lnSpc>
                <a:spcPct val="150000"/>
              </a:lnSpc>
              <a:buClr>
                <a:schemeClr val="accent1">
                  <a:lumMod val="75000"/>
                </a:schemeClr>
              </a:buClr>
              <a:buFont typeface="Wingdings" panose="05000000000000000000" pitchFamily="2" charset="2"/>
              <a:buChar char="v"/>
            </a:pPr>
            <a:r>
              <a:rPr lang="en-GB" sz="1400" dirty="0" smtClean="0">
                <a:solidFill>
                  <a:schemeClr val="tx1"/>
                </a:solidFill>
                <a:latin typeface="Times New Roman" panose="02020603050405020304" pitchFamily="18" charset="0"/>
                <a:cs typeface="Times New Roman" panose="02020603050405020304" pitchFamily="18" charset="0"/>
              </a:rPr>
              <a:t>Conclusion &amp; Future Scope</a:t>
            </a:r>
          </a:p>
        </p:txBody>
      </p:sp>
    </p:spTree>
    <p:extLst>
      <p:ext uri="{BB962C8B-B14F-4D97-AF65-F5344CB8AC3E}">
        <p14:creationId xmlns:p14="http://schemas.microsoft.com/office/powerpoint/2010/main" val="138070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Problem Statements</a:t>
            </a:r>
            <a:endParaRPr lang="en-IN"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097280" y="2087698"/>
            <a:ext cx="684674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Businesses struggle to understand market trends and predict future demand.</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Small companies lack proper tools for data collection and analysis.</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causes issues in sales planning, stock management, and decision-making.</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t>
            </a:r>
            <a:r>
              <a:rPr kumimoji="0" lang="en-US" sz="16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600" b="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Market and Forecast</a:t>
            </a:r>
            <a:r>
              <a:rPr kumimoji="0" lang="en-US" sz="16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project aims to build a simple web-based solution.</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platform helps users analyze market data and make predictions easily.</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Developed using </a:t>
            </a: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HTML</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a user-friendly interface.</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Allows users to view, analyze, and forecast market trends visually.</a:t>
            </a:r>
          </a:p>
          <a:p>
            <a:pPr marL="0" marR="0" lvl="0" indent="0" algn="just" defTabSz="914400" rtl="0" eaLnBrk="0" fontAlgn="base" latinLnBrk="0" hangingPunct="0">
              <a:lnSpc>
                <a:spcPct val="100000"/>
              </a:lnSpc>
              <a:spcBef>
                <a:spcPct val="0"/>
              </a:spcBef>
              <a:spcAft>
                <a:spcPct val="0"/>
              </a:spcAft>
              <a:buClr>
                <a:schemeClr val="accent1">
                  <a:lumMod val="75000"/>
                </a:schemeClr>
              </a:buClr>
              <a:buSzTx/>
              <a:buNone/>
              <a:tabLst>
                <a:tab pos="1885950" algn="l"/>
              </a:tabLst>
            </a:pPr>
            <a:r>
              <a:rPr lang="en-US" sz="1600" b="1" dirty="0">
                <a:solidFill>
                  <a:schemeClr val="tx1"/>
                </a:solidFill>
                <a:latin typeface="Times New Roman" panose="02020603050405020304" pitchFamily="18" charset="0"/>
                <a:cs typeface="Times New Roman" panose="02020603050405020304" pitchFamily="18" charset="0"/>
              </a:rPr>
              <a:t> </a:t>
            </a:r>
            <a:r>
              <a:rPr lang="en-US" sz="1600" b="1" dirty="0" smtClean="0">
                <a:solidFill>
                  <a:schemeClr val="tx1"/>
                </a:solidFill>
                <a:latin typeface="Times New Roman" panose="02020603050405020304" pitchFamily="18" charset="0"/>
                <a:cs typeface="Times New Roman" panose="02020603050405020304" pitchFamily="18" charset="0"/>
              </a:rPr>
              <a:t>  </a:t>
            </a: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Objectives:</a:t>
            </a:r>
            <a:endPar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Design and develop a market analysis and forecasting web app.</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 an easy interface to access real-time market data.</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Enable prediction of future trends using market information.</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Simplify data visualization with interactive charts and graphs.</a:t>
            </a:r>
          </a:p>
          <a:p>
            <a:pPr marR="0" lvl="0" algn="l" defTabSz="914400" rtl="0" eaLnBrk="0" fontAlgn="base" latinLnBrk="0" hangingPunct="0">
              <a:lnSpc>
                <a:spcPct val="100000"/>
              </a:lnSpc>
              <a:spcBef>
                <a:spcPct val="0"/>
              </a:spcBef>
              <a:spcAft>
                <a:spcPct val="0"/>
              </a:spcAft>
              <a:buClr>
                <a:schemeClr val="accent1">
                  <a:lumMod val="75000"/>
                </a:schemeClr>
              </a:buClr>
              <a:buSzTx/>
              <a:buFont typeface="Wingdings" panose="05000000000000000000" pitchFamily="2" charset="2"/>
              <a:buChar char="v"/>
              <a:tabLst>
                <a:tab pos="1885950" algn="l"/>
              </a:tabLst>
            </a:pP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 modern web technologies for accuracy and efficiency.</a:t>
            </a:r>
          </a:p>
          <a:p>
            <a:pPr eaLnBrk="0" fontAlgn="base" hangingPunct="0">
              <a:lnSpc>
                <a:spcPct val="100000"/>
              </a:lnSpc>
              <a:spcBef>
                <a:spcPct val="0"/>
              </a:spcBef>
              <a:spcAft>
                <a:spcPct val="0"/>
              </a:spcAft>
              <a:buClr>
                <a:schemeClr val="accent1">
                  <a:lumMod val="75000"/>
                </a:schemeClr>
              </a:buClr>
              <a:buSzTx/>
              <a:buFont typeface="Wingdings" panose="05000000000000000000" pitchFamily="2" charset="2"/>
              <a:buChar char="v"/>
            </a:pP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436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Background &amp; Literature Review</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nSpc>
                <a:spcPct val="150000"/>
              </a:lnSpc>
            </a:pPr>
            <a:r>
              <a:rPr lang="en-US" sz="1600" dirty="0">
                <a:latin typeface="Times New Roman" panose="02020603050405020304" pitchFamily="18" charset="0"/>
                <a:cs typeface="Times New Roman" panose="02020603050405020304" pitchFamily="18" charset="0"/>
              </a:rPr>
              <a:t>In today’s digital world, data helps businesses make better decisions and plan for the future. The market keeps changing with customer needs and competition, making it hard to predict future demand. Many existing tools are complex, costly, and not suitable for small businesses. Web-based applications solve this problem as they are simple, easy to access, and need little technical setup.</a:t>
            </a:r>
          </a:p>
          <a:p>
            <a:pPr>
              <a:lnSpc>
                <a:spcPct val="150000"/>
              </a:lnSpc>
            </a:pPr>
            <a:r>
              <a:rPr lang="en-US" sz="1600" dirty="0">
                <a:latin typeface="Times New Roman" panose="02020603050405020304" pitchFamily="18" charset="0"/>
                <a:cs typeface="Times New Roman" panose="02020603050405020304" pitchFamily="18" charset="0"/>
              </a:rPr>
              <a:t>Studies show that combining data analysis, forecasting, and visualization improves accuracy and helps users understand trends easily. Modern web technologies also make it possible to connect data storage, processing, and display in one platform. The “Market and Forecast” project uses these ideas to create a user-friendly web application that helps analyze market data, forecast trends, and support better business decisions.</a:t>
            </a:r>
          </a:p>
          <a:p>
            <a:pPr>
              <a:lnSpc>
                <a:spcPct val="150000"/>
              </a:lnSpc>
            </a:pPr>
            <a:endParaRPr lang="en-IN" dirty="0"/>
          </a:p>
        </p:txBody>
      </p:sp>
    </p:spTree>
    <p:extLst>
      <p:ext uri="{BB962C8B-B14F-4D97-AF65-F5344CB8AC3E}">
        <p14:creationId xmlns:p14="http://schemas.microsoft.com/office/powerpoint/2010/main" val="3285017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Literature Review</a:t>
            </a:r>
            <a:endParaRPr lang="en-IN"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1097280" y="1698400"/>
            <a:ext cx="9065292"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Kumar et al. (2020)</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Explained that data-driven systems help organizations make better business decisions by analyzing past trends and predicting future outcomes.</a:t>
            </a:r>
          </a:p>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Patel and Singh (2021)</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Found that web-based applications are easier to use and more cost-effective compared to traditional software tools.</a:t>
            </a:r>
          </a:p>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Rao (2019)</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Highlighted that small businesses struggle with complex forecasting systems, showing the need for simpler and more accessible platforms.</a:t>
            </a:r>
          </a:p>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Sharma et al. (2022)</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Suggested that combining data visualization with forecasting models improves user understanding and decision accuracy.</a:t>
            </a:r>
          </a:p>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Ali and </a:t>
            </a:r>
            <a:r>
              <a:rPr kumimoji="0" lang="en-US" sz="16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Verma</a:t>
            </a: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(2021)</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Discussed that integrating modern web technologies with predictive algorithms increases system efficiency and accuracy.</a:t>
            </a:r>
          </a:p>
          <a:p>
            <a:pPr marR="0" lvl="0" algn="l" defTabSz="914400" rtl="0" eaLnBrk="0" fontAlgn="base" latinLnBrk="0" hangingPunct="0">
              <a:lnSpc>
                <a:spcPct val="150000"/>
              </a:lnSpc>
              <a:spcBef>
                <a:spcPct val="0"/>
              </a:spcBef>
              <a:spcAft>
                <a:spcPct val="0"/>
              </a:spcAft>
              <a:buClr>
                <a:schemeClr val="accent1">
                  <a:lumMod val="75000"/>
                </a:schemeClr>
              </a:buClr>
              <a:buSzTx/>
              <a:buFont typeface="Wingdings" panose="05000000000000000000" pitchFamily="2" charset="2"/>
              <a:buChar char="v"/>
              <a:tabLst/>
            </a:pPr>
            <a:r>
              <a:rPr kumimoji="0" lang="en-US" sz="16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Mehta (2023)</a:t>
            </a:r>
            <a:r>
              <a:rPr kumimoji="0" lang="en-US" sz="16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 Emphasized the importance of interactive dashboards and real-time data updates for better market analysis and forecasting.</a:t>
            </a:r>
          </a:p>
        </p:txBody>
      </p:sp>
    </p:spTree>
    <p:extLst>
      <p:ext uri="{BB962C8B-B14F-4D97-AF65-F5344CB8AC3E}">
        <p14:creationId xmlns:p14="http://schemas.microsoft.com/office/powerpoint/2010/main" val="473642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465" y="-280556"/>
            <a:ext cx="10058400" cy="1450757"/>
          </a:xfrm>
        </p:spPr>
        <p:txBody>
          <a:bodyPr/>
          <a:lstStyle/>
          <a:p>
            <a:r>
              <a:rPr lang="en-US" b="1" dirty="0" smtClean="0">
                <a:latin typeface="Times New Roman" panose="02020603050405020304" pitchFamily="18" charset="0"/>
                <a:cs typeface="Times New Roman" panose="02020603050405020304" pitchFamily="18" charset="0"/>
              </a:rPr>
              <a:t>Planning &amp; Design of work</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9488" y="1544792"/>
            <a:ext cx="10058400" cy="4207826"/>
          </a:xfrm>
        </p:spPr>
        <p:txBody>
          <a:bodyPr>
            <a:normAutofit fontScale="25000" lnSpcReduction="20000"/>
          </a:bodyPr>
          <a:lstStyle/>
          <a:p>
            <a:r>
              <a:rPr lang="en-US" sz="6400" b="1" u="sng" dirty="0">
                <a:latin typeface="Times New Roman" panose="02020603050405020304" pitchFamily="18" charset="0"/>
                <a:cs typeface="Times New Roman" panose="02020603050405020304" pitchFamily="18" charset="0"/>
              </a:rPr>
              <a:t>Planning and Design of Work</a:t>
            </a:r>
          </a:p>
          <a:p>
            <a:pPr marL="0" indent="0">
              <a:buNone/>
            </a:pPr>
            <a:r>
              <a:rPr lang="en-US" sz="6400" dirty="0" smtClean="0">
                <a:latin typeface="Times New Roman" panose="02020603050405020304" pitchFamily="18" charset="0"/>
                <a:cs typeface="Times New Roman" panose="02020603050405020304" pitchFamily="18" charset="0"/>
              </a:rPr>
              <a:t>  The </a:t>
            </a:r>
            <a:r>
              <a:rPr lang="en-US" sz="6400" dirty="0">
                <a:latin typeface="Times New Roman" panose="02020603050405020304" pitchFamily="18" charset="0"/>
                <a:cs typeface="Times New Roman" panose="02020603050405020304" pitchFamily="18" charset="0"/>
              </a:rPr>
              <a:t>work was divided into weekly tasks to ensure proper learning and timely completion.</a:t>
            </a:r>
          </a:p>
          <a:p>
            <a:r>
              <a:rPr lang="en-US" sz="6400" b="1" u="sng" dirty="0">
                <a:latin typeface="Times New Roman" panose="02020603050405020304" pitchFamily="18" charset="0"/>
                <a:cs typeface="Times New Roman" panose="02020603050405020304" pitchFamily="18" charset="0"/>
              </a:rPr>
              <a:t>Week 1 – Requirement Analysis &amp; Technology Setup:</a:t>
            </a:r>
            <a:endParaRPr lang="en-US" sz="6400" u="sng"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Understood project goals and web application objectives.</a:t>
            </a:r>
          </a:p>
          <a:p>
            <a:pPr>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Identified key market data like sales figures, trends, and historical records.</a:t>
            </a:r>
          </a:p>
          <a:p>
            <a:pPr>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Listed main features: dashboards, charts, forecast results, and reports.</a:t>
            </a:r>
          </a:p>
          <a:p>
            <a:pPr>
              <a:buFont typeface="Arial" panose="020B0604020202020204" pitchFamily="34" charset="0"/>
              <a:buChar char="•"/>
            </a:pPr>
            <a:r>
              <a:rPr lang="en-US" sz="6400" dirty="0" smtClean="0">
                <a:latin typeface="Times New Roman" panose="02020603050405020304" pitchFamily="18" charset="0"/>
                <a:cs typeface="Times New Roman" panose="02020603050405020304" pitchFamily="18" charset="0"/>
              </a:rPr>
              <a:t>Prepared </a:t>
            </a:r>
            <a:r>
              <a:rPr lang="en-US" sz="6400" dirty="0">
                <a:latin typeface="Times New Roman" panose="02020603050405020304" pitchFamily="18" charset="0"/>
                <a:cs typeface="Times New Roman" panose="02020603050405020304" pitchFamily="18" charset="0"/>
              </a:rPr>
              <a:t>the development environment for coding.</a:t>
            </a:r>
          </a:p>
          <a:p>
            <a:r>
              <a:rPr lang="en-US" sz="6400" b="1" dirty="0">
                <a:latin typeface="Times New Roman" panose="02020603050405020304" pitchFamily="18" charset="0"/>
                <a:cs typeface="Times New Roman" panose="02020603050405020304" pitchFamily="18" charset="0"/>
              </a:rPr>
              <a:t>Week 2 – System Design &amp; Database Planning:</a:t>
            </a:r>
            <a:endParaRPr lang="en-US" sz="6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Designed system architecture showing data flow between UI, server, and database.</a:t>
            </a:r>
          </a:p>
          <a:p>
            <a:pPr>
              <a:buFont typeface="Arial" panose="020B0604020202020204" pitchFamily="34" charset="0"/>
              <a:buChar char="•"/>
            </a:pPr>
            <a:r>
              <a:rPr lang="en-US" sz="6400" dirty="0" smtClean="0">
                <a:latin typeface="Times New Roman" panose="02020603050405020304" pitchFamily="18" charset="0"/>
                <a:cs typeface="Times New Roman" panose="02020603050405020304" pitchFamily="18" charset="0"/>
              </a:rPr>
              <a:t>Created </a:t>
            </a:r>
            <a:r>
              <a:rPr lang="en-US" sz="6400" b="1" dirty="0">
                <a:latin typeface="Times New Roman" panose="02020603050405020304" pitchFamily="18" charset="0"/>
                <a:cs typeface="Times New Roman" panose="02020603050405020304" pitchFamily="18" charset="0"/>
              </a:rPr>
              <a:t>Data Flow Diagrams (DFD)</a:t>
            </a:r>
            <a:r>
              <a:rPr lang="en-US" sz="6400" dirty="0">
                <a:latin typeface="Times New Roman" panose="02020603050405020304" pitchFamily="18" charset="0"/>
                <a:cs typeface="Times New Roman" panose="02020603050405020304" pitchFamily="18" charset="0"/>
              </a:rPr>
              <a:t> and </a:t>
            </a:r>
            <a:r>
              <a:rPr lang="en-US" sz="6400" b="1" dirty="0">
                <a:latin typeface="Times New Roman" panose="02020603050405020304" pitchFamily="18" charset="0"/>
                <a:cs typeface="Times New Roman" panose="02020603050405020304" pitchFamily="18" charset="0"/>
              </a:rPr>
              <a:t>Use Case Diagrams</a:t>
            </a:r>
            <a:r>
              <a:rPr lang="en-US" sz="6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6400" dirty="0">
                <a:latin typeface="Times New Roman" panose="02020603050405020304" pitchFamily="18" charset="0"/>
                <a:cs typeface="Times New Roman" panose="02020603050405020304" pitchFamily="18" charset="0"/>
              </a:rPr>
              <a:t>Planned the database structure for efficient data storage and access.</a:t>
            </a:r>
          </a:p>
          <a:p>
            <a:r>
              <a:rPr lang="en-US" dirty="0" smtClean="0"/>
              <a:t>.</a:t>
            </a:r>
            <a:endParaRPr lang="en-US" dirty="0"/>
          </a:p>
        </p:txBody>
      </p:sp>
    </p:spTree>
    <p:extLst>
      <p:ext uri="{BB962C8B-B14F-4D97-AF65-F5344CB8AC3E}">
        <p14:creationId xmlns:p14="http://schemas.microsoft.com/office/powerpoint/2010/main" val="2770271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4212" y="1348023"/>
            <a:ext cx="10058400" cy="4023360"/>
          </a:xfrm>
        </p:spPr>
        <p:txBody>
          <a:bodyPr>
            <a:noAutofit/>
          </a:bodyPr>
          <a:lstStyle/>
          <a:p>
            <a:r>
              <a:rPr lang="en-US" sz="1600" b="1" dirty="0">
                <a:latin typeface="Times New Roman" panose="02020603050405020304" pitchFamily="18" charset="0"/>
                <a:cs typeface="Times New Roman" panose="02020603050405020304" pitchFamily="18" charset="0"/>
              </a:rPr>
              <a:t>Week 3 – Module Development &amp; Forecasting Implementation: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Developed backend modules for data processing and forecasting.</a:t>
            </a:r>
          </a:p>
          <a:p>
            <a:r>
              <a:rPr lang="en-US" sz="1600" dirty="0">
                <a:latin typeface="Times New Roman" panose="02020603050405020304" pitchFamily="18" charset="0"/>
                <a:cs typeface="Times New Roman" panose="02020603050405020304" pitchFamily="18" charset="0"/>
              </a:rPr>
              <a:t>Implemented algorithms to predict market trends using historical data.</a:t>
            </a:r>
          </a:p>
          <a:p>
            <a:r>
              <a:rPr lang="en-US" sz="1600" dirty="0">
                <a:latin typeface="Times New Roman" panose="02020603050405020304" pitchFamily="18" charset="0"/>
                <a:cs typeface="Times New Roman" panose="02020603050405020304" pitchFamily="18" charset="0"/>
              </a:rPr>
              <a:t>Integrated backend with the web interface for user interaction.</a:t>
            </a:r>
          </a:p>
          <a:p>
            <a:r>
              <a:rPr lang="en-US" sz="1600" dirty="0">
                <a:latin typeface="Times New Roman" panose="02020603050405020304" pitchFamily="18" charset="0"/>
                <a:cs typeface="Times New Roman" panose="02020603050405020304" pitchFamily="18" charset="0"/>
              </a:rPr>
              <a:t>Conducted module-level testing to ensure correctness.</a:t>
            </a:r>
          </a:p>
          <a:p>
            <a:r>
              <a:rPr lang="en-US" sz="1600" b="1" dirty="0">
                <a:latin typeface="Times New Roman" panose="02020603050405020304" pitchFamily="18" charset="0"/>
                <a:cs typeface="Times New Roman" panose="02020603050405020304" pitchFamily="18" charset="0"/>
              </a:rPr>
              <a:t>Week 4 – Testing, Visualization &amp; Final Deployment: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Designed dashboards and charts for clear result visualization.</a:t>
            </a:r>
          </a:p>
          <a:p>
            <a:r>
              <a:rPr lang="en-US" sz="1600" dirty="0">
                <a:latin typeface="Times New Roman" panose="02020603050405020304" pitchFamily="18" charset="0"/>
                <a:cs typeface="Times New Roman" panose="02020603050405020304" pitchFamily="18" charset="0"/>
              </a:rPr>
              <a:t>Performed testing for errors, performance, and usability.</a:t>
            </a:r>
          </a:p>
          <a:p>
            <a:r>
              <a:rPr lang="en-US" sz="1600" dirty="0">
                <a:latin typeface="Times New Roman" panose="02020603050405020304" pitchFamily="18" charset="0"/>
                <a:cs typeface="Times New Roman" panose="02020603050405020304" pitchFamily="18" charset="0"/>
              </a:rPr>
              <a:t>Made final improvements for a smooth user experience.</a:t>
            </a:r>
          </a:p>
          <a:p>
            <a:r>
              <a:rPr lang="en-US" sz="1600" dirty="0">
                <a:latin typeface="Times New Roman" panose="02020603050405020304" pitchFamily="18" charset="0"/>
                <a:cs typeface="Times New Roman" panose="02020603050405020304" pitchFamily="18" charset="0"/>
              </a:rPr>
              <a:t>Deployed the final web application and prepared documentation.</a:t>
            </a:r>
          </a:p>
        </p:txBody>
      </p:sp>
    </p:spTree>
    <p:extLst>
      <p:ext uri="{BB962C8B-B14F-4D97-AF65-F5344CB8AC3E}">
        <p14:creationId xmlns:p14="http://schemas.microsoft.com/office/powerpoint/2010/main" val="2132377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481" y="138897"/>
            <a:ext cx="10032936" cy="1436418"/>
          </a:xfrm>
        </p:spPr>
        <p:txBody>
          <a:bodyPr/>
          <a:lstStyle/>
          <a:p>
            <a:r>
              <a:rPr lang="en-US" b="1" dirty="0" smtClean="0">
                <a:latin typeface="Times New Roman" panose="02020603050405020304" pitchFamily="18" charset="0"/>
                <a:cs typeface="Times New Roman" panose="02020603050405020304" pitchFamily="18" charset="0"/>
              </a:rPr>
              <a:t>Implementation &amp; Execution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4481" y="1753136"/>
            <a:ext cx="10058400" cy="4023360"/>
          </a:xfrm>
        </p:spPr>
        <p:txBody>
          <a:bodyPr>
            <a:normAutofit fontScale="85000" lnSpcReduction="20000"/>
          </a:bodyPr>
          <a:lstStyle/>
          <a:p>
            <a:r>
              <a:rPr lang="en-US" sz="1900" dirty="0">
                <a:latin typeface="Times New Roman" panose="02020603050405020304" pitchFamily="18" charset="0"/>
                <a:cs typeface="Times New Roman" panose="02020603050405020304" pitchFamily="18" charset="0"/>
              </a:rPr>
              <a:t>The implementation phase was the main part of the internship, where all the planning and design were turned into a working web application</a:t>
            </a:r>
            <a:r>
              <a:rPr lang="en-US" sz="1900" dirty="0" smtClean="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The work was done step by step using </a:t>
            </a:r>
            <a:r>
              <a:rPr lang="en-US" sz="1900" b="1" dirty="0">
                <a:latin typeface="Times New Roman" panose="02020603050405020304" pitchFamily="18" charset="0"/>
                <a:cs typeface="Times New Roman" panose="02020603050405020304" pitchFamily="18" charset="0"/>
              </a:rPr>
              <a:t>HTML</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PHP</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SQL</a:t>
            </a:r>
            <a:r>
              <a:rPr lang="en-US" sz="1900" dirty="0">
                <a:latin typeface="Times New Roman" panose="02020603050405020304" pitchFamily="18" charset="0"/>
                <a:cs typeface="Times New Roman" panose="02020603050405020304" pitchFamily="18" charset="0"/>
              </a:rPr>
              <a:t> to make sure everything worked smoothly.</a:t>
            </a:r>
          </a:p>
          <a:p>
            <a:r>
              <a:rPr lang="en-US" sz="1900" dirty="0">
                <a:latin typeface="Times New Roman" panose="02020603050405020304" pitchFamily="18" charset="0"/>
                <a:cs typeface="Times New Roman" panose="02020603050405020304" pitchFamily="18" charset="0"/>
              </a:rPr>
              <a:t>In the </a:t>
            </a:r>
            <a:r>
              <a:rPr lang="en-US" sz="1900" b="1" u="sng" dirty="0">
                <a:latin typeface="Times New Roman" panose="02020603050405020304" pitchFamily="18" charset="0"/>
                <a:cs typeface="Times New Roman" panose="02020603050405020304" pitchFamily="18" charset="0"/>
              </a:rPr>
              <a:t>first stage</a:t>
            </a:r>
            <a:r>
              <a:rPr lang="en-US" sz="1900" dirty="0">
                <a:latin typeface="Times New Roman" panose="02020603050405020304" pitchFamily="18" charset="0"/>
                <a:cs typeface="Times New Roman" panose="02020603050405020304" pitchFamily="18" charset="0"/>
              </a:rPr>
              <a:t>, I focused on understanding what the system needed to do. I studied market data, past trends, and the main features required such as dashboards, charts, forecast results, and reports. </a:t>
            </a:r>
          </a:p>
          <a:p>
            <a:r>
              <a:rPr lang="en-US" sz="1900" dirty="0">
                <a:latin typeface="Times New Roman" panose="02020603050405020304" pitchFamily="18" charset="0"/>
                <a:cs typeface="Times New Roman" panose="02020603050405020304" pitchFamily="18" charset="0"/>
              </a:rPr>
              <a:t>For the </a:t>
            </a:r>
            <a:r>
              <a:rPr lang="en-US" sz="1900" b="1" u="sng" dirty="0" smtClean="0">
                <a:latin typeface="Times New Roman" panose="02020603050405020304" pitchFamily="18" charset="0"/>
                <a:cs typeface="Times New Roman" panose="02020603050405020304" pitchFamily="18" charset="0"/>
              </a:rPr>
              <a:t>fr</a:t>
            </a:r>
            <a:r>
              <a:rPr lang="en-US" sz="1900" b="1" u="sng" dirty="0">
                <a:latin typeface="Times New Roman" panose="02020603050405020304" pitchFamily="18" charset="0"/>
                <a:cs typeface="Times New Roman" panose="02020603050405020304" pitchFamily="18" charset="0"/>
              </a:rPr>
              <a:t>ontend</a:t>
            </a:r>
            <a:r>
              <a:rPr lang="en-US" sz="1900" dirty="0">
                <a:latin typeface="Times New Roman" panose="02020603050405020304" pitchFamily="18" charset="0"/>
                <a:cs typeface="Times New Roman" panose="02020603050405020304" pitchFamily="18" charset="0"/>
              </a:rPr>
              <a:t>, I used </a:t>
            </a:r>
            <a:r>
              <a:rPr lang="en-US" sz="1900" b="1" dirty="0">
                <a:latin typeface="Times New Roman" panose="02020603050405020304" pitchFamily="18" charset="0"/>
                <a:cs typeface="Times New Roman" panose="02020603050405020304" pitchFamily="18" charset="0"/>
              </a:rPr>
              <a:t>HTML</a:t>
            </a:r>
            <a:r>
              <a:rPr lang="en-US" sz="1900" dirty="0">
                <a:latin typeface="Times New Roman" panose="02020603050405020304" pitchFamily="18" charset="0"/>
                <a:cs typeface="Times New Roman" panose="02020603050405020304" pitchFamily="18" charset="0"/>
              </a:rPr>
              <a:t> to design the web pages. It helped in creating a clean, simple, and easy-to-use interface where users could view </a:t>
            </a:r>
            <a:r>
              <a:rPr lang="en-US" sz="1900" dirty="0" smtClean="0">
                <a:latin typeface="Times New Roman" panose="02020603050405020304" pitchFamily="18" charset="0"/>
                <a:cs typeface="Times New Roman" panose="02020603050405020304" pitchFamily="18" charset="0"/>
              </a:rPr>
              <a:t>data.</a:t>
            </a:r>
          </a:p>
          <a:p>
            <a:r>
              <a:rPr lang="en-US" sz="1900" dirty="0" smtClean="0">
                <a:latin typeface="Times New Roman" panose="02020603050405020304" pitchFamily="18" charset="0"/>
                <a:cs typeface="Times New Roman" panose="02020603050405020304" pitchFamily="18" charset="0"/>
              </a:rPr>
              <a:t>The</a:t>
            </a:r>
            <a:r>
              <a:rPr lang="en-US" sz="1900" u="sng" dirty="0">
                <a:latin typeface="Times New Roman" panose="02020603050405020304" pitchFamily="18" charset="0"/>
                <a:cs typeface="Times New Roman" panose="02020603050405020304" pitchFamily="18" charset="0"/>
              </a:rPr>
              <a:t> </a:t>
            </a:r>
            <a:r>
              <a:rPr lang="en-US" sz="1900" b="1" u="sng" dirty="0" smtClean="0">
                <a:latin typeface="Times New Roman" panose="02020603050405020304" pitchFamily="18" charset="0"/>
                <a:cs typeface="Times New Roman" panose="02020603050405020304" pitchFamily="18" charset="0"/>
              </a:rPr>
              <a:t>backend</a:t>
            </a:r>
            <a:r>
              <a:rPr lang="en-US" sz="1900" u="sng" dirty="0" smtClean="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was developed using </a:t>
            </a:r>
            <a:r>
              <a:rPr lang="en-US" sz="1900" b="1" dirty="0">
                <a:latin typeface="Times New Roman" panose="02020603050405020304" pitchFamily="18" charset="0"/>
                <a:cs typeface="Times New Roman" panose="02020603050405020304" pitchFamily="18" charset="0"/>
              </a:rPr>
              <a:t>PHP</a:t>
            </a:r>
            <a:r>
              <a:rPr lang="en-US" sz="1900" dirty="0">
                <a:latin typeface="Times New Roman" panose="02020603050405020304" pitchFamily="18" charset="0"/>
                <a:cs typeface="Times New Roman" panose="02020603050405020304" pitchFamily="18" charset="0"/>
              </a:rPr>
              <a:t>, which handled all the main functions of the system. It processed user inputs, connected the web pages with the database, and displayed results like forecasts and reports.</a:t>
            </a:r>
          </a:p>
          <a:p>
            <a:r>
              <a:rPr lang="en-US" sz="1900" dirty="0">
                <a:latin typeface="Times New Roman" panose="02020603050405020304" pitchFamily="18" charset="0"/>
                <a:cs typeface="Times New Roman" panose="02020603050405020304" pitchFamily="18" charset="0"/>
              </a:rPr>
              <a:t>The </a:t>
            </a:r>
            <a:r>
              <a:rPr lang="en-US" sz="1900" b="1" u="sng" dirty="0">
                <a:latin typeface="Times New Roman" panose="02020603050405020304" pitchFamily="18" charset="0"/>
                <a:cs typeface="Times New Roman" panose="02020603050405020304" pitchFamily="18" charset="0"/>
              </a:rPr>
              <a:t>database</a:t>
            </a:r>
            <a:r>
              <a:rPr lang="en-US" sz="1900" dirty="0">
                <a:latin typeface="Times New Roman" panose="02020603050405020304" pitchFamily="18" charset="0"/>
                <a:cs typeface="Times New Roman" panose="02020603050405020304" pitchFamily="18" charset="0"/>
              </a:rPr>
              <a:t> was created using </a:t>
            </a:r>
            <a:r>
              <a:rPr lang="en-US" sz="1900" b="1" dirty="0">
                <a:latin typeface="Times New Roman" panose="02020603050405020304" pitchFamily="18" charset="0"/>
                <a:cs typeface="Times New Roman" panose="02020603050405020304" pitchFamily="18" charset="0"/>
              </a:rPr>
              <a:t>SQL</a:t>
            </a:r>
            <a:r>
              <a:rPr lang="en-US" sz="1900" dirty="0">
                <a:latin typeface="Times New Roman" panose="02020603050405020304" pitchFamily="18" charset="0"/>
                <a:cs typeface="Times New Roman" panose="02020603050405020304" pitchFamily="18" charset="0"/>
              </a:rPr>
              <a:t> to store and manage all the market data safely. It helped in saving, updating, and showing data whenever needed for analysis and forecasting.</a:t>
            </a:r>
          </a:p>
          <a:p>
            <a:r>
              <a:rPr lang="en-US" sz="1900" dirty="0">
                <a:latin typeface="Times New Roman" panose="02020603050405020304" pitchFamily="18" charset="0"/>
                <a:cs typeface="Times New Roman" panose="02020603050405020304" pitchFamily="18" charset="0"/>
              </a:rPr>
              <a:t>During the </a:t>
            </a:r>
            <a:r>
              <a:rPr lang="en-US" sz="1900" b="1" u="sng" dirty="0">
                <a:latin typeface="Times New Roman" panose="02020603050405020304" pitchFamily="18" charset="0"/>
                <a:cs typeface="Times New Roman" panose="02020603050405020304" pitchFamily="18" charset="0"/>
              </a:rPr>
              <a:t>I</a:t>
            </a:r>
            <a:r>
              <a:rPr lang="en-US" sz="1900" b="1" u="sng" dirty="0" smtClean="0">
                <a:latin typeface="Times New Roman" panose="02020603050405020304" pitchFamily="18" charset="0"/>
                <a:cs typeface="Times New Roman" panose="02020603050405020304" pitchFamily="18" charset="0"/>
              </a:rPr>
              <a:t>ntegration</a:t>
            </a:r>
            <a:r>
              <a:rPr lang="en-US" sz="1900" u="sng" dirty="0" smtClean="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stage, I connected the frontend, backend, and database to make sure they worked together correctly. I checked all the features, fixed small issues, and made sure the system ran without errors.</a:t>
            </a:r>
          </a:p>
          <a:p>
            <a:r>
              <a:rPr lang="en-US" sz="1900" dirty="0">
                <a:latin typeface="Times New Roman" panose="02020603050405020304" pitchFamily="18" charset="0"/>
                <a:cs typeface="Times New Roman" panose="02020603050405020304" pitchFamily="18" charset="0"/>
              </a:rPr>
              <a:t>In the </a:t>
            </a:r>
            <a:r>
              <a:rPr lang="en-US" sz="1900" b="1" u="sng" dirty="0">
                <a:latin typeface="Times New Roman" panose="02020603050405020304" pitchFamily="18" charset="0"/>
                <a:cs typeface="Times New Roman" panose="02020603050405020304" pitchFamily="18" charset="0"/>
              </a:rPr>
              <a:t>final stage</a:t>
            </a:r>
            <a:r>
              <a:rPr lang="en-US" sz="1900" dirty="0">
                <a:latin typeface="Times New Roman" panose="02020603050405020304" pitchFamily="18" charset="0"/>
                <a:cs typeface="Times New Roman" panose="02020603050405020304" pitchFamily="18" charset="0"/>
              </a:rPr>
              <a:t>, the completed web application was tested on a local server. It was able to take real market data, generate forecasts, and display results properly.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248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UML Diagram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a:bodyPr>
          <a:lstStyle/>
          <a:p>
            <a:pPr marL="0" indent="0" algn="ctr">
              <a:buNone/>
            </a:pPr>
            <a:r>
              <a:rPr lang="en-US" sz="1600" dirty="0" smtClean="0">
                <a:latin typeface="Times New Roman" panose="02020603050405020304" pitchFamily="18" charset="0"/>
                <a:cs typeface="Times New Roman" panose="02020603050405020304" pitchFamily="18" charset="0"/>
              </a:rPr>
              <a:t>Use Case Diagram</a:t>
            </a:r>
            <a:endParaRPr lang="en-IN" sz="16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normAutofit/>
          </a:bodyPr>
          <a:lstStyle/>
          <a:p>
            <a:pPr algn="ctr"/>
            <a:r>
              <a:rPr lang="en-US" sz="1600" dirty="0" smtClean="0">
                <a:latin typeface="Times New Roman" panose="02020603050405020304" pitchFamily="18" charset="0"/>
                <a:cs typeface="Times New Roman" panose="02020603050405020304" pitchFamily="18" charset="0"/>
              </a:rPr>
              <a:t>Class Diagram</a:t>
            </a:r>
            <a:endParaRPr lang="en-IN" sz="16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1420679" y="2171549"/>
            <a:ext cx="4290960" cy="3533775"/>
          </a:xfrm>
          <a:prstGeom prst="rect">
            <a:avLst/>
          </a:prstGeom>
        </p:spPr>
      </p:pic>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6447099" y="2451062"/>
            <a:ext cx="4155311" cy="3254261"/>
          </a:xfrm>
          <a:prstGeom prst="rect">
            <a:avLst/>
          </a:prstGeom>
        </p:spPr>
      </p:pic>
    </p:spTree>
    <p:extLst>
      <p:ext uri="{BB962C8B-B14F-4D97-AF65-F5344CB8AC3E}">
        <p14:creationId xmlns:p14="http://schemas.microsoft.com/office/powerpoint/2010/main" val="171769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7722629" cy="720394"/>
          </a:xfrm>
        </p:spPr>
        <p:txBody>
          <a:bodyPr>
            <a:normAutofit/>
          </a:bodyPr>
          <a:lstStyle/>
          <a:p>
            <a:r>
              <a:rPr lang="en-US" sz="3600" dirty="0" err="1" smtClean="0">
                <a:latin typeface="Times New Roman" panose="02020603050405020304" pitchFamily="18" charset="0"/>
                <a:cs typeface="Times New Roman" panose="02020603050405020304" pitchFamily="18" charset="0"/>
              </a:rPr>
              <a:t>Psuedo</a:t>
            </a:r>
            <a:r>
              <a:rPr lang="en-US" sz="3600" dirty="0" smtClean="0">
                <a:latin typeface="Times New Roman" panose="02020603050405020304" pitchFamily="18" charset="0"/>
                <a:cs typeface="Times New Roman" panose="02020603050405020304" pitchFamily="18" charset="0"/>
              </a:rPr>
              <a:t> code</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58383" y="1093380"/>
            <a:ext cx="10512127" cy="5180098"/>
          </a:xfrm>
        </p:spPr>
        <p:txBody>
          <a:bodyPr numCol="2">
            <a:noAutofit/>
          </a:bodyPr>
          <a:lstStyle/>
          <a:p>
            <a:r>
              <a:rPr lang="en-US" sz="1600" b="1" dirty="0">
                <a:latin typeface="Times New Roman" panose="02020603050405020304" pitchFamily="18" charset="0"/>
                <a:cs typeface="Times New Roman" panose="02020603050405020304" pitchFamily="18" charset="0"/>
              </a:rPr>
              <a:t>(SQL sets up the database and stores market data.)</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//Implementation </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Creating Database</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CREATE DATABASE </a:t>
            </a:r>
            <a:r>
              <a:rPr lang="en-US" sz="1600" dirty="0" err="1">
                <a:latin typeface="Times New Roman" panose="02020603050405020304" pitchFamily="18" charset="0"/>
                <a:cs typeface="Times New Roman" panose="02020603050405020304" pitchFamily="18" charset="0"/>
              </a:rPr>
              <a:t>MarketForecastDB</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Use Database</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dirty="0" err="1">
                <a:latin typeface="Times New Roman" panose="02020603050405020304" pitchFamily="18" charset="0"/>
                <a:cs typeface="Times New Roman" panose="02020603050405020304" pitchFamily="18" charset="0"/>
              </a:rPr>
              <a:t>MarketForecastDB</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Create Table for Market Data</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CREATE TABLE </a:t>
            </a:r>
            <a:r>
              <a:rPr lang="en-US" sz="1600" dirty="0" err="1">
                <a:latin typeface="Times New Roman" panose="02020603050405020304" pitchFamily="18" charset="0"/>
                <a:cs typeface="Times New Roman" panose="02020603050405020304" pitchFamily="18" charset="0"/>
              </a:rPr>
              <a:t>MarketData</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ID INT PRIMARY KEY AUTO_INCREMENT,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ProductName</a:t>
            </a:r>
            <a:r>
              <a:rPr lang="en-US" sz="1600" dirty="0">
                <a:latin typeface="Times New Roman" panose="02020603050405020304" pitchFamily="18" charset="0"/>
                <a:cs typeface="Times New Roman" panose="02020603050405020304" pitchFamily="18" charset="0"/>
              </a:rPr>
              <a:t> VARCHAR(50),</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Category VARCHAR(50),</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Sales INT,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SaleDate</a:t>
            </a:r>
            <a:r>
              <a:rPr lang="en-US" sz="1600" dirty="0">
                <a:latin typeface="Times New Roman" panose="02020603050405020304" pitchFamily="18" charset="0"/>
                <a:cs typeface="Times New Roman" panose="02020603050405020304" pitchFamily="18" charset="0"/>
              </a:rPr>
              <a:t> DATE</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Insert Sample Data</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INSERT INTO </a:t>
            </a:r>
            <a:r>
              <a:rPr lang="en-US" sz="1600" dirty="0" err="1">
                <a:latin typeface="Times New Roman" panose="02020603050405020304" pitchFamily="18" charset="0"/>
                <a:cs typeface="Times New Roman" panose="02020603050405020304" pitchFamily="18" charset="0"/>
              </a:rPr>
              <a:t>MarketData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ProductName</a:t>
            </a:r>
            <a:r>
              <a:rPr lang="en-US" sz="1600" dirty="0">
                <a:latin typeface="Times New Roman" panose="02020603050405020304" pitchFamily="18" charset="0"/>
                <a:cs typeface="Times New Roman" panose="02020603050405020304" pitchFamily="18" charset="0"/>
              </a:rPr>
              <a:t>, Category, Sales, </a:t>
            </a:r>
            <a:r>
              <a:rPr lang="en-US" sz="1600" dirty="0" err="1">
                <a:latin typeface="Times New Roman" panose="02020603050405020304" pitchFamily="18" charset="0"/>
                <a:cs typeface="Times New Roman" panose="02020603050405020304" pitchFamily="18" charset="0"/>
              </a:rPr>
              <a:t>SaleDate</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VALUES </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('Product A', 'Electronics', 120, '2025-01-01'),</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('Product B', 'Electronics', 150, '2025-01-02'),</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('Product  </a:t>
            </a:r>
            <a:r>
              <a:rPr lang="en-US" sz="1600" dirty="0" smtClean="0">
                <a:latin typeface="Times New Roman" panose="02020603050405020304" pitchFamily="18" charset="0"/>
                <a:cs typeface="Times New Roman" panose="02020603050405020304" pitchFamily="18" charset="0"/>
              </a:rPr>
              <a:t>C</a:t>
            </a:r>
            <a:r>
              <a:rPr lang="en-US" sz="1600" dirty="0">
                <a:latin typeface="Times New Roman" panose="02020603050405020304" pitchFamily="18" charset="0"/>
                <a:cs typeface="Times New Roman" panose="02020603050405020304" pitchFamily="18" charset="0"/>
              </a:rPr>
              <a:t>', 'Clothing', 90, '2025-01-01');</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532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0076" y="324091"/>
            <a:ext cx="11420353" cy="5447645"/>
          </a:xfrm>
          <a:prstGeom prst="rect">
            <a:avLst/>
          </a:prstGeom>
        </p:spPr>
        <p:txBody>
          <a:bodyPr wrap="square" numCol="3">
            <a:spAutoFit/>
          </a:bodyPr>
          <a:lstStyle/>
          <a:p>
            <a:pPr>
              <a:spcBef>
                <a:spcPts val="600"/>
              </a:spcBef>
              <a:spcAft>
                <a:spcPts val="0"/>
              </a:spcAft>
            </a:pPr>
            <a:r>
              <a:rPr lang="en-US" sz="1600" b="1" dirty="0">
                <a:latin typeface="Times New Roman" panose="02020603050405020304" pitchFamily="18" charset="0"/>
                <a:ea typeface="Times New Roman" panose="02020603050405020304" pitchFamily="18" charset="0"/>
              </a:rPr>
              <a:t>(HTML</a:t>
            </a:r>
            <a:r>
              <a:rPr lang="en-US" sz="1600" dirty="0">
                <a:latin typeface="Times New Roman" panose="02020603050405020304" pitchFamily="18" charset="0"/>
                <a:ea typeface="Times New Roman" panose="02020603050405020304" pitchFamily="18" charset="0"/>
              </a:rPr>
              <a:t> </a:t>
            </a:r>
            <a:r>
              <a:rPr lang="en-US" sz="1600" b="1" dirty="0">
                <a:latin typeface="Times New Roman" panose="02020603050405020304" pitchFamily="18" charset="0"/>
                <a:ea typeface="Times New Roman" panose="02020603050405020304" pitchFamily="18" charset="0"/>
              </a:rPr>
              <a:t>creates the dashboard for adding new data and viewing existing data)</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&lt;!DOCTYPE html&gt;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&lt;html&gt;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&lt;head&gt;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&lt;title&gt;Market and Forecast Dashboard&lt;/title&gt;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&lt;style&gt;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body { font-family: Arial, sans-serif; margin: 20px;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table { border-collapse: collapse; width: 100%; margin-top: 20px;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 td { border: 1px solid #ccc; padding: 10px; text-align: left;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 { background-color: #f2f2f2;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.form-section { margin-bottom: 20px; }</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&lt;/style&gt;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&lt;/head&gt;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&lt;body&gt;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r>
              <a:rPr lang="en-US" sz="1600" dirty="0" smtClean="0">
                <a:latin typeface="Times New Roman" panose="02020603050405020304" pitchFamily="18" charset="0"/>
                <a:ea typeface="Times New Roman" panose="02020603050405020304" pitchFamily="18" charset="0"/>
              </a:rPr>
              <a:t>&lt;</a:t>
            </a:r>
            <a:r>
              <a:rPr lang="en-US" sz="1600" dirty="0">
                <a:latin typeface="Times New Roman" panose="02020603050405020304" pitchFamily="18" charset="0"/>
                <a:ea typeface="Times New Roman" panose="02020603050405020304" pitchFamily="18" charset="0"/>
              </a:rPr>
              <a:t>h1&gt;Market and Forecast Dashboard&lt;/h1&gt;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r>
              <a:rPr lang="en-US" sz="1600" dirty="0" smtClean="0">
                <a:latin typeface="Times New Roman" panose="02020603050405020304" pitchFamily="18" charset="0"/>
                <a:ea typeface="Times New Roman" panose="02020603050405020304" pitchFamily="18" charset="0"/>
              </a:rPr>
              <a:t>&lt;!-- </a:t>
            </a:r>
            <a:r>
              <a:rPr lang="en-US" sz="1600" dirty="0">
                <a:latin typeface="Times New Roman" panose="02020603050405020304" pitchFamily="18" charset="0"/>
                <a:ea typeface="Times New Roman" panose="02020603050405020304" pitchFamily="18" charset="0"/>
              </a:rPr>
              <a:t>Data Entry Form --&gt;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&lt;div class="form-section"&gt;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&lt;h3&gt;Add New Market Data&lt;/h3&gt;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&lt;form action="</a:t>
            </a:r>
            <a:r>
              <a:rPr lang="en-US" sz="1600" dirty="0" err="1">
                <a:latin typeface="Times New Roman" panose="02020603050405020304" pitchFamily="18" charset="0"/>
                <a:ea typeface="Times New Roman" panose="02020603050405020304" pitchFamily="18" charset="0"/>
              </a:rPr>
              <a:t>add_data.php</a:t>
            </a:r>
            <a:r>
              <a:rPr lang="en-US" sz="1600" dirty="0">
                <a:latin typeface="Times New Roman" panose="02020603050405020304" pitchFamily="18" charset="0"/>
                <a:ea typeface="Times New Roman" panose="02020603050405020304" pitchFamily="18" charset="0"/>
              </a:rPr>
              <a:t>" method="post"&gt;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smtClean="0">
                <a:latin typeface="Times New Roman" panose="02020603050405020304" pitchFamily="18" charset="0"/>
                <a:ea typeface="Times New Roman" panose="02020603050405020304" pitchFamily="18" charset="0"/>
              </a:rPr>
              <a:t>        Product </a:t>
            </a:r>
            <a:r>
              <a:rPr lang="en-US" sz="1600" dirty="0">
                <a:latin typeface="Times New Roman" panose="02020603050405020304" pitchFamily="18" charset="0"/>
                <a:ea typeface="Times New Roman" panose="02020603050405020304" pitchFamily="18" charset="0"/>
              </a:rPr>
              <a:t>Name: &lt;input type="text" name="</a:t>
            </a:r>
            <a:r>
              <a:rPr lang="en-US" sz="1600" dirty="0" err="1">
                <a:latin typeface="Times New Roman" panose="02020603050405020304" pitchFamily="18" charset="0"/>
                <a:ea typeface="Times New Roman" panose="02020603050405020304" pitchFamily="18" charset="0"/>
              </a:rPr>
              <a:t>ProductName</a:t>
            </a:r>
            <a:r>
              <a:rPr lang="en-US" sz="1600" dirty="0">
                <a:latin typeface="Times New Roman" panose="02020603050405020304" pitchFamily="18" charset="0"/>
                <a:ea typeface="Times New Roman" panose="02020603050405020304" pitchFamily="18" charset="0"/>
              </a:rPr>
              <a:t>" required&gt;&lt;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Category: &lt;input type="text" name="Category" required&gt;&lt;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Sales: &lt;input type="number" name="Sales" required&gt;&lt;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Sale Date: &lt;input type="date" name="</a:t>
            </a:r>
            <a:r>
              <a:rPr lang="en-US" sz="1600" dirty="0" err="1">
                <a:latin typeface="Times New Roman" panose="02020603050405020304" pitchFamily="18" charset="0"/>
                <a:ea typeface="Times New Roman" panose="02020603050405020304" pitchFamily="18" charset="0"/>
              </a:rPr>
              <a:t>SaleDate</a:t>
            </a:r>
            <a:r>
              <a:rPr lang="en-US" sz="1600" dirty="0">
                <a:latin typeface="Times New Roman" panose="02020603050405020304" pitchFamily="18" charset="0"/>
                <a:ea typeface="Times New Roman" panose="02020603050405020304" pitchFamily="18" charset="0"/>
              </a:rPr>
              <a:t>" required&gt;&lt;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&gt;&lt;</a:t>
            </a:r>
            <a:r>
              <a:rPr lang="en-US" sz="1600" dirty="0" err="1">
                <a:latin typeface="Times New Roman" panose="02020603050405020304" pitchFamily="18" charset="0"/>
                <a:ea typeface="Times New Roman" panose="02020603050405020304" pitchFamily="18" charset="0"/>
              </a:rPr>
              <a:t>br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&lt;input type="submit" value="Add Data"&gt;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&lt;/form&gt;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&lt;/div&gt;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r>
              <a:rPr lang="en-US" sz="1600" dirty="0" smtClean="0">
                <a:latin typeface="Times New Roman" panose="02020603050405020304" pitchFamily="18" charset="0"/>
                <a:ea typeface="Times New Roman" panose="02020603050405020304" pitchFamily="18" charset="0"/>
              </a:rPr>
              <a:t>&lt;!-- </a:t>
            </a:r>
            <a:r>
              <a:rPr lang="en-US" sz="1600" dirty="0">
                <a:latin typeface="Times New Roman" panose="02020603050405020304" pitchFamily="18" charset="0"/>
                <a:ea typeface="Times New Roman" panose="02020603050405020304" pitchFamily="18" charset="0"/>
              </a:rPr>
              <a:t>Market Data Table --&gt;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&lt;div class="table-section"&gt;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&lt;h3&gt;Market Data&lt;/h3&gt;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&lt;table&gt;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&gt;ID&lt;/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&gt;Product Name&lt;/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&gt;Category&lt;/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&gt;Sales&lt;/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&gt;Sale Date&lt;/</a:t>
            </a:r>
            <a:r>
              <a:rPr lang="en-US" sz="1600" dirty="0" err="1">
                <a:latin typeface="Times New Roman" panose="02020603050405020304" pitchFamily="18" charset="0"/>
                <a:ea typeface="Times New Roman" panose="02020603050405020304" pitchFamily="18" charset="0"/>
              </a:rPr>
              <a:t>th</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&lt;/</a:t>
            </a:r>
            <a:r>
              <a:rPr lang="en-US" sz="1600" dirty="0" err="1">
                <a:latin typeface="Times New Roman" panose="02020603050405020304" pitchFamily="18" charset="0"/>
                <a:ea typeface="Times New Roman" panose="02020603050405020304" pitchFamily="18" charset="0"/>
              </a:rPr>
              <a:t>tr</a:t>
            </a:r>
            <a:r>
              <a:rPr lang="en-US" sz="1600" dirty="0">
                <a:latin typeface="Times New Roman" panose="02020603050405020304" pitchFamily="18" charset="0"/>
                <a:ea typeface="Times New Roman" panose="02020603050405020304" pitchFamily="18" charset="0"/>
              </a:rPr>
              <a:t>&gt;</a:t>
            </a:r>
            <a:endParaRPr lang="en-IN" sz="1600" dirty="0">
              <a:latin typeface="Times New Roman" panose="02020603050405020304" pitchFamily="18" charset="0"/>
              <a:ea typeface="Times New Roman" panose="02020603050405020304" pitchFamily="18" charset="0"/>
            </a:endParaRPr>
          </a:p>
          <a:p>
            <a:pPr>
              <a:spcBef>
                <a:spcPts val="600"/>
              </a:spcBef>
              <a:spcAft>
                <a:spcPts val="0"/>
              </a:spcAft>
            </a:pPr>
            <a:r>
              <a:rPr lang="en-US" sz="1600" dirty="0">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p:txBody>
      </p:sp>
      <p:cxnSp>
        <p:nvCxnSpPr>
          <p:cNvPr id="4" name="Straight Connector 3"/>
          <p:cNvCxnSpPr/>
          <p:nvPr/>
        </p:nvCxnSpPr>
        <p:spPr>
          <a:xfrm>
            <a:off x="4039565" y="405114"/>
            <a:ext cx="11574" cy="522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774329" y="405114"/>
            <a:ext cx="92598" cy="5220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235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597" y="243068"/>
            <a:ext cx="11563109" cy="6774238"/>
          </a:xfrm>
          <a:prstGeom prst="rect">
            <a:avLst/>
          </a:prstGeom>
        </p:spPr>
        <p:txBody>
          <a:bodyPr wrap="square" numCol="2">
            <a:spAutoFit/>
          </a:bodyPr>
          <a:lstStyle/>
          <a:p>
            <a:pPr>
              <a:spcBef>
                <a:spcPts val="600"/>
              </a:spcBef>
              <a:spcAft>
                <a:spcPts val="0"/>
              </a:spcAft>
            </a:pPr>
            <a:r>
              <a:rPr lang="en-US" sz="1500" b="1" u="sng" dirty="0">
                <a:latin typeface="Times New Roman" panose="02020603050405020304" pitchFamily="18" charset="0"/>
                <a:ea typeface="Times New Roman" panose="02020603050405020304" pitchFamily="18" charset="0"/>
              </a:rPr>
              <a:t>&lt;!-- PHP Code to Fetch Data from SQL Database --&gt;</a:t>
            </a:r>
            <a:endParaRPr lang="en-IN" sz="1500" b="1" u="sng"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a:t>
            </a:r>
            <a:r>
              <a:rPr lang="en-US" sz="1500" dirty="0" err="1">
                <a:latin typeface="Times New Roman" panose="02020603050405020304" pitchFamily="18" charset="0"/>
                <a:ea typeface="Times New Roman" panose="02020603050405020304" pitchFamily="18" charset="0"/>
              </a:rPr>
              <a:t>php</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$conn = new </a:t>
            </a:r>
            <a:r>
              <a:rPr lang="en-US" sz="1500" dirty="0" err="1">
                <a:latin typeface="Times New Roman" panose="02020603050405020304" pitchFamily="18" charset="0"/>
                <a:ea typeface="Times New Roman" panose="02020603050405020304" pitchFamily="18" charset="0"/>
              </a:rPr>
              <a:t>mysqli</a:t>
            </a:r>
            <a:r>
              <a:rPr lang="en-US" sz="1500" dirty="0">
                <a:latin typeface="Times New Roman" panose="02020603050405020304" pitchFamily="18" charset="0"/>
                <a:ea typeface="Times New Roman" panose="02020603050405020304" pitchFamily="18" charset="0"/>
              </a:rPr>
              <a:t>("</a:t>
            </a:r>
            <a:r>
              <a:rPr lang="en-US" sz="1500" dirty="0" err="1">
                <a:latin typeface="Times New Roman" panose="02020603050405020304" pitchFamily="18" charset="0"/>
                <a:ea typeface="Times New Roman" panose="02020603050405020304" pitchFamily="18" charset="0"/>
              </a:rPr>
              <a:t>localhost</a:t>
            </a:r>
            <a:r>
              <a:rPr lang="en-US" sz="1500" dirty="0">
                <a:latin typeface="Times New Roman" panose="02020603050405020304" pitchFamily="18" charset="0"/>
                <a:ea typeface="Times New Roman" panose="02020603050405020304" pitchFamily="18" charset="0"/>
              </a:rPr>
              <a:t>", "root", "", "</a:t>
            </a:r>
            <a:r>
              <a:rPr lang="en-US" sz="1500" dirty="0" err="1">
                <a:latin typeface="Times New Roman" panose="02020603050405020304" pitchFamily="18" charset="0"/>
                <a:ea typeface="Times New Roman" panose="02020603050405020304" pitchFamily="18" charset="0"/>
              </a:rPr>
              <a:t>MarketForecastDB</a:t>
            </a:r>
            <a:r>
              <a:rPr lang="en-US" sz="1500" dirty="0">
                <a:latin typeface="Times New Roman" panose="02020603050405020304" pitchFamily="18" charset="0"/>
                <a:ea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if ($conn-&gt;</a:t>
            </a:r>
            <a:r>
              <a:rPr lang="en-US" sz="1500" dirty="0" err="1">
                <a:latin typeface="Times New Roman" panose="02020603050405020304" pitchFamily="18" charset="0"/>
                <a:ea typeface="Times New Roman" panose="02020603050405020304" pitchFamily="18" charset="0"/>
              </a:rPr>
              <a:t>connect_error</a:t>
            </a:r>
            <a:r>
              <a:rPr lang="en-US" sz="1500" dirty="0">
                <a:latin typeface="Times New Roman" panose="02020603050405020304" pitchFamily="18" charset="0"/>
                <a:ea typeface="Times New Roman" panose="02020603050405020304" pitchFamily="18" charset="0"/>
              </a:rPr>
              <a:t>) { die("Connection failed: " . $conn-&gt;</a:t>
            </a:r>
            <a:r>
              <a:rPr lang="en-US" sz="1500" dirty="0" err="1">
                <a:latin typeface="Times New Roman" panose="02020603050405020304" pitchFamily="18" charset="0"/>
                <a:ea typeface="Times New Roman" panose="02020603050405020304" pitchFamily="18" charset="0"/>
              </a:rPr>
              <a:t>connect_error</a:t>
            </a: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r>
              <a:rPr lang="en-US" sz="1500" dirty="0" err="1">
                <a:latin typeface="Times New Roman" panose="02020603050405020304" pitchFamily="18" charset="0"/>
                <a:ea typeface="Times New Roman" panose="02020603050405020304" pitchFamily="18" charset="0"/>
              </a:rPr>
              <a:t>sql</a:t>
            </a:r>
            <a:r>
              <a:rPr lang="en-US" sz="1500" dirty="0">
                <a:latin typeface="Times New Roman" panose="02020603050405020304" pitchFamily="18" charset="0"/>
                <a:ea typeface="Times New Roman" panose="02020603050405020304" pitchFamily="18" charset="0"/>
              </a:rPr>
              <a:t> = "SELECT * FROM </a:t>
            </a:r>
            <a:r>
              <a:rPr lang="en-US" sz="1500" dirty="0" err="1">
                <a:latin typeface="Times New Roman" panose="02020603050405020304" pitchFamily="18" charset="0"/>
                <a:ea typeface="Times New Roman" panose="02020603050405020304" pitchFamily="18" charset="0"/>
              </a:rPr>
              <a:t>MarketData</a:t>
            </a:r>
            <a:r>
              <a:rPr lang="en-US" sz="1500" dirty="0">
                <a:latin typeface="Times New Roman" panose="02020603050405020304" pitchFamily="18" charset="0"/>
                <a:ea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$result = $conn-&gt;query($</a:t>
            </a:r>
            <a:r>
              <a:rPr lang="en-US" sz="1500" dirty="0" err="1">
                <a:latin typeface="Times New Roman" panose="02020603050405020304" pitchFamily="18" charset="0"/>
                <a:ea typeface="Times New Roman" panose="02020603050405020304" pitchFamily="18" charset="0"/>
              </a:rPr>
              <a:t>sql</a:t>
            </a:r>
            <a:r>
              <a:rPr lang="en-US" sz="1500" dirty="0">
                <a:latin typeface="Times New Roman" panose="02020603050405020304" pitchFamily="18" charset="0"/>
                <a:ea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if ($result-&gt;</a:t>
            </a:r>
            <a:r>
              <a:rPr lang="en-US" sz="1500" dirty="0" err="1">
                <a:latin typeface="Times New Roman" panose="02020603050405020304" pitchFamily="18" charset="0"/>
                <a:ea typeface="Times New Roman" panose="02020603050405020304" pitchFamily="18" charset="0"/>
              </a:rPr>
              <a:t>num_rows</a:t>
            </a:r>
            <a:r>
              <a:rPr lang="en-US" sz="1500" dirty="0">
                <a:latin typeface="Times New Roman" panose="02020603050405020304" pitchFamily="18" charset="0"/>
                <a:ea typeface="Times New Roman" panose="02020603050405020304" pitchFamily="18" charset="0"/>
              </a:rPr>
              <a:t> &gt; 0)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while($row = $result-&gt;</a:t>
            </a:r>
            <a:r>
              <a:rPr lang="en-US" sz="1500" dirty="0" err="1">
                <a:latin typeface="Times New Roman" panose="02020603050405020304" pitchFamily="18" charset="0"/>
                <a:ea typeface="Times New Roman" panose="02020603050405020304" pitchFamily="18" charset="0"/>
              </a:rPr>
              <a:t>fetch_assoc</a:t>
            </a: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echo "&lt;</a:t>
            </a:r>
            <a:r>
              <a:rPr lang="en-US" sz="1500" dirty="0" err="1">
                <a:latin typeface="Times New Roman" panose="02020603050405020304" pitchFamily="18" charset="0"/>
                <a:ea typeface="Times New Roman" panose="02020603050405020304" pitchFamily="18" charset="0"/>
              </a:rPr>
              <a:t>tr</a:t>
            </a:r>
            <a:r>
              <a:rPr lang="en-US" sz="1500" dirty="0">
                <a:latin typeface="Times New Roman" panose="02020603050405020304" pitchFamily="18" charset="0"/>
                <a:ea typeface="Times New Roman" panose="02020603050405020304" pitchFamily="18" charset="0"/>
              </a:rPr>
              <a:t>&gt;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&lt;td&gt;".$row["ID"]."&lt;/td&gt;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&lt;td&gt;".$row["</a:t>
            </a:r>
            <a:r>
              <a:rPr lang="en-US" sz="1500" dirty="0" err="1">
                <a:latin typeface="Times New Roman" panose="02020603050405020304" pitchFamily="18" charset="0"/>
                <a:ea typeface="Times New Roman" panose="02020603050405020304" pitchFamily="18" charset="0"/>
              </a:rPr>
              <a:t>ProductName</a:t>
            </a:r>
            <a:r>
              <a:rPr lang="en-US" sz="1500" dirty="0">
                <a:latin typeface="Times New Roman" panose="02020603050405020304" pitchFamily="18" charset="0"/>
                <a:ea typeface="Times New Roman" panose="02020603050405020304" pitchFamily="18" charset="0"/>
              </a:rPr>
              <a:t>"]."&lt;/td&gt;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&lt;td&gt;".$row["Category"]."&lt;/td&gt;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&lt;td&gt;".$row["Sales"]."&lt;/td&gt;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&lt;td&gt;".$row["</a:t>
            </a:r>
            <a:r>
              <a:rPr lang="en-US" sz="1500" dirty="0" err="1">
                <a:latin typeface="Times New Roman" panose="02020603050405020304" pitchFamily="18" charset="0"/>
                <a:ea typeface="Times New Roman" panose="02020603050405020304" pitchFamily="18" charset="0"/>
              </a:rPr>
              <a:t>SaleDate</a:t>
            </a:r>
            <a:r>
              <a:rPr lang="en-US" sz="1500" dirty="0">
                <a:latin typeface="Times New Roman" panose="02020603050405020304" pitchFamily="18" charset="0"/>
                <a:ea typeface="Times New Roman" panose="02020603050405020304" pitchFamily="18" charset="0"/>
              </a:rPr>
              <a:t>"]."&lt;/td&gt;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a:t>
            </a:r>
            <a:r>
              <a:rPr lang="en-US" sz="1500" dirty="0" err="1">
                <a:latin typeface="Times New Roman" panose="02020603050405020304" pitchFamily="18" charset="0"/>
                <a:ea typeface="Times New Roman" panose="02020603050405020304" pitchFamily="18" charset="0"/>
              </a:rPr>
              <a:t>tr</a:t>
            </a:r>
            <a:r>
              <a:rPr lang="en-US" sz="1500" dirty="0">
                <a:latin typeface="Times New Roman" panose="02020603050405020304" pitchFamily="18" charset="0"/>
                <a:ea typeface="Times New Roman" panose="02020603050405020304" pitchFamily="18" charset="0"/>
              </a:rPr>
              <a:t>&gt;";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 else </a:t>
            </a:r>
            <a:r>
              <a:rPr lang="en-US" sz="1500" dirty="0" smtClean="0">
                <a:latin typeface="Times New Roman" panose="02020603050405020304" pitchFamily="18" charset="0"/>
                <a:ea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US" sz="1500" dirty="0" smtClean="0">
              <a:latin typeface="Times New Roman" panose="02020603050405020304" pitchFamily="18" charset="0"/>
              <a:ea typeface="Times New Roman" panose="02020603050405020304" pitchFamily="18" charset="0"/>
            </a:endParaRPr>
          </a:p>
          <a:p>
            <a:pPr>
              <a:spcBef>
                <a:spcPts val="600"/>
              </a:spcBef>
              <a:spcAft>
                <a:spcPts val="0"/>
              </a:spcAft>
            </a:pPr>
            <a:endParaRPr lang="en-US" sz="1500" dirty="0">
              <a:latin typeface="Times New Roman" panose="02020603050405020304" pitchFamily="18" charset="0"/>
              <a:ea typeface="Times New Roman" panose="02020603050405020304" pitchFamily="18" charset="0"/>
            </a:endParaRPr>
          </a:p>
          <a:p>
            <a:pPr>
              <a:spcBef>
                <a:spcPts val="600"/>
              </a:spcBef>
              <a:spcAft>
                <a:spcPts val="0"/>
              </a:spcAft>
            </a:pPr>
            <a:endParaRPr lang="en-US" sz="1500" dirty="0" smtClean="0">
              <a:latin typeface="Times New Roman" panose="02020603050405020304" pitchFamily="18" charset="0"/>
              <a:ea typeface="Times New Roman" panose="02020603050405020304" pitchFamily="18" charset="0"/>
            </a:endParaRPr>
          </a:p>
          <a:p>
            <a:pPr>
              <a:spcBef>
                <a:spcPts val="600"/>
              </a:spcBef>
              <a:spcAft>
                <a:spcPts val="0"/>
              </a:spcAft>
            </a:pPr>
            <a:endParaRPr lang="en-US"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smtClean="0">
                <a:latin typeface="Times New Roman" panose="02020603050405020304" pitchFamily="18" charset="0"/>
                <a:ea typeface="Times New Roman" panose="02020603050405020304" pitchFamily="18" charset="0"/>
              </a:rPr>
              <a:t>echo </a:t>
            </a:r>
            <a:r>
              <a:rPr lang="en-US" sz="1500" dirty="0">
                <a:latin typeface="Times New Roman" panose="02020603050405020304" pitchFamily="18" charset="0"/>
                <a:ea typeface="Times New Roman" panose="02020603050405020304" pitchFamily="18" charset="0"/>
              </a:rPr>
              <a:t>"&lt;</a:t>
            </a:r>
            <a:r>
              <a:rPr lang="en-US" sz="1500" dirty="0" err="1">
                <a:latin typeface="Times New Roman" panose="02020603050405020304" pitchFamily="18" charset="0"/>
                <a:ea typeface="Times New Roman" panose="02020603050405020304" pitchFamily="18" charset="0"/>
              </a:rPr>
              <a:t>tr</a:t>
            </a:r>
            <a:r>
              <a:rPr lang="en-US" sz="1500" dirty="0">
                <a:latin typeface="Times New Roman" panose="02020603050405020304" pitchFamily="18" charset="0"/>
                <a:ea typeface="Times New Roman" panose="02020603050405020304" pitchFamily="18" charset="0"/>
              </a:rPr>
              <a:t>&gt;&lt;td </a:t>
            </a:r>
            <a:r>
              <a:rPr lang="en-US" sz="1500" dirty="0" err="1">
                <a:latin typeface="Times New Roman" panose="02020603050405020304" pitchFamily="18" charset="0"/>
                <a:ea typeface="Times New Roman" panose="02020603050405020304" pitchFamily="18" charset="0"/>
              </a:rPr>
              <a:t>colspan</a:t>
            </a:r>
            <a:r>
              <a:rPr lang="en-US" sz="1500" dirty="0">
                <a:latin typeface="Times New Roman" panose="02020603050405020304" pitchFamily="18" charset="0"/>
                <a:ea typeface="Times New Roman" panose="02020603050405020304" pitchFamily="18" charset="0"/>
              </a:rPr>
              <a:t>='5'&gt;No data found&lt;/td&gt;&lt;/</a:t>
            </a:r>
            <a:r>
              <a:rPr lang="en-US" sz="1500" dirty="0" err="1">
                <a:latin typeface="Times New Roman" panose="02020603050405020304" pitchFamily="18" charset="0"/>
                <a:ea typeface="Times New Roman" panose="02020603050405020304" pitchFamily="18" charset="0"/>
              </a:rPr>
              <a:t>tr</a:t>
            </a:r>
            <a:r>
              <a:rPr lang="en-US" sz="1500" dirty="0">
                <a:latin typeface="Times New Roman" panose="02020603050405020304" pitchFamily="18" charset="0"/>
                <a:ea typeface="Times New Roman" panose="02020603050405020304" pitchFamily="18" charset="0"/>
              </a:rPr>
              <a:t>&gt;";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r>
              <a:rPr lang="en-US" sz="1500" dirty="0" smtClean="0">
                <a:latin typeface="Times New Roman" panose="02020603050405020304" pitchFamily="18" charset="0"/>
                <a:ea typeface="Times New Roman" panose="02020603050405020304" pitchFamily="18" charset="0"/>
              </a:rPr>
              <a:t> </a:t>
            </a:r>
            <a:r>
              <a:rPr lang="en-US" sz="1500" dirty="0">
                <a:latin typeface="Times New Roman" panose="02020603050405020304" pitchFamily="18" charset="0"/>
                <a:ea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smtClean="0">
                <a:latin typeface="Times New Roman" panose="02020603050405020304" pitchFamily="18" charset="0"/>
                <a:ea typeface="Times New Roman" panose="02020603050405020304" pitchFamily="18" charset="0"/>
              </a:rPr>
              <a:t>  $</a:t>
            </a:r>
            <a:r>
              <a:rPr lang="en-US" sz="1500" dirty="0">
                <a:latin typeface="Times New Roman" panose="02020603050405020304" pitchFamily="18" charset="0"/>
                <a:ea typeface="Times New Roman" panose="02020603050405020304" pitchFamily="18" charset="0"/>
              </a:rPr>
              <a:t>conn-&gt;close();</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&lt;/table&gt;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&lt;/div&gt;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 Forecast Placeholder --&gt;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&lt;div class="forecast-section"&gt;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&lt;h3&gt;Forecast Results&lt;/h3&gt;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&lt;p&gt;Forecast results will appear here (to be implemented).&lt;/p&gt;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&lt;/div&gt;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&lt;/body&gt;</a:t>
            </a:r>
            <a:endParaRPr lang="en-IN" sz="1500" dirty="0">
              <a:latin typeface="Times New Roman" panose="02020603050405020304" pitchFamily="18" charset="0"/>
              <a:ea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rPr>
              <a:t>&lt;/html&gt;</a:t>
            </a:r>
            <a:endParaRPr lang="en-IN" sz="15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28735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340" y="258592"/>
            <a:ext cx="10992090" cy="6386364"/>
          </a:xfrm>
          <a:prstGeom prst="rect">
            <a:avLst/>
          </a:prstGeom>
        </p:spPr>
        <p:txBody>
          <a:bodyPr wrap="square">
            <a:spAutoFit/>
          </a:bodyPr>
          <a:lstStyle/>
          <a:p>
            <a:pPr>
              <a:spcBef>
                <a:spcPts val="600"/>
              </a:spcBef>
            </a:pPr>
            <a:r>
              <a:rPr lang="en-US" sz="1100" b="1" dirty="0"/>
              <a:t>(</a:t>
            </a:r>
            <a:r>
              <a:rPr lang="en-US" sz="1500" b="1" dirty="0" smtClean="0">
                <a:latin typeface="Times New Roman" panose="02020603050405020304" pitchFamily="18" charset="0"/>
                <a:cs typeface="Times New Roman" panose="02020603050405020304" pitchFamily="18" charset="0"/>
              </a:rPr>
              <a:t>PHP </a:t>
            </a:r>
            <a:r>
              <a:rPr lang="en-US" sz="1500" b="1" dirty="0">
                <a:latin typeface="Times New Roman" panose="02020603050405020304" pitchFamily="18" charset="0"/>
                <a:cs typeface="Times New Roman" panose="02020603050405020304" pitchFamily="18" charset="0"/>
              </a:rPr>
              <a:t>connects HTML form input to the SQL database</a:t>
            </a:r>
            <a:r>
              <a:rPr lang="en-US" sz="1500" b="1" dirty="0" smtClean="0">
                <a:latin typeface="Times New Roman" panose="02020603050405020304" pitchFamily="18" charset="0"/>
                <a:cs typeface="Times New Roman" panose="02020603050405020304" pitchFamily="18" charset="0"/>
              </a:rPr>
              <a:t>.)</a:t>
            </a:r>
          </a:p>
          <a:p>
            <a:pPr>
              <a:spcBef>
                <a:spcPts val="600"/>
              </a:spcBef>
            </a:pPr>
            <a:endParaRPr lang="en-IN" sz="1500" dirty="0">
              <a:latin typeface="Times New Roman" panose="02020603050405020304" pitchFamily="18" charset="0"/>
              <a:cs typeface="Times New Roman" panose="02020603050405020304" pitchFamily="18" charset="0"/>
            </a:endParaRPr>
          </a:p>
          <a:p>
            <a:pPr>
              <a:spcBef>
                <a:spcPts val="600"/>
              </a:spcBef>
              <a:spcAft>
                <a:spcPts val="0"/>
              </a:spcAft>
            </a:pPr>
            <a:r>
              <a:rPr lang="en-US" sz="1500" dirty="0" smtClean="0">
                <a:latin typeface="Times New Roman" panose="02020603050405020304" pitchFamily="18" charset="0"/>
                <a:ea typeface="Times New Roman" panose="02020603050405020304" pitchFamily="18" charset="0"/>
                <a:cs typeface="Times New Roman" panose="02020603050405020304" pitchFamily="18" charset="0"/>
              </a:rPr>
              <a:t>&lt;?</a:t>
            </a:r>
            <a:r>
              <a:rPr lang="en-US" sz="1500" dirty="0" err="1" smtClean="0">
                <a:latin typeface="Times New Roman" panose="02020603050405020304" pitchFamily="18" charset="0"/>
                <a:ea typeface="Times New Roman" panose="02020603050405020304" pitchFamily="18" charset="0"/>
                <a:cs typeface="Times New Roman" panose="02020603050405020304" pitchFamily="18" charset="0"/>
              </a:rPr>
              <a:t>php</a:t>
            </a:r>
            <a:endParaRPr lang="en-IN" sz="15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conn = new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mysqli</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localhost</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"root", "",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MarketForecastDB</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if ($conn-&gt;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connect_error</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 die("Connection failed: " . $conn-&gt;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connect_error</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product = $_POST['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ProductName</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$category = $_POST['Category'];</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$sales = $_POST['Sales'];</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$date = $_POST['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SaleDate</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sql</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 "INSERT INTO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MarketData</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ProductName</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Category, Sales,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SaleDate</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VALUES ('$product', '$category', $sales, '$date')";</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if ($conn-&gt;query($</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sql</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 TRUE) {</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echo "New record added successfully. &lt;a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href</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='index.html'&gt;Go Back&lt;/a&gt;";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else {</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    echo "Error: " . $</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sql</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 . "&lt;</a:t>
            </a:r>
            <a:r>
              <a:rPr lang="en-US" sz="1500" dirty="0" err="1">
                <a:latin typeface="Times New Roman" panose="02020603050405020304" pitchFamily="18" charset="0"/>
                <a:ea typeface="Times New Roman" panose="02020603050405020304" pitchFamily="18" charset="0"/>
                <a:cs typeface="Times New Roman" panose="02020603050405020304" pitchFamily="18" charset="0"/>
              </a:rPr>
              <a:t>br</a:t>
            </a:r>
            <a:r>
              <a:rPr lang="en-US" sz="1500" dirty="0">
                <a:latin typeface="Times New Roman" panose="02020603050405020304" pitchFamily="18" charset="0"/>
                <a:ea typeface="Times New Roman" panose="02020603050405020304" pitchFamily="18" charset="0"/>
                <a:cs typeface="Times New Roman" panose="02020603050405020304" pitchFamily="18" charset="0"/>
              </a:rPr>
              <a:t>&gt;" . $conn-&gt;error;</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1500" b="1" dirty="0" smtClean="0">
                <a:latin typeface="Times New Roman" panose="02020603050405020304" pitchFamily="18" charset="0"/>
                <a:ea typeface="Times New Roman" panose="02020603050405020304" pitchFamily="18" charset="0"/>
                <a:cs typeface="Times New Roman" panose="02020603050405020304" pitchFamily="18" charset="0"/>
              </a:rPr>
              <a:t>$</a:t>
            </a:r>
            <a:r>
              <a:rPr lang="en-US" sz="1500" b="1" dirty="0">
                <a:latin typeface="Times New Roman" panose="02020603050405020304" pitchFamily="18" charset="0"/>
                <a:ea typeface="Times New Roman" panose="02020603050405020304" pitchFamily="18" charset="0"/>
                <a:cs typeface="Times New Roman" panose="02020603050405020304" pitchFamily="18" charset="0"/>
              </a:rPr>
              <a:t>conn-&gt;close();</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spcAft>
                <a:spcPts val="0"/>
              </a:spcAft>
            </a:pPr>
            <a:r>
              <a:rPr lang="en-US" sz="1500" b="1" dirty="0">
                <a:latin typeface="Times New Roman" panose="02020603050405020304" pitchFamily="18" charset="0"/>
                <a:ea typeface="Times New Roman" panose="02020603050405020304" pitchFamily="18" charset="0"/>
                <a:cs typeface="Times New Roman" panose="02020603050405020304" pitchFamily="18" charset="0"/>
              </a:rPr>
              <a:t>?&gt;</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0"/>
              </a:spcAft>
            </a:pPr>
            <a:r>
              <a:rPr lang="en-US" sz="1600" dirty="0">
                <a:latin typeface="Times New Roman" panose="02020603050405020304" pitchFamily="18" charset="0"/>
                <a:ea typeface="Times New Roman" panose="02020603050405020304" pitchFamily="18" charset="0"/>
              </a:rPr>
              <a:t/>
            </a:r>
            <a:br>
              <a:rPr lang="en-US" sz="1600" dirty="0">
                <a:latin typeface="Times New Roman" panose="02020603050405020304" pitchFamily="18" charset="0"/>
                <a:ea typeface="Times New Roman" panose="02020603050405020304" pitchFamily="18" charset="0"/>
              </a:rPr>
            </a:br>
            <a:r>
              <a:rPr lang="en-US" dirty="0">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46021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Testing &amp; Validation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testing and validation phase</a:t>
            </a:r>
            <a:r>
              <a:rPr lang="en-US" sz="1600" dirty="0">
                <a:latin typeface="Times New Roman" panose="02020603050405020304" pitchFamily="18" charset="0"/>
                <a:cs typeface="Times New Roman" panose="02020603050405020304" pitchFamily="18" charset="0"/>
              </a:rPr>
              <a:t> of the Market and Forecast web application made sure that the system worked properly, gave correct results, and was easy for users to use. Different tests were done to check all parts of the project. Functional testing confirmed that each feature like the dashboard, data upload, forecast, and report generation worked as expected. Data validation made sure the uploaded and processed data was correct and matched the original values. The user interface was tested to ensure it looked neat, was easy to navigate, and worked well on different screen sizes. Error handling tests were done to check how the system reacted to wrong inputs or missing data without crashing. Performance testing made sure the system responded quickly and stayed stable during use. Integration testing confirmed that all modules—data upload, forecasting, and reporting—worked smoothly together. Finally, a complete validation was done to ensure the application met all project goals and performed well from data upload to final report generation.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162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Result &amp; Analysis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750" dirty="0">
                <a:latin typeface="Times New Roman" panose="02020603050405020304" pitchFamily="18" charset="0"/>
                <a:cs typeface="Times New Roman" panose="02020603050405020304" pitchFamily="18" charset="0"/>
              </a:rPr>
              <a:t>The </a:t>
            </a:r>
            <a:r>
              <a:rPr lang="en-US" sz="1750" b="1" dirty="0">
                <a:latin typeface="Times New Roman" panose="02020603050405020304" pitchFamily="18" charset="0"/>
                <a:cs typeface="Times New Roman" panose="02020603050405020304" pitchFamily="18" charset="0"/>
              </a:rPr>
              <a:t>results and analysis phase</a:t>
            </a:r>
            <a:r>
              <a:rPr lang="en-US" sz="1750" dirty="0">
                <a:latin typeface="Times New Roman" panose="02020603050405020304" pitchFamily="18" charset="0"/>
                <a:cs typeface="Times New Roman" panose="02020603050405020304" pitchFamily="18" charset="0"/>
              </a:rPr>
              <a:t> showed that the Market and Forecast application successfully met its main goal of helping users study market data and predict future trends easily. </a:t>
            </a:r>
            <a:endParaRPr lang="en-US" sz="1750" dirty="0" smtClean="0">
              <a:latin typeface="Times New Roman" panose="02020603050405020304" pitchFamily="18" charset="0"/>
              <a:cs typeface="Times New Roman" panose="02020603050405020304" pitchFamily="18" charset="0"/>
            </a:endParaRPr>
          </a:p>
          <a:p>
            <a:r>
              <a:rPr lang="en-US" sz="1750" dirty="0" smtClean="0">
                <a:latin typeface="Times New Roman" panose="02020603050405020304" pitchFamily="18" charset="0"/>
                <a:cs typeface="Times New Roman" panose="02020603050405020304" pitchFamily="18" charset="0"/>
              </a:rPr>
              <a:t>The </a:t>
            </a:r>
            <a:r>
              <a:rPr lang="en-US" sz="1750" dirty="0">
                <a:latin typeface="Times New Roman" panose="02020603050405020304" pitchFamily="18" charset="0"/>
                <a:cs typeface="Times New Roman" panose="02020603050405020304" pitchFamily="18" charset="0"/>
              </a:rPr>
              <a:t>system worked well in uploading data, processing it, and showing results through clear charts and graphs. The dashboard displayed past market trends, and the forecasting section gave accurate future predictions based on the uploaded data. </a:t>
            </a:r>
            <a:endParaRPr lang="en-US" sz="1750" dirty="0" smtClean="0">
              <a:latin typeface="Times New Roman" panose="02020603050405020304" pitchFamily="18" charset="0"/>
              <a:cs typeface="Times New Roman" panose="02020603050405020304" pitchFamily="18" charset="0"/>
            </a:endParaRPr>
          </a:p>
          <a:p>
            <a:r>
              <a:rPr lang="en-US" sz="1750" dirty="0" smtClean="0">
                <a:latin typeface="Times New Roman" panose="02020603050405020304" pitchFamily="18" charset="0"/>
                <a:cs typeface="Times New Roman" panose="02020603050405020304" pitchFamily="18" charset="0"/>
              </a:rPr>
              <a:t>During </a:t>
            </a:r>
            <a:r>
              <a:rPr lang="en-US" sz="1750" dirty="0">
                <a:latin typeface="Times New Roman" panose="02020603050405020304" pitchFamily="18" charset="0"/>
                <a:cs typeface="Times New Roman" panose="02020603050405020304" pitchFamily="18" charset="0"/>
              </a:rPr>
              <a:t>testing, the system ran smoothly and provided correct results that matched expected outcomes. The generated reports were neat, easy to download, and useful for users. It also handled wrong or missing data properly by showing suitable error messages, which made the system more reliable. </a:t>
            </a:r>
            <a:endParaRPr lang="en-US" sz="1750" dirty="0" smtClean="0">
              <a:latin typeface="Times New Roman" panose="02020603050405020304" pitchFamily="18" charset="0"/>
              <a:cs typeface="Times New Roman" panose="02020603050405020304" pitchFamily="18" charset="0"/>
            </a:endParaRPr>
          </a:p>
          <a:p>
            <a:r>
              <a:rPr lang="en-US" sz="1750" dirty="0" smtClean="0">
                <a:latin typeface="Times New Roman" panose="02020603050405020304" pitchFamily="18" charset="0"/>
                <a:cs typeface="Times New Roman" panose="02020603050405020304" pitchFamily="18" charset="0"/>
              </a:rPr>
              <a:t>Overall</a:t>
            </a:r>
            <a:r>
              <a:rPr lang="en-US" sz="1750" dirty="0">
                <a:latin typeface="Times New Roman" panose="02020603050405020304" pitchFamily="18" charset="0"/>
                <a:cs typeface="Times New Roman" panose="02020603050405020304" pitchFamily="18" charset="0"/>
              </a:rPr>
              <a:t>, the application proved to be simple, effective, and user-friendly, offering a complete process from data upload to report generation. It can also be improved in the future by adding advanced forecasting techniques and more interactive visual features.</a:t>
            </a:r>
          </a:p>
        </p:txBody>
      </p:sp>
    </p:spTree>
    <p:extLst>
      <p:ext uri="{BB962C8B-B14F-4D97-AF65-F5344CB8AC3E}">
        <p14:creationId xmlns:p14="http://schemas.microsoft.com/office/powerpoint/2010/main" val="4072102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0936" y="1211855"/>
            <a:ext cx="6749338" cy="4322758"/>
          </a:xfrm>
          <a:prstGeom prst="rect">
            <a:avLst/>
          </a:prstGeom>
          <a:solidFill>
            <a:schemeClr val="tx1"/>
          </a:solidFill>
        </p:spPr>
      </p:pic>
      <p:sp>
        <p:nvSpPr>
          <p:cNvPr id="3" name="TextBox 2"/>
          <p:cNvSpPr txBox="1"/>
          <p:nvPr/>
        </p:nvSpPr>
        <p:spPr>
          <a:xfrm>
            <a:off x="2115239" y="517793"/>
            <a:ext cx="6665204" cy="830997"/>
          </a:xfrm>
          <a:prstGeom prst="rect">
            <a:avLst/>
          </a:prstGeom>
          <a:noFill/>
        </p:spPr>
        <p:txBody>
          <a:bodyPr wrap="square" rtlCol="0">
            <a:spAutoFit/>
          </a:bodyPr>
          <a:lstStyle/>
          <a:p>
            <a:pPr algn="ctr"/>
            <a:r>
              <a:rPr lang="en-US" sz="4800" b="1" dirty="0" smtClean="0">
                <a:latin typeface="Times New Roman" panose="02020603050405020304" pitchFamily="18" charset="0"/>
                <a:cs typeface="Times New Roman" panose="02020603050405020304" pitchFamily="18" charset="0"/>
              </a:rPr>
              <a:t>Output</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098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Challenges &amp; Solutions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1700" dirty="0">
                <a:latin typeface="Times New Roman" panose="02020603050405020304" pitchFamily="18" charset="0"/>
                <a:cs typeface="Times New Roman" panose="02020603050405020304" pitchFamily="18" charset="0"/>
              </a:rPr>
              <a:t>During my </a:t>
            </a:r>
            <a:r>
              <a:rPr lang="en-US" sz="1700" dirty="0" err="1" smtClean="0">
                <a:latin typeface="Times New Roman" panose="02020603050405020304" pitchFamily="18" charset="0"/>
                <a:cs typeface="Times New Roman" panose="02020603050405020304" pitchFamily="18" charset="0"/>
              </a:rPr>
              <a:t>internship.I</a:t>
            </a:r>
            <a:r>
              <a:rPr lang="en-US" sz="1700" dirty="0" smtClean="0">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faced a few technical and professional challenges while working on the Market and Forecast web application. On the technical side, understanding how market forecasting works and learning to use </a:t>
            </a:r>
            <a:r>
              <a:rPr lang="en-US" sz="1700" b="1" dirty="0">
                <a:latin typeface="Times New Roman" panose="02020603050405020304" pitchFamily="18" charset="0"/>
                <a:cs typeface="Times New Roman" panose="02020603050405020304" pitchFamily="18" charset="0"/>
              </a:rPr>
              <a:t>HTML, PHP, and SQL</a:t>
            </a:r>
            <a:r>
              <a:rPr lang="en-US" sz="1700" dirty="0">
                <a:latin typeface="Times New Roman" panose="02020603050405020304" pitchFamily="18" charset="0"/>
                <a:cs typeface="Times New Roman" panose="02020603050405020304" pitchFamily="18" charset="0"/>
              </a:rPr>
              <a:t> together was a bit difficult in the beginning. Designing the database, creating tables, and writing correct SQL queries to get the required data needed extra care. Connecting the frontend (HTML) with the backend (PHP) and database (SQL) also caused some errors, which required a lot of debugging and testing to fix.</a:t>
            </a:r>
          </a:p>
          <a:p>
            <a:r>
              <a:rPr lang="en-US" sz="1700" dirty="0">
                <a:latin typeface="Times New Roman" panose="02020603050405020304" pitchFamily="18" charset="0"/>
                <a:cs typeface="Times New Roman" panose="02020603050405020304" pitchFamily="18" charset="0"/>
              </a:rPr>
              <a:t>To solve these issues, I took help from my mentor whenever I had doubts and used online tutorials to practice HTML, PHP, and SQL coding. I created a small </a:t>
            </a:r>
            <a:r>
              <a:rPr lang="en-US" sz="1700" dirty="0" smtClean="0">
                <a:latin typeface="Times New Roman" panose="02020603050405020304" pitchFamily="18" charset="0"/>
                <a:cs typeface="Times New Roman" panose="02020603050405020304" pitchFamily="18" charset="0"/>
              </a:rPr>
              <a:t>Flowchart</a:t>
            </a:r>
            <a:r>
              <a:rPr lang="en-US" sz="1700" b="1" dirty="0" smtClean="0">
                <a:latin typeface="Times New Roman" panose="02020603050405020304" pitchFamily="18" charset="0"/>
                <a:cs typeface="Times New Roman" panose="02020603050405020304" pitchFamily="18" charset="0"/>
              </a:rPr>
              <a:t> </a:t>
            </a:r>
            <a:r>
              <a:rPr lang="en-US" sz="1700" dirty="0" smtClean="0">
                <a:latin typeface="Times New Roman" panose="02020603050405020304" pitchFamily="18" charset="0"/>
                <a:cs typeface="Times New Roman" panose="02020603050405020304" pitchFamily="18" charset="0"/>
              </a:rPr>
              <a:t>to </a:t>
            </a:r>
            <a:r>
              <a:rPr lang="en-US" sz="1700" dirty="0">
                <a:latin typeface="Times New Roman" panose="02020603050405020304" pitchFamily="18" charset="0"/>
                <a:cs typeface="Times New Roman" panose="02020603050405020304" pitchFamily="18" charset="0"/>
              </a:rPr>
              <a:t>plan how data should be stored and connected. Each part of the project was tested separately before joining everything together, which reduced errors and made the system work smoothly.</a:t>
            </a:r>
          </a:p>
          <a:p>
            <a:r>
              <a:rPr lang="en-US" sz="1700" dirty="0">
                <a:latin typeface="Times New Roman" panose="02020603050405020304" pitchFamily="18" charset="0"/>
                <a:cs typeface="Times New Roman" panose="02020603050405020304" pitchFamily="18" charset="0"/>
              </a:rPr>
              <a:t>Apart from technical issues, I also faced time management and professional challenges. Completing all tasks within one month while learning new things was not easy. I also had to adjust to working in a professional setup—keeping proper documentation, following coding rules, and using </a:t>
            </a:r>
            <a:r>
              <a:rPr lang="en-US" sz="1700" dirty="0" err="1">
                <a:latin typeface="Times New Roman" panose="02020603050405020304" pitchFamily="18" charset="0"/>
                <a:cs typeface="Times New Roman" panose="02020603050405020304" pitchFamily="18" charset="0"/>
              </a:rPr>
              <a:t>Git</a:t>
            </a:r>
            <a:r>
              <a:rPr lang="en-US" sz="1700" dirty="0">
                <a:latin typeface="Times New Roman" panose="02020603050405020304" pitchFamily="18" charset="0"/>
                <a:cs typeface="Times New Roman" panose="02020603050405020304" pitchFamily="18" charset="0"/>
              </a:rPr>
              <a:t> for saving and managing my work. To handle this, I divided the project into small weekly tasks, maintained regular communication with my mentor, and participated in reviews to improve my coding and project management skills.</a:t>
            </a:r>
          </a:p>
        </p:txBody>
      </p:sp>
    </p:spTree>
    <p:extLst>
      <p:ext uri="{BB962C8B-B14F-4D97-AF65-F5344CB8AC3E}">
        <p14:creationId xmlns:p14="http://schemas.microsoft.com/office/powerpoint/2010/main" val="333830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614" y="-95361"/>
            <a:ext cx="10058400" cy="1450757"/>
          </a:xfrm>
        </p:spPr>
        <p:txBody>
          <a:bodyPr/>
          <a:lstStyle/>
          <a:p>
            <a:r>
              <a:rPr lang="en-US" b="1" dirty="0" smtClean="0">
                <a:latin typeface="Times New Roman" panose="02020603050405020304" pitchFamily="18" charset="0"/>
                <a:cs typeface="Times New Roman" panose="02020603050405020304" pitchFamily="18" charset="0"/>
              </a:rPr>
              <a:t>Conclusion &amp; 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4683" y="1741561"/>
            <a:ext cx="10058400" cy="4416867"/>
          </a:xfrm>
        </p:spPr>
        <p:txBody>
          <a:bodyPr>
            <a:noAutofit/>
          </a:bodyPr>
          <a:lstStyle/>
          <a:p>
            <a:pPr>
              <a:lnSpc>
                <a:spcPct val="100000"/>
              </a:lnSpc>
            </a:pPr>
            <a:r>
              <a:rPr lang="en-IN" sz="1600" b="1" u="sng" dirty="0" smtClean="0">
                <a:latin typeface="Times New Roman" panose="02020603050405020304" pitchFamily="18" charset="0"/>
                <a:cs typeface="Times New Roman" panose="02020603050405020304" pitchFamily="18" charset="0"/>
              </a:rPr>
              <a:t>Conclusion: </a:t>
            </a:r>
            <a:r>
              <a:rPr lang="en-US" sz="1600" dirty="0" smtClean="0">
                <a:latin typeface="Times New Roman" panose="02020603050405020304" pitchFamily="18" charset="0"/>
                <a:cs typeface="Times New Roman" panose="02020603050405020304" pitchFamily="18" charset="0"/>
              </a:rPr>
              <a:t>During </a:t>
            </a:r>
            <a:r>
              <a:rPr lang="en-US" sz="1600" dirty="0">
                <a:latin typeface="Times New Roman" panose="02020603050405020304" pitchFamily="18" charset="0"/>
                <a:cs typeface="Times New Roman" panose="02020603050405020304" pitchFamily="18" charset="0"/>
              </a:rPr>
              <a:t>my internship, I gained real practical experience in web development by working on the Market and Forecast web application. This project helped me connect what I learned in theory with real-life application. I worked on different stages such as requirement analysis, frontend design using HTML, backend development using PHP, and database handling using SQL. I learned how to solve technical problems through debugging and testing, which improved my problem-solving skills. With the constant guidance and feedback from my mentor, I also improved in documentation, coding practices, and professionalism. Along with technical learning, I developed important soft skills like teamwork, time management, and communication. Overall, this internship gave me confidence and prepared me well for future work in the field of web development</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nSpc>
                <a:spcPct val="100000"/>
              </a:lnSpc>
            </a:pPr>
            <a:r>
              <a:rPr lang="en-US" sz="1600" b="1" u="sng" dirty="0">
                <a:latin typeface="Times New Roman" panose="02020603050405020304" pitchFamily="18" charset="0"/>
                <a:cs typeface="Times New Roman" panose="02020603050405020304" pitchFamily="18" charset="0"/>
              </a:rPr>
              <a:t>Future Scope</a:t>
            </a:r>
            <a:r>
              <a:rPr lang="en-US" sz="1600" b="1" u="sng"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Market and Forecast application can be improved further to make it more powerful and user-friendly. New features like interactive dashboards, better data visualization, and machine learning algorithms can make the forecasts more accurate. Adding a cloud-based database would allow users to access the system from anywhere. The application can also be made mobile-friendly and more secure with user login features. Using modern web frameworks can enhance the design, speed, and overall performance of the system. With continuous improvements, this project has strong potential to become a complete and practical tool for real-world market analysis and forecasting.</a:t>
            </a:r>
          </a:p>
        </p:txBody>
      </p:sp>
    </p:spTree>
    <p:extLst>
      <p:ext uri="{BB962C8B-B14F-4D97-AF65-F5344CB8AC3E}">
        <p14:creationId xmlns:p14="http://schemas.microsoft.com/office/powerpoint/2010/main" val="2549919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094" y="734620"/>
            <a:ext cx="7061812" cy="47985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72300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297</TotalTime>
  <Words>1988</Words>
  <Application>Microsoft Office PowerPoint</Application>
  <PresentationFormat>Widescreen</PresentationFormat>
  <Paragraphs>229</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Cambria</vt:lpstr>
      <vt:lpstr>Times New Roman</vt:lpstr>
      <vt:lpstr>Wingdings</vt:lpstr>
      <vt:lpstr>Retrospect</vt:lpstr>
      <vt:lpstr>STANLEY COLLEGE OF ENGINEERING AND TECHNOLGY FOR WOMEN (AUTONOMOUS) Abids. Hyderabad – 500 001</vt:lpstr>
      <vt:lpstr>PowerPoint Presentation</vt:lpstr>
      <vt:lpstr>Contents</vt:lpstr>
      <vt:lpstr>Problem Statements</vt:lpstr>
      <vt:lpstr>Background &amp; Literature Review</vt:lpstr>
      <vt:lpstr>Literature Review</vt:lpstr>
      <vt:lpstr>Planning &amp; Design of work</vt:lpstr>
      <vt:lpstr>PowerPoint Presentation</vt:lpstr>
      <vt:lpstr>Implementation &amp; Execution</vt:lpstr>
      <vt:lpstr>UML Diagram</vt:lpstr>
      <vt:lpstr>Psuedo code</vt:lpstr>
      <vt:lpstr>PowerPoint Presentation</vt:lpstr>
      <vt:lpstr>PowerPoint Presentation</vt:lpstr>
      <vt:lpstr>PowerPoint Presentation</vt:lpstr>
      <vt:lpstr>Testing &amp; Validation</vt:lpstr>
      <vt:lpstr>Result &amp; Analysis</vt:lpstr>
      <vt:lpstr>PowerPoint Presentation</vt:lpstr>
      <vt:lpstr>Challenges &amp; Solutions</vt:lpstr>
      <vt:lpstr>Conclusion &amp; 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STANLEY COLLEGE OF ENGINEERING AND TECHNOLGY FOR WOMEN (AUTONOMOUS) , Abids. Hyderabad – 500 001</dc:title>
  <dc:creator>Microsoft account</dc:creator>
  <cp:lastModifiedBy>Microsoft account</cp:lastModifiedBy>
  <cp:revision>27</cp:revision>
  <dcterms:created xsi:type="dcterms:W3CDTF">2025-11-09T15:30:20Z</dcterms:created>
  <dcterms:modified xsi:type="dcterms:W3CDTF">2025-11-15T09:16:10Z</dcterms:modified>
</cp:coreProperties>
</file>