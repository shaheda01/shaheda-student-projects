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0" r:id="rId1"/>
  </p:sldMasterIdLst>
  <p:sldIdLst>
    <p:sldId id="257" r:id="rId2"/>
    <p:sldId id="278" r:id="rId3"/>
    <p:sldId id="260" r:id="rId4"/>
    <p:sldId id="261" r:id="rId5"/>
    <p:sldId id="262" r:id="rId6"/>
    <p:sldId id="263" r:id="rId7"/>
    <p:sldId id="277" r:id="rId8"/>
    <p:sldId id="279" r:id="rId9"/>
    <p:sldId id="280" r:id="rId10"/>
    <p:sldId id="281" r:id="rId11"/>
    <p:sldId id="282" r:id="rId12"/>
    <p:sldId id="283" r:id="rId13"/>
    <p:sldId id="285" r:id="rId14"/>
    <p:sldId id="295" r:id="rId15"/>
    <p:sldId id="287" r:id="rId16"/>
    <p:sldId id="288" r:id="rId17"/>
    <p:sldId id="291" r:id="rId18"/>
    <p:sldId id="292" r:id="rId19"/>
    <p:sldId id="294" r:id="rId20"/>
    <p:sldId id="293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6E4379-8ECD-4536-8EAB-AF5D57B5D069}" v="159" dt="2025-11-14T15:44:53.642"/>
    <p1510:client id="{4693D68B-BAEC-4064-A437-0E574A560567}" v="175" dt="2025-11-14T11:32:42.922"/>
    <p1510:client id="{AB7017EB-4633-484B-BCC7-87A030C863A2}" v="1" dt="2025-11-14T11:40:31.7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9" autoAdjust="0"/>
    <p:restoredTop sz="94660"/>
  </p:normalViewPr>
  <p:slideViewPr>
    <p:cSldViewPr snapToGrid="0">
      <p:cViewPr>
        <p:scale>
          <a:sx n="62" d="100"/>
          <a:sy n="62" d="100"/>
        </p:scale>
        <p:origin x="5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667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79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86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908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2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57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303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03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24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1347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54210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9519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87722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475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921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11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450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1699" y="258254"/>
            <a:ext cx="9968230" cy="65468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STANLEY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sz="1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sz="18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TECHNOLGY</a:t>
            </a:r>
            <a:r>
              <a:rPr sz="18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Abids.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Hyderabad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6200" y="900747"/>
            <a:ext cx="5638800" cy="447558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310"/>
              </a:spcBef>
            </a:pP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(Affiliated</a:t>
            </a:r>
            <a:r>
              <a:rPr sz="1200" b="1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200" b="1" i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Osmania</a:t>
            </a:r>
            <a:r>
              <a:rPr sz="1200" b="1" i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sz="1200" b="1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200" b="1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Approved</a:t>
            </a:r>
            <a:r>
              <a:rPr sz="1200" b="1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200" b="1" i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AICTE)</a:t>
            </a:r>
            <a:endParaRPr lang="en-GB" sz="1200" b="1" i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" algn="ctr">
              <a:lnSpc>
                <a:spcPct val="100000"/>
              </a:lnSpc>
              <a:spcBef>
                <a:spcPts val="310"/>
              </a:spcBef>
            </a:pPr>
            <a:r>
              <a:rPr lang="en-GB" sz="12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eligible UGC courses are accredited by NBA &amp; NAAC with ‘A’ Grade)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8675" y="1769998"/>
            <a:ext cx="8001000" cy="1315553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-5080" algn="ctr">
              <a:lnSpc>
                <a:spcPct val="116500"/>
              </a:lnSpc>
              <a:spcBef>
                <a:spcPts val="60"/>
              </a:spcBef>
            </a:pPr>
            <a:r>
              <a:rPr sz="1800" b="1" spc="-10" dirty="0">
                <a:latin typeface="Times New Roman"/>
                <a:cs typeface="Times New Roman"/>
              </a:rPr>
              <a:t>Department </a:t>
            </a:r>
            <a:r>
              <a:rPr lang="en-US" sz="1800" b="1" spc="-10" dirty="0">
                <a:latin typeface="Times New Roman"/>
                <a:cs typeface="Times New Roman"/>
              </a:rPr>
              <a:t> of Computer Science and Engineering</a:t>
            </a:r>
          </a:p>
          <a:p>
            <a:pPr marL="12700" marR="5080" indent="-5080" algn="ctr">
              <a:lnSpc>
                <a:spcPct val="116500"/>
              </a:lnSpc>
              <a:spcBef>
                <a:spcPts val="60"/>
              </a:spcBef>
            </a:pPr>
            <a:r>
              <a:rPr sz="1800" b="1" dirty="0">
                <a:latin typeface="Times New Roman"/>
                <a:cs typeface="Times New Roman"/>
              </a:rPr>
              <a:t>Academic</a:t>
            </a:r>
            <a:r>
              <a:rPr sz="1800" b="1" spc="-13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Year: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202</a:t>
            </a:r>
            <a:r>
              <a:rPr lang="en-US" sz="1800" b="1" dirty="0">
                <a:latin typeface="Times New Roman"/>
                <a:cs typeface="Times New Roman"/>
              </a:rPr>
              <a:t>5</a:t>
            </a:r>
            <a:r>
              <a:rPr sz="1800" b="1" dirty="0">
                <a:latin typeface="Times New Roman"/>
                <a:cs typeface="Times New Roman"/>
              </a:rPr>
              <a:t>-</a:t>
            </a:r>
            <a:r>
              <a:rPr sz="1800" b="1" spc="-20" dirty="0">
                <a:latin typeface="Times New Roman"/>
                <a:cs typeface="Times New Roman"/>
              </a:rPr>
              <a:t>202</a:t>
            </a:r>
            <a:r>
              <a:rPr lang="en-US" sz="1800" b="1" spc="-20" dirty="0">
                <a:latin typeface="Times New Roman"/>
                <a:cs typeface="Times New Roman"/>
              </a:rPr>
              <a:t>6</a:t>
            </a:r>
          </a:p>
          <a:p>
            <a:pPr marL="12700" marR="5080" indent="-5080" algn="ctr">
              <a:lnSpc>
                <a:spcPct val="116500"/>
              </a:lnSpc>
              <a:spcBef>
                <a:spcPts val="60"/>
              </a:spcBef>
            </a:pPr>
            <a:endParaRPr lang="en-US" sz="1800" b="1" spc="-20" dirty="0">
              <a:latin typeface="Times New Roman"/>
              <a:cs typeface="Times New Roman"/>
            </a:endParaRPr>
          </a:p>
          <a:p>
            <a:pPr marL="12700" marR="5080" indent="-5080" algn="ctr">
              <a:lnSpc>
                <a:spcPct val="116500"/>
              </a:lnSpc>
              <a:spcBef>
                <a:spcPts val="60"/>
              </a:spcBef>
            </a:pPr>
            <a:r>
              <a:rPr lang="en-US" sz="1800" b="1" spc="-20" dirty="0">
                <a:latin typeface="Times New Roman"/>
                <a:cs typeface="Times New Roman"/>
              </a:rPr>
              <a:t>Internship </a:t>
            </a:r>
            <a:r>
              <a:rPr lang="en-US" b="1" spc="-20" dirty="0">
                <a:latin typeface="Times New Roman"/>
                <a:cs typeface="Times New Roman"/>
              </a:rPr>
              <a:t>Presentation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30260" y="3564242"/>
            <a:ext cx="6731479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IN" sz="1600" b="1" dirty="0"/>
              <a:t>Recipe Card Website</a:t>
            </a:r>
            <a:endParaRPr sz="1700" b="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0845" y="4643884"/>
            <a:ext cx="2317497" cy="786113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229"/>
              </a:spcBef>
            </a:pPr>
            <a:r>
              <a:rPr lang="en-GB" sz="1500" b="1" spc="-20" dirty="0">
                <a:latin typeface="Times New Roman"/>
                <a:cs typeface="Times New Roman"/>
              </a:rPr>
              <a:t>Mrs. B. Manisha Rani</a:t>
            </a:r>
          </a:p>
          <a:p>
            <a:pPr marL="57150">
              <a:lnSpc>
                <a:spcPct val="100000"/>
              </a:lnSpc>
              <a:spcBef>
                <a:spcPts val="229"/>
              </a:spcBef>
            </a:pPr>
            <a:r>
              <a:rPr lang="en-GB" sz="1500" b="1" spc="-20" dirty="0">
                <a:latin typeface="Times New Roman"/>
                <a:cs typeface="Times New Roman"/>
              </a:rPr>
              <a:t>Assistant Professor</a:t>
            </a:r>
          </a:p>
          <a:p>
            <a:pPr marL="57150">
              <a:lnSpc>
                <a:spcPct val="100000"/>
              </a:lnSpc>
              <a:spcBef>
                <a:spcPts val="229"/>
              </a:spcBef>
            </a:pPr>
            <a:r>
              <a:rPr lang="en-GB" sz="1500" b="1" spc="-20" dirty="0">
                <a:latin typeface="Times New Roman"/>
                <a:cs typeface="Times New Roman"/>
              </a:rPr>
              <a:t>Department </a:t>
            </a:r>
            <a:r>
              <a:rPr lang="en-GB" sz="1500" b="1" dirty="0">
                <a:latin typeface="Times New Roman"/>
                <a:cs typeface="Times New Roman"/>
              </a:rPr>
              <a:t>of CSE</a:t>
            </a:r>
            <a:endParaRPr sz="1500" b="1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4655" y="4643884"/>
            <a:ext cx="2317496" cy="784189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b="1" dirty="0">
                <a:latin typeface="Times New Roman"/>
                <a:cs typeface="Times New Roman"/>
              </a:rPr>
              <a:t>PRESENTED</a:t>
            </a:r>
            <a:r>
              <a:rPr sz="1500" b="1" spc="20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BY</a:t>
            </a:r>
            <a:endParaRPr sz="1500" dirty="0">
              <a:latin typeface="Times New Roman"/>
              <a:cs typeface="Times New Roman"/>
            </a:endParaRPr>
          </a:p>
          <a:p>
            <a:pPr marL="23495" marR="896619" indent="-1270">
              <a:lnSpc>
                <a:spcPct val="108500"/>
              </a:lnSpc>
              <a:spcBef>
                <a:spcPts val="75"/>
              </a:spcBef>
            </a:pPr>
            <a:r>
              <a:rPr lang="en-US" sz="1500" spc="-20" dirty="0">
                <a:latin typeface="Times New Roman"/>
                <a:cs typeface="Times New Roman"/>
              </a:rPr>
              <a:t>Kali Sravanthi</a:t>
            </a:r>
          </a:p>
          <a:p>
            <a:pPr marL="23495" marR="896619" indent="-1270">
              <a:lnSpc>
                <a:spcPct val="108500"/>
              </a:lnSpc>
              <a:spcBef>
                <a:spcPts val="75"/>
              </a:spcBef>
            </a:pPr>
            <a:r>
              <a:rPr lang="en-US" sz="1500" spc="-20" dirty="0">
                <a:latin typeface="Times New Roman"/>
                <a:cs typeface="Times New Roman"/>
              </a:rPr>
              <a:t>160622733093</a:t>
            </a:r>
            <a:endParaRPr sz="1500" dirty="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44" y="234728"/>
            <a:ext cx="1356422" cy="1356422"/>
          </a:xfrm>
          <a:prstGeom prst="rect">
            <a:avLst/>
          </a:prstGeom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5CD74944-DEC3-37BF-8F60-4AFC06DB94CC}"/>
              </a:ext>
            </a:extLst>
          </p:cNvPr>
          <p:cNvSpPr txBox="1"/>
          <p:nvPr/>
        </p:nvSpPr>
        <p:spPr>
          <a:xfrm>
            <a:off x="5594229" y="3208912"/>
            <a:ext cx="1003540" cy="2776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1700" b="1" dirty="0">
                <a:latin typeface="Times New Roman"/>
                <a:cs typeface="Times New Roman"/>
              </a:rPr>
              <a:t>On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739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ECBF36E-CDD1-27AF-3E7A-93FBC09D13CE}"/>
              </a:ext>
            </a:extLst>
          </p:cNvPr>
          <p:cNvSpPr txBox="1">
            <a:spLocks/>
          </p:cNvSpPr>
          <p:nvPr/>
        </p:nvSpPr>
        <p:spPr>
          <a:xfrm>
            <a:off x="763325" y="850789"/>
            <a:ext cx="10241280" cy="4899035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INTERNSHIP - II DETAILS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Course Code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SPW611 CS     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Credits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1                       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Evaluation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CIE - 50 Marks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dirty="0"/>
              <a:t>Recipe Card Website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Name of the Student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Kali Sravanthi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Roll Number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160622733093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Batch / Section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2024 – 2025 / B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Name of 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Organization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:VoultsOf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Codes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Duration of Internship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From 01st May 2025 to 1st June 2025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Mode (Onsite / Online / Hybrid)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Online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Faculty Coordinator / Supervisor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Mrs. B. Manisha Rani</a:t>
            </a:r>
          </a:p>
        </p:txBody>
      </p:sp>
    </p:spTree>
    <p:extLst>
      <p:ext uri="{BB962C8B-B14F-4D97-AF65-F5344CB8AC3E}">
        <p14:creationId xmlns:p14="http://schemas.microsoft.com/office/powerpoint/2010/main" val="210462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39406"/>
          </a:xfrm>
        </p:spPr>
        <p:txBody>
          <a:bodyPr>
            <a:noAutofit/>
          </a:bodyPr>
          <a:lstStyle/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and Literature Review 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Design of Work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Execution 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/ Validation 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 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Solutions 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380701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83757"/>
            <a:ext cx="9696616" cy="402336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This internship project involved designing and developing a simple and interactive Recipe Card Website using HTML, CSS, and JavaScript. The website provides features such as viewing recipe details, toggling ingredient lists, using a cooking timer, and printing recipes. The focus was on creating a responsive and user-friendly interface through DOM manipulation, CSS styling, and JavaScript event handling. The internship at </a:t>
            </a:r>
            <a:r>
              <a:rPr lang="en-US" dirty="0" err="1"/>
              <a:t>VaultofCodes</a:t>
            </a:r>
            <a:r>
              <a:rPr lang="en-US" dirty="0"/>
              <a:t> helped me gain practical experience in front-end development, debugging, version control, and responsive design, effectively connecting theoretical knowledge with real-world application.</a:t>
            </a:r>
          </a:p>
          <a:p>
            <a:pPr algn="just"/>
            <a:r>
              <a:rPr lang="en-US" dirty="0"/>
              <a:t>Throughout the internship at </a:t>
            </a:r>
            <a:r>
              <a:rPr lang="en-US" dirty="0" err="1"/>
              <a:t>VaultofCodes</a:t>
            </a:r>
            <a:r>
              <a:rPr lang="en-US" dirty="0"/>
              <a:t>, I gained hands-on experience in web development workflows, version control using GitHub, debugging, UI/UX design principles, and cross-device testing. The project strengthened my technical skills, problem-solving ability, and understanding of industrial development practices. Overall, this internship successfully bridged the gap between theoretical learning and real-world application by enabling the creation of a fully functional and interactive recipe management interface.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25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9428259" cy="402336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Many existing recipe websites are cluttered, non-interactive, and not optimized for quick access, making it difficult for users to follow or manage recipes efficiently. There is a need for a simple, clean, and responsive web interface that allows users to view recipes easily with essential interactive features. This project aims to develop a user-friendly Recipe Card Website that provides an organized layout, smooth navigation, and interactive functions using HTML, CSS, and </a:t>
            </a:r>
            <a:r>
              <a:rPr lang="en-US" dirty="0" err="1"/>
              <a:t>JavaScript.Additionally</a:t>
            </a:r>
            <a:r>
              <a:rPr lang="en-US" dirty="0"/>
              <a:t>, users often face difficulties in toggling recipe steps, managing ingredient lists, or tracking cooking time due to poorly structured designs. A lack of responsiveness across devices also affects usability and overall user experience. Therefore, the project focuses on creating a minimalist yet functional interface that enhances accessibility, engagement, and ease of use for all types of users.</a:t>
            </a:r>
          </a:p>
        </p:txBody>
      </p:sp>
    </p:spTree>
    <p:extLst>
      <p:ext uri="{BB962C8B-B14F-4D97-AF65-F5344CB8AC3E}">
        <p14:creationId xmlns:p14="http://schemas.microsoft.com/office/powerpoint/2010/main" val="428188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037102"/>
            <a:ext cx="10058400" cy="71325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Background and Literature Review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16D0CC9-DFA7-52F0-A715-7C071A3A5B4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4643" y="2495443"/>
            <a:ext cx="100584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recent years, recipe websites have become a major digital medium for sharing cooking information, but many platforms contain cluttered layouts, unnecessary ads, and poor responsiveness.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often struggle to find recipe details quickly due to unorganized interfaces and lack of interactive features.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front-end technologies like HTML5, CSS3, and JavaScript allow developers to create clean, responsive, and user-friendly web applications.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building a simple, attractive, and interactive Recipe Card Website that prioritizes clarity, usability, and device compatibility.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design follows modern UI/UX principles to ensure smooth navigation, readability, and an overall improved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791246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3BE58B-6FA5-C872-EC52-F5646F6E3F0A}"/>
              </a:ext>
            </a:extLst>
          </p:cNvPr>
          <p:cNvSpPr txBox="1"/>
          <p:nvPr/>
        </p:nvSpPr>
        <p:spPr>
          <a:xfrm>
            <a:off x="888520" y="450202"/>
            <a:ext cx="10550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2.1: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Summary</a:t>
            </a:r>
            <a:r>
              <a:rPr lang="en-US" sz="20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reviewed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literature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20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Intrusion Detection Systems</a:t>
            </a:r>
            <a:endParaRPr lang="en-IN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CC6643-E7D4-90E0-7502-207CF3184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958280"/>
              </p:ext>
            </p:extLst>
          </p:nvPr>
        </p:nvGraphicFramePr>
        <p:xfrm>
          <a:off x="1195356" y="1149494"/>
          <a:ext cx="9936433" cy="4847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783">
                  <a:extLst>
                    <a:ext uri="{9D8B030D-6E8A-4147-A177-3AD203B41FA5}">
                      <a16:colId xmlns:a16="http://schemas.microsoft.com/office/drawing/2014/main" val="3919390161"/>
                    </a:ext>
                  </a:extLst>
                </a:gridCol>
                <a:gridCol w="1745268">
                  <a:extLst>
                    <a:ext uri="{9D8B030D-6E8A-4147-A177-3AD203B41FA5}">
                      <a16:colId xmlns:a16="http://schemas.microsoft.com/office/drawing/2014/main" val="2409670117"/>
                    </a:ext>
                  </a:extLst>
                </a:gridCol>
                <a:gridCol w="1916373">
                  <a:extLst>
                    <a:ext uri="{9D8B030D-6E8A-4147-A177-3AD203B41FA5}">
                      <a16:colId xmlns:a16="http://schemas.microsoft.com/office/drawing/2014/main" val="3869412436"/>
                    </a:ext>
                  </a:extLst>
                </a:gridCol>
                <a:gridCol w="1685382">
                  <a:extLst>
                    <a:ext uri="{9D8B030D-6E8A-4147-A177-3AD203B41FA5}">
                      <a16:colId xmlns:a16="http://schemas.microsoft.com/office/drawing/2014/main" val="984944951"/>
                    </a:ext>
                  </a:extLst>
                </a:gridCol>
                <a:gridCol w="4046627">
                  <a:extLst>
                    <a:ext uri="{9D8B030D-6E8A-4147-A177-3AD203B41FA5}">
                      <a16:colId xmlns:a16="http://schemas.microsoft.com/office/drawing/2014/main" val="185976815"/>
                    </a:ext>
                  </a:extLst>
                </a:gridCol>
              </a:tblGrid>
              <a:tr h="54388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Focus Area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Methodology /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Technology Used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Key Findings / Contribution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280843"/>
                  </a:ext>
                </a:extLst>
              </a:tr>
              <a:tr h="6691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Ethan Marcotte (2011)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Graph-based intrusion detection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GNN-based IDS </a:t>
                      </a:r>
                    </a:p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(GNN-IDS)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Proposed a GNN-based IDS achieving high accuracy in modeling relational dependencies between network entities.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3775304"/>
                  </a:ext>
                </a:extLst>
              </a:tr>
              <a:tr h="6691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Don Norman (2013)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User Experience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UX principles, interaction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Highlighted the importance of simplicity and intuitive interfaces, influencing modern UI/UX practices.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1624928"/>
                  </a:ext>
                </a:extLst>
              </a:tr>
              <a:tr h="6691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Jon Duckett (2014)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Front-end Web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HTML5 + CSS3 semantic structuring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HTML5 + CSS3 semantic structuring</a:t>
                      </a:r>
                      <a:r>
                        <a:rPr lang="en-US" sz="1200" dirty="0"/>
                        <a:t>Emphasized semantic HTML for cleaner layouts and better browser compatibility.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460227"/>
                  </a:ext>
                </a:extLst>
              </a:tr>
              <a:tr h="6691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Douglas Crockford (2018)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JavaScript Best Practices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JS functions, event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Improved understanding of code structuring, DOM operations, and secure JS programming.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38644"/>
                  </a:ext>
                </a:extLst>
              </a:tr>
              <a:tr h="6691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W3C Consortium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Web Standards &amp; Accessibility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W3C HTML/CSS standards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Set global guidelines for accessible, device-friendly, and standards-compliant web design.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78077"/>
                  </a:ext>
                </a:extLst>
              </a:tr>
              <a:tr h="895657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MDN Web Docs (2021)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DOM Manipulation Techniques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DOM API, event listeners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Provided foundational techniques for dynamic web content updates and interactivity.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7543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282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F9DF3-F3EC-951A-49BE-2BF3937FE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7C2D2C-C069-4814-717F-7D126E7DC26C}"/>
              </a:ext>
            </a:extLst>
          </p:cNvPr>
          <p:cNvSpPr txBox="1"/>
          <p:nvPr/>
        </p:nvSpPr>
        <p:spPr>
          <a:xfrm>
            <a:off x="888520" y="450202"/>
            <a:ext cx="10550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2.1: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Summary</a:t>
            </a:r>
            <a:r>
              <a:rPr lang="en-US" sz="20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reviewed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literature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20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Intrusion Detection Systems</a:t>
            </a:r>
            <a:endParaRPr lang="en-IN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471777-9E8C-30CC-A8BE-589B6D843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455134"/>
              </p:ext>
            </p:extLst>
          </p:nvPr>
        </p:nvGraphicFramePr>
        <p:xfrm>
          <a:off x="1086448" y="1027731"/>
          <a:ext cx="10019103" cy="4130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299">
                  <a:extLst>
                    <a:ext uri="{9D8B030D-6E8A-4147-A177-3AD203B41FA5}">
                      <a16:colId xmlns:a16="http://schemas.microsoft.com/office/drawing/2014/main" val="3919390161"/>
                    </a:ext>
                  </a:extLst>
                </a:gridCol>
                <a:gridCol w="1785314">
                  <a:extLst>
                    <a:ext uri="{9D8B030D-6E8A-4147-A177-3AD203B41FA5}">
                      <a16:colId xmlns:a16="http://schemas.microsoft.com/office/drawing/2014/main" val="2409670117"/>
                    </a:ext>
                  </a:extLst>
                </a:gridCol>
                <a:gridCol w="1908313">
                  <a:extLst>
                    <a:ext uri="{9D8B030D-6E8A-4147-A177-3AD203B41FA5}">
                      <a16:colId xmlns:a16="http://schemas.microsoft.com/office/drawing/2014/main" val="3869412436"/>
                    </a:ext>
                  </a:extLst>
                </a:gridCol>
                <a:gridCol w="1697882">
                  <a:extLst>
                    <a:ext uri="{9D8B030D-6E8A-4147-A177-3AD203B41FA5}">
                      <a16:colId xmlns:a16="http://schemas.microsoft.com/office/drawing/2014/main" val="984944951"/>
                    </a:ext>
                  </a:extLst>
                </a:gridCol>
                <a:gridCol w="4080295">
                  <a:extLst>
                    <a:ext uri="{9D8B030D-6E8A-4147-A177-3AD203B41FA5}">
                      <a16:colId xmlns:a16="http://schemas.microsoft.com/office/drawing/2014/main" val="185976815"/>
                    </a:ext>
                  </a:extLst>
                </a:gridCol>
              </a:tblGrid>
              <a:tr h="74615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Focus Area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Methodology /</a:t>
                      </a:r>
                      <a:endParaRPr lang="en-IN" sz="1200" b="1" kern="120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Technology Used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Key Findings / Contribution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280843"/>
                  </a:ext>
                </a:extLst>
              </a:tr>
              <a:tr h="74615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5885" marR="83185">
                        <a:lnSpc>
                          <a:spcPct val="150000"/>
                        </a:lnSpc>
                        <a:spcBef>
                          <a:spcPts val="220"/>
                        </a:spcBef>
                        <a:buNone/>
                      </a:pPr>
                      <a:r>
                        <a:rPr lang="en-IN" sz="1200" dirty="0"/>
                        <a:t>Sharma et al. (2022)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Moderan</a:t>
                      </a:r>
                      <a:r>
                        <a:rPr lang="en-US" sz="1200" dirty="0"/>
                        <a:t> UI/</a:t>
                      </a:r>
                      <a:r>
                        <a:rPr lang="en-US" sz="1200" dirty="0" err="1"/>
                        <a:t>Ux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Responsive design frameworks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Demonstrated the impact of usability and layout optimization on user engagement.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3775304"/>
                  </a:ext>
                </a:extLst>
              </a:tr>
              <a:tr h="847609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Gupta &amp; Rao (2022)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Interactive Web Components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JavaScript ES6 features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7790" algn="ctr">
                        <a:lnSpc>
                          <a:spcPct val="150000"/>
                        </a:lnSpc>
                        <a:spcBef>
                          <a:spcPts val="195"/>
                        </a:spcBef>
                        <a:buNone/>
                      </a:pPr>
                      <a:r>
                        <a:rPr lang="en-US" sz="1200" dirty="0"/>
                        <a:t>Showed how ES6 functions improve speed, interactivity, and modular coding.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1624928"/>
                  </a:ext>
                </a:extLst>
              </a:tr>
              <a:tr h="1044613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Mozilla Foundation (2023)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Web Performance Optimization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Browser rendering engines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Proposed a deep learning-based IDS using stacked autoencoders that improved detection accuracy and reduced false positives compared to classical ML models.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460227"/>
                  </a:ext>
                </a:extLst>
              </a:tr>
              <a:tr h="74615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/>
                        <a:t>FreeCodeCamp</a:t>
                      </a:r>
                      <a:r>
                        <a:rPr lang="en-IN" sz="1200" dirty="0"/>
                        <a:t> (2024)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Practical Front-End Projects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HTML/CSS/JS hands-on practice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Demonstrated how project-based learning strengthens practical front-end development skills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38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537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6BAB3-D88A-3EFF-72E8-D8C23F10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4F44E-54C6-D2C5-7215-8F1E8EEE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Planning and Design of Work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0C427DE-77AF-63AC-BBED-27B0BC2860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321445"/>
            <a:ext cx="991527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work began by understanding the project requirements and identifying the essential features needed for the Recipe Card Website.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web technologies like HTML5, CSS3, and JavaScript were selected after reviewing modern front-end development practices.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simple and clean layout was planned through wireframes to ensure the website would be responsive and user-friendly across all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devices.The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development process was organized into steps such as structure creation, styling, adding interactive functions, integrating all modules, and refining the design.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was built using a client-side architecture, combining HTML for structure, CSS for layout, and JavaScript for interactivity, ensuring smooth functionality and easy maintenance.</a:t>
            </a:r>
          </a:p>
        </p:txBody>
      </p:sp>
    </p:spTree>
    <p:extLst>
      <p:ext uri="{BB962C8B-B14F-4D97-AF65-F5344CB8AC3E}">
        <p14:creationId xmlns:p14="http://schemas.microsoft.com/office/powerpoint/2010/main" val="3269830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BDCAE-4FAB-C6B8-FDA2-564C8775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292" y="864573"/>
            <a:ext cx="10058400" cy="75719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2A362-B932-B34C-1927-7942E2A04A93}"/>
              </a:ext>
            </a:extLst>
          </p:cNvPr>
          <p:cNvSpPr txBox="1"/>
          <p:nvPr/>
        </p:nvSpPr>
        <p:spPr>
          <a:xfrm>
            <a:off x="1103031" y="1847849"/>
            <a:ext cx="9684589" cy="337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74650" algn="just">
              <a:lnSpc>
                <a:spcPct val="150000"/>
              </a:lnSpc>
            </a:pPr>
            <a:r>
              <a:rPr lang="en-US" sz="1600" dirty="0"/>
              <a:t>1.The Recipe Card Website follows a client-side layered architecture that ensures smooth functioning and easy maintenance. The system is divided into four main modules: </a:t>
            </a:r>
          </a:p>
          <a:p>
            <a:pPr marR="374650" algn="just">
              <a:lnSpc>
                <a:spcPct val="150000"/>
              </a:lnSpc>
            </a:pPr>
            <a:r>
              <a:rPr lang="en-US" sz="1600" dirty="0"/>
              <a:t>2. Input Module: Accepts user actions like Show Ingredients, Start Timer, and Print Recipe. </a:t>
            </a:r>
          </a:p>
          <a:p>
            <a:pPr marR="374650" algn="just">
              <a:lnSpc>
                <a:spcPct val="150000"/>
              </a:lnSpc>
            </a:pPr>
            <a:r>
              <a:rPr lang="en-US" sz="1600" dirty="0"/>
              <a:t>3. Pre-processing Module: Uses JavaScript to handle logic such as toggling ingredients, managing timers, and updating progress dynamically through DOM </a:t>
            </a:r>
            <a:r>
              <a:rPr lang="en-US" sz="1600" dirty="0" err="1"/>
              <a:t>manipulation.Detection</a:t>
            </a:r>
            <a:r>
              <a:rPr lang="en-US" sz="1600" dirty="0"/>
              <a:t> Module: Performs object detection using the YOLOv8 algorithm and draws bounding boxes around detected boxes.</a:t>
            </a:r>
          </a:p>
          <a:p>
            <a:pPr marR="374650" algn="just">
              <a:lnSpc>
                <a:spcPct val="150000"/>
              </a:lnSpc>
            </a:pPr>
            <a:r>
              <a:rPr lang="en-US" sz="1600" dirty="0"/>
              <a:t> 4. Counting Module: Designed using HTML and CSS for page structure, styling, and responsive layout to ensure a better user experience across devices.</a:t>
            </a:r>
          </a:p>
          <a:p>
            <a:pPr marR="374650" algn="just">
              <a:lnSpc>
                <a:spcPct val="150000"/>
              </a:lnSpc>
            </a:pPr>
            <a:r>
              <a:rPr lang="en-US" sz="1600" dirty="0"/>
              <a:t> 5. Output Module: Displays the final recipe card with dynamic updates and interactive features for the user.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125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0BD8C5-129C-15FA-B7C5-048C476D8DDE}"/>
              </a:ext>
            </a:extLst>
          </p:cNvPr>
          <p:cNvSpPr txBox="1"/>
          <p:nvPr/>
        </p:nvSpPr>
        <p:spPr>
          <a:xfrm>
            <a:off x="4060166" y="5305246"/>
            <a:ext cx="4071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3.1: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a recipe generator&#10;&#10;AI-generated content may be incorrect.">
            <a:extLst>
              <a:ext uri="{FF2B5EF4-FFF2-40B4-BE49-F238E27FC236}">
                <a16:creationId xmlns:a16="http://schemas.microsoft.com/office/drawing/2014/main" id="{F2333894-437A-5D25-848B-A2435119A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154" y="1923268"/>
            <a:ext cx="6563641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766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2949-9E7F-3EA8-B9F0-38F019E24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Implementation and Execution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24C8353-CD53-0F26-CF05-28DA13E25CC9}"/>
              </a:ext>
            </a:extLst>
          </p:cNvPr>
          <p:cNvSpPr txBox="1">
            <a:spLocks/>
          </p:cNvSpPr>
          <p:nvPr/>
        </p:nvSpPr>
        <p:spPr>
          <a:xfrm>
            <a:off x="1097280" y="1940625"/>
            <a:ext cx="10058400" cy="402336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The webpage structure was created using HTML5, including sections for the recipe title, image, ingredients, instructions, and interactive buttons.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CSS3 was applied to design the layout, style the elements, and ensure the website was fully responsive across mobile, tablet, and desktop screens.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JavaScript functions were implemented to handle interactivity such as toggling ingredient lists, starting and stopping the cooking timer, and enabling the print option.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Each module (HTML, CSS, and JavaScript) was integrated step-by-step and tested continuously to ensure smooth communication through DOM manipulation.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The website was executed and tested in different web browsers using Developer Tools to check responsiveness, fix errors, and ensure consistent performance across all devices.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277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0AA4DD-D85A-9300-A386-0EAD6B4BF612}"/>
              </a:ext>
            </a:extLst>
          </p:cNvPr>
          <p:cNvSpPr txBox="1"/>
          <p:nvPr/>
        </p:nvSpPr>
        <p:spPr>
          <a:xfrm>
            <a:off x="890246" y="907156"/>
            <a:ext cx="985826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{ 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font-family: Arial, sans-serif;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#f4f4f4;  padding: 20px;}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recipe-card {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background: #fff;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padding: 20px; 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max-width: 500px; 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margin: auto;  border-radius: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10px;  box-shadow: 0 0 10px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rgba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(0,0,0,0.1);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recipe-card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width: 100%;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border-radius: 10px;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transition: transform 0.3s ease;}.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recipe-card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img:hover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transform: scale(1.05);}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 {  padding: 10px;  margin: 10px 0;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background-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#ff6347;  </a:t>
            </a:r>
          </a:p>
          <a:p>
            <a:pPr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white; 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border: none;  cursor: pointer;  transition: background 0.3s ease; }</a:t>
            </a:r>
          </a:p>
          <a:p>
            <a:pPr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button:hover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background-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#e5533d;}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.hidden {  display: none;}.step {  transition: all 0.5s ease-in;}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#progressBar {  width: 100%;  height: 10px;  background: #ddd;  margin-top: 20px;}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#progress {  width: 0%;  height: 100%;  background: #4caf50;  transition: width 0.5s ease;}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@media (max-width: 600px) {  .recipe-card {    padding: 10px;  } 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 {    width: 100%;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CF3087-40D8-DCF2-C50C-CC3376E9D313}"/>
              </a:ext>
            </a:extLst>
          </p:cNvPr>
          <p:cNvSpPr txBox="1">
            <a:spLocks/>
          </p:cNvSpPr>
          <p:nvPr/>
        </p:nvSpPr>
        <p:spPr>
          <a:xfrm>
            <a:off x="890246" y="260754"/>
            <a:ext cx="10058400" cy="7280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Pseudocode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442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9D2F6C-72EF-351D-CFA8-63B9CF70F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12" y="421241"/>
            <a:ext cx="10694254" cy="601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89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7EA55-F0DC-AEEF-FC1C-D3A739CEC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Testing / Validation</a:t>
            </a:r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A2C8265-3B97-9E6C-8135-8F37C7570DA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77078" y="2408440"/>
            <a:ext cx="1052553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website's core features—ingredient toggle, timer function, and print option—were individually tested to ensure each JavaScript function worked correctly.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Responsiveness testing was performed using multiple screen sizes (mobile, tablet, and desktop) to confirm the layout adjusted smoothly with the help of CSS Flexbox and media queries.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Cross-browser testing was carried out on Chrome, Firefox, and Edge to verify consistent performance, styling, and interactivity.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and CSS code were validated using W3C validators to detect structural or styling issues, ensuring the website followed standard web guidelines.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Debugging was done using browser Developer Tools to fix alignment issues, script errors, and improve the overall visual layout, resulting in a stable and fully functional system.</a:t>
            </a:r>
          </a:p>
        </p:txBody>
      </p:sp>
    </p:spTree>
    <p:extLst>
      <p:ext uri="{BB962C8B-B14F-4D97-AF65-F5344CB8AC3E}">
        <p14:creationId xmlns:p14="http://schemas.microsoft.com/office/powerpoint/2010/main" val="386676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199C1-24BD-BC91-67E3-6B0EEFAF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Results and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0673A-D0FA-B8BC-E66D-74CB1B7A763F}"/>
              </a:ext>
            </a:extLst>
          </p:cNvPr>
          <p:cNvSpPr txBox="1">
            <a:spLocks/>
          </p:cNvSpPr>
          <p:nvPr/>
        </p:nvSpPr>
        <p:spPr>
          <a:xfrm>
            <a:off x="1097280" y="1940625"/>
            <a:ext cx="10058400" cy="402336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Recipe Card Website successfully displayed recipe information in a clean and organized layout, making it easy for users to follow the steps and view ingredients.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All interactive features, including ingredient toggling, cooking timer, and print functionality, worked smoothly through efficient JavaScript event handling.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responsive design performed well across different device sizes, with Flexbox ensuring proper alignment, spacing, and readability on mobile, tablet, and desktop screens.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Browser testing confirmed that the website maintained consistent performance and styling across Chrome, Firefox, and Edge, showing strong compatibility with modern web standards.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Overall analysis showed improved user experience due to reduced clutter, faster loading, and intuitive navigation, proving the effectiveness of the chosen front-end technologies and design approach.</a:t>
            </a:r>
          </a:p>
        </p:txBody>
      </p:sp>
    </p:spTree>
    <p:extLst>
      <p:ext uri="{BB962C8B-B14F-4D97-AF65-F5344CB8AC3E}">
        <p14:creationId xmlns:p14="http://schemas.microsoft.com/office/powerpoint/2010/main" val="2573763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BBE5-9417-C8B9-93E6-34D6979B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Challenges and Solutions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6DD06-CEDB-54B7-AAC9-F9E156F06E78}"/>
              </a:ext>
            </a:extLst>
          </p:cNvPr>
          <p:cNvSpPr txBox="1">
            <a:spLocks/>
          </p:cNvSpPr>
          <p:nvPr/>
        </p:nvSpPr>
        <p:spPr>
          <a:xfrm>
            <a:off x="1097280" y="1940625"/>
            <a:ext cx="10058400" cy="402336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D0E382-6582-A3AE-0739-26B95C0CF06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52330" y="1975223"/>
            <a:ext cx="986107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Faced responsiveness issues on small screens; fixed using Flexbox and media queries.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button functions clashed; solved by adding separate event listeners.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 layout was distorted; corrected using a dedicated print CSS style.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Styling looked different in various browsers; adjusted CSS for cross-browser compatibility.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Debugging took more time than expected; resolved by testing each feature step-by-step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Arial" panose="020B0604020202020204" pitchFamily="34" charset="0"/>
              </a:rPr>
              <a:t>Initial color themes and spacing did not look visually </a:t>
            </a:r>
            <a:r>
              <a:rPr lang="en-US" altLang="en-US" dirty="0" err="1">
                <a:latin typeface="Arial" panose="020B0604020202020204" pitchFamily="34" charset="0"/>
              </a:rPr>
              <a:t>appealing.improved</a:t>
            </a:r>
            <a:r>
              <a:rPr lang="en-US" altLang="en-US" dirty="0">
                <a:latin typeface="Arial" panose="020B0604020202020204" pitchFamily="34" charset="0"/>
              </a:rPr>
              <a:t> by refining CSS design and adding subtle animations.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Timer functionality had minor delays during early testi</a:t>
            </a:r>
            <a:r>
              <a:rPr lang="en-US" altLang="en-US" dirty="0">
                <a:latin typeface="Arial" panose="020B0604020202020204" pitchFamily="34" charset="0"/>
              </a:rPr>
              <a:t>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376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12F93-46B3-3427-ABD7-B57CC0AC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Conclusion and Future Scope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18147D-FE51-C402-EEDC-E3EB33D5979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64704" y="2272388"/>
            <a:ext cx="985961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successfully demonstrated how HTML, CSS, and JavaScript can be used to create a simple, responsive, and interactive Recipe Card Website.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internship strengthened practical skills in front-end development, debugging, responsive design, and version control with GitHub.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website achieved its goal of providing a clean layout, smooth navigation, and useful interactive features like ingredient toggling, timer, and print functionality.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improvements can include adding a backend system to store recipes, user accounts, and personalized recipe collections.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Additional features such as search filters, ratings, recipe uploads, and API integration for nutritional data can make the website more dynamic and user-friendly.</a:t>
            </a:r>
          </a:p>
        </p:txBody>
      </p:sp>
    </p:spTree>
    <p:extLst>
      <p:ext uri="{BB962C8B-B14F-4D97-AF65-F5344CB8AC3E}">
        <p14:creationId xmlns:p14="http://schemas.microsoft.com/office/powerpoint/2010/main" val="602988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D56B-98BA-4A23-00B6-A63B413B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C38319C-C04C-4B4F-D852-06C619D8F4A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44217" y="2190998"/>
            <a:ext cx="1021146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Ethan Marcotte,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Web Design, A Book Apart, 2011.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work introduced fluid layouts and media queries, forming the foundation of modern responsive web development.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Douglas Crockford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JavaScript: The Good Parts, O’Reilly Media, 2008.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essential JavaScript best practices that help improve code quality and performance.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Jon Duckett,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and CSS: Design and Build Websites, John Wiley &amp; Sons, 2014.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beginner-friendly guide that explains how to structure and style web pages effectively.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4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MDN Web Docs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HTML5, CSS3, and JavaScript Documentation, Mozilla Foundation.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comprehensive explanations and examples for implementing modern web features.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W3Schools,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HTML, CSS, and JavaScript Tutorials, W3Schools Online Learning Platform.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tutorials that simplify learning through examples and hands-on practice.</a:t>
            </a:r>
          </a:p>
        </p:txBody>
      </p:sp>
    </p:spTree>
    <p:extLst>
      <p:ext uri="{BB962C8B-B14F-4D97-AF65-F5344CB8AC3E}">
        <p14:creationId xmlns:p14="http://schemas.microsoft.com/office/powerpoint/2010/main" val="3920444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E31AA-EC22-EADA-2C53-5009DC8E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8EC1-6C95-163B-6150-1BF2A82BC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48603"/>
            <a:ext cx="10058400" cy="559431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AA2661-5A17-C2DC-D88B-253839B76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69581"/>
            <a:ext cx="10058400" cy="44126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6.     W3C, </a:t>
            </a:r>
            <a:r>
              <a:rPr lang="en-IN" sz="1600" i="1" dirty="0"/>
              <a:t>HTML5 and CSS3 Standards and Best Practices</a:t>
            </a:r>
            <a:r>
              <a:rPr lang="en-IN" sz="1600" dirty="0"/>
              <a:t>, World Wide Web Consortium, 2020</a:t>
            </a:r>
            <a:r>
              <a:rPr lang="en-IN" sz="1600" b="1" dirty="0"/>
              <a:t>.</a:t>
            </a:r>
            <a:br>
              <a:rPr lang="en-IN" sz="1600" dirty="0"/>
            </a:br>
            <a:r>
              <a:rPr lang="en-IN" sz="1600" dirty="0"/>
              <a:t>         </a:t>
            </a:r>
            <a:r>
              <a:rPr lang="en-IN" sz="1600" i="1" dirty="0"/>
              <a:t>Defines the standard rules and guidelines developers must follow for compliant and accessible websites.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7.      </a:t>
            </a:r>
            <a:r>
              <a:rPr lang="en-IN" sz="1600" dirty="0" err="1"/>
              <a:t>FreeCodeCamp</a:t>
            </a:r>
            <a:r>
              <a:rPr lang="en-IN" sz="1600" dirty="0"/>
              <a:t>, </a:t>
            </a:r>
            <a:r>
              <a:rPr lang="en-IN" sz="1600" i="1" dirty="0"/>
              <a:t>Responsive Web Design Certification</a:t>
            </a:r>
            <a:r>
              <a:rPr lang="en-IN" sz="1600" dirty="0"/>
              <a:t>, FreeCodeCamp.org, 2024.</a:t>
            </a:r>
            <a:br>
              <a:rPr lang="en-IN" sz="1600" dirty="0"/>
            </a:br>
            <a:r>
              <a:rPr lang="en-IN" sz="1600" dirty="0"/>
              <a:t>         </a:t>
            </a:r>
            <a:r>
              <a:rPr lang="en-IN" sz="1600" i="1" dirty="0"/>
              <a:t>Covers practical exercises that strengthen layout, styling, and responsive design skills.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8.     Google Chrome Developers, </a:t>
            </a:r>
            <a:r>
              <a:rPr lang="en-IN" sz="1600" i="1" dirty="0"/>
              <a:t>Chrome </a:t>
            </a:r>
            <a:r>
              <a:rPr lang="en-IN" sz="1600" i="1" dirty="0" err="1"/>
              <a:t>DevTools</a:t>
            </a:r>
            <a:r>
              <a:rPr lang="en-IN" sz="1600" i="1" dirty="0"/>
              <a:t> Documentation</a:t>
            </a:r>
            <a:r>
              <a:rPr lang="en-IN" sz="1600" dirty="0"/>
              <a:t>, Google Developers.</a:t>
            </a:r>
            <a:br>
              <a:rPr lang="en-IN" sz="1600" dirty="0"/>
            </a:br>
            <a:r>
              <a:rPr lang="en-IN" sz="1600" dirty="0"/>
              <a:t>         </a:t>
            </a:r>
            <a:r>
              <a:rPr lang="en-IN" sz="1600" i="1" dirty="0"/>
              <a:t>Provides debugging tools that assist developers in optimizing website design and performance.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9.    Visual Studio Code Documentation, </a:t>
            </a:r>
            <a:r>
              <a:rPr lang="en-IN" sz="1600" i="1" dirty="0"/>
              <a:t>User Guide &amp; Extensions</a:t>
            </a:r>
            <a:r>
              <a:rPr lang="en-IN" sz="1600" dirty="0"/>
              <a:t>, Microsoft Corporation, 2024.</a:t>
            </a:r>
            <a:br>
              <a:rPr lang="en-IN" sz="1600" dirty="0"/>
            </a:br>
            <a:r>
              <a:rPr lang="en-IN" sz="1600" dirty="0"/>
              <a:t>       </a:t>
            </a:r>
            <a:r>
              <a:rPr lang="en-IN" sz="1600" i="1" dirty="0"/>
              <a:t>Explains features and extensions that enhance productivity during web development.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10.  Mozilla Developer Network, </a:t>
            </a:r>
            <a:r>
              <a:rPr lang="en-IN" sz="1600" i="1" dirty="0"/>
              <a:t>CSS Flexbox and Media Queries Guide</a:t>
            </a:r>
            <a:r>
              <a:rPr lang="en-IN" sz="1600" dirty="0"/>
              <a:t>, Mozilla Foundation, 2023.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i="1" dirty="0"/>
              <a:t>Detailed guidance on building adaptive and flexible layouts suitable for all devices.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46870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D903-EC6E-069B-D32C-4E654F0A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Completion Certificate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B3D40-0B7C-6541-908D-E885AD5F7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077278"/>
            <a:ext cx="7035996" cy="382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86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384</TotalTime>
  <Words>2442</Words>
  <Application>Microsoft Office PowerPoint</Application>
  <PresentationFormat>Widescreen</PresentationFormat>
  <Paragraphs>203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Times New Roman</vt:lpstr>
      <vt:lpstr>Trebuchet MS</vt:lpstr>
      <vt:lpstr>Wingdings</vt:lpstr>
      <vt:lpstr>Wingdings 3</vt:lpstr>
      <vt:lpstr>Facet</vt:lpstr>
      <vt:lpstr>STANLEY COLLEGE OF ENGINEERING AND TECHNOLGY FOR WOMEN (AUTONOMOUS) Abids. Hyderabad – 500 001</vt:lpstr>
      <vt:lpstr>PowerPoint Presentation</vt:lpstr>
      <vt:lpstr>Contents</vt:lpstr>
      <vt:lpstr>Abstract</vt:lpstr>
      <vt:lpstr>1. Problem Statement</vt:lpstr>
      <vt:lpstr>2. Background and Literature Review </vt:lpstr>
      <vt:lpstr>PowerPoint Presentation</vt:lpstr>
      <vt:lpstr>PowerPoint Presentation</vt:lpstr>
      <vt:lpstr>3. Planning and Design of Work </vt:lpstr>
      <vt:lpstr>System Architecture</vt:lpstr>
      <vt:lpstr>PowerPoint Presentation</vt:lpstr>
      <vt:lpstr>4. Implementation and Execution</vt:lpstr>
      <vt:lpstr>PowerPoint Presentation</vt:lpstr>
      <vt:lpstr>PowerPoint Presentation</vt:lpstr>
      <vt:lpstr>5. Testing / Validation</vt:lpstr>
      <vt:lpstr>6. Results and Analysis</vt:lpstr>
      <vt:lpstr>7. Challenges and Solutions</vt:lpstr>
      <vt:lpstr>8. Conclusion and Future Scope</vt:lpstr>
      <vt:lpstr>References</vt:lpstr>
      <vt:lpstr>References</vt:lpstr>
      <vt:lpstr>Internship Completion Certificate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STANLEY COLLEGE OF ENGINEERING AND TECHNOLGY FOR WOMEN (AUTONOMOUS) , Abids. Hyderabad – 500 001</dc:title>
  <dc:creator>Microsoft account</dc:creator>
  <cp:lastModifiedBy>kalisravanthi784@outlook.com</cp:lastModifiedBy>
  <cp:revision>7</cp:revision>
  <dcterms:created xsi:type="dcterms:W3CDTF">2025-11-09T15:30:20Z</dcterms:created>
  <dcterms:modified xsi:type="dcterms:W3CDTF">2025-11-15T04:37:53Z</dcterms:modified>
</cp:coreProperties>
</file>