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sldIdLst>
    <p:sldId id="257" r:id="rId2"/>
    <p:sldId id="278" r:id="rId3"/>
    <p:sldId id="260" r:id="rId4"/>
    <p:sldId id="261" r:id="rId5"/>
    <p:sldId id="262" r:id="rId6"/>
    <p:sldId id="263" r:id="rId7"/>
    <p:sldId id="280" r:id="rId8"/>
    <p:sldId id="281" r:id="rId9"/>
    <p:sldId id="282" r:id="rId10"/>
    <p:sldId id="283" r:id="rId11"/>
    <p:sldId id="285" r:id="rId12"/>
    <p:sldId id="286" r:id="rId13"/>
    <p:sldId id="287" r:id="rId14"/>
    <p:sldId id="288" r:id="rId15"/>
    <p:sldId id="291" r:id="rId16"/>
    <p:sldId id="292" r:id="rId17"/>
    <p:sldId id="274" r:id="rId18"/>
    <p:sldId id="293"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93D68B-BAEC-4064-A437-0E574A560567}" v="175" dt="2025-11-14T11:32:42.922"/>
    <p1510:client id="{AB7017EB-4633-484B-BCC7-87A030C863A2}" v="1" dt="2025-11-14T11:40:31.7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21" autoAdjust="0"/>
    <p:restoredTop sz="94660"/>
  </p:normalViewPr>
  <p:slideViewPr>
    <p:cSldViewPr snapToGrid="0">
      <p:cViewPr varScale="1">
        <p:scale>
          <a:sx n="82" d="100"/>
          <a:sy n="82" d="100"/>
        </p:scale>
        <p:origin x="7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25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310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74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2538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33107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37630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509A250-FF31-4206-8172-F9D3106AACB1}" type="datetimeFigureOut">
              <a:rPr lang="en-US" smtClean="0"/>
              <a:t>11/14/2025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9943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509A250-FF31-4206-8172-F9D3106AACB1}" type="datetimeFigureOut">
              <a:rPr lang="en-US" smtClean="0"/>
              <a:t>11/14/2025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96242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46718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19889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2367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509A250-FF31-4206-8172-F9D3106AACB1}" type="datetimeFigureOut">
              <a:rPr lang="en-US" smtClean="0"/>
              <a:t>11/14/2025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06744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1699" y="258254"/>
            <a:ext cx="9968230" cy="654685"/>
          </a:xfrm>
          <a:prstGeom prst="rect">
            <a:avLst/>
          </a:prstGeom>
        </p:spPr>
        <p:txBody>
          <a:bodyPr vert="horz" wrap="square" lIns="0" tIns="52705" rIns="0" bIns="0" rtlCol="0">
            <a:spAutoFit/>
          </a:bodyPr>
          <a:lstStyle/>
          <a:p>
            <a:pPr algn="ctr">
              <a:lnSpc>
                <a:spcPct val="100000"/>
              </a:lnSpc>
              <a:spcBef>
                <a:spcPts val="415"/>
              </a:spcBef>
            </a:pPr>
            <a:r>
              <a:rPr sz="1800" b="1" spc="-20" dirty="0">
                <a:latin typeface="Times New Roman" panose="02020603050405020304" pitchFamily="18" charset="0"/>
                <a:cs typeface="Times New Roman" panose="02020603050405020304" pitchFamily="18" charset="0"/>
              </a:rPr>
              <a:t>STANLEY</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COLLEGE</a:t>
            </a:r>
            <a:r>
              <a:rPr sz="1800" b="1" spc="-1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OF</a:t>
            </a:r>
            <a:r>
              <a:rPr sz="1800" b="1" spc="-6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ENGINEERING</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AND</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TECHNOLGY</a:t>
            </a:r>
            <a:r>
              <a:rPr sz="1800" b="1" spc="-1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FOR</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WOMEN</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(AUTONOMOUS)</a:t>
            </a:r>
          </a:p>
          <a:p>
            <a:pPr algn="ctr">
              <a:lnSpc>
                <a:spcPct val="100000"/>
              </a:lnSpc>
              <a:spcBef>
                <a:spcPts val="315"/>
              </a:spcBef>
            </a:pPr>
            <a:r>
              <a:rPr sz="1800" dirty="0">
                <a:latin typeface="Times New Roman" panose="02020603050405020304" pitchFamily="18" charset="0"/>
                <a:cs typeface="Times New Roman" panose="02020603050405020304" pitchFamily="18" charset="0"/>
              </a:rPr>
              <a:t>Abids.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Hyderabad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500</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001</a:t>
            </a: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86200" y="900747"/>
            <a:ext cx="5638800" cy="447558"/>
          </a:xfrm>
          <a:prstGeom prst="rect">
            <a:avLst/>
          </a:prstGeom>
        </p:spPr>
        <p:txBody>
          <a:bodyPr vert="horz" wrap="square" lIns="0" tIns="39370" rIns="0" bIns="0" rtlCol="0">
            <a:spAutoFit/>
          </a:bodyPr>
          <a:lstStyle/>
          <a:p>
            <a:pPr marL="7620" algn="ctr">
              <a:lnSpc>
                <a:spcPct val="100000"/>
              </a:lnSpc>
              <a:spcBef>
                <a:spcPts val="310"/>
              </a:spcBef>
            </a:pPr>
            <a:r>
              <a:rPr sz="1200" b="1" i="1" dirty="0">
                <a:latin typeface="Times New Roman" panose="02020603050405020304" pitchFamily="18" charset="0"/>
                <a:cs typeface="Times New Roman" panose="02020603050405020304" pitchFamily="18" charset="0"/>
              </a:rPr>
              <a:t>(Affiliated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to</a:t>
            </a:r>
            <a:r>
              <a:rPr sz="1200" b="1" i="1" spc="35"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Osmania</a:t>
            </a:r>
            <a:r>
              <a:rPr sz="1200" b="1" i="1" spc="2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University</a:t>
            </a:r>
            <a:r>
              <a:rPr sz="1200" b="1" i="1" spc="-5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&amp;</a:t>
            </a:r>
            <a:r>
              <a:rPr sz="1200" b="1" i="1" spc="-2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Approved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by</a:t>
            </a:r>
            <a:r>
              <a:rPr sz="1200" b="1" i="1" spc="-4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AICTE)</a:t>
            </a:r>
            <a:endParaRPr lang="en-GB" sz="1200" b="1" i="1" spc="-10" dirty="0">
              <a:latin typeface="Times New Roman" panose="02020603050405020304" pitchFamily="18" charset="0"/>
              <a:cs typeface="Times New Roman" panose="02020603050405020304" pitchFamily="18" charset="0"/>
            </a:endParaRPr>
          </a:p>
          <a:p>
            <a:pPr marL="7620" algn="ctr">
              <a:lnSpc>
                <a:spcPct val="100000"/>
              </a:lnSpc>
              <a:spcBef>
                <a:spcPts val="310"/>
              </a:spcBef>
            </a:pPr>
            <a:r>
              <a:rPr lang="en-GB" sz="1200" b="1" i="1" spc="-10" dirty="0">
                <a:latin typeface="Times New Roman" panose="02020603050405020304" pitchFamily="18" charset="0"/>
                <a:cs typeface="Times New Roman" panose="02020603050405020304" pitchFamily="18" charset="0"/>
              </a:rPr>
              <a:t>(</a:t>
            </a:r>
            <a:r>
              <a:rPr lang="en-GB" sz="1200" b="1" spc="-10" dirty="0">
                <a:latin typeface="Times New Roman" panose="02020603050405020304" pitchFamily="18" charset="0"/>
                <a:cs typeface="Times New Roman" panose="02020603050405020304" pitchFamily="18" charset="0"/>
              </a:rPr>
              <a:t>All eligible UGC courses are accredited by NBA &amp; NAAC with ‘A’ Grade)</a:t>
            </a:r>
            <a:endParaRPr sz="1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098675" y="1769998"/>
            <a:ext cx="8001000" cy="1315553"/>
          </a:xfrm>
          <a:prstGeom prst="rect">
            <a:avLst/>
          </a:prstGeom>
        </p:spPr>
        <p:txBody>
          <a:bodyPr vert="horz" wrap="square" lIns="0" tIns="7620" rIns="0" bIns="0" rtlCol="0">
            <a:spAutoFit/>
          </a:bodyPr>
          <a:lstStyle/>
          <a:p>
            <a:pPr marL="12700" marR="5080" indent="-5080" algn="ctr">
              <a:lnSpc>
                <a:spcPct val="116500"/>
              </a:lnSpc>
              <a:spcBef>
                <a:spcPts val="60"/>
              </a:spcBef>
            </a:pPr>
            <a:r>
              <a:rPr sz="1800" b="1" spc="-10" dirty="0">
                <a:latin typeface="Times New Roman"/>
                <a:cs typeface="Times New Roman"/>
              </a:rPr>
              <a:t>Department </a:t>
            </a:r>
            <a:r>
              <a:rPr lang="en-US" sz="1800" b="1" spc="-10" dirty="0">
                <a:latin typeface="Times New Roman"/>
                <a:cs typeface="Times New Roman"/>
              </a:rPr>
              <a:t> of Computer Science and Engineering</a:t>
            </a:r>
          </a:p>
          <a:p>
            <a:pPr marL="12700" marR="5080" indent="-5080" algn="ctr">
              <a:lnSpc>
                <a:spcPct val="116500"/>
              </a:lnSpc>
              <a:spcBef>
                <a:spcPts val="60"/>
              </a:spcBef>
            </a:pPr>
            <a:r>
              <a:rPr sz="1800" b="1" dirty="0">
                <a:latin typeface="Times New Roman"/>
                <a:cs typeface="Times New Roman"/>
              </a:rPr>
              <a:t>Academic</a:t>
            </a:r>
            <a:r>
              <a:rPr sz="1800" b="1" spc="-135" dirty="0">
                <a:latin typeface="Times New Roman"/>
                <a:cs typeface="Times New Roman"/>
              </a:rPr>
              <a:t> </a:t>
            </a:r>
            <a:r>
              <a:rPr sz="1800" b="1" spc="-25" dirty="0">
                <a:latin typeface="Times New Roman"/>
                <a:cs typeface="Times New Roman"/>
              </a:rPr>
              <a:t>Year:</a:t>
            </a:r>
            <a:r>
              <a:rPr sz="1800" b="1" spc="-45" dirty="0">
                <a:latin typeface="Times New Roman"/>
                <a:cs typeface="Times New Roman"/>
              </a:rPr>
              <a:t> </a:t>
            </a:r>
            <a:r>
              <a:rPr sz="1800" b="1" dirty="0">
                <a:latin typeface="Times New Roman"/>
                <a:cs typeface="Times New Roman"/>
              </a:rPr>
              <a:t>202</a:t>
            </a:r>
            <a:r>
              <a:rPr lang="en-US" sz="1800" b="1" dirty="0">
                <a:latin typeface="Times New Roman"/>
                <a:cs typeface="Times New Roman"/>
              </a:rPr>
              <a:t>5</a:t>
            </a:r>
            <a:r>
              <a:rPr sz="1800" b="1" dirty="0">
                <a:latin typeface="Times New Roman"/>
                <a:cs typeface="Times New Roman"/>
              </a:rPr>
              <a:t>-</a:t>
            </a:r>
            <a:r>
              <a:rPr sz="1800" b="1" spc="-20" dirty="0">
                <a:latin typeface="Times New Roman"/>
                <a:cs typeface="Times New Roman"/>
              </a:rPr>
              <a:t>202</a:t>
            </a:r>
            <a:r>
              <a:rPr lang="en-US" sz="1800" b="1" spc="-20" dirty="0">
                <a:latin typeface="Times New Roman"/>
                <a:cs typeface="Times New Roman"/>
              </a:rPr>
              <a:t>6</a:t>
            </a:r>
          </a:p>
          <a:p>
            <a:pPr marL="12700" marR="5080" indent="-5080" algn="ctr">
              <a:lnSpc>
                <a:spcPct val="116500"/>
              </a:lnSpc>
              <a:spcBef>
                <a:spcPts val="60"/>
              </a:spcBef>
            </a:pPr>
            <a:endParaRPr lang="en-US" sz="1800" b="1" spc="-20" dirty="0">
              <a:latin typeface="Times New Roman"/>
              <a:cs typeface="Times New Roman"/>
            </a:endParaRPr>
          </a:p>
          <a:p>
            <a:pPr marL="12700" marR="5080" indent="-5080" algn="ctr">
              <a:lnSpc>
                <a:spcPct val="116500"/>
              </a:lnSpc>
              <a:spcBef>
                <a:spcPts val="60"/>
              </a:spcBef>
            </a:pPr>
            <a:r>
              <a:rPr lang="en-US" sz="1800" b="1" spc="-20" dirty="0">
                <a:latin typeface="Times New Roman"/>
                <a:cs typeface="Times New Roman"/>
              </a:rPr>
              <a:t>Internship </a:t>
            </a:r>
            <a:r>
              <a:rPr lang="en-US" b="1" spc="-20" dirty="0">
                <a:latin typeface="Times New Roman"/>
                <a:cs typeface="Times New Roman"/>
              </a:rPr>
              <a:t>Presentation</a:t>
            </a:r>
          </a:p>
        </p:txBody>
      </p:sp>
      <p:sp>
        <p:nvSpPr>
          <p:cNvPr id="5" name="object 5"/>
          <p:cNvSpPr txBox="1"/>
          <p:nvPr/>
        </p:nvSpPr>
        <p:spPr>
          <a:xfrm>
            <a:off x="2730260" y="3564242"/>
            <a:ext cx="6731479" cy="277640"/>
          </a:xfrm>
          <a:prstGeom prst="rect">
            <a:avLst/>
          </a:prstGeom>
        </p:spPr>
        <p:txBody>
          <a:bodyPr vert="horz" wrap="square" lIns="0" tIns="15875" rIns="0" bIns="0" rtlCol="0">
            <a:spAutoFit/>
          </a:bodyPr>
          <a:lstStyle/>
          <a:p>
            <a:pPr marL="12700" algn="ctr">
              <a:lnSpc>
                <a:spcPct val="100000"/>
              </a:lnSpc>
              <a:spcBef>
                <a:spcPts val="125"/>
              </a:spcBef>
            </a:pPr>
            <a:r>
              <a:rPr lang="en-US" sz="1700" b="1" dirty="0">
                <a:latin typeface="Times New Roman"/>
                <a:cs typeface="Times New Roman"/>
              </a:rPr>
              <a:t>Early and Accurate Network Intrusion Detection Using Deep Learning</a:t>
            </a:r>
            <a:endParaRPr sz="1700" dirty="0">
              <a:latin typeface="Times New Roman"/>
              <a:cs typeface="Times New Roman"/>
            </a:endParaRPr>
          </a:p>
        </p:txBody>
      </p:sp>
      <p:sp>
        <p:nvSpPr>
          <p:cNvPr id="6" name="object 6"/>
          <p:cNvSpPr txBox="1"/>
          <p:nvPr/>
        </p:nvSpPr>
        <p:spPr>
          <a:xfrm>
            <a:off x="1330845" y="4643884"/>
            <a:ext cx="2317497" cy="786113"/>
          </a:xfrm>
          <a:prstGeom prst="rect">
            <a:avLst/>
          </a:prstGeom>
        </p:spPr>
        <p:txBody>
          <a:bodyPr vert="horz" wrap="square" lIns="0" tIns="41910" rIns="0" bIns="0" rtlCol="0">
            <a:spAutoFit/>
          </a:bodyPr>
          <a:lstStyle/>
          <a:p>
            <a:pPr marL="57150">
              <a:lnSpc>
                <a:spcPct val="100000"/>
              </a:lnSpc>
              <a:spcBef>
                <a:spcPts val="229"/>
              </a:spcBef>
            </a:pPr>
            <a:r>
              <a:rPr lang="en-GB" sz="1500" b="1" spc="-20" dirty="0">
                <a:latin typeface="Times New Roman"/>
                <a:cs typeface="Times New Roman"/>
              </a:rPr>
              <a:t>Mrs. V. Anitha</a:t>
            </a:r>
          </a:p>
          <a:p>
            <a:pPr marL="57150">
              <a:lnSpc>
                <a:spcPct val="100000"/>
              </a:lnSpc>
              <a:spcBef>
                <a:spcPts val="229"/>
              </a:spcBef>
            </a:pPr>
            <a:r>
              <a:rPr lang="en-GB" sz="1500" b="1" spc="-20" dirty="0">
                <a:latin typeface="Times New Roman"/>
                <a:cs typeface="Times New Roman"/>
              </a:rPr>
              <a:t>Assistant Professor</a:t>
            </a:r>
          </a:p>
          <a:p>
            <a:pPr marL="57150">
              <a:lnSpc>
                <a:spcPct val="100000"/>
              </a:lnSpc>
              <a:spcBef>
                <a:spcPts val="229"/>
              </a:spcBef>
            </a:pPr>
            <a:r>
              <a:rPr lang="en-GB" sz="1500" b="1" spc="-20" dirty="0">
                <a:latin typeface="Times New Roman"/>
                <a:cs typeface="Times New Roman"/>
              </a:rPr>
              <a:t>Department </a:t>
            </a:r>
            <a:r>
              <a:rPr lang="en-GB" sz="1500" b="1" dirty="0">
                <a:latin typeface="Times New Roman"/>
                <a:cs typeface="Times New Roman"/>
              </a:rPr>
              <a:t>of CSE</a:t>
            </a:r>
            <a:endParaRPr sz="1500" b="1" dirty="0">
              <a:latin typeface="Times New Roman"/>
              <a:cs typeface="Times New Roman"/>
            </a:endParaRPr>
          </a:p>
        </p:txBody>
      </p:sp>
      <p:sp>
        <p:nvSpPr>
          <p:cNvPr id="7" name="object 7"/>
          <p:cNvSpPr txBox="1"/>
          <p:nvPr/>
        </p:nvSpPr>
        <p:spPr>
          <a:xfrm>
            <a:off x="8034655" y="4643884"/>
            <a:ext cx="2317496" cy="784189"/>
          </a:xfrm>
          <a:prstGeom prst="rect">
            <a:avLst/>
          </a:prstGeom>
        </p:spPr>
        <p:txBody>
          <a:bodyPr vert="horz" wrap="square" lIns="0" tIns="41910" rIns="0" bIns="0" rtlCol="0">
            <a:spAutoFit/>
          </a:bodyPr>
          <a:lstStyle/>
          <a:p>
            <a:pPr marL="12700">
              <a:lnSpc>
                <a:spcPct val="100000"/>
              </a:lnSpc>
              <a:spcBef>
                <a:spcPts val="330"/>
              </a:spcBef>
            </a:pPr>
            <a:r>
              <a:rPr sz="1500" b="1" dirty="0">
                <a:latin typeface="Times New Roman"/>
                <a:cs typeface="Times New Roman"/>
              </a:rPr>
              <a:t>PRESENTED</a:t>
            </a:r>
            <a:r>
              <a:rPr sz="1500" b="1" spc="20" dirty="0">
                <a:latin typeface="Times New Roman"/>
                <a:cs typeface="Times New Roman"/>
              </a:rPr>
              <a:t> </a:t>
            </a:r>
            <a:r>
              <a:rPr sz="1500" b="1" spc="-25" dirty="0">
                <a:latin typeface="Times New Roman"/>
                <a:cs typeface="Times New Roman"/>
              </a:rPr>
              <a:t>BY</a:t>
            </a:r>
            <a:endParaRPr sz="1500" dirty="0">
              <a:latin typeface="Times New Roman"/>
              <a:cs typeface="Times New Roman"/>
            </a:endParaRPr>
          </a:p>
          <a:p>
            <a:pPr marL="23495" marR="896619" indent="-1270">
              <a:lnSpc>
                <a:spcPct val="108500"/>
              </a:lnSpc>
              <a:spcBef>
                <a:spcPts val="75"/>
              </a:spcBef>
            </a:pPr>
            <a:r>
              <a:rPr lang="en-US" sz="1500" spc="-20" dirty="0" err="1">
                <a:latin typeface="Times New Roman"/>
                <a:cs typeface="Times New Roman"/>
              </a:rPr>
              <a:t>Chepyala</a:t>
            </a:r>
            <a:r>
              <a:rPr lang="en-US" sz="1500" spc="-20" dirty="0">
                <a:latin typeface="Times New Roman"/>
                <a:cs typeface="Times New Roman"/>
              </a:rPr>
              <a:t> Shivani</a:t>
            </a:r>
          </a:p>
          <a:p>
            <a:pPr marL="23495" marR="896619" indent="-1270">
              <a:lnSpc>
                <a:spcPct val="108500"/>
              </a:lnSpc>
              <a:spcBef>
                <a:spcPts val="75"/>
              </a:spcBef>
            </a:pPr>
            <a:r>
              <a:rPr lang="en-US" sz="1500" spc="-20" dirty="0">
                <a:latin typeface="Times New Roman"/>
                <a:cs typeface="Times New Roman"/>
              </a:rPr>
              <a:t>160622733079</a:t>
            </a:r>
            <a:endParaRPr sz="1500" dirty="0">
              <a:latin typeface="Times New Roman"/>
              <a:cs typeface="Times New Roman"/>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44" y="234728"/>
            <a:ext cx="1356422" cy="1356422"/>
          </a:xfrm>
          <a:prstGeom prst="rect">
            <a:avLst/>
          </a:prstGeom>
        </p:spPr>
      </p:pic>
      <p:sp>
        <p:nvSpPr>
          <p:cNvPr id="8" name="object 5">
            <a:extLst>
              <a:ext uri="{FF2B5EF4-FFF2-40B4-BE49-F238E27FC236}">
                <a16:creationId xmlns:a16="http://schemas.microsoft.com/office/drawing/2014/main" id="{5CD74944-DEC3-37BF-8F60-4AFC06DB94CC}"/>
              </a:ext>
            </a:extLst>
          </p:cNvPr>
          <p:cNvSpPr txBox="1"/>
          <p:nvPr/>
        </p:nvSpPr>
        <p:spPr>
          <a:xfrm>
            <a:off x="5594229" y="3208912"/>
            <a:ext cx="1003540" cy="277640"/>
          </a:xfrm>
          <a:prstGeom prst="rect">
            <a:avLst/>
          </a:prstGeom>
        </p:spPr>
        <p:txBody>
          <a:bodyPr vert="horz" wrap="square" lIns="0" tIns="15875" rIns="0" bIns="0" rtlCol="0">
            <a:spAutoFit/>
          </a:bodyPr>
          <a:lstStyle/>
          <a:p>
            <a:pPr marL="12700" algn="ctr">
              <a:lnSpc>
                <a:spcPct val="100000"/>
              </a:lnSpc>
              <a:spcBef>
                <a:spcPts val="125"/>
              </a:spcBef>
            </a:pPr>
            <a:r>
              <a:rPr lang="en-US" sz="1700" b="1" dirty="0">
                <a:latin typeface="Times New Roman"/>
                <a:cs typeface="Times New Roman"/>
              </a:rPr>
              <a:t>On</a:t>
            </a:r>
            <a:endParaRPr sz="1700" dirty="0">
              <a:latin typeface="Times New Roman"/>
              <a:cs typeface="Times New Roman"/>
            </a:endParaRPr>
          </a:p>
        </p:txBody>
      </p:sp>
    </p:spTree>
    <p:extLst>
      <p:ext uri="{BB962C8B-B14F-4D97-AF65-F5344CB8AC3E}">
        <p14:creationId xmlns:p14="http://schemas.microsoft.com/office/powerpoint/2010/main" val="426739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ECBF36E-CDD1-27AF-3E7A-93FBC09D13CE}"/>
              </a:ext>
            </a:extLst>
          </p:cNvPr>
          <p:cNvSpPr txBox="1">
            <a:spLocks/>
          </p:cNvSpPr>
          <p:nvPr/>
        </p:nvSpPr>
        <p:spPr>
          <a:xfrm>
            <a:off x="763325" y="850789"/>
            <a:ext cx="10241280" cy="4899035"/>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2800" b="1" dirty="0">
                <a:latin typeface="Times New Roman" pitchFamily="18" charset="0"/>
                <a:cs typeface="Times New Roman" pitchFamily="18" charset="0"/>
              </a:rPr>
              <a:t>INTERNSHIP - II DETAILS </a:t>
            </a:r>
          </a:p>
          <a:p>
            <a:r>
              <a:rPr lang="en-US" b="1" dirty="0">
                <a:latin typeface="Times New Roman" pitchFamily="18" charset="0"/>
                <a:cs typeface="Times New Roman" pitchFamily="18" charset="0"/>
              </a:rPr>
              <a:t>Course Code</a:t>
            </a:r>
            <a:r>
              <a:rPr lang="en-US" dirty="0">
                <a:latin typeface="Times New Roman" pitchFamily="18" charset="0"/>
                <a:cs typeface="Times New Roman" pitchFamily="18" charset="0"/>
              </a:rPr>
              <a:t>: SPW611 CS        </a:t>
            </a:r>
            <a:r>
              <a:rPr lang="en-US" b="1" dirty="0">
                <a:latin typeface="Times New Roman" pitchFamily="18" charset="0"/>
                <a:cs typeface="Times New Roman" pitchFamily="18" charset="0"/>
              </a:rPr>
              <a:t>Credits</a:t>
            </a:r>
            <a:r>
              <a:rPr lang="en-US" dirty="0">
                <a:latin typeface="Times New Roman" pitchFamily="18" charset="0"/>
                <a:cs typeface="Times New Roman" pitchFamily="18" charset="0"/>
              </a:rPr>
              <a:t>: 1                          </a:t>
            </a:r>
            <a:r>
              <a:rPr lang="en-US" b="1" dirty="0">
                <a:latin typeface="Times New Roman" pitchFamily="18" charset="0"/>
                <a:cs typeface="Times New Roman" pitchFamily="18" charset="0"/>
              </a:rPr>
              <a:t>Evaluation</a:t>
            </a:r>
            <a:r>
              <a:rPr lang="en-US" dirty="0">
                <a:latin typeface="Times New Roman" pitchFamily="18" charset="0"/>
                <a:cs typeface="Times New Roman" pitchFamily="18" charset="0"/>
              </a:rPr>
              <a:t>: CIE - 50 Marks</a:t>
            </a:r>
          </a:p>
          <a:p>
            <a:r>
              <a:rPr lang="en-US" b="1" dirty="0">
                <a:latin typeface="Times New Roman" pitchFamily="18" charset="0"/>
                <a:cs typeface="Times New Roman" pitchFamily="18" charset="0"/>
              </a:rPr>
              <a:t>Title</a:t>
            </a:r>
            <a:r>
              <a:rPr lang="en-US" dirty="0">
                <a:latin typeface="Times New Roman" pitchFamily="18" charset="0"/>
                <a:cs typeface="Times New Roman" pitchFamily="18" charset="0"/>
              </a:rPr>
              <a:t>: Smart cities traffic prediction google map traffic data </a:t>
            </a:r>
            <a:r>
              <a:rPr lang="en-US" dirty="0" err="1">
                <a:latin typeface="Times New Roman" pitchFamily="18" charset="0"/>
                <a:cs typeface="Times New Roman" pitchFamily="18" charset="0"/>
              </a:rPr>
              <a:t>gnn</a:t>
            </a:r>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Name of the Student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Chepyala</a:t>
            </a:r>
            <a:r>
              <a:rPr lang="en-US" dirty="0">
                <a:latin typeface="Times New Roman" pitchFamily="18" charset="0"/>
                <a:cs typeface="Times New Roman" pitchFamily="18" charset="0"/>
              </a:rPr>
              <a:t> Shivani</a:t>
            </a:r>
          </a:p>
          <a:p>
            <a:r>
              <a:rPr lang="en-US" b="1" dirty="0">
                <a:latin typeface="Times New Roman" pitchFamily="18" charset="0"/>
                <a:cs typeface="Times New Roman" pitchFamily="18" charset="0"/>
              </a:rPr>
              <a:t>Roll Number</a:t>
            </a:r>
            <a:r>
              <a:rPr lang="en-US" dirty="0">
                <a:latin typeface="Times New Roman" pitchFamily="18" charset="0"/>
                <a:cs typeface="Times New Roman" pitchFamily="18" charset="0"/>
              </a:rPr>
              <a:t>: 160622733079</a:t>
            </a:r>
          </a:p>
          <a:p>
            <a:r>
              <a:rPr lang="en-US" b="1" dirty="0">
                <a:latin typeface="Times New Roman" pitchFamily="18" charset="0"/>
                <a:cs typeface="Times New Roman" pitchFamily="18" charset="0"/>
              </a:rPr>
              <a:t>Batch / Section</a:t>
            </a:r>
            <a:r>
              <a:rPr lang="en-US" dirty="0">
                <a:latin typeface="Times New Roman" pitchFamily="18" charset="0"/>
                <a:cs typeface="Times New Roman" pitchFamily="18" charset="0"/>
              </a:rPr>
              <a:t>: 2024 – 2025 / B </a:t>
            </a:r>
          </a:p>
          <a:p>
            <a:r>
              <a:rPr lang="en-US" b="1" dirty="0">
                <a:latin typeface="Times New Roman" pitchFamily="18" charset="0"/>
                <a:cs typeface="Times New Roman" pitchFamily="18" charset="0"/>
              </a:rPr>
              <a:t>Name of the Organization</a:t>
            </a:r>
            <a:r>
              <a:rPr lang="en-US" dirty="0">
                <a:latin typeface="Times New Roman" pitchFamily="18" charset="0"/>
                <a:cs typeface="Times New Roman" pitchFamily="18" charset="0"/>
              </a:rPr>
              <a:t>: Stanley college of engineering and technology for women</a:t>
            </a:r>
          </a:p>
          <a:p>
            <a:r>
              <a:rPr lang="en-US" b="1" dirty="0">
                <a:latin typeface="Times New Roman" pitchFamily="18" charset="0"/>
                <a:cs typeface="Times New Roman" pitchFamily="18" charset="0"/>
              </a:rPr>
              <a:t>Duration of Internship</a:t>
            </a:r>
            <a:r>
              <a:rPr lang="en-US" dirty="0">
                <a:latin typeface="Times New Roman" pitchFamily="18" charset="0"/>
                <a:cs typeface="Times New Roman" pitchFamily="18" charset="0"/>
              </a:rPr>
              <a:t>: From 05 </a:t>
            </a:r>
            <a:r>
              <a:rPr lang="en-US" dirty="0" err="1">
                <a:latin typeface="Times New Roman" pitchFamily="18" charset="0"/>
                <a:cs typeface="Times New Roman" pitchFamily="18" charset="0"/>
              </a:rPr>
              <a:t>st</a:t>
            </a:r>
            <a:r>
              <a:rPr lang="en-US" dirty="0">
                <a:latin typeface="Times New Roman" pitchFamily="18" charset="0"/>
                <a:cs typeface="Times New Roman" pitchFamily="18" charset="0"/>
              </a:rPr>
              <a:t> May 2025 to 13 </a:t>
            </a:r>
            <a:r>
              <a:rPr lang="en-US" dirty="0" err="1">
                <a:latin typeface="Times New Roman" pitchFamily="18" charset="0"/>
                <a:cs typeface="Times New Roman" pitchFamily="18" charset="0"/>
              </a:rPr>
              <a:t>st</a:t>
            </a:r>
            <a:r>
              <a:rPr lang="en-US" dirty="0">
                <a:latin typeface="Times New Roman" pitchFamily="18" charset="0"/>
                <a:cs typeface="Times New Roman" pitchFamily="18" charset="0"/>
              </a:rPr>
              <a:t> June 2025 </a:t>
            </a:r>
          </a:p>
          <a:p>
            <a:r>
              <a:rPr lang="en-US" b="1" dirty="0">
                <a:latin typeface="Times New Roman" pitchFamily="18" charset="0"/>
                <a:cs typeface="Times New Roman" pitchFamily="18" charset="0"/>
              </a:rPr>
              <a:t>Mode (Onsite / Online / Hybrid) </a:t>
            </a:r>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Online</a:t>
            </a:r>
          </a:p>
          <a:p>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Industry Supervisor</a:t>
            </a:r>
            <a:r>
              <a:rPr lang="en-US" dirty="0">
                <a:latin typeface="Times New Roman" pitchFamily="18" charset="0"/>
                <a:cs typeface="Times New Roman" pitchFamily="18" charset="0"/>
              </a:rPr>
              <a:t>: Dr. C </a:t>
            </a:r>
            <a:r>
              <a:rPr lang="en-US" dirty="0" err="1">
                <a:latin typeface="Times New Roman" pitchFamily="18" charset="0"/>
                <a:cs typeface="Times New Roman" pitchFamily="18" charset="0"/>
              </a:rPr>
              <a:t>kishoar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reddy</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Faculty Coordinator / Supervisor</a:t>
            </a:r>
            <a:r>
              <a:rPr lang="en-US" dirty="0">
                <a:latin typeface="Times New Roman" pitchFamily="18" charset="0"/>
                <a:cs typeface="Times New Roman" pitchFamily="18" charset="0"/>
              </a:rPr>
              <a:t>: Mrs. V. Anitha </a:t>
            </a:r>
          </a:p>
        </p:txBody>
      </p:sp>
    </p:spTree>
    <p:extLst>
      <p:ext uri="{BB962C8B-B14F-4D97-AF65-F5344CB8AC3E}">
        <p14:creationId xmlns:p14="http://schemas.microsoft.com/office/powerpoint/2010/main" val="2104627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4"/>
            <a:ext cx="10058400" cy="4339406"/>
          </a:xfrm>
        </p:spPr>
        <p:txBody>
          <a:bodyPr>
            <a:noAutofit/>
          </a:bodyPr>
          <a:lstStyle/>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Abstract</a:t>
            </a: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Problem Statement</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Background and Literature Review </a:t>
            </a:r>
          </a:p>
          <a:p>
            <a:pPr marL="0" algn="just">
              <a:lnSpc>
                <a:spcPct val="100000"/>
              </a:lnSpc>
              <a:spcBef>
                <a:spcPts val="600"/>
              </a:spcBef>
              <a:spcAft>
                <a:spcPts val="600"/>
              </a:spcAf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Planning and Design of Work</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Implementation and Execution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Testing / Validation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Results and Analysis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Challenges and Solutions </a:t>
            </a:r>
          </a:p>
          <a:p>
            <a:pPr marL="0" algn="just">
              <a:lnSpc>
                <a:spcPct val="100000"/>
              </a:lnSpc>
              <a:spcBef>
                <a:spcPts val="600"/>
              </a:spcBef>
              <a:spcAft>
                <a:spcPts val="600"/>
              </a:spcAf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Conclusion and Future Scope </a:t>
            </a:r>
            <a:endParaRPr lang="en-GB" sz="1800" dirty="0">
              <a:latin typeface="Times New Roman" panose="02020603050405020304" pitchFamily="18" charset="0"/>
              <a:cs typeface="Times New Roman" panose="02020603050405020304" pitchFamily="18" charset="0"/>
            </a:endParaRPr>
          </a:p>
          <a:p>
            <a:pPr marL="0" algn="just">
              <a:lnSpc>
                <a:spcPct val="100000"/>
              </a:lnSpc>
              <a:spcBef>
                <a:spcPts val="600"/>
              </a:spcBef>
              <a:spcAft>
                <a:spcPts val="600"/>
              </a:spcAft>
              <a:buFont typeface="Wingdings" panose="05000000000000000000" pitchFamily="2" charset="2"/>
              <a:buChar char="v"/>
            </a:pPr>
            <a:r>
              <a:rPr lang="en-GB" sz="1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38070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983757"/>
            <a:ext cx="10058400" cy="4023360"/>
          </a:xfrm>
        </p:spPr>
        <p:txBody>
          <a:bodyPr>
            <a:normAutofit fontScale="85000" lnSpcReduction="20000"/>
          </a:bodyPr>
          <a:lstStyle/>
          <a:p>
            <a:pPr algn="just">
              <a:lnSpc>
                <a:spcPct val="150000"/>
              </a:lnSpc>
            </a:pPr>
            <a:r>
              <a:rPr lang="en-IN" dirty="0"/>
              <a:t>Accurate traffic prediction is essential for </a:t>
            </a:r>
            <a:r>
              <a:rPr lang="en-IN" b="1" dirty="0"/>
              <a:t>smart city mobility</a:t>
            </a:r>
            <a:r>
              <a:rPr lang="en-IN" dirty="0"/>
              <a:t>, requiring advanced methods to model the complex </a:t>
            </a:r>
            <a:r>
              <a:rPr lang="en-IN" b="1" dirty="0" err="1"/>
              <a:t>spatio</a:t>
            </a:r>
            <a:r>
              <a:rPr lang="en-IN" b="1" dirty="0"/>
              <a:t>-temporal dependencies</a:t>
            </a:r>
            <a:r>
              <a:rPr lang="en-IN" dirty="0"/>
              <a:t> within urban road networks. A cutting-edge approach involves leveraging </a:t>
            </a:r>
            <a:r>
              <a:rPr lang="en-IN" b="1" dirty="0"/>
              <a:t>Graph Neural Networks (GNNs)</a:t>
            </a:r>
            <a:r>
              <a:rPr lang="en-IN" dirty="0"/>
              <a:t>, which are ideally suited to represent the road network as a graph—where intersections and segments are nodes and links, respectively—to capture both how traffic flows through connected space (spatial dependency) and changes over time (temporal dependency). By utilizing vast quantities of real-world, high-resolution data, such as that derived from the </a:t>
            </a:r>
            <a:r>
              <a:rPr lang="en-IN" b="1" dirty="0"/>
              <a:t>Google Maps traffic ecosystem</a:t>
            </a:r>
            <a:r>
              <a:rPr lang="en-IN" dirty="0"/>
              <a:t>, researchers can train these GNN models to forecast future traffic conditions, including speed and congestion, with high accuracy. This integration of powerful graph-based machine learning with large-scale, dynamic real-time data provides a robust foundation for building </a:t>
            </a:r>
            <a:r>
              <a:rPr lang="en-IN" b="1" dirty="0"/>
              <a:t>Intelligent Transportation Systems (ITS)</a:t>
            </a:r>
            <a:r>
              <a:rPr lang="en-IN" dirty="0"/>
              <a:t> that enable effective applications like dynamic routing, optimal traffic signal control, and proactive congestion management, ultimately leading to more efficient and sustainable urban environments.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4125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1. 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IN" dirty="0"/>
              <a:t>The primary challenge in developing </a:t>
            </a:r>
            <a:r>
              <a:rPr lang="en-IN" b="1" dirty="0"/>
              <a:t>Intelligent Transportation Systems (ITS)</a:t>
            </a:r>
            <a:r>
              <a:rPr lang="en-IN" dirty="0"/>
              <a:t> for smart cities is achieving </a:t>
            </a:r>
            <a:r>
              <a:rPr lang="en-IN" b="1" dirty="0"/>
              <a:t>accurate, real-time prediction of urban traffic conditions</a:t>
            </a:r>
            <a:r>
              <a:rPr lang="en-IN" dirty="0"/>
              <a:t> (e.g., speed, congestion levels) across a vast network. Traditional time-series and convolutional methods fail to fully capture the complex, non-Euclidean </a:t>
            </a:r>
            <a:r>
              <a:rPr lang="en-IN" b="1" dirty="0" err="1"/>
              <a:t>spatio</a:t>
            </a:r>
            <a:r>
              <a:rPr lang="en-IN" b="1" dirty="0"/>
              <a:t>-temporal dependencies</a:t>
            </a:r>
            <a:r>
              <a:rPr lang="en-IN" dirty="0"/>
              <a:t> inherent in road networks, where traffic flow on one road segment is dynamically influenced by flow on its connected </a:t>
            </a:r>
            <a:r>
              <a:rPr lang="en-IN" dirty="0" err="1"/>
              <a:t>neighbors</a:t>
            </a:r>
            <a:r>
              <a:rPr lang="en-IN" dirty="0"/>
              <a:t>, often due to unpredictable events, varying rush hour patterns, and diverse geographical contexts. Therefore, the problem is to design a </a:t>
            </a:r>
            <a:r>
              <a:rPr lang="en-IN" b="1" dirty="0"/>
              <a:t>scalable and robust predictive model</a:t>
            </a:r>
            <a:r>
              <a:rPr lang="en-IN" dirty="0"/>
              <a:t>—specifically leveraging </a:t>
            </a:r>
            <a:r>
              <a:rPr lang="en-IN" b="1" dirty="0"/>
              <a:t>Graph Neural Networks (GNNs)</a:t>
            </a:r>
            <a:r>
              <a:rPr lang="en-IN" dirty="0"/>
              <a:t>—that can effectively model the road network as a graph and integrate </a:t>
            </a:r>
            <a:r>
              <a:rPr lang="en-IN" b="1" dirty="0"/>
              <a:t>massive-scale, real-time Floating Car Data (FCD)</a:t>
            </a:r>
            <a:r>
              <a:rPr lang="en-IN" dirty="0"/>
              <a:t>, such as that provided by the </a:t>
            </a:r>
            <a:r>
              <a:rPr lang="en-IN" b="1" dirty="0"/>
              <a:t>Google Maps traffic ecosystem</a:t>
            </a:r>
            <a:r>
              <a:rPr lang="en-IN" dirty="0"/>
              <a:t>, to forecast future traffic states with high precision to support dynamic routing, traffic light optimization, and proactive congestion mitigation.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188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804" y="782893"/>
            <a:ext cx="10058400" cy="713255"/>
          </a:xfrm>
        </p:spPr>
        <p:txBody>
          <a:bodyPr>
            <a:normAutofit fontScale="90000"/>
          </a:bodyPr>
          <a:lstStyle/>
          <a:p>
            <a:pPr algn="just">
              <a:lnSpc>
                <a:spcPct val="100000"/>
              </a:lnSpc>
              <a:spcBef>
                <a:spcPts val="600"/>
              </a:spcBef>
              <a:spcAft>
                <a:spcPts val="600"/>
              </a:spcAft>
            </a:pPr>
            <a:r>
              <a:rPr lang="en-US" dirty="0">
                <a:latin typeface="Times New Roman" panose="02020603050405020304" pitchFamily="18" charset="0"/>
                <a:cs typeface="Times New Roman" panose="02020603050405020304" pitchFamily="18" charset="0"/>
              </a:rPr>
              <a:t>2. Background and Literature Review </a:t>
            </a:r>
          </a:p>
        </p:txBody>
      </p:sp>
      <p:sp>
        <p:nvSpPr>
          <p:cNvPr id="5" name="TextBox 4">
            <a:extLst>
              <a:ext uri="{FF2B5EF4-FFF2-40B4-BE49-F238E27FC236}">
                <a16:creationId xmlns:a16="http://schemas.microsoft.com/office/drawing/2014/main" id="{175C53F7-3DD1-0B7C-11B8-B42712BA6717}"/>
              </a:ext>
            </a:extLst>
          </p:cNvPr>
          <p:cNvSpPr txBox="1"/>
          <p:nvPr/>
        </p:nvSpPr>
        <p:spPr>
          <a:xfrm>
            <a:off x="618186" y="1945531"/>
            <a:ext cx="11397803" cy="3139321"/>
          </a:xfrm>
          <a:prstGeom prst="rect">
            <a:avLst/>
          </a:prstGeom>
          <a:noFill/>
        </p:spPr>
        <p:txBody>
          <a:bodyPr wrap="square">
            <a:spAutoFit/>
          </a:bodyPr>
          <a:lstStyle/>
          <a:p>
            <a:pPr>
              <a:buFont typeface="Arial" panose="020B0604020202020204" pitchFamily="34" charset="0"/>
              <a:buChar char="•"/>
            </a:pPr>
            <a:r>
              <a:rPr lang="en-IN" b="1" dirty="0">
                <a:effectLst/>
                <a:latin typeface="Google Sans Text"/>
              </a:rPr>
              <a:t>Data Source:</a:t>
            </a:r>
            <a:r>
              <a:rPr lang="en-IN" dirty="0">
                <a:effectLst/>
                <a:latin typeface="Google Sans Text"/>
              </a:rPr>
              <a:t> </a:t>
            </a:r>
            <a:r>
              <a:rPr lang="en-IN" b="1" dirty="0">
                <a:effectLst/>
                <a:latin typeface="Google Sans Text"/>
              </a:rPr>
              <a:t>Large-scale, anonymized FCD (Floating Car Data)</a:t>
            </a:r>
            <a:r>
              <a:rPr lang="en-IN" dirty="0">
                <a:effectLst/>
                <a:latin typeface="Google Sans Text"/>
              </a:rPr>
              <a:t> (similar to Google Maps data) from a metropolitan area (e.g., Los Angeles, Beijing).</a:t>
            </a:r>
          </a:p>
          <a:p>
            <a:r>
              <a:rPr lang="en-IN" dirty="0">
                <a:latin typeface="Google Sans Text"/>
              </a:rPr>
              <a:t> </a:t>
            </a:r>
            <a:r>
              <a:rPr lang="en-IN" b="1" dirty="0">
                <a:effectLst/>
                <a:latin typeface="Google Sans Text"/>
              </a:rPr>
              <a:t>Time Period:</a:t>
            </a:r>
            <a:r>
              <a:rPr lang="en-IN" dirty="0">
                <a:effectLst/>
                <a:latin typeface="Google Sans Text"/>
              </a:rPr>
              <a:t> $\</a:t>
            </a:r>
            <a:r>
              <a:rPr lang="en-IN" dirty="0" err="1">
                <a:effectLst/>
                <a:latin typeface="Google Sans Text"/>
              </a:rPr>
              <a:t>approx</a:t>
            </a:r>
            <a:r>
              <a:rPr lang="en-IN" dirty="0">
                <a:effectLst/>
                <a:latin typeface="Google Sans Text"/>
              </a:rPr>
              <a:t>$ 3-6 months of continuous traffic data (ensuring coverage of various seasons and holidays).</a:t>
            </a:r>
          </a:p>
          <a:p>
            <a:pPr>
              <a:buFont typeface="Arial" panose="020B0604020202020204" pitchFamily="34" charset="0"/>
              <a:buChar char="•"/>
            </a:pPr>
            <a:r>
              <a:rPr lang="en-IN" b="1" dirty="0">
                <a:effectLst/>
                <a:latin typeface="Google Sans Text"/>
              </a:rPr>
              <a:t>Input Data:</a:t>
            </a:r>
            <a:r>
              <a:rPr lang="en-IN" dirty="0">
                <a:effectLst/>
                <a:latin typeface="Google Sans Text"/>
              </a:rPr>
              <a:t> Time series of average vehicle </a:t>
            </a:r>
            <a:r>
              <a:rPr lang="en-IN" b="1" dirty="0">
                <a:effectLst/>
                <a:latin typeface="Google Sans Text"/>
              </a:rPr>
              <a:t>speed</a:t>
            </a:r>
            <a:r>
              <a:rPr lang="en-IN" dirty="0">
                <a:effectLst/>
                <a:latin typeface="Google Sans Text"/>
              </a:rPr>
              <a:t> or </a:t>
            </a:r>
            <a:r>
              <a:rPr lang="en-IN" b="1" dirty="0">
                <a:effectLst/>
                <a:latin typeface="Google Sans Text"/>
              </a:rPr>
              <a:t>travel time</a:t>
            </a:r>
            <a:r>
              <a:rPr lang="en-IN" dirty="0">
                <a:effectLst/>
                <a:latin typeface="Google Sans Text"/>
              </a:rPr>
              <a:t> per road segment (node), sampled every 5 minutes.</a:t>
            </a:r>
          </a:p>
          <a:p>
            <a:pPr>
              <a:buFont typeface="Arial" panose="020B0604020202020204" pitchFamily="34" charset="0"/>
              <a:buChar char="•"/>
            </a:pPr>
            <a:r>
              <a:rPr lang="en-IN" b="1" dirty="0">
                <a:effectLst/>
                <a:latin typeface="Google Sans Text"/>
              </a:rPr>
              <a:t>Prediction Task:</a:t>
            </a:r>
            <a:r>
              <a:rPr lang="en-IN" dirty="0">
                <a:effectLst/>
                <a:latin typeface="Google Sans Text"/>
              </a:rPr>
              <a:t> </a:t>
            </a:r>
            <a:r>
              <a:rPr lang="en-IN" b="1" dirty="0">
                <a:effectLst/>
                <a:latin typeface="Google Sans Text"/>
              </a:rPr>
              <a:t>Multi-step Time Series Forecasting</a:t>
            </a:r>
            <a:r>
              <a:rPr lang="en-IN" dirty="0">
                <a:effectLst/>
                <a:latin typeface="Google Sans Text"/>
              </a:rPr>
              <a:t> – predicting traffic conditions for the </a:t>
            </a:r>
            <a:r>
              <a:rPr lang="en-IN" b="1" dirty="0">
                <a:effectLst/>
                <a:latin typeface="Google Sans Text"/>
              </a:rPr>
              <a:t>next $T$ time steps</a:t>
            </a:r>
            <a:r>
              <a:rPr lang="en-IN" dirty="0">
                <a:effectLst/>
                <a:latin typeface="Google Sans Text"/>
              </a:rPr>
              <a:t> (e.g., 15, 30, and 60 minutes ahead).</a:t>
            </a:r>
          </a:p>
          <a:p>
            <a:pPr>
              <a:buFont typeface="Arial" panose="020B0604020202020204" pitchFamily="34" charset="0"/>
              <a:buChar char="•"/>
            </a:pPr>
            <a:r>
              <a:rPr lang="en-IN" b="1" dirty="0">
                <a:effectLst/>
                <a:latin typeface="Google Sans Text"/>
              </a:rPr>
              <a:t>Data Split:</a:t>
            </a:r>
            <a:r>
              <a:rPr lang="en-IN" dirty="0">
                <a:effectLst/>
                <a:latin typeface="Google Sans Text"/>
              </a:rPr>
              <a:t> Standard division into Training (60-70%), Validation (10-20%), and Testing (20%) set</a:t>
            </a:r>
          </a:p>
          <a:p>
            <a:r>
              <a:rPr lang="en-IN" b="1" dirty="0">
                <a:effectLst/>
                <a:latin typeface="Google Sans Text"/>
              </a:rPr>
              <a:t> Statistical:</a:t>
            </a:r>
            <a:r>
              <a:rPr lang="en-IN" dirty="0">
                <a:effectLst/>
                <a:latin typeface="Google Sans Text"/>
              </a:rPr>
              <a:t> </a:t>
            </a:r>
            <a:r>
              <a:rPr lang="en-IN" b="1" dirty="0">
                <a:effectLst/>
                <a:latin typeface="Google Sans Text"/>
              </a:rPr>
              <a:t>ARIMA</a:t>
            </a:r>
            <a:r>
              <a:rPr lang="en-IN" dirty="0">
                <a:effectLst/>
                <a:latin typeface="Google Sans Text"/>
              </a:rPr>
              <a:t> (Auto Regressive Integrated Moving Average) and </a:t>
            </a:r>
            <a:r>
              <a:rPr lang="en-IN" b="1" dirty="0">
                <a:effectLst/>
                <a:latin typeface="Google Sans Text"/>
              </a:rPr>
              <a:t>HA</a:t>
            </a:r>
            <a:r>
              <a:rPr lang="en-IN" dirty="0">
                <a:effectLst/>
                <a:latin typeface="Google Sans Text"/>
              </a:rPr>
              <a:t> (Historical Average).</a:t>
            </a:r>
          </a:p>
          <a:p>
            <a:pPr>
              <a:buFont typeface="Arial" panose="020B0604020202020204" pitchFamily="34" charset="0"/>
              <a:buChar char="•"/>
            </a:pPr>
            <a:r>
              <a:rPr lang="en-IN" b="1" dirty="0">
                <a:effectLst/>
                <a:latin typeface="Google Sans Text"/>
              </a:rPr>
              <a:t>Traditional ML:</a:t>
            </a:r>
            <a:r>
              <a:rPr lang="en-IN" dirty="0">
                <a:effectLst/>
                <a:latin typeface="Google Sans Text"/>
              </a:rPr>
              <a:t> </a:t>
            </a:r>
            <a:r>
              <a:rPr lang="en-IN" b="1" dirty="0">
                <a:effectLst/>
                <a:latin typeface="Google Sans Text"/>
              </a:rPr>
              <a:t>SVR</a:t>
            </a:r>
            <a:r>
              <a:rPr lang="en-IN" dirty="0">
                <a:effectLst/>
                <a:latin typeface="Google Sans Text"/>
              </a:rPr>
              <a:t> (Support Vector Regression).</a:t>
            </a:r>
          </a:p>
          <a:p>
            <a:pPr>
              <a:buFont typeface="Arial" panose="020B0604020202020204" pitchFamily="34" charset="0"/>
              <a:buChar char="•"/>
            </a:pPr>
            <a:r>
              <a:rPr lang="en-IN" b="1" dirty="0">
                <a:effectLst/>
                <a:latin typeface="Google Sans Text"/>
              </a:rPr>
              <a:t>Deep Learning:</a:t>
            </a:r>
            <a:r>
              <a:rPr lang="en-IN" dirty="0">
                <a:effectLst/>
                <a:latin typeface="Google Sans Text"/>
              </a:rPr>
              <a:t> </a:t>
            </a:r>
            <a:r>
              <a:rPr lang="en-IN" b="1" dirty="0">
                <a:effectLst/>
                <a:latin typeface="Google Sans Text"/>
              </a:rPr>
              <a:t>LSTM</a:t>
            </a:r>
            <a:r>
              <a:rPr lang="en-IN" dirty="0">
                <a:effectLst/>
                <a:latin typeface="Google Sans Text"/>
              </a:rPr>
              <a:t> (Long Short-Term Memory) or </a:t>
            </a:r>
            <a:r>
              <a:rPr lang="en-IN" b="1" dirty="0">
                <a:effectLst/>
                <a:latin typeface="Google Sans Text"/>
              </a:rPr>
              <a:t>GRU</a:t>
            </a:r>
            <a:r>
              <a:rPr lang="en-IN" dirty="0">
                <a:effectLst/>
                <a:latin typeface="Google Sans Text"/>
              </a:rPr>
              <a:t> (Gated Recurrent Unit) – </a:t>
            </a:r>
            <a:r>
              <a:rPr lang="en-IN" i="1" dirty="0">
                <a:effectLst/>
                <a:latin typeface="Google Sans Text"/>
              </a:rPr>
              <a:t>Treated as pure temporal models</a:t>
            </a:r>
            <a:r>
              <a:rPr lang="en-IN" dirty="0">
                <a:effectLst/>
                <a:latin typeface="Google Sans Text"/>
              </a:rPr>
              <a:t>.</a:t>
            </a:r>
          </a:p>
          <a:p>
            <a:pPr>
              <a:buFont typeface="Arial" panose="020B0604020202020204" pitchFamily="34" charset="0"/>
              <a:buChar char="•"/>
            </a:pPr>
            <a:r>
              <a:rPr lang="en-IN" b="1" dirty="0" err="1">
                <a:effectLst/>
                <a:latin typeface="Google Sans Text"/>
              </a:rPr>
              <a:t>Spatio</a:t>
            </a:r>
            <a:r>
              <a:rPr lang="en-IN" b="1" dirty="0">
                <a:effectLst/>
                <a:latin typeface="Google Sans Text"/>
              </a:rPr>
              <a:t>-Temporal (Non-GNN):</a:t>
            </a:r>
            <a:r>
              <a:rPr lang="en-IN" dirty="0">
                <a:effectLst/>
                <a:latin typeface="Google Sans Text"/>
              </a:rPr>
              <a:t> </a:t>
            </a:r>
            <a:r>
              <a:rPr lang="en-IN" b="1" dirty="0">
                <a:effectLst/>
                <a:latin typeface="Google Sans Text"/>
              </a:rPr>
              <a:t>DCNN</a:t>
            </a:r>
            <a:r>
              <a:rPr lang="en-IN" dirty="0">
                <a:effectLst/>
                <a:latin typeface="Google Sans Text"/>
              </a:rPr>
              <a:t> (Deep CNN) or similar models that use grid-based convolutions.</a:t>
            </a:r>
          </a:p>
        </p:txBody>
      </p:sp>
    </p:spTree>
    <p:extLst>
      <p:ext uri="{BB962C8B-B14F-4D97-AF65-F5344CB8AC3E}">
        <p14:creationId xmlns:p14="http://schemas.microsoft.com/office/powerpoint/2010/main" val="1791246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BAB3-D88A-3EFF-72E8-D8C23F106A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032EEE-F8C1-2B8F-B723-09C61BA09240}"/>
              </a:ext>
            </a:extLst>
          </p:cNvPr>
          <p:cNvSpPr txBox="1"/>
          <p:nvPr/>
        </p:nvSpPr>
        <p:spPr>
          <a:xfrm>
            <a:off x="690662" y="1231505"/>
            <a:ext cx="10573965" cy="3970318"/>
          </a:xfrm>
          <a:prstGeom prst="rect">
            <a:avLst/>
          </a:prstGeom>
          <a:noFill/>
        </p:spPr>
        <p:txBody>
          <a:bodyPr wrap="square">
            <a:spAutoFit/>
          </a:bodyPr>
          <a:lstStyle/>
          <a:p>
            <a:pPr marL="285750" indent="-285750">
              <a:buFont typeface="Wingdings" pitchFamily="2" charset="2"/>
              <a:buChar char="Ø"/>
            </a:pPr>
            <a:r>
              <a:rPr lang="en-IN" b="1" dirty="0">
                <a:effectLst/>
                <a:latin typeface="Google Sans Text"/>
              </a:rPr>
              <a:t>Define Clear Requirements:</a:t>
            </a:r>
            <a:r>
              <a:rPr lang="en-IN" dirty="0">
                <a:effectLst/>
                <a:latin typeface="Google Sans Text"/>
              </a:rPr>
              <a:t> Specify </a:t>
            </a:r>
            <a:r>
              <a:rPr lang="en-IN" b="1" dirty="0">
                <a:effectLst/>
                <a:latin typeface="Google Sans Text"/>
              </a:rPr>
              <a:t>prediction targets</a:t>
            </a:r>
            <a:r>
              <a:rPr lang="en-IN" dirty="0">
                <a:effectLst/>
                <a:latin typeface="Google Sans Text"/>
              </a:rPr>
              <a:t> (e.g., speed, 30 min ahead) and set </a:t>
            </a:r>
            <a:r>
              <a:rPr lang="en-IN" b="1" dirty="0">
                <a:effectLst/>
                <a:latin typeface="Google Sans Text"/>
              </a:rPr>
              <a:t>strict MAE/RMSE</a:t>
            </a:r>
            <a:r>
              <a:rPr lang="en-IN" dirty="0">
                <a:effectLst/>
                <a:latin typeface="Google Sans Text"/>
              </a:rPr>
              <a:t> performance goals.</a:t>
            </a:r>
          </a:p>
          <a:p>
            <a:pPr marL="285750" indent="-285750">
              <a:buFont typeface="Wingdings" pitchFamily="2" charset="2"/>
              <a:buChar char="Ø"/>
            </a:pPr>
            <a:r>
              <a:rPr lang="en-IN" b="1" dirty="0">
                <a:effectLst/>
                <a:latin typeface="Google Sans Text"/>
              </a:rPr>
              <a:t>Data Access &amp; Strategy:</a:t>
            </a:r>
            <a:r>
              <a:rPr lang="en-IN" dirty="0">
                <a:effectLst/>
                <a:latin typeface="Google Sans Text"/>
              </a:rPr>
              <a:t> Secure access to </a:t>
            </a:r>
            <a:r>
              <a:rPr lang="en-IN" b="1" dirty="0">
                <a:effectLst/>
                <a:latin typeface="Google Sans Text"/>
              </a:rPr>
              <a:t>Large-Scale FCD</a:t>
            </a:r>
            <a:r>
              <a:rPr lang="en-IN" dirty="0">
                <a:effectLst/>
                <a:latin typeface="Google Sans Text"/>
              </a:rPr>
              <a:t> (Google Maps-like data) and define the </a:t>
            </a:r>
            <a:r>
              <a:rPr lang="en-IN" b="1" dirty="0">
                <a:effectLst/>
                <a:latin typeface="Google Sans Text"/>
              </a:rPr>
              <a:t>real-time ingestion</a:t>
            </a:r>
            <a:r>
              <a:rPr lang="en-IN" dirty="0">
                <a:effectLst/>
                <a:latin typeface="Google Sans Text"/>
              </a:rPr>
              <a:t> pipeline and APIs.</a:t>
            </a:r>
          </a:p>
          <a:p>
            <a:pPr marL="285750" indent="-285750">
              <a:buFont typeface="Wingdings" pitchFamily="2" charset="2"/>
              <a:buChar char="Ø"/>
            </a:pPr>
            <a:r>
              <a:rPr lang="en-IN" b="1" dirty="0">
                <a:effectLst/>
                <a:latin typeface="Google Sans Text"/>
              </a:rPr>
              <a:t>Graph Construction Design:</a:t>
            </a:r>
            <a:r>
              <a:rPr lang="en-IN" dirty="0">
                <a:effectLst/>
                <a:latin typeface="Google Sans Text"/>
              </a:rPr>
              <a:t> Design the process to convert raw FCD into the </a:t>
            </a:r>
            <a:r>
              <a:rPr lang="en-IN" b="1" dirty="0">
                <a:effectLst/>
                <a:latin typeface="Google Sans Text"/>
              </a:rPr>
              <a:t>Graph Structure ($G$)</a:t>
            </a:r>
            <a:r>
              <a:rPr lang="en-IN" dirty="0">
                <a:effectLst/>
                <a:latin typeface="Google Sans Text"/>
              </a:rPr>
              <a:t> and calculate the </a:t>
            </a:r>
            <a:r>
              <a:rPr lang="en-IN" b="1" dirty="0">
                <a:effectLst/>
                <a:latin typeface="Google Sans Text"/>
              </a:rPr>
              <a:t>Adjacency Matrix ($A$)</a:t>
            </a:r>
            <a:r>
              <a:rPr lang="en-IN" dirty="0">
                <a:effectLst/>
                <a:latin typeface="Google Sans Text"/>
              </a:rPr>
              <a:t> for the GNN.</a:t>
            </a:r>
          </a:p>
          <a:p>
            <a:pPr marL="285750" indent="-285750">
              <a:buFont typeface="Wingdings" pitchFamily="2" charset="2"/>
              <a:buChar char="Ø"/>
            </a:pPr>
            <a:r>
              <a:rPr lang="en-IN" b="1" dirty="0">
                <a:effectLst/>
                <a:latin typeface="Google Sans Text"/>
              </a:rPr>
              <a:t>Architectural Blueprint:</a:t>
            </a:r>
            <a:r>
              <a:rPr lang="en-IN" dirty="0">
                <a:effectLst/>
                <a:latin typeface="Google Sans Text"/>
              </a:rPr>
              <a:t> Develop a </a:t>
            </a:r>
            <a:r>
              <a:rPr lang="en-IN" b="1" dirty="0">
                <a:effectLst/>
                <a:latin typeface="Google Sans Text"/>
              </a:rPr>
              <a:t>Layered Architecture</a:t>
            </a:r>
            <a:r>
              <a:rPr lang="en-IN" dirty="0">
                <a:effectLst/>
                <a:latin typeface="Google Sans Text"/>
              </a:rPr>
              <a:t> (Data $\</a:t>
            </a:r>
            <a:r>
              <a:rPr lang="en-IN" dirty="0" err="1">
                <a:effectLst/>
                <a:latin typeface="Google Sans Text"/>
              </a:rPr>
              <a:t>rightarrow</a:t>
            </a:r>
            <a:r>
              <a:rPr lang="en-IN" dirty="0">
                <a:effectLst/>
                <a:latin typeface="Google Sans Text"/>
              </a:rPr>
              <a:t>$ </a:t>
            </a:r>
            <a:r>
              <a:rPr lang="en-IN" dirty="0" err="1">
                <a:effectLst/>
                <a:latin typeface="Google Sans Text"/>
              </a:rPr>
              <a:t>Preprocessing</a:t>
            </a:r>
            <a:r>
              <a:rPr lang="en-IN" dirty="0">
                <a:effectLst/>
                <a:latin typeface="Google Sans Text"/>
              </a:rPr>
              <a:t> $\</a:t>
            </a:r>
            <a:r>
              <a:rPr lang="en-IN" dirty="0" err="1">
                <a:effectLst/>
                <a:latin typeface="Google Sans Text"/>
              </a:rPr>
              <a:t>rightarrow</a:t>
            </a:r>
            <a:r>
              <a:rPr lang="en-IN" dirty="0">
                <a:effectLst/>
                <a:latin typeface="Google Sans Text"/>
              </a:rPr>
              <a:t>$ GNN Model $\</a:t>
            </a:r>
            <a:r>
              <a:rPr lang="en-IN" dirty="0" err="1">
                <a:effectLst/>
                <a:latin typeface="Google Sans Text"/>
              </a:rPr>
              <a:t>rightarrow</a:t>
            </a:r>
            <a:r>
              <a:rPr lang="en-IN" dirty="0">
                <a:effectLst/>
                <a:latin typeface="Google Sans Text"/>
              </a:rPr>
              <a:t>$ Application) for robust operation.</a:t>
            </a:r>
          </a:p>
          <a:p>
            <a:pPr marL="285750" indent="-285750">
              <a:buFont typeface="Wingdings" pitchFamily="2" charset="2"/>
              <a:buChar char="Ø"/>
            </a:pPr>
            <a:r>
              <a:rPr lang="en-IN" b="1" dirty="0">
                <a:effectLst/>
                <a:latin typeface="Google Sans Text"/>
              </a:rPr>
              <a:t>GNN Optimization:</a:t>
            </a:r>
            <a:r>
              <a:rPr lang="en-IN" dirty="0">
                <a:effectLst/>
                <a:latin typeface="Google Sans Text"/>
              </a:rPr>
              <a:t> Select/customize the </a:t>
            </a:r>
            <a:r>
              <a:rPr lang="en-IN" b="1" dirty="0" err="1">
                <a:effectLst/>
                <a:latin typeface="Google Sans Text"/>
              </a:rPr>
              <a:t>Spatio</a:t>
            </a:r>
            <a:r>
              <a:rPr lang="en-IN" b="1" dirty="0">
                <a:effectLst/>
                <a:latin typeface="Google Sans Text"/>
              </a:rPr>
              <a:t>-Temporal GNN</a:t>
            </a:r>
            <a:r>
              <a:rPr lang="en-IN" dirty="0">
                <a:effectLst/>
                <a:latin typeface="Google Sans Text"/>
              </a:rPr>
              <a:t> (e.g., GCN-GRU) for efficiency and high accuracy.</a:t>
            </a:r>
          </a:p>
          <a:p>
            <a:pPr marL="285750" indent="-285750">
              <a:buFont typeface="Wingdings" pitchFamily="2" charset="2"/>
              <a:buChar char="Ø"/>
            </a:pPr>
            <a:r>
              <a:rPr lang="en-IN" b="1" dirty="0">
                <a:effectLst/>
                <a:latin typeface="Google Sans Text"/>
              </a:rPr>
              <a:t>Deployment and Integration:</a:t>
            </a:r>
            <a:r>
              <a:rPr lang="en-IN" dirty="0">
                <a:effectLst/>
                <a:latin typeface="Google Sans Text"/>
              </a:rPr>
              <a:t> Plan for system </a:t>
            </a:r>
            <a:r>
              <a:rPr lang="en-IN" b="1" dirty="0">
                <a:effectLst/>
                <a:latin typeface="Google Sans Text"/>
              </a:rPr>
              <a:t>scalability</a:t>
            </a:r>
            <a:r>
              <a:rPr lang="en-IN" dirty="0">
                <a:effectLst/>
                <a:latin typeface="Google Sans Text"/>
              </a:rPr>
              <a:t>, low-latency inference, and seamless </a:t>
            </a:r>
            <a:r>
              <a:rPr lang="en-IN" b="1" dirty="0">
                <a:effectLst/>
                <a:latin typeface="Google Sans Text"/>
              </a:rPr>
              <a:t>API integration</a:t>
            </a:r>
            <a:r>
              <a:rPr lang="en-IN" dirty="0">
                <a:effectLst/>
                <a:latin typeface="Google Sans Text"/>
              </a:rPr>
              <a:t> with city traffic control systems.</a:t>
            </a:r>
          </a:p>
          <a:p>
            <a:pPr marL="285750" indent="-285750">
              <a:buFont typeface="Wingdings" pitchFamily="2" charset="2"/>
              <a:buChar char="Ø"/>
            </a:pPr>
            <a:r>
              <a:rPr lang="en-IN" b="1" dirty="0"/>
              <a:t>Maintenance Plan:</a:t>
            </a:r>
            <a:r>
              <a:rPr lang="en-IN" dirty="0"/>
              <a:t> Establish a cycle for </a:t>
            </a:r>
            <a:r>
              <a:rPr lang="en-IN" b="1" dirty="0"/>
              <a:t>continuous model monitoring</a:t>
            </a:r>
            <a:r>
              <a:rPr lang="en-IN" dirty="0"/>
              <a:t> and </a:t>
            </a:r>
            <a:r>
              <a:rPr lang="en-IN" b="1" dirty="0"/>
              <a:t>periodic retraining</a:t>
            </a:r>
            <a:r>
              <a:rPr lang="en-IN" dirty="0"/>
              <a:t> to maintain long-term accuracy.</a:t>
            </a:r>
            <a:endParaRPr lang="en-IN" dirty="0">
              <a:effectLst/>
              <a:latin typeface="Google Sans Text"/>
            </a:endParaRPr>
          </a:p>
        </p:txBody>
      </p:sp>
      <p:sp>
        <p:nvSpPr>
          <p:cNvPr id="7" name="TextBox 6">
            <a:extLst>
              <a:ext uri="{FF2B5EF4-FFF2-40B4-BE49-F238E27FC236}">
                <a16:creationId xmlns:a16="http://schemas.microsoft.com/office/drawing/2014/main" id="{BAAA3C35-5977-7BDA-07D5-8BA52D8E1E07}"/>
              </a:ext>
            </a:extLst>
          </p:cNvPr>
          <p:cNvSpPr txBox="1"/>
          <p:nvPr/>
        </p:nvSpPr>
        <p:spPr>
          <a:xfrm>
            <a:off x="1488332" y="277398"/>
            <a:ext cx="5345348" cy="954107"/>
          </a:xfrm>
          <a:prstGeom prst="rect">
            <a:avLst/>
          </a:prstGeom>
          <a:noFill/>
        </p:spPr>
        <p:txBody>
          <a:bodyPr wrap="square">
            <a:spAutoFit/>
          </a:bodyPr>
          <a:lstStyle/>
          <a:p>
            <a:r>
              <a:rPr lang="en-IN" sz="2800" dirty="0"/>
              <a:t>Planning and Design Work</a:t>
            </a:r>
          </a:p>
          <a:p>
            <a:r>
              <a:rPr lang="en-IN" sz="2800" dirty="0"/>
              <a:t> </a:t>
            </a:r>
            <a:endParaRPr lang="en-US" sz="2800" dirty="0"/>
          </a:p>
        </p:txBody>
      </p:sp>
    </p:spTree>
    <p:extLst>
      <p:ext uri="{BB962C8B-B14F-4D97-AF65-F5344CB8AC3E}">
        <p14:creationId xmlns:p14="http://schemas.microsoft.com/office/powerpoint/2010/main" val="3269830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BDCAE-4FAB-C6B8-FDA2-564C87756881}"/>
              </a:ext>
            </a:extLst>
          </p:cNvPr>
          <p:cNvSpPr>
            <a:spLocks noGrp="1"/>
          </p:cNvSpPr>
          <p:nvPr>
            <p:ph type="title"/>
          </p:nvPr>
        </p:nvSpPr>
        <p:spPr>
          <a:xfrm>
            <a:off x="1166292" y="864573"/>
            <a:ext cx="10058400" cy="757193"/>
          </a:xfrm>
        </p:spPr>
        <p:txBody>
          <a:bodyPr/>
          <a:lstStyle/>
          <a:p>
            <a:r>
              <a:rPr lang="en-US" dirty="0">
                <a:latin typeface="Times New Roman" panose="02020603050405020304" pitchFamily="18" charset="0"/>
                <a:cs typeface="Times New Roman" panose="02020603050405020304" pitchFamily="18" charset="0"/>
              </a:rPr>
              <a:t>System Architecture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D916C64-3D36-74FE-520C-647D75FC826F}"/>
              </a:ext>
            </a:extLst>
          </p:cNvPr>
          <p:cNvSpPr txBox="1"/>
          <p:nvPr/>
        </p:nvSpPr>
        <p:spPr>
          <a:xfrm>
            <a:off x="798490" y="1621766"/>
            <a:ext cx="11393510" cy="3693319"/>
          </a:xfrm>
          <a:prstGeom prst="rect">
            <a:avLst/>
          </a:prstGeom>
          <a:noFill/>
        </p:spPr>
        <p:txBody>
          <a:bodyPr wrap="square">
            <a:spAutoFit/>
          </a:bodyPr>
          <a:lstStyle/>
          <a:p>
            <a:endParaRPr lang="en-US" dirty="0"/>
          </a:p>
          <a:p>
            <a:endParaRPr lang="en-US" dirty="0"/>
          </a:p>
          <a:p>
            <a:pPr marL="285750" indent="-285750">
              <a:buFont typeface="Wingdings" pitchFamily="2" charset="2"/>
              <a:buChar char="Ø"/>
            </a:pPr>
            <a:r>
              <a:rPr lang="en-US" dirty="0"/>
              <a:t>Data Input Layer</a:t>
            </a:r>
          </a:p>
          <a:p>
            <a:r>
              <a:rPr lang="en-US" dirty="0"/>
              <a:t>Collects real-time traffic data from Google Maps, GPS, sensors, and road network sources.</a:t>
            </a:r>
          </a:p>
          <a:p>
            <a:endParaRPr lang="en-US" dirty="0"/>
          </a:p>
          <a:p>
            <a:pPr marL="285750" indent="-285750">
              <a:buFont typeface="Wingdings" pitchFamily="2" charset="2"/>
              <a:buChar char="Ø"/>
            </a:pPr>
            <a:r>
              <a:rPr lang="en-US" dirty="0"/>
              <a:t>Preprocessing Layer</a:t>
            </a:r>
          </a:p>
          <a:p>
            <a:r>
              <a:rPr lang="en-US" dirty="0"/>
              <a:t>Cleans data, handles missing values, converts into time-series format, and builds graph structure of the road network.</a:t>
            </a:r>
          </a:p>
          <a:p>
            <a:endParaRPr lang="en-US" dirty="0"/>
          </a:p>
          <a:p>
            <a:pPr marL="285750" indent="-285750">
              <a:buFont typeface="Wingdings" pitchFamily="2" charset="2"/>
              <a:buChar char="Ø"/>
            </a:pPr>
            <a:r>
              <a:rPr lang="en-US" dirty="0"/>
              <a:t>Graph Neural Network (GNN) Model Layer</a:t>
            </a:r>
          </a:p>
          <a:p>
            <a:r>
              <a:rPr lang="en-US" dirty="0"/>
              <a:t>Uses spatial + temporal patterns to predict traffic speed and congestion accurately across connected road segments.</a:t>
            </a:r>
          </a:p>
          <a:p>
            <a:endParaRPr lang="en-US" dirty="0"/>
          </a:p>
          <a:p>
            <a:pPr marL="285750" indent="-285750">
              <a:buFont typeface="Wingdings" pitchFamily="2" charset="2"/>
              <a:buChar char="Ø"/>
            </a:pPr>
            <a:r>
              <a:rPr lang="en-US" dirty="0"/>
              <a:t>Prediction &amp; Output Layer</a:t>
            </a:r>
          </a:p>
          <a:p>
            <a:r>
              <a:rPr lang="en-US" dirty="0"/>
              <a:t>Generates future traffic forecasts and sends results to dashboards, routing systems, and smart city applications.</a:t>
            </a:r>
          </a:p>
        </p:txBody>
      </p:sp>
    </p:spTree>
    <p:extLst>
      <p:ext uri="{BB962C8B-B14F-4D97-AF65-F5344CB8AC3E}">
        <p14:creationId xmlns:p14="http://schemas.microsoft.com/office/powerpoint/2010/main" val="2621125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0BD8C5-129C-15FA-B7C5-048C476D8DDE}"/>
              </a:ext>
            </a:extLst>
          </p:cNvPr>
          <p:cNvSpPr txBox="1"/>
          <p:nvPr/>
        </p:nvSpPr>
        <p:spPr>
          <a:xfrm>
            <a:off x="4060166" y="5305246"/>
            <a:ext cx="407166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3.1: </a:t>
            </a:r>
            <a:r>
              <a:rPr lang="en-US" dirty="0">
                <a:latin typeface="Times New Roman" panose="02020603050405020304" pitchFamily="18" charset="0"/>
                <a:cs typeface="Times New Roman" panose="02020603050405020304" pitchFamily="18" charset="0"/>
              </a:rPr>
              <a:t>System Architecture Diagram</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BB2DAFE-608E-C795-D907-011AB7EB100D}"/>
              </a:ext>
            </a:extLst>
          </p:cNvPr>
          <p:cNvPicPr>
            <a:picLocks noChangeAspect="1"/>
          </p:cNvPicPr>
          <p:nvPr/>
        </p:nvPicPr>
        <p:blipFill>
          <a:blip r:embed="rId2"/>
          <a:stretch>
            <a:fillRect/>
          </a:stretch>
        </p:blipFill>
        <p:spPr>
          <a:xfrm>
            <a:off x="1893194" y="177800"/>
            <a:ext cx="7778840" cy="4909355"/>
          </a:xfrm>
          <a:prstGeom prst="rect">
            <a:avLst/>
          </a:prstGeom>
        </p:spPr>
      </p:pic>
    </p:spTree>
    <p:extLst>
      <p:ext uri="{BB962C8B-B14F-4D97-AF65-F5344CB8AC3E}">
        <p14:creationId xmlns:p14="http://schemas.microsoft.com/office/powerpoint/2010/main" val="3473766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E2949-9E7F-3EA8-B9F0-38F019E24A5C}"/>
              </a:ext>
            </a:extLst>
          </p:cNvPr>
          <p:cNvSpPr>
            <a:spLocks noGrp="1"/>
          </p:cNvSpPr>
          <p:nvPr>
            <p:ph type="title"/>
          </p:nvPr>
        </p:nvSpPr>
        <p:spPr>
          <a:xfrm>
            <a:off x="1097280" y="759855"/>
            <a:ext cx="8523238" cy="453126"/>
          </a:xfrm>
        </p:spPr>
        <p:txBody>
          <a:bodyPr>
            <a:normAutofit fontScale="90000"/>
          </a:bodyPr>
          <a:lstStyle/>
          <a:p>
            <a:r>
              <a:rPr lang="en-US" dirty="0">
                <a:latin typeface="Times New Roman" panose="02020603050405020304" pitchFamily="18" charset="0"/>
                <a:cs typeface="Times New Roman" panose="02020603050405020304" pitchFamily="18" charset="0"/>
              </a:rPr>
              <a:t>4. Implementation and Execution</a:t>
            </a:r>
            <a:endParaRPr lang="en-IN"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C24C8353-CD53-0F26-CF05-28DA13E25CC9}"/>
              </a:ext>
            </a:extLst>
          </p:cNvPr>
          <p:cNvSpPr txBox="1">
            <a:spLocks/>
          </p:cNvSpPr>
          <p:nvPr/>
        </p:nvSpPr>
        <p:spPr>
          <a:xfrm>
            <a:off x="616039" y="1920003"/>
            <a:ext cx="10959921" cy="4379884"/>
          </a:xfrm>
          <a:prstGeom prst="rect">
            <a:avLst/>
          </a:prstGeom>
        </p:spPr>
        <p:txBody>
          <a:bodyPr>
            <a:normAutofit fontScale="7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Built a road-network graph using segments as nodes and their connections as edges.</a:t>
            </a:r>
          </a:p>
          <a:p>
            <a:pPr algn="just">
              <a:lnSpc>
                <a:spcPct val="110000"/>
              </a:lnSpc>
              <a:buFont typeface="Wingdings" pitchFamily="2" charset="2"/>
              <a:buChar char="Ø"/>
            </a:pPr>
            <a:endParaRPr lang="en-IN" sz="2900" dirty="0">
              <a:latin typeface="Times New Roman" panose="02020603050405020304" pitchFamily="18" charset="0"/>
              <a:cs typeface="Times New Roman" panose="02020603050405020304" pitchFamily="18" charset="0"/>
            </a:endParaRPr>
          </a:p>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Applied </a:t>
            </a:r>
            <a:r>
              <a:rPr lang="en-IN" sz="2900" dirty="0" err="1">
                <a:latin typeface="Times New Roman" panose="02020603050405020304" pitchFamily="18" charset="0"/>
                <a:cs typeface="Times New Roman" panose="02020603050405020304" pitchFamily="18" charset="0"/>
              </a:rPr>
              <a:t>preprocessing</a:t>
            </a:r>
            <a:r>
              <a:rPr lang="en-IN" sz="2900" dirty="0">
                <a:latin typeface="Times New Roman" panose="02020603050405020304" pitchFamily="18" charset="0"/>
                <a:cs typeface="Times New Roman" panose="02020603050405020304" pitchFamily="18" charset="0"/>
              </a:rPr>
              <a:t>, feature engineering, and normalization to prepare data for </a:t>
            </a:r>
            <a:r>
              <a:rPr lang="en-IN" sz="2900" dirty="0" err="1">
                <a:latin typeface="Times New Roman" panose="02020603050405020304" pitchFamily="18" charset="0"/>
                <a:cs typeface="Times New Roman" panose="02020603050405020304" pitchFamily="18" charset="0"/>
              </a:rPr>
              <a:t>modeling</a:t>
            </a:r>
            <a:r>
              <a:rPr lang="en-IN" sz="2900" dirty="0">
                <a:latin typeface="Times New Roman" panose="02020603050405020304" pitchFamily="18" charset="0"/>
                <a:cs typeface="Times New Roman" panose="02020603050405020304" pitchFamily="18" charset="0"/>
              </a:rPr>
              <a:t>.</a:t>
            </a:r>
          </a:p>
          <a:p>
            <a:pPr algn="just">
              <a:lnSpc>
                <a:spcPct val="110000"/>
              </a:lnSpc>
              <a:buFont typeface="Wingdings" pitchFamily="2" charset="2"/>
              <a:buChar char="Ø"/>
            </a:pPr>
            <a:endParaRPr lang="en-IN" sz="2900" dirty="0">
              <a:latin typeface="Times New Roman" panose="02020603050405020304" pitchFamily="18" charset="0"/>
              <a:cs typeface="Times New Roman" panose="02020603050405020304" pitchFamily="18" charset="0"/>
            </a:endParaRPr>
          </a:p>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Developed and trained a </a:t>
            </a:r>
            <a:r>
              <a:rPr lang="en-IN" sz="2900" dirty="0" err="1">
                <a:latin typeface="Times New Roman" panose="02020603050405020304" pitchFamily="18" charset="0"/>
                <a:cs typeface="Times New Roman" panose="02020603050405020304" pitchFamily="18" charset="0"/>
              </a:rPr>
              <a:t>Spatio</a:t>
            </a:r>
            <a:r>
              <a:rPr lang="en-IN" sz="2900" dirty="0">
                <a:latin typeface="Times New Roman" panose="02020603050405020304" pitchFamily="18" charset="0"/>
                <a:cs typeface="Times New Roman" panose="02020603050405020304" pitchFamily="18" charset="0"/>
              </a:rPr>
              <a:t>-Temporal GNN model (GCN + GRU) for traffic prediction using GPU acceleration.</a:t>
            </a:r>
          </a:p>
          <a:p>
            <a:pPr algn="just">
              <a:lnSpc>
                <a:spcPct val="110000"/>
              </a:lnSpc>
              <a:buFont typeface="Wingdings" pitchFamily="2" charset="2"/>
              <a:buChar char="Ø"/>
            </a:pPr>
            <a:endParaRPr lang="en-IN" sz="2900" dirty="0">
              <a:latin typeface="Times New Roman" panose="02020603050405020304" pitchFamily="18" charset="0"/>
              <a:cs typeface="Times New Roman" panose="02020603050405020304" pitchFamily="18" charset="0"/>
            </a:endParaRPr>
          </a:p>
          <a:p>
            <a:pPr algn="just">
              <a:lnSpc>
                <a:spcPct val="110000"/>
              </a:lnSpc>
              <a:buFont typeface="Wingdings" pitchFamily="2" charset="2"/>
              <a:buChar char="Ø"/>
            </a:pPr>
            <a:r>
              <a:rPr lang="en-IN" sz="2900" dirty="0">
                <a:latin typeface="Times New Roman" panose="02020603050405020304" pitchFamily="18" charset="0"/>
                <a:cs typeface="Times New Roman" panose="02020603050405020304" pitchFamily="18" charset="0"/>
              </a:rPr>
              <a:t>Evaluated the model and deployed it for real-time traffic forecasting and dashboard visualization</a:t>
            </a:r>
            <a:r>
              <a:rPr lang="en-IN" sz="2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13277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F3087-40D8-DCF2-C50C-CC3376E9D313}"/>
              </a:ext>
            </a:extLst>
          </p:cNvPr>
          <p:cNvSpPr txBox="1">
            <a:spLocks/>
          </p:cNvSpPr>
          <p:nvPr/>
        </p:nvSpPr>
        <p:spPr>
          <a:xfrm>
            <a:off x="862885" y="0"/>
            <a:ext cx="10085761" cy="476519"/>
          </a:xfrm>
          <a:prstGeom prst="rect">
            <a:avLst/>
          </a:prstGeom>
        </p:spPr>
        <p:txBody>
          <a:bodyPr>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dirty="0">
                <a:latin typeface="Times New Roman" panose="02020603050405020304" pitchFamily="18" charset="0"/>
                <a:cs typeface="Times New Roman" panose="02020603050405020304" pitchFamily="18" charset="0"/>
              </a:rPr>
              <a:t>                                      4.1 Pseudocode</a:t>
            </a:r>
            <a:endParaRPr lang="en-IN"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661A1C2-4D3B-6715-01F6-36158CEAB156}"/>
              </a:ext>
            </a:extLst>
          </p:cNvPr>
          <p:cNvSpPr txBox="1"/>
          <p:nvPr/>
        </p:nvSpPr>
        <p:spPr>
          <a:xfrm>
            <a:off x="296214" y="115910"/>
            <a:ext cx="11294774" cy="6727428"/>
          </a:xfrm>
          <a:prstGeom prst="rect">
            <a:avLst/>
          </a:prstGeom>
          <a:noFill/>
        </p:spPr>
        <p:txBody>
          <a:bodyPr wrap="square">
            <a:spAutoFit/>
          </a:bodyPr>
          <a:lstStyle/>
          <a:p>
            <a:r>
              <a:rPr lang="en-US" dirty="0"/>
              <a:t>START</a:t>
            </a:r>
          </a:p>
          <a:p>
            <a:r>
              <a:rPr lang="en-US" dirty="0"/>
              <a:t>1. Import required libraries</a:t>
            </a:r>
          </a:p>
          <a:p>
            <a:r>
              <a:rPr lang="en-US" dirty="0"/>
              <a:t>a. Data preprocessing tools</a:t>
            </a:r>
          </a:p>
          <a:p>
            <a:r>
              <a:rPr lang="en-US" dirty="0"/>
              <a:t>b. Deep learning + GNN modules</a:t>
            </a:r>
          </a:p>
          <a:p>
            <a:r>
              <a:rPr lang="en-US" dirty="0"/>
              <a:t>2. Load traffic dataset</a:t>
            </a:r>
          </a:p>
          <a:p>
            <a:r>
              <a:rPr lang="en-US" dirty="0"/>
              <a:t>a. Read traffic speed/sensor data</a:t>
            </a:r>
          </a:p>
          <a:p>
            <a:r>
              <a:rPr lang="en-US" dirty="0"/>
              <a:t>b. Load road network and split into train/test</a:t>
            </a:r>
          </a:p>
          <a:p>
            <a:r>
              <a:rPr lang="en-US" dirty="0"/>
              <a:t>3. Preprocess data</a:t>
            </a:r>
          </a:p>
          <a:p>
            <a:r>
              <a:rPr lang="en-US" dirty="0"/>
              <a:t>a. Clean missing values</a:t>
            </a:r>
          </a:p>
          <a:p>
            <a:r>
              <a:rPr lang="en-US" dirty="0"/>
              <a:t>b. Convert to time-series format</a:t>
            </a:r>
          </a:p>
          <a:p>
            <a:r>
              <a:rPr lang="en-US" dirty="0"/>
              <a:t>c. Generate features &amp; normalize</a:t>
            </a:r>
          </a:p>
          <a:p>
            <a:r>
              <a:rPr lang="en-US" dirty="0"/>
              <a:t>4. Build road-network graph</a:t>
            </a:r>
          </a:p>
          <a:p>
            <a:r>
              <a:rPr lang="en-US" dirty="0"/>
              <a:t>a. Create nodes and edges</a:t>
            </a:r>
          </a:p>
          <a:p>
            <a:r>
              <a:rPr lang="en-US" dirty="0"/>
              <a:t>b. Form adjacency matrix</a:t>
            </a:r>
          </a:p>
          <a:p>
            <a:r>
              <a:rPr lang="en-US" dirty="0"/>
              <a:t>5. Define </a:t>
            </a:r>
            <a:r>
              <a:rPr lang="en-US" dirty="0" err="1"/>
              <a:t>Spatio</a:t>
            </a:r>
            <a:r>
              <a:rPr lang="en-US" dirty="0"/>
              <a:t>-Temporal GNN model</a:t>
            </a:r>
          </a:p>
          <a:p>
            <a:r>
              <a:rPr lang="en-US" dirty="0"/>
              <a:t>a. GNN for spatial patterns</a:t>
            </a:r>
          </a:p>
          <a:p>
            <a:r>
              <a:rPr lang="en-US" dirty="0"/>
              <a:t>b. GRU/LSTM for temporal patterns</a:t>
            </a:r>
          </a:p>
          <a:p>
            <a:r>
              <a:rPr lang="en-US" dirty="0"/>
              <a:t>6. Train the model</a:t>
            </a:r>
          </a:p>
          <a:p>
            <a:r>
              <a:rPr lang="en-US" dirty="0"/>
              <a:t>a. Feed graph data</a:t>
            </a:r>
          </a:p>
          <a:p>
            <a:r>
              <a:rPr lang="en-US" dirty="0"/>
              <a:t>b. Compute loss &amp; update weights</a:t>
            </a:r>
          </a:p>
          <a:p>
            <a:r>
              <a:rPr lang="en-US" dirty="0"/>
              <a:t>7. Evaluate model</a:t>
            </a:r>
          </a:p>
          <a:p>
            <a:r>
              <a:rPr lang="en-US" dirty="0"/>
              <a:t>a. Predict on test data</a:t>
            </a:r>
          </a:p>
          <a:p>
            <a:r>
              <a:rPr lang="en-US" dirty="0"/>
              <a:t>b. Calculate MAE/RMSE metrics</a:t>
            </a:r>
          </a:p>
          <a:p>
            <a:r>
              <a:rPr lang="en-US" dirty="0"/>
              <a:t>END</a:t>
            </a:r>
          </a:p>
        </p:txBody>
      </p:sp>
    </p:spTree>
    <p:extLst>
      <p:ext uri="{BB962C8B-B14F-4D97-AF65-F5344CB8AC3E}">
        <p14:creationId xmlns:p14="http://schemas.microsoft.com/office/powerpoint/2010/main" val="1985442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23605-81C9-CA56-7395-6CA262FEE84A}"/>
              </a:ext>
            </a:extLst>
          </p:cNvPr>
          <p:cNvSpPr txBox="1"/>
          <p:nvPr/>
        </p:nvSpPr>
        <p:spPr>
          <a:xfrm>
            <a:off x="634181" y="0"/>
            <a:ext cx="10736872" cy="400110"/>
          </a:xfrm>
          <a:prstGeom prst="rect">
            <a:avLst/>
          </a:prstGeom>
          <a:noFill/>
        </p:spPr>
        <p:txBody>
          <a:bodyPr wrap="square">
            <a:spAutoFit/>
          </a:bodyPr>
          <a:lstStyle/>
          <a:p>
            <a:pPr algn="ctr"/>
            <a:r>
              <a:rPr lang="en-US" sz="2000" b="1" dirty="0">
                <a:effectLst/>
                <a:latin typeface="Times New Roman" panose="02020603050405020304" pitchFamily="18" charset="0"/>
                <a:ea typeface="Times New Roman" panose="02020603050405020304" pitchFamily="18" charset="0"/>
              </a:rPr>
              <a:t>Table 4.1: </a:t>
            </a:r>
            <a:r>
              <a:rPr lang="en-US" sz="2000" dirty="0">
                <a:effectLst/>
                <a:latin typeface="Times New Roman" panose="02020603050405020304" pitchFamily="18" charset="0"/>
                <a:ea typeface="Times New Roman" panose="02020603050405020304" pitchFamily="18" charset="0"/>
              </a:rPr>
              <a:t>Dataset Attributes Summary</a:t>
            </a:r>
            <a:endParaRPr lang="en-IN" sz="2000" dirty="0"/>
          </a:p>
        </p:txBody>
      </p:sp>
      <p:graphicFrame>
        <p:nvGraphicFramePr>
          <p:cNvPr id="4" name="Table 3">
            <a:extLst>
              <a:ext uri="{FF2B5EF4-FFF2-40B4-BE49-F238E27FC236}">
                <a16:creationId xmlns:a16="http://schemas.microsoft.com/office/drawing/2014/main" id="{34C29FBB-A0F6-EAB5-E44A-5B358514A6D5}"/>
              </a:ext>
            </a:extLst>
          </p:cNvPr>
          <p:cNvGraphicFramePr>
            <a:graphicFrameLocks noGrp="1"/>
          </p:cNvGraphicFramePr>
          <p:nvPr>
            <p:extLst>
              <p:ext uri="{D42A27DB-BD31-4B8C-83A1-F6EECF244321}">
                <p14:modId xmlns:p14="http://schemas.microsoft.com/office/powerpoint/2010/main" val="3301745320"/>
              </p:ext>
            </p:extLst>
          </p:nvPr>
        </p:nvGraphicFramePr>
        <p:xfrm>
          <a:off x="2032000" y="719666"/>
          <a:ext cx="8128000" cy="24942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82195945"/>
                    </a:ext>
                  </a:extLst>
                </a:gridCol>
                <a:gridCol w="4064000">
                  <a:extLst>
                    <a:ext uri="{9D8B030D-6E8A-4147-A177-3AD203B41FA5}">
                      <a16:colId xmlns:a16="http://schemas.microsoft.com/office/drawing/2014/main" val="4024462057"/>
                    </a:ext>
                  </a:extLst>
                </a:gridCol>
              </a:tblGrid>
              <a:tr h="370840">
                <a:tc>
                  <a:txBody>
                    <a:bodyPr/>
                    <a:lstStyle/>
                    <a:p>
                      <a:r>
                        <a:rPr lang="en-US" dirty="0"/>
                        <a:t>Attribute</a:t>
                      </a:r>
                      <a:endParaRPr lang="en-IN" dirty="0"/>
                    </a:p>
                  </a:txBody>
                  <a:tcPr/>
                </a:tc>
                <a:tc>
                  <a:txBody>
                    <a:bodyPr/>
                    <a:lstStyle/>
                    <a:p>
                      <a:r>
                        <a:rPr lang="en-US" dirty="0"/>
                        <a:t>Description</a:t>
                      </a:r>
                      <a:endParaRPr lang="en-IN" dirty="0"/>
                    </a:p>
                  </a:txBody>
                  <a:tcPr/>
                </a:tc>
                <a:extLst>
                  <a:ext uri="{0D108BD9-81ED-4DB2-BD59-A6C34878D82A}">
                    <a16:rowId xmlns:a16="http://schemas.microsoft.com/office/drawing/2014/main" val="1591180913"/>
                  </a:ext>
                </a:extLst>
              </a:tr>
              <a:tr h="370840">
                <a:tc>
                  <a:txBody>
                    <a:bodyPr/>
                    <a:lstStyle/>
                    <a:p>
                      <a:r>
                        <a:rPr lang="en-US" dirty="0"/>
                        <a:t>timestamp</a:t>
                      </a:r>
                      <a:endParaRPr lang="en-IN" dirty="0"/>
                    </a:p>
                  </a:txBody>
                  <a:tcPr/>
                </a:tc>
                <a:tc>
                  <a:txBody>
                    <a:bodyPr/>
                    <a:lstStyle/>
                    <a:p>
                      <a:r>
                        <a:rPr lang="en-US" dirty="0"/>
                        <a:t>Time of traffic record</a:t>
                      </a:r>
                      <a:endParaRPr lang="en-IN" dirty="0"/>
                    </a:p>
                  </a:txBody>
                  <a:tcPr/>
                </a:tc>
                <a:extLst>
                  <a:ext uri="{0D108BD9-81ED-4DB2-BD59-A6C34878D82A}">
                    <a16:rowId xmlns:a16="http://schemas.microsoft.com/office/drawing/2014/main" val="2772161403"/>
                  </a:ext>
                </a:extLst>
              </a:tr>
              <a:tr h="370840">
                <a:tc>
                  <a:txBody>
                    <a:bodyPr/>
                    <a:lstStyle/>
                    <a:p>
                      <a:r>
                        <a:rPr lang="en-US" dirty="0"/>
                        <a:t>Road Segment ID</a:t>
                      </a:r>
                      <a:endParaRPr lang="en-IN" dirty="0"/>
                    </a:p>
                  </a:txBody>
                  <a:tcPr/>
                </a:tc>
                <a:tc>
                  <a:txBody>
                    <a:bodyPr/>
                    <a:lstStyle/>
                    <a:p>
                      <a:r>
                        <a:rPr lang="en-US" dirty="0"/>
                        <a:t>Unique ID representing each road segment</a:t>
                      </a:r>
                      <a:endParaRPr lang="en-IN" dirty="0"/>
                    </a:p>
                  </a:txBody>
                  <a:tcPr/>
                </a:tc>
                <a:extLst>
                  <a:ext uri="{0D108BD9-81ED-4DB2-BD59-A6C34878D82A}">
                    <a16:rowId xmlns:a16="http://schemas.microsoft.com/office/drawing/2014/main" val="914576727"/>
                  </a:ext>
                </a:extLst>
              </a:tr>
              <a:tr h="370840">
                <a:tc>
                  <a:txBody>
                    <a:bodyPr/>
                    <a:lstStyle/>
                    <a:p>
                      <a:r>
                        <a:rPr lang="en-US" dirty="0"/>
                        <a:t>Speed/Travel Time</a:t>
                      </a:r>
                      <a:endParaRPr lang="en-IN" dirty="0"/>
                    </a:p>
                  </a:txBody>
                  <a:tcPr/>
                </a:tc>
                <a:tc>
                  <a:txBody>
                    <a:bodyPr/>
                    <a:lstStyle/>
                    <a:p>
                      <a:r>
                        <a:rPr lang="en-US" dirty="0"/>
                        <a:t>Average vehicle speed or travel time</a:t>
                      </a:r>
                      <a:endParaRPr lang="en-IN" dirty="0"/>
                    </a:p>
                  </a:txBody>
                  <a:tcPr/>
                </a:tc>
                <a:extLst>
                  <a:ext uri="{0D108BD9-81ED-4DB2-BD59-A6C34878D82A}">
                    <a16:rowId xmlns:a16="http://schemas.microsoft.com/office/drawing/2014/main" val="3677209980"/>
                  </a:ext>
                </a:extLst>
              </a:tr>
              <a:tr h="370840">
                <a:tc>
                  <a:txBody>
                    <a:bodyPr/>
                    <a:lstStyle/>
                    <a:p>
                      <a:r>
                        <a:rPr lang="en-US" dirty="0"/>
                        <a:t>Latitude &amp; Longitude</a:t>
                      </a:r>
                      <a:endParaRPr lang="en-IN" dirty="0"/>
                    </a:p>
                  </a:txBody>
                  <a:tcPr/>
                </a:tc>
                <a:tc>
                  <a:txBody>
                    <a:bodyPr/>
                    <a:lstStyle/>
                    <a:p>
                      <a:r>
                        <a:rPr lang="en-US" dirty="0"/>
                        <a:t>GPS location of the road segment</a:t>
                      </a:r>
                      <a:endParaRPr lang="en-IN" dirty="0"/>
                    </a:p>
                  </a:txBody>
                  <a:tcPr/>
                </a:tc>
                <a:extLst>
                  <a:ext uri="{0D108BD9-81ED-4DB2-BD59-A6C34878D82A}">
                    <a16:rowId xmlns:a16="http://schemas.microsoft.com/office/drawing/2014/main" val="3247832525"/>
                  </a:ext>
                </a:extLst>
              </a:tr>
              <a:tr h="370840">
                <a:tc>
                  <a:txBody>
                    <a:bodyPr/>
                    <a:lstStyle/>
                    <a:p>
                      <a:r>
                        <a:rPr lang="en-US" dirty="0"/>
                        <a:t>Connectivity info</a:t>
                      </a:r>
                      <a:endParaRPr lang="en-IN" dirty="0"/>
                    </a:p>
                  </a:txBody>
                  <a:tcPr/>
                </a:tc>
                <a:tc>
                  <a:txBody>
                    <a:bodyPr/>
                    <a:lstStyle/>
                    <a:p>
                      <a:r>
                        <a:rPr lang="en-US" dirty="0"/>
                        <a:t>Link to neighboring segment</a:t>
                      </a:r>
                      <a:endParaRPr lang="en-IN" dirty="0"/>
                    </a:p>
                  </a:txBody>
                  <a:tcPr/>
                </a:tc>
                <a:extLst>
                  <a:ext uri="{0D108BD9-81ED-4DB2-BD59-A6C34878D82A}">
                    <a16:rowId xmlns:a16="http://schemas.microsoft.com/office/drawing/2014/main" val="3139928055"/>
                  </a:ext>
                </a:extLst>
              </a:tr>
            </a:tbl>
          </a:graphicData>
        </a:graphic>
      </p:graphicFrame>
    </p:spTree>
    <p:extLst>
      <p:ext uri="{BB962C8B-B14F-4D97-AF65-F5344CB8AC3E}">
        <p14:creationId xmlns:p14="http://schemas.microsoft.com/office/powerpoint/2010/main" val="1394069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7EA55-F0DC-AEEF-FC1C-D3A739CECED9}"/>
              </a:ext>
            </a:extLst>
          </p:cNvPr>
          <p:cNvSpPr>
            <a:spLocks noGrp="1"/>
          </p:cNvSpPr>
          <p:nvPr>
            <p:ph type="title"/>
          </p:nvPr>
        </p:nvSpPr>
        <p:spPr>
          <a:xfrm>
            <a:off x="1061884" y="634180"/>
            <a:ext cx="10093796" cy="530943"/>
          </a:xfrm>
        </p:spPr>
        <p:txBody>
          <a:bodyPr>
            <a:normAutofit fontScale="90000"/>
          </a:bodyPr>
          <a:lstStyle/>
          <a:p>
            <a:r>
              <a:rPr lang="en-US" dirty="0">
                <a:latin typeface="Times New Roman" panose="02020603050405020304" pitchFamily="18" charset="0"/>
                <a:cs typeface="Times New Roman" panose="02020603050405020304" pitchFamily="18" charset="0"/>
              </a:rPr>
              <a:t>5. Testing / Validation</a:t>
            </a:r>
            <a:endParaRPr lang="en-IN" dirty="0"/>
          </a:p>
        </p:txBody>
      </p:sp>
      <p:sp>
        <p:nvSpPr>
          <p:cNvPr id="4" name="TextBox 3">
            <a:extLst>
              <a:ext uri="{FF2B5EF4-FFF2-40B4-BE49-F238E27FC236}">
                <a16:creationId xmlns:a16="http://schemas.microsoft.com/office/drawing/2014/main" id="{1A6E6D31-83E5-D45F-371E-31DFF4F36FF0}"/>
              </a:ext>
            </a:extLst>
          </p:cNvPr>
          <p:cNvSpPr txBox="1"/>
          <p:nvPr/>
        </p:nvSpPr>
        <p:spPr>
          <a:xfrm>
            <a:off x="545690" y="1784555"/>
            <a:ext cx="9881420" cy="3785652"/>
          </a:xfrm>
          <a:prstGeom prst="rect">
            <a:avLst/>
          </a:prstGeom>
          <a:noFill/>
        </p:spPr>
        <p:txBody>
          <a:bodyPr wrap="square">
            <a:spAutoFit/>
          </a:bodyPr>
          <a:lstStyle/>
          <a:p>
            <a:pPr marL="342900" indent="-342900">
              <a:buFont typeface="Wingdings" pitchFamily="2" charset="2"/>
              <a:buChar char="Ø"/>
            </a:pPr>
            <a:r>
              <a:rPr lang="en-US" sz="2000" dirty="0"/>
              <a:t>Test data was processed using the same cleaning, feature extraction, and graph-building steps as training data.</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The trained GNN model was evaluated on unseen traffic samples to check real-world performance.</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Prediction results were compared with actual traffic values to measure accuracy.</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Metrics such as MAE, RMSE, and MAPE were calculated for validation.</a:t>
            </a:r>
          </a:p>
          <a:p>
            <a:pPr marL="342900" indent="-342900">
              <a:buFont typeface="Wingdings" pitchFamily="2" charset="2"/>
              <a:buChar char="Ø"/>
            </a:pPr>
            <a:endParaRPr lang="en-US" sz="2000" dirty="0"/>
          </a:p>
          <a:p>
            <a:pPr marL="342900" indent="-342900">
              <a:buFont typeface="Wingdings" pitchFamily="2" charset="2"/>
              <a:buChar char="Ø"/>
            </a:pPr>
            <a:r>
              <a:rPr lang="en-US" sz="2000" dirty="0"/>
              <a:t>Results confirmed that the model produces stable and reliable traffic forecasts across different time intervals.</a:t>
            </a:r>
          </a:p>
        </p:txBody>
      </p:sp>
    </p:spTree>
    <p:extLst>
      <p:ext uri="{BB962C8B-B14F-4D97-AF65-F5344CB8AC3E}">
        <p14:creationId xmlns:p14="http://schemas.microsoft.com/office/powerpoint/2010/main" val="386676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99C1-24BD-BC91-67E3-6B0EEFAFC316}"/>
              </a:ext>
            </a:extLst>
          </p:cNvPr>
          <p:cNvSpPr>
            <a:spLocks noGrp="1"/>
          </p:cNvSpPr>
          <p:nvPr>
            <p:ph type="title"/>
          </p:nvPr>
        </p:nvSpPr>
        <p:spPr>
          <a:xfrm>
            <a:off x="1097280" y="286604"/>
            <a:ext cx="10058400" cy="893268"/>
          </a:xfrm>
        </p:spPr>
        <p:txBody>
          <a:bodyPr/>
          <a:lstStyle/>
          <a:p>
            <a:r>
              <a:rPr lang="en-US" dirty="0">
                <a:latin typeface="Times New Roman" panose="02020603050405020304" pitchFamily="18" charset="0"/>
                <a:cs typeface="Times New Roman" panose="02020603050405020304" pitchFamily="18" charset="0"/>
              </a:rPr>
              <a:t>6. Results and Analysis</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FB2990D-A649-F1C5-B767-90861D4D2474}"/>
              </a:ext>
            </a:extLst>
          </p:cNvPr>
          <p:cNvSpPr txBox="1"/>
          <p:nvPr/>
        </p:nvSpPr>
        <p:spPr>
          <a:xfrm>
            <a:off x="1097280" y="2957433"/>
            <a:ext cx="10267406" cy="2862322"/>
          </a:xfrm>
          <a:prstGeom prst="rect">
            <a:avLst/>
          </a:prstGeom>
          <a:noFill/>
        </p:spPr>
        <p:txBody>
          <a:bodyPr wrap="square">
            <a:spAutoFit/>
          </a:bodyPr>
          <a:lstStyle/>
          <a:p>
            <a:r>
              <a:rPr lang="en-IN" dirty="0"/>
              <a:t>The GNN-based model accurately predicted traffic speed and congestion across multiple road segments.</a:t>
            </a:r>
          </a:p>
          <a:p>
            <a:endParaRPr lang="en-IN" dirty="0"/>
          </a:p>
          <a:p>
            <a:r>
              <a:rPr lang="en-IN" dirty="0"/>
              <a:t>Achieved strong performance with low MAE, RMSE, and MAPE, showing high prediction reliability.</a:t>
            </a:r>
          </a:p>
          <a:p>
            <a:endParaRPr lang="en-IN" dirty="0"/>
          </a:p>
          <a:p>
            <a:r>
              <a:rPr lang="en-IN" dirty="0"/>
              <a:t>The model captured both spatial patterns (road connectivity) and temporal trends (rush hours, daily cycles).</a:t>
            </a:r>
          </a:p>
          <a:p>
            <a:endParaRPr lang="en-IN" dirty="0"/>
          </a:p>
          <a:p>
            <a:r>
              <a:rPr lang="en-IN" dirty="0"/>
              <a:t>Outperformed traditional models like ARIMA, SVR, and LSTM in both accuracy and stability.</a:t>
            </a:r>
          </a:p>
          <a:p>
            <a:endParaRPr lang="en-IN" dirty="0"/>
          </a:p>
          <a:p>
            <a:r>
              <a:rPr lang="en-IN" dirty="0"/>
              <a:t>Visualization of predicted vs actual traffic showed close alignment, confirming effective learning of traffic </a:t>
            </a:r>
            <a:r>
              <a:rPr lang="en-IN" dirty="0" err="1"/>
              <a:t>behavior</a:t>
            </a:r>
            <a:r>
              <a:rPr lang="en-IN" dirty="0"/>
              <a:t>.</a:t>
            </a:r>
          </a:p>
        </p:txBody>
      </p:sp>
    </p:spTree>
    <p:extLst>
      <p:ext uri="{BB962C8B-B14F-4D97-AF65-F5344CB8AC3E}">
        <p14:creationId xmlns:p14="http://schemas.microsoft.com/office/powerpoint/2010/main" val="2573763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FBBE5-9417-C8B9-93E6-34D6979BA80E}"/>
              </a:ext>
            </a:extLst>
          </p:cNvPr>
          <p:cNvSpPr>
            <a:spLocks noGrp="1"/>
          </p:cNvSpPr>
          <p:nvPr>
            <p:ph type="title"/>
          </p:nvPr>
        </p:nvSpPr>
        <p:spPr>
          <a:xfrm>
            <a:off x="1097280" y="286604"/>
            <a:ext cx="10058400" cy="745784"/>
          </a:xfrm>
        </p:spPr>
        <p:txBody>
          <a:bodyPr/>
          <a:lstStyle/>
          <a:p>
            <a:r>
              <a:rPr lang="en-US" dirty="0">
                <a:latin typeface="Times New Roman" panose="02020603050405020304" pitchFamily="18" charset="0"/>
                <a:cs typeface="Times New Roman" panose="02020603050405020304" pitchFamily="18" charset="0"/>
              </a:rPr>
              <a:t>7. Challenges and Solutions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6DD06-CEDB-54B7-AAC9-F9E156F06E78}"/>
              </a:ext>
            </a:extLst>
          </p:cNvPr>
          <p:cNvSpPr txBox="1">
            <a:spLocks/>
          </p:cNvSpPr>
          <p:nvPr/>
        </p:nvSpPr>
        <p:spPr>
          <a:xfrm>
            <a:off x="-943897" y="1940625"/>
            <a:ext cx="13421031" cy="402336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Handling large and unstructured traffic data from multiple sources (Google Maps, GPS, sensors) was challenging; this was solved by applying automated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cleaning, and time-series normalization tools.</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Missing values and inconsistent traffic readings caused unreliable inputs; applying smoothing, interpolation, and proper data cleaning restored data quality and stability.</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Building a complex road-network graph with thousands of connected segments was difficult; constructing adjacency matrices and using OSM-based graph extraction helped create a reliable network structure.</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Traditional models failed to capture both spatial and temporal dependencies; implementing a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GNN improved learning of traffic flow patterns.</a:t>
            </a:r>
          </a:p>
          <a:p>
            <a:pPr marL="1471400" lvl="8" indent="0" algn="just">
              <a:lnSpc>
                <a:spcPct val="100000"/>
              </a:lnSpc>
              <a:buNone/>
            </a:pPr>
            <a:r>
              <a:rPr lang="en-IN" sz="2000" dirty="0">
                <a:latin typeface="Times New Roman" panose="02020603050405020304" pitchFamily="18" charset="0"/>
                <a:cs typeface="Times New Roman" panose="02020603050405020304" pitchFamily="18" charset="0"/>
              </a:rPr>
              <a:t>★ Overcoming these challenges enhanced practical skills in data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graph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 deep learning, and real-time traffic prediction workflows.</a:t>
            </a:r>
          </a:p>
        </p:txBody>
      </p:sp>
    </p:spTree>
    <p:extLst>
      <p:ext uri="{BB962C8B-B14F-4D97-AF65-F5344CB8AC3E}">
        <p14:creationId xmlns:p14="http://schemas.microsoft.com/office/powerpoint/2010/main" val="2226376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2F93-46B3-3427-ABD7-B57CC0AC54C8}"/>
              </a:ext>
            </a:extLst>
          </p:cNvPr>
          <p:cNvSpPr>
            <a:spLocks noGrp="1"/>
          </p:cNvSpPr>
          <p:nvPr>
            <p:ph type="title"/>
          </p:nvPr>
        </p:nvSpPr>
        <p:spPr>
          <a:xfrm>
            <a:off x="1097280" y="286603"/>
            <a:ext cx="10058400" cy="790029"/>
          </a:xfrm>
        </p:spPr>
        <p:txBody>
          <a:bodyPr/>
          <a:lstStyle/>
          <a:p>
            <a:r>
              <a:rPr lang="en-US" dirty="0">
                <a:latin typeface="Times New Roman" panose="02020603050405020304" pitchFamily="18" charset="0"/>
                <a:cs typeface="Times New Roman" panose="02020603050405020304" pitchFamily="18" charset="0"/>
              </a:rPr>
              <a:t>8. Conclusion and Future Scope</a:t>
            </a:r>
            <a:endParaRPr lang="en-IN" dirty="0"/>
          </a:p>
        </p:txBody>
      </p:sp>
      <p:sp>
        <p:nvSpPr>
          <p:cNvPr id="5" name="TextBox 4">
            <a:extLst>
              <a:ext uri="{FF2B5EF4-FFF2-40B4-BE49-F238E27FC236}">
                <a16:creationId xmlns:a16="http://schemas.microsoft.com/office/drawing/2014/main" id="{89FA55AE-3A9C-0C7F-316B-93A4F56ACB13}"/>
              </a:ext>
            </a:extLst>
          </p:cNvPr>
          <p:cNvSpPr txBox="1"/>
          <p:nvPr/>
        </p:nvSpPr>
        <p:spPr>
          <a:xfrm>
            <a:off x="235974" y="1209368"/>
            <a:ext cx="11956026" cy="4955203"/>
          </a:xfrm>
          <a:prstGeom prst="rect">
            <a:avLst/>
          </a:prstGeom>
          <a:noFill/>
        </p:spPr>
        <p:txBody>
          <a:bodyPr wrap="square">
            <a:spAutoFit/>
          </a:bodyPr>
          <a:lstStyle/>
          <a:p>
            <a:endParaRPr lang="en-US" dirty="0"/>
          </a:p>
          <a:p>
            <a:endParaRPr lang="en-US" dirty="0"/>
          </a:p>
          <a:p>
            <a:r>
              <a:rPr lang="en-US" sz="2000" dirty="0"/>
              <a:t>★ The internship provided valuable experience in data analytics, traffic modeling, and deep learning, leading to the successful development of a GNN-based traffic prediction system for smart cities.</a:t>
            </a:r>
          </a:p>
          <a:p>
            <a:endParaRPr lang="en-US" sz="2000" dirty="0"/>
          </a:p>
          <a:p>
            <a:r>
              <a:rPr lang="en-US" sz="2000" dirty="0"/>
              <a:t>★ The project improved skills in traffic data preprocessing, graph construction, </a:t>
            </a:r>
            <a:r>
              <a:rPr lang="en-US" sz="2000" dirty="0" err="1"/>
              <a:t>spatio</a:t>
            </a:r>
            <a:r>
              <a:rPr lang="en-US" sz="2000" dirty="0"/>
              <a:t>-temporal modeling, and real-time prediction using tools like Python, </a:t>
            </a:r>
            <a:r>
              <a:rPr lang="en-US" sz="2000" dirty="0" err="1"/>
              <a:t>PyTorch</a:t>
            </a:r>
            <a:r>
              <a:rPr lang="en-US" sz="2000" dirty="0"/>
              <a:t>, and GPU acceleration.</a:t>
            </a:r>
          </a:p>
          <a:p>
            <a:endParaRPr lang="en-US" sz="2000" dirty="0"/>
          </a:p>
          <a:p>
            <a:r>
              <a:rPr lang="en-US" sz="2000" dirty="0"/>
              <a:t>★ Results showed that combining deep learning with graph-based representations significantly enhances the accuracy of traffic forecasting across connected road segments.</a:t>
            </a:r>
          </a:p>
          <a:p>
            <a:endParaRPr lang="en-US" sz="2000" dirty="0"/>
          </a:p>
          <a:p>
            <a:r>
              <a:rPr lang="en-US" sz="2000" dirty="0"/>
              <a:t>★ Future scope includes integrating real-time data streaming, deploying the model for live traffic dashboards, and exploring transformer/attention-based models to further improve prediction quality.</a:t>
            </a:r>
          </a:p>
          <a:p>
            <a:endParaRPr lang="en-US" sz="2000" dirty="0"/>
          </a:p>
          <a:p>
            <a:r>
              <a:rPr lang="en-US" sz="2000" dirty="0"/>
              <a:t>★ Expanding the dataset with more diverse traffic conditions, peak-hour variations, and additional external factors (weather, events) will increase the system’s reliability and robustness.</a:t>
            </a:r>
          </a:p>
        </p:txBody>
      </p:sp>
    </p:spTree>
    <p:extLst>
      <p:ext uri="{BB962C8B-B14F-4D97-AF65-F5344CB8AC3E}">
        <p14:creationId xmlns:p14="http://schemas.microsoft.com/office/powerpoint/2010/main" val="602988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834" y="-165370"/>
            <a:ext cx="10610931" cy="111868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09DA4C9-D6E4-C83D-2437-AD1AD4DA9B0E}"/>
              </a:ext>
            </a:extLst>
          </p:cNvPr>
          <p:cNvSpPr>
            <a:spLocks noGrp="1"/>
          </p:cNvSpPr>
          <p:nvPr>
            <p:ph idx="1"/>
          </p:nvPr>
        </p:nvSpPr>
        <p:spPr>
          <a:xfrm>
            <a:off x="194553" y="953311"/>
            <a:ext cx="11204320" cy="5375393"/>
          </a:xfrm>
        </p:spPr>
        <p:txBody>
          <a:bodyPr>
            <a:noAutofit/>
          </a:bodyPr>
          <a:lstStyle/>
          <a:p>
            <a:pPr marL="0" lvl="0" indent="0" algn="just">
              <a:lnSpc>
                <a:spcPct val="120000"/>
              </a:lnSpc>
              <a:buNone/>
            </a:pPr>
            <a:endParaRPr lang="en-IN" sz="1400" dirty="0">
              <a:latin typeface="Times New Roman" panose="02020603050405020304" pitchFamily="18" charset="0"/>
              <a:cs typeface="Times New Roman" panose="02020603050405020304" pitchFamily="18" charset="0"/>
            </a:endParaRPr>
          </a:p>
          <a:p>
            <a:pPr algn="just">
              <a:lnSpc>
                <a:spcPct val="120000"/>
              </a:lnSpc>
            </a:pP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27C158F-1457-27F1-AF22-177AB966345C}"/>
              </a:ext>
            </a:extLst>
          </p:cNvPr>
          <p:cNvSpPr txBox="1"/>
          <p:nvPr/>
        </p:nvSpPr>
        <p:spPr>
          <a:xfrm>
            <a:off x="1894114" y="1775364"/>
            <a:ext cx="8406882" cy="3139321"/>
          </a:xfrm>
          <a:prstGeom prst="rect">
            <a:avLst/>
          </a:prstGeom>
          <a:noFill/>
        </p:spPr>
        <p:txBody>
          <a:bodyPr wrap="square">
            <a:spAutoFit/>
          </a:bodyPr>
          <a:lstStyle/>
          <a:p>
            <a:r>
              <a:rPr lang="en-IN" dirty="0"/>
              <a:t>Li, Y., Yu, R., Shahabi, C., &amp; Liu, Y. (2018).Diffusion Convolutional Recurrent Neural Network: Data-Driven Traffic </a:t>
            </a:r>
            <a:r>
              <a:rPr lang="en-IN" dirty="0" err="1"/>
              <a:t>Forecasting.Proceedings</a:t>
            </a:r>
            <a:r>
              <a:rPr lang="en-IN" dirty="0"/>
              <a:t> of ICLR.</a:t>
            </a:r>
          </a:p>
          <a:p>
            <a:endParaRPr lang="en-IN" dirty="0"/>
          </a:p>
          <a:p>
            <a:r>
              <a:rPr lang="en-IN" dirty="0"/>
              <a:t>2. Yu, B., Yin, H., &amp; Zhu, Z. (2018).</a:t>
            </a:r>
            <a:r>
              <a:rPr lang="en-IN" dirty="0" err="1"/>
              <a:t>Spatio</a:t>
            </a:r>
            <a:r>
              <a:rPr lang="en-IN" dirty="0"/>
              <a:t>-Temporal Graph Convolutional Networks: A Deep Learning Framework for Traffic </a:t>
            </a:r>
            <a:r>
              <a:rPr lang="en-IN" dirty="0" err="1"/>
              <a:t>Forecasting.Proceedings</a:t>
            </a:r>
            <a:r>
              <a:rPr lang="en-IN" dirty="0"/>
              <a:t> of IJCAI.</a:t>
            </a:r>
          </a:p>
          <a:p>
            <a:endParaRPr lang="en-IN" dirty="0"/>
          </a:p>
          <a:p>
            <a:r>
              <a:rPr lang="en-IN" dirty="0"/>
              <a:t>3. Wu, Z., Pan, S., Long, G., Jiang, J., Chang, X., &amp; Zhang, C. (2020).Connecting the Dots: Multivariate Time Series Forecasting with Graph Neural </a:t>
            </a:r>
            <a:r>
              <a:rPr lang="en-IN" dirty="0" err="1"/>
              <a:t>Networks.ACM</a:t>
            </a:r>
            <a:r>
              <a:rPr lang="en-IN" dirty="0"/>
              <a:t> SIGKDD.</a:t>
            </a:r>
          </a:p>
          <a:p>
            <a:endParaRPr lang="en-IN" dirty="0"/>
          </a:p>
          <a:p>
            <a:r>
              <a:rPr lang="en-IN" dirty="0"/>
              <a:t>4. Zheng, C., Fan, X., Wang, C., &amp; Qi, J. (2020).GMAN: A Graph Multi-Attention Network for Traffic </a:t>
            </a:r>
            <a:r>
              <a:rPr lang="en-IN" dirty="0" err="1"/>
              <a:t>Prediction.Proceedings</a:t>
            </a:r>
            <a:r>
              <a:rPr lang="en-IN" dirty="0"/>
              <a:t> of AAAI.</a:t>
            </a:r>
          </a:p>
        </p:txBody>
      </p:sp>
    </p:spTree>
    <p:extLst>
      <p:ext uri="{BB962C8B-B14F-4D97-AF65-F5344CB8AC3E}">
        <p14:creationId xmlns:p14="http://schemas.microsoft.com/office/powerpoint/2010/main" val="2268787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31AA-EC22-EADA-2C53-5009DC8EF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68EC1-6C95-163B-6150-1BF2A82BC7E8}"/>
              </a:ext>
            </a:extLst>
          </p:cNvPr>
          <p:cNvSpPr>
            <a:spLocks noGrp="1"/>
          </p:cNvSpPr>
          <p:nvPr>
            <p:ph type="title"/>
          </p:nvPr>
        </p:nvSpPr>
        <p:spPr>
          <a:xfrm>
            <a:off x="1097280" y="1048603"/>
            <a:ext cx="10058400" cy="559431"/>
          </a:xfrm>
        </p:spPr>
        <p:txBody>
          <a:bodyPr>
            <a:normAutofit/>
          </a:bodyPr>
          <a:lstStyle/>
          <a:p>
            <a:r>
              <a:rPr lang="en-GB"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EAA6BF1-E726-30CC-BEC0-360C3F8A4EDD}"/>
              </a:ext>
            </a:extLst>
          </p:cNvPr>
          <p:cNvSpPr>
            <a:spLocks noGrp="1"/>
          </p:cNvSpPr>
          <p:nvPr>
            <p:ph idx="1"/>
          </p:nvPr>
        </p:nvSpPr>
        <p:spPr/>
        <p:txBody>
          <a:bodyPr/>
          <a:lstStyle/>
          <a:p>
            <a:endParaRPr lang="en-US"/>
          </a:p>
        </p:txBody>
      </p:sp>
      <p:sp>
        <p:nvSpPr>
          <p:cNvPr id="4" name="TextBox 3">
            <a:extLst>
              <a:ext uri="{FF2B5EF4-FFF2-40B4-BE49-F238E27FC236}">
                <a16:creationId xmlns:a16="http://schemas.microsoft.com/office/drawing/2014/main" id="{E158FB6E-C00A-62C0-79A5-577010599C74}"/>
              </a:ext>
            </a:extLst>
          </p:cNvPr>
          <p:cNvSpPr txBox="1"/>
          <p:nvPr/>
        </p:nvSpPr>
        <p:spPr>
          <a:xfrm>
            <a:off x="1726163" y="2136339"/>
            <a:ext cx="7420169" cy="3416320"/>
          </a:xfrm>
          <a:prstGeom prst="rect">
            <a:avLst/>
          </a:prstGeom>
          <a:noFill/>
        </p:spPr>
        <p:txBody>
          <a:bodyPr wrap="square">
            <a:spAutoFit/>
          </a:bodyPr>
          <a:lstStyle/>
          <a:p>
            <a:r>
              <a:rPr lang="en-IN" dirty="0"/>
              <a:t>5. Google Maps Platform </a:t>
            </a:r>
            <a:r>
              <a:rPr lang="en-IN" dirty="0" err="1"/>
              <a:t>Documentation.Traffic</a:t>
            </a:r>
            <a:r>
              <a:rPr lang="en-IN" dirty="0"/>
              <a:t> data, road network APIs, and real-time mobility insights.(Google Developers, 2024)</a:t>
            </a:r>
          </a:p>
          <a:p>
            <a:endParaRPr lang="en-IN" dirty="0"/>
          </a:p>
          <a:p>
            <a:r>
              <a:rPr lang="en-IN" dirty="0"/>
              <a:t>6. OpenStreetMap Contributors (2024).OSM Road Network Dataset and Documentation.</a:t>
            </a:r>
          </a:p>
          <a:p>
            <a:endParaRPr lang="en-IN" dirty="0"/>
          </a:p>
          <a:p>
            <a:r>
              <a:rPr lang="en-IN" dirty="0"/>
              <a:t>7. Pan, B., </a:t>
            </a:r>
            <a:r>
              <a:rPr lang="en-IN" dirty="0" err="1"/>
              <a:t>Demiryurek</a:t>
            </a:r>
            <a:r>
              <a:rPr lang="en-IN" dirty="0"/>
              <a:t>, U., &amp; Shahabi, C. (2012).Utilizing Real-Time Traffic Data for Traffic </a:t>
            </a:r>
            <a:r>
              <a:rPr lang="en-IN" dirty="0" err="1"/>
              <a:t>Forecasting.ACM</a:t>
            </a:r>
            <a:r>
              <a:rPr lang="en-IN" dirty="0"/>
              <a:t> SIGSPATIAL.</a:t>
            </a:r>
          </a:p>
          <a:p>
            <a:endParaRPr lang="en-IN" dirty="0"/>
          </a:p>
          <a:p>
            <a:r>
              <a:rPr lang="en-IN" dirty="0"/>
              <a:t>8. Fang, Z., Wang, P., Qian, X., &amp; Tang, J. (2021).Spatial–Temporal Graph Neural Networks for Traffic Flow Forecasting: A </a:t>
            </a:r>
            <a:r>
              <a:rPr lang="en-IN" dirty="0" err="1"/>
              <a:t>Survey.IEEE</a:t>
            </a:r>
            <a:r>
              <a:rPr lang="en-IN" dirty="0"/>
              <a:t> Transactions on Intelligent Transportation Systems.</a:t>
            </a:r>
          </a:p>
        </p:txBody>
      </p:sp>
    </p:spTree>
    <p:extLst>
      <p:ext uri="{BB962C8B-B14F-4D97-AF65-F5344CB8AC3E}">
        <p14:creationId xmlns:p14="http://schemas.microsoft.com/office/powerpoint/2010/main" val="4246870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6D903-EC6E-069B-D32C-4E654F0ADD2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Internship Completion Certificate</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6A9EDCA-08E5-16A0-D26B-CD71B9027F92}"/>
              </a:ext>
            </a:extLst>
          </p:cNvPr>
          <p:cNvPicPr>
            <a:picLocks noChangeAspect="1"/>
          </p:cNvPicPr>
          <p:nvPr/>
        </p:nvPicPr>
        <p:blipFill>
          <a:blip r:embed="rId2"/>
          <a:stretch>
            <a:fillRect/>
          </a:stretch>
        </p:blipFill>
        <p:spPr>
          <a:xfrm>
            <a:off x="1956881" y="1867709"/>
            <a:ext cx="8354438" cy="4359329"/>
          </a:xfrm>
          <a:prstGeom prst="rect">
            <a:avLst/>
          </a:prstGeom>
        </p:spPr>
      </p:pic>
    </p:spTree>
    <p:extLst>
      <p:ext uri="{BB962C8B-B14F-4D97-AF65-F5344CB8AC3E}">
        <p14:creationId xmlns:p14="http://schemas.microsoft.com/office/powerpoint/2010/main" val="22409862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380</TotalTime>
  <Words>2021</Words>
  <Application>Microsoft Office PowerPoint</Application>
  <PresentationFormat>Widescreen</PresentationFormat>
  <Paragraphs>177</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Google Sans Text</vt:lpstr>
      <vt:lpstr>Times New Roman</vt:lpstr>
      <vt:lpstr>Wingdings</vt:lpstr>
      <vt:lpstr>Retrospect</vt:lpstr>
      <vt:lpstr>STANLEY COLLEGE OF ENGINEERING AND TECHNOLGY FOR WOMEN (AUTONOMOUS) Abids. Hyderabad – 500 001</vt:lpstr>
      <vt:lpstr>PowerPoint Presentation</vt:lpstr>
      <vt:lpstr>Contents</vt:lpstr>
      <vt:lpstr>Abstract</vt:lpstr>
      <vt:lpstr>1. Problem Statement</vt:lpstr>
      <vt:lpstr>2. Background and Literature Review </vt:lpstr>
      <vt:lpstr>PowerPoint Presentation</vt:lpstr>
      <vt:lpstr>System Architecture</vt:lpstr>
      <vt:lpstr>PowerPoint Presentation</vt:lpstr>
      <vt:lpstr>4. Implementation and Execution</vt:lpstr>
      <vt:lpstr>PowerPoint Presentation</vt:lpstr>
      <vt:lpstr>PowerPoint Presentation</vt:lpstr>
      <vt:lpstr>5. Testing / Validation</vt:lpstr>
      <vt:lpstr>6. Results and Analysis</vt:lpstr>
      <vt:lpstr>7. Challenges and Solutions</vt:lpstr>
      <vt:lpstr>8. Conclusion and Future Scope</vt:lpstr>
      <vt:lpstr>References</vt:lpstr>
      <vt:lpstr>References</vt:lpstr>
      <vt:lpstr>Internship Completion Certificate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STANLEY COLLEGE OF ENGINEERING AND TECHNOLGY FOR WOMEN (AUTONOMOUS) , Abids. Hyderabad – 500 001</dc:title>
  <dc:creator>Microsoft account</dc:creator>
  <cp:lastModifiedBy>VIPPA KEERTHI</cp:lastModifiedBy>
  <cp:revision>6</cp:revision>
  <dcterms:created xsi:type="dcterms:W3CDTF">2025-11-09T15:30:20Z</dcterms:created>
  <dcterms:modified xsi:type="dcterms:W3CDTF">2025-11-14T18:30:10Z</dcterms:modified>
</cp:coreProperties>
</file>