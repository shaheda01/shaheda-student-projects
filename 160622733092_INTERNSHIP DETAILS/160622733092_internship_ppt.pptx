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HYbPf1BadGQMVU7pv0YVvc/9G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2C398-0C7A-4620-B81B-7B49DB8283A3}">
  <a:tblStyle styleId="{BD32C398-0C7A-4620-B81B-7B49DB8283A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about:blank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365887"/>
            <a:ext cx="9144000" cy="1818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STANLEY COLLEGE OF ENGINEERING AND TECHNOLGY FOR WOMEN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(AUTONOMOUS), Abids. Hyderabad - 500 001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(Affiliated to Osmania University &amp; Approved by AICTE)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(All eligible UG Courses are accredited by NBA &amp; Accredited by NAAC with 'A' Grade)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Department of CSE B.E in Computer Science and Engineering 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GB" sz="1600">
                <a:latin typeface="Times New Roman"/>
                <a:ea typeface="Times New Roman"/>
                <a:cs typeface="Times New Roman"/>
                <a:sym typeface="Times New Roman"/>
              </a:rPr>
              <a:t>Academic Year: 2024-2025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038254"/>
            <a:ext cx="9144000" cy="2009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Title : Counting Number of Boxes in a Warehouse using Computer Vision 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PRESENTED BY Praneethanjanee Karanam (160622733092)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Under the Guidance of  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B. Soujanya  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Assistant Professor And 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M. Sara Angeline 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Assistant Professor 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  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red sign with white text and a book and a crane&#10;&#10;AI-generated content may be incorrect.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9740" y="1968914"/>
            <a:ext cx="177165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b="1" lang="en-GB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Internship Details</a:t>
            </a:r>
            <a:endParaRPr/>
          </a:p>
        </p:txBody>
      </p:sp>
      <p:pic>
        <p:nvPicPr>
          <p:cNvPr descr="A white text with black text&#10;&#10;AI-generated content may be incorrect." id="93" name="Google Shape;93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2422" y="1718469"/>
            <a:ext cx="8504811" cy="499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Background and Literature / Technology Review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Planning and Design of Work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Implementation and Execution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Testing and Validation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Results and Analysis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Conclusion and Future Scope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Internship Certificates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Manual counting of boxes in warehouses is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time-consuming and error-prone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Errors lead to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stock mismatches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delays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financial losses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Develop an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automated box counting system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Computer Vision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System should: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Detect and count boxes from real-time video/images.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Reduce manual intervention.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Improve inventory accuracy and efficiency.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Supports Purview’s goal of 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AI-driven industrial automation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>
            <p:ph type="title"/>
          </p:nvPr>
        </p:nvSpPr>
        <p:spPr>
          <a:xfrm>
            <a:off x="475323" y="196109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lang="en-GB" sz="2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Background and Literature Review</a:t>
            </a:r>
            <a:endParaRPr/>
          </a:p>
        </p:txBody>
      </p:sp>
      <p:graphicFrame>
        <p:nvGraphicFramePr>
          <p:cNvPr id="116" name="Google Shape;116;p5"/>
          <p:cNvGraphicFramePr/>
          <p:nvPr/>
        </p:nvGraphicFramePr>
        <p:xfrm>
          <a:off x="3439297" y="4633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{BD32C398-0C7A-4620-B81B-7B49DB8283A3}</a:tableStyleId>
              </a:tblPr>
              <a:tblGrid>
                <a:gridCol w="524175"/>
                <a:gridCol w="2992350"/>
                <a:gridCol w="2661250"/>
                <a:gridCol w="2142700"/>
              </a:tblGrid>
              <a:tr h="41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/>
                    </a:p>
                  </a:txBody>
                  <a:tcPr marT="13625" marB="102125" marR="68075" marL="476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/ Source</a:t>
                      </a:r>
                      <a:endParaRPr/>
                    </a:p>
                  </a:txBody>
                  <a:tcPr marT="13625" marB="102125" marR="68075" marL="476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 / Finding</a:t>
                      </a:r>
                      <a:endParaRPr/>
                    </a:p>
                  </a:txBody>
                  <a:tcPr marT="13625" marB="102125" marR="68075" marL="476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Project</a:t>
                      </a:r>
                      <a:endParaRPr/>
                    </a:p>
                  </a:txBody>
                  <a:tcPr marT="13625" marB="102125" marR="68075" marL="476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YOLO: Unified Real-Time Object Detection (Redmon et al., 2016)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single-shot real-time object detection.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Foundation for real-time detection approach.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YOLOv8 Technical Docs (Jocher, Ultralytics, 2023)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Enhanced speed &amp; accuracy via anchor-free detection.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Guided model selection &amp; training process.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R-CNN (Ren et al., 2015)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Region Proposal Networks for high-precision detection.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for accuracy; slower than YOLO.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EfficientDet (Tan et al., 2019)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compound scaling for efficiency–accuracy trade-off.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Tested baseline; weaker in dense environments.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Detectron2 Framework (Facebook AI, 2021)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Modular framework supporting multiple detectors.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for architecture benchmarking.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for Warehouse Automation (Zhang et al., 2020)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 on AI in warehouse automation.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Supported industrial relevance of our work.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YOLOv5 in Industrial Automation (Ahmed et al., 2021)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real-time counting in production lines.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Provided YOLO-based comparative insights.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Study of Object Detection Algorithms (Patel &amp; Shah, 2022)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YOLO, SSD, R-CNN for industrial tasks.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Validated YOLOv8 suitability for cluttered setups.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Vision in Logistics Management (Singh et al., 2021)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CV to automate inventory verification.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Reinforced CV use for real-time inventory.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Counting using Deep CNNs (Kumar &amp; Das, 2022)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Implemented CNNs for package detection &amp; counting.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i="1" lang="en-GB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Inspired design of deep-learning counting logic.</a:t>
                      </a:r>
                      <a:endParaRPr/>
                    </a:p>
                  </a:txBody>
                  <a:tcPr marT="13625" marB="102125" marR="68075" marL="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lang="en-GB" sz="2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Technology Review</a:t>
            </a:r>
            <a:endParaRPr/>
          </a:p>
        </p:txBody>
      </p:sp>
      <p:graphicFrame>
        <p:nvGraphicFramePr>
          <p:cNvPr id="124" name="Google Shape;124;p6"/>
          <p:cNvGraphicFramePr/>
          <p:nvPr/>
        </p:nvGraphicFramePr>
        <p:xfrm>
          <a:off x="3789405" y="895864"/>
          <a:ext cx="3000000" cy="3000000"/>
        </p:xfrm>
        <a:graphic>
          <a:graphicData uri="http://schemas.openxmlformats.org/drawingml/2006/table">
            <a:tbl>
              <a:tblPr bandRow="1">
                <a:solidFill>
                  <a:srgbClr val="F2F2F2"/>
                </a:solidFill>
                <a:tableStyleId>{BD32C398-0C7A-4620-B81B-7B49DB8283A3}</a:tableStyleId>
              </a:tblPr>
              <a:tblGrid>
                <a:gridCol w="3070575"/>
                <a:gridCol w="4667575"/>
              </a:tblGrid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/ Tool</a:t>
                      </a:r>
                      <a:endParaRPr i="1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 / Use</a:t>
                      </a:r>
                      <a:endParaRPr i="1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3.x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Core programming language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YOLOv8 (Ultralytics)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object detection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OpenCV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and video processing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PyTorch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framework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Tkinter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 development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PIL (Pillow)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conversion for GUI display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5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Webcam</a:t>
                      </a:r>
                      <a:endParaRPr/>
                    </a:p>
                  </a:txBody>
                  <a:tcPr marT="30075" marB="225500" marR="150325" marL="105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i="1" lang="en-GB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Live video input</a:t>
                      </a:r>
                      <a:endParaRPr/>
                    </a:p>
                  </a:txBody>
                  <a:tcPr marT="30075" marB="225500" marR="150325" marL="105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and Design of Work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Internship Plan &amp; Timeline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6 Weeks (May–June 2025)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Week-wise Plan: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1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Problem study, research, tool setup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2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Dataset collection &amp; annotation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3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Model exploration (YOLOv8–11, RetinaNet)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4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YOLOv8 training &amp; tuning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GUI integration using Tkinter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Week 6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: Testing, documentation &amp; presentation preparation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639441" y="502020"/>
            <a:ext cx="5820671" cy="1642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Planning and Design of Work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471272" y="2405894"/>
            <a:ext cx="6485796" cy="39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Workflow of the System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Sequence of Development Phases: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captured warehouse images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Annotation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manual bounding boxes for YOLO format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Model Training &amp; Tuning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YOLOv8 fine-tuning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Testing &amp; Validation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evaluate precision, recall, mAP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GUI Integration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connect model with Tkinter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Result Visualization &amp; Analysis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→ display counts + save outputs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8"/>
          <p:cNvSpPr/>
          <p:nvPr/>
        </p:nvSpPr>
        <p:spPr>
          <a:xfrm flipH="1" rot="10800000">
            <a:off x="8123333" y="-5"/>
            <a:ext cx="4092521" cy="6858000"/>
          </a:xfrm>
          <a:prstGeom prst="rect">
            <a:avLst/>
          </a:prstGeom>
          <a:gradFill>
            <a:gsLst>
              <a:gs pos="0">
                <a:srgbClr val="000000">
                  <a:alpha val="93725"/>
                </a:srgbClr>
              </a:gs>
              <a:gs pos="8000">
                <a:srgbClr val="000000">
                  <a:alpha val="93725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 flipH="1" rot="10800000">
            <a:off x="8123333" y="-2"/>
            <a:ext cx="4092521" cy="6400369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1000">
                <a:srgbClr val="0A3041">
                  <a:alpha val="0"/>
                </a:srgbClr>
              </a:gs>
              <a:gs pos="100000">
                <a:srgbClr val="0A3041">
                  <a:alpha val="25882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 flipH="1" rot="10800000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72000">
                <a:srgbClr val="000000">
                  <a:alpha val="20784"/>
                </a:srgbClr>
              </a:gs>
              <a:gs pos="100000">
                <a:srgbClr val="000000">
                  <a:alpha val="20784"/>
                </a:srgbClr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 flipH="1" rot="10800000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93000">
                <a:srgbClr val="000000">
                  <a:alpha val="28627"/>
                </a:srgbClr>
              </a:gs>
              <a:gs pos="100000">
                <a:srgbClr val="000000">
                  <a:alpha val="2862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lowchart of a computer program&#10;&#10;AI-generated content may be incorrect.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2863" y="878776"/>
            <a:ext cx="4786079" cy="509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 txBox="1"/>
          <p:nvPr>
            <p:ph type="title"/>
          </p:nvPr>
        </p:nvSpPr>
        <p:spPr>
          <a:xfrm>
            <a:off x="1136397" y="502021"/>
            <a:ext cx="4959603" cy="16429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GB" sz="40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1136397" y="2418408"/>
            <a:ext cx="4959603" cy="3522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GB" sz="2000">
                <a:latin typeface="Times New Roman"/>
                <a:ea typeface="Times New Roman"/>
                <a:cs typeface="Times New Roman"/>
                <a:sym typeface="Times New Roman"/>
              </a:rPr>
              <a:t>Modules: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Input (webcam/image upload)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Detection (YOLOv8)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Counting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Output Visualization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software company&#10;&#10;AI-generated content may be incorrect." id="152" name="Google Shape;1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2442" y="1057196"/>
            <a:ext cx="5201023" cy="432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 flipH="1" rot="10800000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  <a:gs pos="100000">
                <a:srgbClr val="000000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0F4861"/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and Execution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Developed a real-time box-counting system using Python, OpenCV, PyTorch, and Tkinter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Selected YOLOv8 after comparing YOLOv11, RetinaNet, Faster R-CNN, EfficientDet-D0, and Tiny YOLOv3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Prepared a custom dataset of 1049 warehouse images (80% train / 20% val) with manual annotations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Integrated modules: Camera Capture → YOLO Detection → GUI Output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GUI supports image upload, webcam live detection, and result display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video&#10;&#10;AI-generated content may be incorrect."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5021" y="643467"/>
            <a:ext cx="3536648" cy="24756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/>
          <p:nvPr/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F7F7F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video&#10;&#10;AI-generated content may be incorrect."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0897" y="3748194"/>
            <a:ext cx="3744896" cy="247163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1468780" y="634999"/>
            <a:ext cx="31253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7741478" y="77304"/>
            <a:ext cx="2297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screenshot of a computer code&#10;&#10;AI-generated content may be incorrect." id="175" name="Google Shape;1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9181" y="1145907"/>
            <a:ext cx="5286584" cy="520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and Validation</a:t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Performed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unit testing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 on image capture, YOLO detection, and GUI modules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Conducted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integration testing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 for full pipeline: Camera → Detection → GUI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Tested system under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different lighting, angles, overlaps, clutter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Validated model using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Precision, Recall, mAP@0.5, </a:t>
            </a:r>
            <a:r>
              <a:rPr b="1" lang="en-GB" sz="2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mAP@0.5:0.95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Real-time testing with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live webcam feed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 to check FPS + latency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GUI tested for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usability, responsiveness, error handling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Issues fixed: low-light detection errors, CPU-based lag, threshold tuning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Final system achieves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stable real-time performance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 + </a:t>
            </a:r>
            <a:r>
              <a:rPr b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high accuracy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Analysis</a:t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system produced stable outputs across all test cases.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Initial observations showed performance differences between the models.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One model demonstrated faster execution, while another showed higher accuracy.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Variations in efficiency and error rates were noted during testing.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graph&#10;&#10;AI-generated content may be incorrect." id="198" name="Google Shape;19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203" y="643466"/>
            <a:ext cx="8985593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1. Poor Dataset Quality</a:t>
            </a:r>
            <a:b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Solution: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 Re-annotated images properly and collected clearer, diverse samples.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2. Model Not Detecting Correctly on New Images</a:t>
            </a:r>
            <a:b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Solution: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 Added more varied training data and improved training settings.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3. Detection Errors in Cluttered/Overlapping Boxes</a:t>
            </a:r>
            <a:b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Solution: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 Trained with tougher images and adjusted settings to separate overlapping boxes better.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4. GUI Not Displaying Results Properly</a:t>
            </a:r>
            <a:b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Solution: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 Fixed image format conversions and improved how frames load in the interface.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system can detect and count boxes accurately in real time.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YOLOv8 gave the most reliable results overall.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model works well across different warehouse images.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final solution is fast, stable, and easy to use.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Add multi-class detection for different box types/sizes.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Integrate barcode/QR scanning for inventory automation.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Deploy on edge devices (like Raspberry Pi) for on-site use.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Improve accuracy using larger datasets and augmentation.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8"/>
          <p:cNvSpPr txBox="1"/>
          <p:nvPr>
            <p:ph type="title"/>
          </p:nvPr>
        </p:nvSpPr>
        <p:spPr>
          <a:xfrm>
            <a:off x="1156851" y="637762"/>
            <a:ext cx="9888496" cy="90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lang="en-GB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1155548" y="2217343"/>
            <a:ext cx="9880893" cy="3959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Redmon, J. et al. (2016).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YOLO: Real-Time Object Detection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Ren, S. et al. (2015).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Faster R-CNN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Tan, M. et al. (2019).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EfficientDet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Ultralytics (2023).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YOLOv8 Documentation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Facebook AI Research (2021).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Detectron2 Framework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Bradski, G. (2000). 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OpenCV Library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/>
          <p:nvPr/>
        </p:nvSpPr>
        <p:spPr>
          <a:xfrm flipH="1" rot="5400000">
            <a:off x="-1408628" y="1408629"/>
            <a:ext cx="6858000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1000">
                <a:srgbClr val="000000"/>
              </a:gs>
              <a:gs pos="100000">
                <a:srgbClr val="0F4861"/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/>
          <p:nvPr/>
        </p:nvSpPr>
        <p:spPr>
          <a:xfrm rot="-54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rgbClr val="156082">
                  <a:alpha val="49803"/>
                </a:srgbClr>
              </a:gs>
              <a:gs pos="100000">
                <a:srgbClr val="0A304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/>
          <p:nvPr/>
        </p:nvSpPr>
        <p:spPr>
          <a:xfrm flipH="1" rot="-5400000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0784"/>
                </a:srgbClr>
              </a:gs>
              <a:gs pos="95000">
                <a:srgbClr val="A02B93">
                  <a:alpha val="0"/>
                </a:srgbClr>
              </a:gs>
              <a:gs pos="100000">
                <a:srgbClr val="A02B93">
                  <a:alpha val="0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>
            <p:ph type="title"/>
          </p:nvPr>
        </p:nvSpPr>
        <p:spPr>
          <a:xfrm>
            <a:off x="660042" y="2945176"/>
            <a:ext cx="2878688" cy="275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b="1" lang="en-GB" sz="4000">
                <a:solidFill>
                  <a:srgbClr val="FFFFFF"/>
                </a:solidFill>
              </a:rPr>
              <a:t>Internship Certificates</a:t>
            </a:r>
            <a:endParaRPr/>
          </a:p>
        </p:txBody>
      </p:sp>
      <p:pic>
        <p:nvPicPr>
          <p:cNvPr id="240" name="Google Shape;24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2780" y="1218589"/>
            <a:ext cx="3599850" cy="5051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etter of a company&#10;&#10;AI-generated content may be incorrect."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1094" y="1200651"/>
            <a:ext cx="3588862" cy="5099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</cp:coreProperties>
</file>