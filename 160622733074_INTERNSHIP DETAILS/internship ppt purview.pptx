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7" r:id="rId2"/>
    <p:sldId id="260" r:id="rId3"/>
    <p:sldId id="261" r:id="rId4"/>
    <p:sldId id="262" r:id="rId5"/>
    <p:sldId id="284" r:id="rId6"/>
    <p:sldId id="275" r:id="rId7"/>
    <p:sldId id="277" r:id="rId8"/>
    <p:sldId id="294" r:id="rId9"/>
    <p:sldId id="278" r:id="rId10"/>
    <p:sldId id="279" r:id="rId11"/>
    <p:sldId id="287" r:id="rId12"/>
    <p:sldId id="288" r:id="rId13"/>
    <p:sldId id="289" r:id="rId14"/>
    <p:sldId id="290" r:id="rId15"/>
    <p:sldId id="291" r:id="rId16"/>
    <p:sldId id="292" r:id="rId17"/>
    <p:sldId id="280" r:id="rId18"/>
    <p:sldId id="285" r:id="rId19"/>
    <p:sldId id="281" r:id="rId20"/>
    <p:sldId id="286" r:id="rId21"/>
    <p:sldId id="274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9CAEA0-887E-4D55-8E4E-ADB1007E3CBF}" v="1256" dt="2025-11-14T09:57:18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88FE63-803B-444D-9C53-28DA5E987AD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C8BA69-3C2E-48C6-819B-F53C9BD0375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Synthetic Dataset Generation:</a:t>
          </a:r>
          <a:br>
            <a:rPr lang="en-IN"/>
          </a:br>
          <a:r>
            <a:rPr lang="en-IN"/>
            <a:t>Developed a comprehensive synthetic dataset with 8,000 records representing diverse user profiles. The data included demographic, financial, and behavioral variables critical for assessing loan eligibility.</a:t>
          </a:r>
          <a:endParaRPr lang="en-US"/>
        </a:p>
      </dgm:t>
    </dgm:pt>
    <dgm:pt modelId="{23C82205-52BE-4DF8-B8AD-CA071259F1E4}" type="parTrans" cxnId="{49779830-346A-4EA3-BE5E-556E38EBD238}">
      <dgm:prSet/>
      <dgm:spPr/>
      <dgm:t>
        <a:bodyPr/>
        <a:lstStyle/>
        <a:p>
          <a:endParaRPr lang="en-US"/>
        </a:p>
      </dgm:t>
    </dgm:pt>
    <dgm:pt modelId="{03C7BA62-7E0C-48B6-BE4D-E66C5FFB22C2}" type="sibTrans" cxnId="{49779830-346A-4EA3-BE5E-556E38EBD2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F487B3-EC81-438A-8271-565494A64C4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Feature Engineering and Data Preprocessing:</a:t>
          </a:r>
          <a:br>
            <a:rPr lang="en-IN"/>
          </a:br>
          <a:r>
            <a:rPr lang="en-IN"/>
            <a:t>Created derived features such as debt-to-income ratio and experience-to-age ratio to better capture financial stability and risk. Applied label encoding for categorical variables and standardized numerical features to ensure consistency.</a:t>
          </a:r>
          <a:endParaRPr lang="en-US"/>
        </a:p>
      </dgm:t>
    </dgm:pt>
    <dgm:pt modelId="{E8CE0556-F04F-4F97-97B3-1302F24582EC}" type="parTrans" cxnId="{A8AF131B-D36D-4BD7-8CBA-34E1D2E75138}">
      <dgm:prSet/>
      <dgm:spPr/>
      <dgm:t>
        <a:bodyPr/>
        <a:lstStyle/>
        <a:p>
          <a:endParaRPr lang="en-US"/>
        </a:p>
      </dgm:t>
    </dgm:pt>
    <dgm:pt modelId="{4EBC7FA7-5A10-4632-B540-BDCEC819C70A}" type="sibTrans" cxnId="{A8AF131B-D36D-4BD7-8CBA-34E1D2E751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AFEA80-373D-4C6B-8398-2967C617101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Model Training and Optimization:</a:t>
          </a:r>
          <a:br>
            <a:rPr lang="en-IN"/>
          </a:br>
          <a:r>
            <a:rPr lang="en-IN"/>
            <a:t>Trained an XGBoost classifier, performing extensive hyperparameter tuning with GridSearchCV and cross-validation to maximize predictive accuracy and generalization on unseen data.</a:t>
          </a:r>
          <a:endParaRPr lang="en-US"/>
        </a:p>
      </dgm:t>
    </dgm:pt>
    <dgm:pt modelId="{43FEB389-C208-4830-8166-1968ABEDD8CE}" type="parTrans" cxnId="{674310C7-D0DA-4A19-8330-11E94203C9F9}">
      <dgm:prSet/>
      <dgm:spPr/>
      <dgm:t>
        <a:bodyPr/>
        <a:lstStyle/>
        <a:p>
          <a:endParaRPr lang="en-US"/>
        </a:p>
      </dgm:t>
    </dgm:pt>
    <dgm:pt modelId="{F9647EC8-33C3-432D-B5CD-5721A5709AFD}" type="sibTrans" cxnId="{674310C7-D0DA-4A19-8330-11E94203C9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B2ADF5-B47C-4C74-90D1-F87B1FA6ECB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Model Evaluation:</a:t>
          </a:r>
          <a:br>
            <a:rPr lang="en-IN"/>
          </a:br>
          <a:r>
            <a:rPr lang="en-IN"/>
            <a:t>Assessed the model using multiple evaluation metrics including accuracy, precision, recall, F1-score, and ROC-AUC. Performed detailed confusion matrix analysis to interpret classification outcomes and refine decision thresholds.</a:t>
          </a:r>
          <a:endParaRPr lang="en-US"/>
        </a:p>
      </dgm:t>
    </dgm:pt>
    <dgm:pt modelId="{642EAC0B-753A-4937-BC5C-F018C7543906}" type="parTrans" cxnId="{0E700BF2-78BB-4667-8902-B80C927EE047}">
      <dgm:prSet/>
      <dgm:spPr/>
      <dgm:t>
        <a:bodyPr/>
        <a:lstStyle/>
        <a:p>
          <a:endParaRPr lang="en-US"/>
        </a:p>
      </dgm:t>
    </dgm:pt>
    <dgm:pt modelId="{80FC811C-FB95-4582-A6D9-557FAB64B939}" type="sibTrans" cxnId="{0E700BF2-78BB-4667-8902-B80C927EE0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A44405-5C95-4995-9F07-27AF5B7A014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Application Development and Deployment:</a:t>
          </a:r>
          <a:br>
            <a:rPr lang="en-IN"/>
          </a:br>
          <a:r>
            <a:rPr lang="en-IN"/>
            <a:t>Integrated the trained model into an interactive Streamlit application, enabling real-time loan eligibility prediction, dynamic loan recommendations, and automated EMI calculations through a user-friendly interface.</a:t>
          </a:r>
          <a:endParaRPr lang="en-US"/>
        </a:p>
      </dgm:t>
    </dgm:pt>
    <dgm:pt modelId="{03957A3D-AE68-4AA1-8DC2-67F0E9D4077E}" type="parTrans" cxnId="{D27E9A8F-B8E8-4785-B6C3-C87450319A20}">
      <dgm:prSet/>
      <dgm:spPr/>
      <dgm:t>
        <a:bodyPr/>
        <a:lstStyle/>
        <a:p>
          <a:endParaRPr lang="en-US"/>
        </a:p>
      </dgm:t>
    </dgm:pt>
    <dgm:pt modelId="{CE06052D-1B2B-4D40-B838-65D6D8336F70}" type="sibTrans" cxnId="{D27E9A8F-B8E8-4785-B6C3-C87450319A20}">
      <dgm:prSet/>
      <dgm:spPr/>
      <dgm:t>
        <a:bodyPr/>
        <a:lstStyle/>
        <a:p>
          <a:endParaRPr lang="en-US"/>
        </a:p>
      </dgm:t>
    </dgm:pt>
    <dgm:pt modelId="{7B74BAC9-90C1-4A98-A4F1-8262A0FF8013}" type="pres">
      <dgm:prSet presAssocID="{AD88FE63-803B-444D-9C53-28DA5E987ADA}" presName="root" presStyleCnt="0">
        <dgm:presLayoutVars>
          <dgm:dir/>
          <dgm:resizeHandles val="exact"/>
        </dgm:presLayoutVars>
      </dgm:prSet>
      <dgm:spPr/>
    </dgm:pt>
    <dgm:pt modelId="{15ADB491-9D75-4896-932C-C0AD76F919EA}" type="pres">
      <dgm:prSet presAssocID="{AD88FE63-803B-444D-9C53-28DA5E987ADA}" presName="container" presStyleCnt="0">
        <dgm:presLayoutVars>
          <dgm:dir/>
          <dgm:resizeHandles val="exact"/>
        </dgm:presLayoutVars>
      </dgm:prSet>
      <dgm:spPr/>
    </dgm:pt>
    <dgm:pt modelId="{84BBA1EF-59C1-49D9-AD37-0ACB170103AD}" type="pres">
      <dgm:prSet presAssocID="{4DC8BA69-3C2E-48C6-819B-F53C9BD03755}" presName="compNode" presStyleCnt="0"/>
      <dgm:spPr/>
    </dgm:pt>
    <dgm:pt modelId="{5D9214B7-F7AC-4D29-BB9C-8368F970684E}" type="pres">
      <dgm:prSet presAssocID="{4DC8BA69-3C2E-48C6-819B-F53C9BD03755}" presName="iconBgRect" presStyleLbl="bgShp" presStyleIdx="0" presStyleCnt="5"/>
      <dgm:spPr/>
    </dgm:pt>
    <dgm:pt modelId="{F65FDDF6-6161-4974-8BE5-40C37DB42664}" type="pres">
      <dgm:prSet presAssocID="{4DC8BA69-3C2E-48C6-819B-F53C9BD037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38C9CAE-B126-4D09-AC0A-2E576BF97DBA}" type="pres">
      <dgm:prSet presAssocID="{4DC8BA69-3C2E-48C6-819B-F53C9BD03755}" presName="spaceRect" presStyleCnt="0"/>
      <dgm:spPr/>
    </dgm:pt>
    <dgm:pt modelId="{8136272B-465A-4BFC-A84F-61F5C3A1CF37}" type="pres">
      <dgm:prSet presAssocID="{4DC8BA69-3C2E-48C6-819B-F53C9BD03755}" presName="textRect" presStyleLbl="revTx" presStyleIdx="0" presStyleCnt="5">
        <dgm:presLayoutVars>
          <dgm:chMax val="1"/>
          <dgm:chPref val="1"/>
        </dgm:presLayoutVars>
      </dgm:prSet>
      <dgm:spPr/>
    </dgm:pt>
    <dgm:pt modelId="{5DF7661B-BC1C-4E4F-947C-C2464F0EDB3D}" type="pres">
      <dgm:prSet presAssocID="{03C7BA62-7E0C-48B6-BE4D-E66C5FFB22C2}" presName="sibTrans" presStyleLbl="sibTrans2D1" presStyleIdx="0" presStyleCnt="0"/>
      <dgm:spPr/>
    </dgm:pt>
    <dgm:pt modelId="{E09FE7A0-5E1F-4818-A7FA-230274815671}" type="pres">
      <dgm:prSet presAssocID="{03F487B3-EC81-438A-8271-565494A64C4E}" presName="compNode" presStyleCnt="0"/>
      <dgm:spPr/>
    </dgm:pt>
    <dgm:pt modelId="{D3AA1EB0-384D-4DC8-B05A-73C0A8E0D586}" type="pres">
      <dgm:prSet presAssocID="{03F487B3-EC81-438A-8271-565494A64C4E}" presName="iconBgRect" presStyleLbl="bgShp" presStyleIdx="1" presStyleCnt="5"/>
      <dgm:spPr/>
    </dgm:pt>
    <dgm:pt modelId="{245B39EA-EBDA-426F-8471-498BA3A03288}" type="pres">
      <dgm:prSet presAssocID="{03F487B3-EC81-438A-8271-565494A64C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69862140-B146-4E5F-BFE1-80778A6A5BE2}" type="pres">
      <dgm:prSet presAssocID="{03F487B3-EC81-438A-8271-565494A64C4E}" presName="spaceRect" presStyleCnt="0"/>
      <dgm:spPr/>
    </dgm:pt>
    <dgm:pt modelId="{82392C9C-4D41-4714-BA87-EA6BF4205A63}" type="pres">
      <dgm:prSet presAssocID="{03F487B3-EC81-438A-8271-565494A64C4E}" presName="textRect" presStyleLbl="revTx" presStyleIdx="1" presStyleCnt="5">
        <dgm:presLayoutVars>
          <dgm:chMax val="1"/>
          <dgm:chPref val="1"/>
        </dgm:presLayoutVars>
      </dgm:prSet>
      <dgm:spPr/>
    </dgm:pt>
    <dgm:pt modelId="{4C9FD496-1023-45AE-AC96-1D60293FEE2A}" type="pres">
      <dgm:prSet presAssocID="{4EBC7FA7-5A10-4632-B540-BDCEC819C70A}" presName="sibTrans" presStyleLbl="sibTrans2D1" presStyleIdx="0" presStyleCnt="0"/>
      <dgm:spPr/>
    </dgm:pt>
    <dgm:pt modelId="{13789A2E-D80B-4911-BFE4-66F9D33641E1}" type="pres">
      <dgm:prSet presAssocID="{C3AFEA80-373D-4C6B-8398-2967C617101F}" presName="compNode" presStyleCnt="0"/>
      <dgm:spPr/>
    </dgm:pt>
    <dgm:pt modelId="{620D01F7-A540-4CB1-B126-091C3A2AC787}" type="pres">
      <dgm:prSet presAssocID="{C3AFEA80-373D-4C6B-8398-2967C617101F}" presName="iconBgRect" presStyleLbl="bgShp" presStyleIdx="2" presStyleCnt="5"/>
      <dgm:spPr/>
    </dgm:pt>
    <dgm:pt modelId="{63C7260B-8F95-4BAA-B097-EBE643E569B9}" type="pres">
      <dgm:prSet presAssocID="{C3AFEA80-373D-4C6B-8398-2967C617101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D0C55EC-2935-4D22-A3A5-5AAE36BD974A}" type="pres">
      <dgm:prSet presAssocID="{C3AFEA80-373D-4C6B-8398-2967C617101F}" presName="spaceRect" presStyleCnt="0"/>
      <dgm:spPr/>
    </dgm:pt>
    <dgm:pt modelId="{D6DE8D05-5269-4053-BEEF-406DCCCDE8C1}" type="pres">
      <dgm:prSet presAssocID="{C3AFEA80-373D-4C6B-8398-2967C617101F}" presName="textRect" presStyleLbl="revTx" presStyleIdx="2" presStyleCnt="5">
        <dgm:presLayoutVars>
          <dgm:chMax val="1"/>
          <dgm:chPref val="1"/>
        </dgm:presLayoutVars>
      </dgm:prSet>
      <dgm:spPr/>
    </dgm:pt>
    <dgm:pt modelId="{629F164A-56C6-4855-A868-37ED62AC0E19}" type="pres">
      <dgm:prSet presAssocID="{F9647EC8-33C3-432D-B5CD-5721A5709AFD}" presName="sibTrans" presStyleLbl="sibTrans2D1" presStyleIdx="0" presStyleCnt="0"/>
      <dgm:spPr/>
    </dgm:pt>
    <dgm:pt modelId="{961D9514-AB0D-43EF-9BD2-B4B64E3F28D8}" type="pres">
      <dgm:prSet presAssocID="{04B2ADF5-B47C-4C74-90D1-F87B1FA6ECB5}" presName="compNode" presStyleCnt="0"/>
      <dgm:spPr/>
    </dgm:pt>
    <dgm:pt modelId="{9936DFBA-7BD9-49B2-80B1-2DDD8A791948}" type="pres">
      <dgm:prSet presAssocID="{04B2ADF5-B47C-4C74-90D1-F87B1FA6ECB5}" presName="iconBgRect" presStyleLbl="bgShp" presStyleIdx="3" presStyleCnt="5"/>
      <dgm:spPr/>
    </dgm:pt>
    <dgm:pt modelId="{CC81D5E1-EDF4-41AF-96AD-B1A313461406}" type="pres">
      <dgm:prSet presAssocID="{04B2ADF5-B47C-4C74-90D1-F87B1FA6ECB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C7BD007-2584-4D73-8026-91B900CC870F}" type="pres">
      <dgm:prSet presAssocID="{04B2ADF5-B47C-4C74-90D1-F87B1FA6ECB5}" presName="spaceRect" presStyleCnt="0"/>
      <dgm:spPr/>
    </dgm:pt>
    <dgm:pt modelId="{21FF24EF-AD81-4F08-91CE-662134A59732}" type="pres">
      <dgm:prSet presAssocID="{04B2ADF5-B47C-4C74-90D1-F87B1FA6ECB5}" presName="textRect" presStyleLbl="revTx" presStyleIdx="3" presStyleCnt="5">
        <dgm:presLayoutVars>
          <dgm:chMax val="1"/>
          <dgm:chPref val="1"/>
        </dgm:presLayoutVars>
      </dgm:prSet>
      <dgm:spPr/>
    </dgm:pt>
    <dgm:pt modelId="{390C53B7-8C61-4A03-BED9-01432E6897C8}" type="pres">
      <dgm:prSet presAssocID="{80FC811C-FB95-4582-A6D9-557FAB64B939}" presName="sibTrans" presStyleLbl="sibTrans2D1" presStyleIdx="0" presStyleCnt="0"/>
      <dgm:spPr/>
    </dgm:pt>
    <dgm:pt modelId="{03158DA0-AAA2-4619-AA64-20986DA26426}" type="pres">
      <dgm:prSet presAssocID="{32A44405-5C95-4995-9F07-27AF5B7A014A}" presName="compNode" presStyleCnt="0"/>
      <dgm:spPr/>
    </dgm:pt>
    <dgm:pt modelId="{E95B7A29-0525-4807-AF6E-489050D6898B}" type="pres">
      <dgm:prSet presAssocID="{32A44405-5C95-4995-9F07-27AF5B7A014A}" presName="iconBgRect" presStyleLbl="bgShp" presStyleIdx="4" presStyleCnt="5"/>
      <dgm:spPr/>
    </dgm:pt>
    <dgm:pt modelId="{3C2EC251-8E5B-4F53-8A44-47F514FD54A4}" type="pres">
      <dgm:prSet presAssocID="{32A44405-5C95-4995-9F07-27AF5B7A014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63F28A4-D325-4A42-9134-9325FFD8EB2C}" type="pres">
      <dgm:prSet presAssocID="{32A44405-5C95-4995-9F07-27AF5B7A014A}" presName="spaceRect" presStyleCnt="0"/>
      <dgm:spPr/>
    </dgm:pt>
    <dgm:pt modelId="{DC74E9B6-A2C8-40FF-81AC-1FA556AC4442}" type="pres">
      <dgm:prSet presAssocID="{32A44405-5C95-4995-9F07-27AF5B7A014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8663912-FAC4-4BCA-B64A-849F6A219831}" type="presOf" srcId="{04B2ADF5-B47C-4C74-90D1-F87B1FA6ECB5}" destId="{21FF24EF-AD81-4F08-91CE-662134A59732}" srcOrd="0" destOrd="0" presId="urn:microsoft.com/office/officeart/2018/2/layout/IconCircleList"/>
    <dgm:cxn modelId="{A8AF131B-D36D-4BD7-8CBA-34E1D2E75138}" srcId="{AD88FE63-803B-444D-9C53-28DA5E987ADA}" destId="{03F487B3-EC81-438A-8271-565494A64C4E}" srcOrd="1" destOrd="0" parTransId="{E8CE0556-F04F-4F97-97B3-1302F24582EC}" sibTransId="{4EBC7FA7-5A10-4632-B540-BDCEC819C70A}"/>
    <dgm:cxn modelId="{13523A21-2A6E-4563-974A-8179333100B6}" type="presOf" srcId="{03F487B3-EC81-438A-8271-565494A64C4E}" destId="{82392C9C-4D41-4714-BA87-EA6BF4205A63}" srcOrd="0" destOrd="0" presId="urn:microsoft.com/office/officeart/2018/2/layout/IconCircleList"/>
    <dgm:cxn modelId="{49779830-346A-4EA3-BE5E-556E38EBD238}" srcId="{AD88FE63-803B-444D-9C53-28DA5E987ADA}" destId="{4DC8BA69-3C2E-48C6-819B-F53C9BD03755}" srcOrd="0" destOrd="0" parTransId="{23C82205-52BE-4DF8-B8AD-CA071259F1E4}" sibTransId="{03C7BA62-7E0C-48B6-BE4D-E66C5FFB22C2}"/>
    <dgm:cxn modelId="{4EDB053F-12C8-4BE4-B11D-B2562CF1578E}" type="presOf" srcId="{AD88FE63-803B-444D-9C53-28DA5E987ADA}" destId="{7B74BAC9-90C1-4A98-A4F1-8262A0FF8013}" srcOrd="0" destOrd="0" presId="urn:microsoft.com/office/officeart/2018/2/layout/IconCircleList"/>
    <dgm:cxn modelId="{0A610253-D149-4F08-9B12-C8C8307F7D26}" type="presOf" srcId="{F9647EC8-33C3-432D-B5CD-5721A5709AFD}" destId="{629F164A-56C6-4855-A868-37ED62AC0E19}" srcOrd="0" destOrd="0" presId="urn:microsoft.com/office/officeart/2018/2/layout/IconCircleList"/>
    <dgm:cxn modelId="{BE6E6076-A522-4C3D-BE84-4E66EAFBD946}" type="presOf" srcId="{80FC811C-FB95-4582-A6D9-557FAB64B939}" destId="{390C53B7-8C61-4A03-BED9-01432E6897C8}" srcOrd="0" destOrd="0" presId="urn:microsoft.com/office/officeart/2018/2/layout/IconCircleList"/>
    <dgm:cxn modelId="{D27E9A8F-B8E8-4785-B6C3-C87450319A20}" srcId="{AD88FE63-803B-444D-9C53-28DA5E987ADA}" destId="{32A44405-5C95-4995-9F07-27AF5B7A014A}" srcOrd="4" destOrd="0" parTransId="{03957A3D-AE68-4AA1-8DC2-67F0E9D4077E}" sibTransId="{CE06052D-1B2B-4D40-B838-65D6D8336F70}"/>
    <dgm:cxn modelId="{06D5A68F-18F1-495F-8718-E31FE71BD13C}" type="presOf" srcId="{4DC8BA69-3C2E-48C6-819B-F53C9BD03755}" destId="{8136272B-465A-4BFC-A84F-61F5C3A1CF37}" srcOrd="0" destOrd="0" presId="urn:microsoft.com/office/officeart/2018/2/layout/IconCircleList"/>
    <dgm:cxn modelId="{4381D191-A8B6-49F8-B398-0EE98E70DC8B}" type="presOf" srcId="{32A44405-5C95-4995-9F07-27AF5B7A014A}" destId="{DC74E9B6-A2C8-40FF-81AC-1FA556AC4442}" srcOrd="0" destOrd="0" presId="urn:microsoft.com/office/officeart/2018/2/layout/IconCircleList"/>
    <dgm:cxn modelId="{674310C7-D0DA-4A19-8330-11E94203C9F9}" srcId="{AD88FE63-803B-444D-9C53-28DA5E987ADA}" destId="{C3AFEA80-373D-4C6B-8398-2967C617101F}" srcOrd="2" destOrd="0" parTransId="{43FEB389-C208-4830-8166-1968ABEDD8CE}" sibTransId="{F9647EC8-33C3-432D-B5CD-5721A5709AFD}"/>
    <dgm:cxn modelId="{8E22ABCF-6EC6-4816-9450-9ADC00692CA4}" type="presOf" srcId="{03C7BA62-7E0C-48B6-BE4D-E66C5FFB22C2}" destId="{5DF7661B-BC1C-4E4F-947C-C2464F0EDB3D}" srcOrd="0" destOrd="0" presId="urn:microsoft.com/office/officeart/2018/2/layout/IconCircleList"/>
    <dgm:cxn modelId="{0E700BF2-78BB-4667-8902-B80C927EE047}" srcId="{AD88FE63-803B-444D-9C53-28DA5E987ADA}" destId="{04B2ADF5-B47C-4C74-90D1-F87B1FA6ECB5}" srcOrd="3" destOrd="0" parTransId="{642EAC0B-753A-4937-BC5C-F018C7543906}" sibTransId="{80FC811C-FB95-4582-A6D9-557FAB64B939}"/>
    <dgm:cxn modelId="{418405F8-B39D-4E90-8D54-C0F997459646}" type="presOf" srcId="{4EBC7FA7-5A10-4632-B540-BDCEC819C70A}" destId="{4C9FD496-1023-45AE-AC96-1D60293FEE2A}" srcOrd="0" destOrd="0" presId="urn:microsoft.com/office/officeart/2018/2/layout/IconCircleList"/>
    <dgm:cxn modelId="{305BB0F8-254D-45C7-8247-E060EAF6967D}" type="presOf" srcId="{C3AFEA80-373D-4C6B-8398-2967C617101F}" destId="{D6DE8D05-5269-4053-BEEF-406DCCCDE8C1}" srcOrd="0" destOrd="0" presId="urn:microsoft.com/office/officeart/2018/2/layout/IconCircleList"/>
    <dgm:cxn modelId="{A104C625-AE3F-4F1B-93F9-25A9284DAB31}" type="presParOf" srcId="{7B74BAC9-90C1-4A98-A4F1-8262A0FF8013}" destId="{15ADB491-9D75-4896-932C-C0AD76F919EA}" srcOrd="0" destOrd="0" presId="urn:microsoft.com/office/officeart/2018/2/layout/IconCircleList"/>
    <dgm:cxn modelId="{441B3A82-DF8A-4E26-8066-CE5E02B85D9E}" type="presParOf" srcId="{15ADB491-9D75-4896-932C-C0AD76F919EA}" destId="{84BBA1EF-59C1-49D9-AD37-0ACB170103AD}" srcOrd="0" destOrd="0" presId="urn:microsoft.com/office/officeart/2018/2/layout/IconCircleList"/>
    <dgm:cxn modelId="{FEC99224-DF70-4145-BD34-C5B6190D9CC0}" type="presParOf" srcId="{84BBA1EF-59C1-49D9-AD37-0ACB170103AD}" destId="{5D9214B7-F7AC-4D29-BB9C-8368F970684E}" srcOrd="0" destOrd="0" presId="urn:microsoft.com/office/officeart/2018/2/layout/IconCircleList"/>
    <dgm:cxn modelId="{B8BA0EB2-44BD-40F9-B412-FBB63D5F4802}" type="presParOf" srcId="{84BBA1EF-59C1-49D9-AD37-0ACB170103AD}" destId="{F65FDDF6-6161-4974-8BE5-40C37DB42664}" srcOrd="1" destOrd="0" presId="urn:microsoft.com/office/officeart/2018/2/layout/IconCircleList"/>
    <dgm:cxn modelId="{D3D13718-0A87-4C4B-96E5-05376E9D5C14}" type="presParOf" srcId="{84BBA1EF-59C1-49D9-AD37-0ACB170103AD}" destId="{638C9CAE-B126-4D09-AC0A-2E576BF97DBA}" srcOrd="2" destOrd="0" presId="urn:microsoft.com/office/officeart/2018/2/layout/IconCircleList"/>
    <dgm:cxn modelId="{27250D3D-8707-4CA6-94ED-F6F8F0CFAA82}" type="presParOf" srcId="{84BBA1EF-59C1-49D9-AD37-0ACB170103AD}" destId="{8136272B-465A-4BFC-A84F-61F5C3A1CF37}" srcOrd="3" destOrd="0" presId="urn:microsoft.com/office/officeart/2018/2/layout/IconCircleList"/>
    <dgm:cxn modelId="{DD81CBCF-9CEB-474A-9703-78A149C92DFE}" type="presParOf" srcId="{15ADB491-9D75-4896-932C-C0AD76F919EA}" destId="{5DF7661B-BC1C-4E4F-947C-C2464F0EDB3D}" srcOrd="1" destOrd="0" presId="urn:microsoft.com/office/officeart/2018/2/layout/IconCircleList"/>
    <dgm:cxn modelId="{16DBCF77-5B61-4129-B4A2-F81288395F6F}" type="presParOf" srcId="{15ADB491-9D75-4896-932C-C0AD76F919EA}" destId="{E09FE7A0-5E1F-4818-A7FA-230274815671}" srcOrd="2" destOrd="0" presId="urn:microsoft.com/office/officeart/2018/2/layout/IconCircleList"/>
    <dgm:cxn modelId="{93DB7A51-F9BF-4E89-86E9-B02249358C96}" type="presParOf" srcId="{E09FE7A0-5E1F-4818-A7FA-230274815671}" destId="{D3AA1EB0-384D-4DC8-B05A-73C0A8E0D586}" srcOrd="0" destOrd="0" presId="urn:microsoft.com/office/officeart/2018/2/layout/IconCircleList"/>
    <dgm:cxn modelId="{8F90C9B4-9C08-4F19-93F7-55BDFA5B3AC2}" type="presParOf" srcId="{E09FE7A0-5E1F-4818-A7FA-230274815671}" destId="{245B39EA-EBDA-426F-8471-498BA3A03288}" srcOrd="1" destOrd="0" presId="urn:microsoft.com/office/officeart/2018/2/layout/IconCircleList"/>
    <dgm:cxn modelId="{5DC5ADD8-4FC3-4ABE-AFBB-34E1E054AF63}" type="presParOf" srcId="{E09FE7A0-5E1F-4818-A7FA-230274815671}" destId="{69862140-B146-4E5F-BFE1-80778A6A5BE2}" srcOrd="2" destOrd="0" presId="urn:microsoft.com/office/officeart/2018/2/layout/IconCircleList"/>
    <dgm:cxn modelId="{D4601BB3-4CEF-48E0-8F24-8135F05A61E2}" type="presParOf" srcId="{E09FE7A0-5E1F-4818-A7FA-230274815671}" destId="{82392C9C-4D41-4714-BA87-EA6BF4205A63}" srcOrd="3" destOrd="0" presId="urn:microsoft.com/office/officeart/2018/2/layout/IconCircleList"/>
    <dgm:cxn modelId="{2CCBC5A5-F033-4D6C-9BF1-037D7DE67B0B}" type="presParOf" srcId="{15ADB491-9D75-4896-932C-C0AD76F919EA}" destId="{4C9FD496-1023-45AE-AC96-1D60293FEE2A}" srcOrd="3" destOrd="0" presId="urn:microsoft.com/office/officeart/2018/2/layout/IconCircleList"/>
    <dgm:cxn modelId="{6EFB89F9-9311-4659-BFAD-F1BBBC89614B}" type="presParOf" srcId="{15ADB491-9D75-4896-932C-C0AD76F919EA}" destId="{13789A2E-D80B-4911-BFE4-66F9D33641E1}" srcOrd="4" destOrd="0" presId="urn:microsoft.com/office/officeart/2018/2/layout/IconCircleList"/>
    <dgm:cxn modelId="{877FC21C-A6D8-44EB-96E2-6DFED524B018}" type="presParOf" srcId="{13789A2E-D80B-4911-BFE4-66F9D33641E1}" destId="{620D01F7-A540-4CB1-B126-091C3A2AC787}" srcOrd="0" destOrd="0" presId="urn:microsoft.com/office/officeart/2018/2/layout/IconCircleList"/>
    <dgm:cxn modelId="{DF5A5404-DB9E-44BA-87E5-73E69A9D7AAB}" type="presParOf" srcId="{13789A2E-D80B-4911-BFE4-66F9D33641E1}" destId="{63C7260B-8F95-4BAA-B097-EBE643E569B9}" srcOrd="1" destOrd="0" presId="urn:microsoft.com/office/officeart/2018/2/layout/IconCircleList"/>
    <dgm:cxn modelId="{063572F2-DC58-4B48-828B-B71ECB7B8CF1}" type="presParOf" srcId="{13789A2E-D80B-4911-BFE4-66F9D33641E1}" destId="{ED0C55EC-2935-4D22-A3A5-5AAE36BD974A}" srcOrd="2" destOrd="0" presId="urn:microsoft.com/office/officeart/2018/2/layout/IconCircleList"/>
    <dgm:cxn modelId="{8840D6C6-4992-48CD-9661-8E851493576F}" type="presParOf" srcId="{13789A2E-D80B-4911-BFE4-66F9D33641E1}" destId="{D6DE8D05-5269-4053-BEEF-406DCCCDE8C1}" srcOrd="3" destOrd="0" presId="urn:microsoft.com/office/officeart/2018/2/layout/IconCircleList"/>
    <dgm:cxn modelId="{670B2410-6F42-4798-846D-44249DAB6D35}" type="presParOf" srcId="{15ADB491-9D75-4896-932C-C0AD76F919EA}" destId="{629F164A-56C6-4855-A868-37ED62AC0E19}" srcOrd="5" destOrd="0" presId="urn:microsoft.com/office/officeart/2018/2/layout/IconCircleList"/>
    <dgm:cxn modelId="{09AD0245-DAE4-4D26-8552-DF6A5C95FDFD}" type="presParOf" srcId="{15ADB491-9D75-4896-932C-C0AD76F919EA}" destId="{961D9514-AB0D-43EF-9BD2-B4B64E3F28D8}" srcOrd="6" destOrd="0" presId="urn:microsoft.com/office/officeart/2018/2/layout/IconCircleList"/>
    <dgm:cxn modelId="{279DE4D0-D240-4E73-8744-9618DA736806}" type="presParOf" srcId="{961D9514-AB0D-43EF-9BD2-B4B64E3F28D8}" destId="{9936DFBA-7BD9-49B2-80B1-2DDD8A791948}" srcOrd="0" destOrd="0" presId="urn:microsoft.com/office/officeart/2018/2/layout/IconCircleList"/>
    <dgm:cxn modelId="{2462C2F9-3A39-4F08-880D-062102ED4C94}" type="presParOf" srcId="{961D9514-AB0D-43EF-9BD2-B4B64E3F28D8}" destId="{CC81D5E1-EDF4-41AF-96AD-B1A313461406}" srcOrd="1" destOrd="0" presId="urn:microsoft.com/office/officeart/2018/2/layout/IconCircleList"/>
    <dgm:cxn modelId="{2E724053-9AC3-4591-82AA-3968EF32C6B6}" type="presParOf" srcId="{961D9514-AB0D-43EF-9BD2-B4B64E3F28D8}" destId="{DC7BD007-2584-4D73-8026-91B900CC870F}" srcOrd="2" destOrd="0" presId="urn:microsoft.com/office/officeart/2018/2/layout/IconCircleList"/>
    <dgm:cxn modelId="{63B365F5-3433-437D-87D7-FD9D1BACD4E2}" type="presParOf" srcId="{961D9514-AB0D-43EF-9BD2-B4B64E3F28D8}" destId="{21FF24EF-AD81-4F08-91CE-662134A59732}" srcOrd="3" destOrd="0" presId="urn:microsoft.com/office/officeart/2018/2/layout/IconCircleList"/>
    <dgm:cxn modelId="{C60A2E66-C847-4ACE-97B8-DB522D95A98C}" type="presParOf" srcId="{15ADB491-9D75-4896-932C-C0AD76F919EA}" destId="{390C53B7-8C61-4A03-BED9-01432E6897C8}" srcOrd="7" destOrd="0" presId="urn:microsoft.com/office/officeart/2018/2/layout/IconCircleList"/>
    <dgm:cxn modelId="{F43AFB40-9055-44E8-999B-7874C9C58C02}" type="presParOf" srcId="{15ADB491-9D75-4896-932C-C0AD76F919EA}" destId="{03158DA0-AAA2-4619-AA64-20986DA26426}" srcOrd="8" destOrd="0" presId="urn:microsoft.com/office/officeart/2018/2/layout/IconCircleList"/>
    <dgm:cxn modelId="{8244142B-DF45-438B-A60D-56E5F7A0547E}" type="presParOf" srcId="{03158DA0-AAA2-4619-AA64-20986DA26426}" destId="{E95B7A29-0525-4807-AF6E-489050D6898B}" srcOrd="0" destOrd="0" presId="urn:microsoft.com/office/officeart/2018/2/layout/IconCircleList"/>
    <dgm:cxn modelId="{775C6868-FA77-4EC5-89F4-17447979CB0D}" type="presParOf" srcId="{03158DA0-AAA2-4619-AA64-20986DA26426}" destId="{3C2EC251-8E5B-4F53-8A44-47F514FD54A4}" srcOrd="1" destOrd="0" presId="urn:microsoft.com/office/officeart/2018/2/layout/IconCircleList"/>
    <dgm:cxn modelId="{83973559-2470-4FE6-B160-11C4EF9A3097}" type="presParOf" srcId="{03158DA0-AAA2-4619-AA64-20986DA26426}" destId="{A63F28A4-D325-4A42-9134-9325FFD8EB2C}" srcOrd="2" destOrd="0" presId="urn:microsoft.com/office/officeart/2018/2/layout/IconCircleList"/>
    <dgm:cxn modelId="{52C3E343-9AF7-47DE-9F35-153BDB469351}" type="presParOf" srcId="{03158DA0-AAA2-4619-AA64-20986DA26426}" destId="{DC74E9B6-A2C8-40FF-81AC-1FA556AC44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008084-2E44-4CAF-AD8D-E963ED9EAF7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44B791-EC68-4546-9AE3-5AEA60D66A48}">
      <dgm:prSet/>
      <dgm:spPr/>
      <dgm:t>
        <a:bodyPr/>
        <a:lstStyle/>
        <a:p>
          <a:r>
            <a:rPr lang="en-IN"/>
            <a:t>Integrate real-world banking datasets to validate and improve model generalizability.</a:t>
          </a:r>
          <a:endParaRPr lang="en-US"/>
        </a:p>
      </dgm:t>
    </dgm:pt>
    <dgm:pt modelId="{DD3CBFD9-9801-4384-B4E9-D028737AC604}" type="parTrans" cxnId="{FC240BA3-AEBC-4074-BF7F-2DE55A0FF96A}">
      <dgm:prSet/>
      <dgm:spPr/>
      <dgm:t>
        <a:bodyPr/>
        <a:lstStyle/>
        <a:p>
          <a:endParaRPr lang="en-US"/>
        </a:p>
      </dgm:t>
    </dgm:pt>
    <dgm:pt modelId="{D28E3094-D586-4155-B807-638ADD629D99}" type="sibTrans" cxnId="{FC240BA3-AEBC-4074-BF7F-2DE55A0FF96A}">
      <dgm:prSet/>
      <dgm:spPr/>
      <dgm:t>
        <a:bodyPr/>
        <a:lstStyle/>
        <a:p>
          <a:endParaRPr lang="en-US"/>
        </a:p>
      </dgm:t>
    </dgm:pt>
    <dgm:pt modelId="{99C37841-E3EE-4879-8B03-C76723BDDC71}">
      <dgm:prSet/>
      <dgm:spPr/>
      <dgm:t>
        <a:bodyPr/>
        <a:lstStyle/>
        <a:p>
          <a:r>
            <a:rPr lang="en-IN"/>
            <a:t>Develop mobile apps and REST APIs to deliver real-time loan eligibility checks at scale.</a:t>
          </a:r>
          <a:endParaRPr lang="en-US"/>
        </a:p>
      </dgm:t>
    </dgm:pt>
    <dgm:pt modelId="{B8115FE4-EF9D-40AA-80B0-FAD1DB6DA2BC}" type="parTrans" cxnId="{3CF63706-CD83-4609-BF58-A4A075CDF11C}">
      <dgm:prSet/>
      <dgm:spPr/>
      <dgm:t>
        <a:bodyPr/>
        <a:lstStyle/>
        <a:p>
          <a:endParaRPr lang="en-US"/>
        </a:p>
      </dgm:t>
    </dgm:pt>
    <dgm:pt modelId="{DC30C5A2-81B7-4FA0-8C3C-32FFF358543D}" type="sibTrans" cxnId="{3CF63706-CD83-4609-BF58-A4A075CDF11C}">
      <dgm:prSet/>
      <dgm:spPr/>
      <dgm:t>
        <a:bodyPr/>
        <a:lstStyle/>
        <a:p>
          <a:endParaRPr lang="en-US"/>
        </a:p>
      </dgm:t>
    </dgm:pt>
    <dgm:pt modelId="{5F3F0C08-A50B-4E4A-9231-79F7B4DEAF98}">
      <dgm:prSet/>
      <dgm:spPr/>
      <dgm:t>
        <a:bodyPr/>
        <a:lstStyle/>
        <a:p>
          <a:r>
            <a:rPr lang="en-IN"/>
            <a:t>Incorporate Explainable AI techniques like SHAP or LIME to improve model transparency and regulatory compliance.</a:t>
          </a:r>
          <a:endParaRPr lang="en-US"/>
        </a:p>
      </dgm:t>
    </dgm:pt>
    <dgm:pt modelId="{C9570ACE-1E84-4B94-B694-34C6F5987728}" type="parTrans" cxnId="{E7DBFA4E-E7DF-4555-B316-1026DB949B55}">
      <dgm:prSet/>
      <dgm:spPr/>
      <dgm:t>
        <a:bodyPr/>
        <a:lstStyle/>
        <a:p>
          <a:endParaRPr lang="en-US"/>
        </a:p>
      </dgm:t>
    </dgm:pt>
    <dgm:pt modelId="{0EE25C5D-1D2C-4669-8F95-7FF4D62CB2D0}" type="sibTrans" cxnId="{E7DBFA4E-E7DF-4555-B316-1026DB949B55}">
      <dgm:prSet/>
      <dgm:spPr/>
      <dgm:t>
        <a:bodyPr/>
        <a:lstStyle/>
        <a:p>
          <a:endParaRPr lang="en-US"/>
        </a:p>
      </dgm:t>
    </dgm:pt>
    <dgm:pt modelId="{F2E75B37-1EB0-46AB-80B6-25E3080964A1}">
      <dgm:prSet/>
      <dgm:spPr/>
      <dgm:t>
        <a:bodyPr/>
        <a:lstStyle/>
        <a:p>
          <a:r>
            <a:rPr lang="en-IN"/>
            <a:t>Expand to advanced risk modeling—predicting credit risk grades and default probabilities, leveraging more diverse data sources.</a:t>
          </a:r>
          <a:endParaRPr lang="en-US"/>
        </a:p>
      </dgm:t>
    </dgm:pt>
    <dgm:pt modelId="{778E3FE2-E6C9-4EE2-87F3-114415E25F1A}" type="parTrans" cxnId="{6CAB22AD-E7C5-4581-8940-866AF016317B}">
      <dgm:prSet/>
      <dgm:spPr/>
      <dgm:t>
        <a:bodyPr/>
        <a:lstStyle/>
        <a:p>
          <a:endParaRPr lang="en-US"/>
        </a:p>
      </dgm:t>
    </dgm:pt>
    <dgm:pt modelId="{7F3E9D6A-85C9-42F0-B792-0A72EA27D77B}" type="sibTrans" cxnId="{6CAB22AD-E7C5-4581-8940-866AF016317B}">
      <dgm:prSet/>
      <dgm:spPr/>
      <dgm:t>
        <a:bodyPr/>
        <a:lstStyle/>
        <a:p>
          <a:endParaRPr lang="en-US"/>
        </a:p>
      </dgm:t>
    </dgm:pt>
    <dgm:pt modelId="{A6D05E02-DFEE-418E-BBD9-467CFFDF8862}">
      <dgm:prSet/>
      <dgm:spPr/>
      <dgm:t>
        <a:bodyPr/>
        <a:lstStyle/>
        <a:p>
          <a:r>
            <a:rPr lang="en-IN"/>
            <a:t>Enable continuous learning pipelines to keep the model updated with new data dynamically.</a:t>
          </a:r>
          <a:endParaRPr lang="en-US"/>
        </a:p>
      </dgm:t>
    </dgm:pt>
    <dgm:pt modelId="{00DC3EC0-24D5-4211-B4E0-A52B782F5576}" type="parTrans" cxnId="{518D169E-B7A7-4146-8A80-FA05B07E6519}">
      <dgm:prSet/>
      <dgm:spPr/>
      <dgm:t>
        <a:bodyPr/>
        <a:lstStyle/>
        <a:p>
          <a:endParaRPr lang="en-US"/>
        </a:p>
      </dgm:t>
    </dgm:pt>
    <dgm:pt modelId="{9DE7481E-07C9-4495-BE71-70B7D98207D4}" type="sibTrans" cxnId="{518D169E-B7A7-4146-8A80-FA05B07E6519}">
      <dgm:prSet/>
      <dgm:spPr/>
      <dgm:t>
        <a:bodyPr/>
        <a:lstStyle/>
        <a:p>
          <a:endParaRPr lang="en-US"/>
        </a:p>
      </dgm:t>
    </dgm:pt>
    <dgm:pt modelId="{3B50578E-BDAB-4819-8260-61A3B1ADC592}">
      <dgm:prSet/>
      <dgm:spPr/>
      <dgm:t>
        <a:bodyPr/>
        <a:lstStyle/>
        <a:p>
          <a:r>
            <a:rPr lang="en-IN"/>
            <a:t>Automate the training, testing, and deployment with CI/CD pipelines and cloud/containerized environments for production readiness.</a:t>
          </a:r>
          <a:endParaRPr lang="en-US"/>
        </a:p>
      </dgm:t>
    </dgm:pt>
    <dgm:pt modelId="{2CCD5972-9FB2-4BE0-90F4-E188BE4FAAB3}" type="parTrans" cxnId="{13254F84-C949-4B5B-A55D-55B0B749DA2D}">
      <dgm:prSet/>
      <dgm:spPr/>
      <dgm:t>
        <a:bodyPr/>
        <a:lstStyle/>
        <a:p>
          <a:endParaRPr lang="en-US"/>
        </a:p>
      </dgm:t>
    </dgm:pt>
    <dgm:pt modelId="{A1F1CF9B-BA0A-4585-8256-C29BCE5D26E6}" type="sibTrans" cxnId="{13254F84-C949-4B5B-A55D-55B0B749DA2D}">
      <dgm:prSet/>
      <dgm:spPr/>
      <dgm:t>
        <a:bodyPr/>
        <a:lstStyle/>
        <a:p>
          <a:endParaRPr lang="en-US"/>
        </a:p>
      </dgm:t>
    </dgm:pt>
    <dgm:pt modelId="{87AF1743-421B-4C0D-ACA1-CB592D49DAAE}">
      <dgm:prSet/>
      <dgm:spPr/>
      <dgm:t>
        <a:bodyPr/>
        <a:lstStyle/>
        <a:p>
          <a:r>
            <a:rPr lang="en-IN"/>
            <a:t>Extend to mobile platforms with Flutter or React Native for enhanced user accessibility and engagement.</a:t>
          </a:r>
          <a:endParaRPr lang="en-US"/>
        </a:p>
      </dgm:t>
    </dgm:pt>
    <dgm:pt modelId="{57544170-F410-41E0-B6B2-97142B1D9336}" type="parTrans" cxnId="{49A4176A-8A93-4444-9A7C-650D7542F09F}">
      <dgm:prSet/>
      <dgm:spPr/>
      <dgm:t>
        <a:bodyPr/>
        <a:lstStyle/>
        <a:p>
          <a:endParaRPr lang="en-US"/>
        </a:p>
      </dgm:t>
    </dgm:pt>
    <dgm:pt modelId="{EE806FEA-D613-4C61-A07B-6C1645D4E335}" type="sibTrans" cxnId="{49A4176A-8A93-4444-9A7C-650D7542F09F}">
      <dgm:prSet/>
      <dgm:spPr/>
      <dgm:t>
        <a:bodyPr/>
        <a:lstStyle/>
        <a:p>
          <a:endParaRPr lang="en-US"/>
        </a:p>
      </dgm:t>
    </dgm:pt>
    <dgm:pt modelId="{C29AACE1-3330-4E74-AABC-7FB4EBD569AC}" type="pres">
      <dgm:prSet presAssocID="{00008084-2E44-4CAF-AD8D-E963ED9EAF73}" presName="Name0" presStyleCnt="0">
        <dgm:presLayoutVars>
          <dgm:dir/>
          <dgm:resizeHandles val="exact"/>
        </dgm:presLayoutVars>
      </dgm:prSet>
      <dgm:spPr/>
    </dgm:pt>
    <dgm:pt modelId="{0A47DEC7-CF6D-4325-BE1A-9C997C93D37A}" type="pres">
      <dgm:prSet presAssocID="{3E44B791-EC68-4546-9AE3-5AEA60D66A48}" presName="node" presStyleLbl="node1" presStyleIdx="0" presStyleCnt="7">
        <dgm:presLayoutVars>
          <dgm:bulletEnabled val="1"/>
        </dgm:presLayoutVars>
      </dgm:prSet>
      <dgm:spPr/>
    </dgm:pt>
    <dgm:pt modelId="{0BA9CD5B-A984-478A-AB60-918AE3F04C19}" type="pres">
      <dgm:prSet presAssocID="{D28E3094-D586-4155-B807-638ADD629D99}" presName="sibTrans" presStyleLbl="sibTrans1D1" presStyleIdx="0" presStyleCnt="6"/>
      <dgm:spPr/>
    </dgm:pt>
    <dgm:pt modelId="{A4A35CEE-0E19-41D2-A08B-25CC803F3F3A}" type="pres">
      <dgm:prSet presAssocID="{D28E3094-D586-4155-B807-638ADD629D99}" presName="connectorText" presStyleLbl="sibTrans1D1" presStyleIdx="0" presStyleCnt="6"/>
      <dgm:spPr/>
    </dgm:pt>
    <dgm:pt modelId="{CCDE2AFE-4EC1-4F97-B2C1-AF25C2BF4FAB}" type="pres">
      <dgm:prSet presAssocID="{99C37841-E3EE-4879-8B03-C76723BDDC71}" presName="node" presStyleLbl="node1" presStyleIdx="1" presStyleCnt="7">
        <dgm:presLayoutVars>
          <dgm:bulletEnabled val="1"/>
        </dgm:presLayoutVars>
      </dgm:prSet>
      <dgm:spPr/>
    </dgm:pt>
    <dgm:pt modelId="{EF8CCE69-F1BC-40FB-AEB3-83B0DA08AADB}" type="pres">
      <dgm:prSet presAssocID="{DC30C5A2-81B7-4FA0-8C3C-32FFF358543D}" presName="sibTrans" presStyleLbl="sibTrans1D1" presStyleIdx="1" presStyleCnt="6"/>
      <dgm:spPr/>
    </dgm:pt>
    <dgm:pt modelId="{36836E10-5965-47B1-8423-131E44820CB6}" type="pres">
      <dgm:prSet presAssocID="{DC30C5A2-81B7-4FA0-8C3C-32FFF358543D}" presName="connectorText" presStyleLbl="sibTrans1D1" presStyleIdx="1" presStyleCnt="6"/>
      <dgm:spPr/>
    </dgm:pt>
    <dgm:pt modelId="{2A49419F-95C0-46AB-9C68-9D76CC3C3B6B}" type="pres">
      <dgm:prSet presAssocID="{5F3F0C08-A50B-4E4A-9231-79F7B4DEAF98}" presName="node" presStyleLbl="node1" presStyleIdx="2" presStyleCnt="7">
        <dgm:presLayoutVars>
          <dgm:bulletEnabled val="1"/>
        </dgm:presLayoutVars>
      </dgm:prSet>
      <dgm:spPr/>
    </dgm:pt>
    <dgm:pt modelId="{E6026AA6-4C89-4272-8B24-2E88E4A38A4D}" type="pres">
      <dgm:prSet presAssocID="{0EE25C5D-1D2C-4669-8F95-7FF4D62CB2D0}" presName="sibTrans" presStyleLbl="sibTrans1D1" presStyleIdx="2" presStyleCnt="6"/>
      <dgm:spPr/>
    </dgm:pt>
    <dgm:pt modelId="{D4136ACA-6B89-4F6F-A4AD-285817542C14}" type="pres">
      <dgm:prSet presAssocID="{0EE25C5D-1D2C-4669-8F95-7FF4D62CB2D0}" presName="connectorText" presStyleLbl="sibTrans1D1" presStyleIdx="2" presStyleCnt="6"/>
      <dgm:spPr/>
    </dgm:pt>
    <dgm:pt modelId="{F9910F4A-3EA4-4CCE-9EE7-8F17C70559BF}" type="pres">
      <dgm:prSet presAssocID="{F2E75B37-1EB0-46AB-80B6-25E3080964A1}" presName="node" presStyleLbl="node1" presStyleIdx="3" presStyleCnt="7">
        <dgm:presLayoutVars>
          <dgm:bulletEnabled val="1"/>
        </dgm:presLayoutVars>
      </dgm:prSet>
      <dgm:spPr/>
    </dgm:pt>
    <dgm:pt modelId="{AD845FE9-CC30-467B-A2EF-9CDE2D7A48FE}" type="pres">
      <dgm:prSet presAssocID="{7F3E9D6A-85C9-42F0-B792-0A72EA27D77B}" presName="sibTrans" presStyleLbl="sibTrans1D1" presStyleIdx="3" presStyleCnt="6"/>
      <dgm:spPr/>
    </dgm:pt>
    <dgm:pt modelId="{DBEFDCE1-0827-4A2C-A718-997D280A4780}" type="pres">
      <dgm:prSet presAssocID="{7F3E9D6A-85C9-42F0-B792-0A72EA27D77B}" presName="connectorText" presStyleLbl="sibTrans1D1" presStyleIdx="3" presStyleCnt="6"/>
      <dgm:spPr/>
    </dgm:pt>
    <dgm:pt modelId="{8521C826-7A39-40C7-8C82-72C41772309F}" type="pres">
      <dgm:prSet presAssocID="{A6D05E02-DFEE-418E-BBD9-467CFFDF8862}" presName="node" presStyleLbl="node1" presStyleIdx="4" presStyleCnt="7">
        <dgm:presLayoutVars>
          <dgm:bulletEnabled val="1"/>
        </dgm:presLayoutVars>
      </dgm:prSet>
      <dgm:spPr/>
    </dgm:pt>
    <dgm:pt modelId="{701A61C9-B1E5-4035-8FF9-C7A8E8A8C904}" type="pres">
      <dgm:prSet presAssocID="{9DE7481E-07C9-4495-BE71-70B7D98207D4}" presName="sibTrans" presStyleLbl="sibTrans1D1" presStyleIdx="4" presStyleCnt="6"/>
      <dgm:spPr/>
    </dgm:pt>
    <dgm:pt modelId="{BE941FB6-D278-480F-BC48-712BD57BDE1E}" type="pres">
      <dgm:prSet presAssocID="{9DE7481E-07C9-4495-BE71-70B7D98207D4}" presName="connectorText" presStyleLbl="sibTrans1D1" presStyleIdx="4" presStyleCnt="6"/>
      <dgm:spPr/>
    </dgm:pt>
    <dgm:pt modelId="{03853173-9402-4DE5-97DF-D8F6635100A2}" type="pres">
      <dgm:prSet presAssocID="{3B50578E-BDAB-4819-8260-61A3B1ADC592}" presName="node" presStyleLbl="node1" presStyleIdx="5" presStyleCnt="7">
        <dgm:presLayoutVars>
          <dgm:bulletEnabled val="1"/>
        </dgm:presLayoutVars>
      </dgm:prSet>
      <dgm:spPr/>
    </dgm:pt>
    <dgm:pt modelId="{8F5210DE-B973-4940-9559-2136E10107C6}" type="pres">
      <dgm:prSet presAssocID="{A1F1CF9B-BA0A-4585-8256-C29BCE5D26E6}" presName="sibTrans" presStyleLbl="sibTrans1D1" presStyleIdx="5" presStyleCnt="6"/>
      <dgm:spPr/>
    </dgm:pt>
    <dgm:pt modelId="{0548D658-E283-4159-9106-4E2FA9A91379}" type="pres">
      <dgm:prSet presAssocID="{A1F1CF9B-BA0A-4585-8256-C29BCE5D26E6}" presName="connectorText" presStyleLbl="sibTrans1D1" presStyleIdx="5" presStyleCnt="6"/>
      <dgm:spPr/>
    </dgm:pt>
    <dgm:pt modelId="{AEBCA02A-A59F-47C8-989D-05098571E8F1}" type="pres">
      <dgm:prSet presAssocID="{87AF1743-421B-4C0D-ACA1-CB592D49DAAE}" presName="node" presStyleLbl="node1" presStyleIdx="6" presStyleCnt="7">
        <dgm:presLayoutVars>
          <dgm:bulletEnabled val="1"/>
        </dgm:presLayoutVars>
      </dgm:prSet>
      <dgm:spPr/>
    </dgm:pt>
  </dgm:ptLst>
  <dgm:cxnLst>
    <dgm:cxn modelId="{07B02901-4112-4326-A5FF-FA19E77C4C44}" type="presOf" srcId="{7F3E9D6A-85C9-42F0-B792-0A72EA27D77B}" destId="{AD845FE9-CC30-467B-A2EF-9CDE2D7A48FE}" srcOrd="0" destOrd="0" presId="urn:microsoft.com/office/officeart/2016/7/layout/RepeatingBendingProcessNew"/>
    <dgm:cxn modelId="{3CF63706-CD83-4609-BF58-A4A075CDF11C}" srcId="{00008084-2E44-4CAF-AD8D-E963ED9EAF73}" destId="{99C37841-E3EE-4879-8B03-C76723BDDC71}" srcOrd="1" destOrd="0" parTransId="{B8115FE4-EF9D-40AA-80B0-FAD1DB6DA2BC}" sibTransId="{DC30C5A2-81B7-4FA0-8C3C-32FFF358543D}"/>
    <dgm:cxn modelId="{04C64706-D411-48EA-A98F-C8845316E93C}" type="presOf" srcId="{99C37841-E3EE-4879-8B03-C76723BDDC71}" destId="{CCDE2AFE-4EC1-4F97-B2C1-AF25C2BF4FAB}" srcOrd="0" destOrd="0" presId="urn:microsoft.com/office/officeart/2016/7/layout/RepeatingBendingProcessNew"/>
    <dgm:cxn modelId="{83F78A12-EB89-459C-8A89-30D7730F50B3}" type="presOf" srcId="{DC30C5A2-81B7-4FA0-8C3C-32FFF358543D}" destId="{36836E10-5965-47B1-8423-131E44820CB6}" srcOrd="1" destOrd="0" presId="urn:microsoft.com/office/officeart/2016/7/layout/RepeatingBendingProcessNew"/>
    <dgm:cxn modelId="{D7282C21-3376-4083-9D95-2B80E8E562A9}" type="presOf" srcId="{A6D05E02-DFEE-418E-BBD9-467CFFDF8862}" destId="{8521C826-7A39-40C7-8C82-72C41772309F}" srcOrd="0" destOrd="0" presId="urn:microsoft.com/office/officeart/2016/7/layout/RepeatingBendingProcessNew"/>
    <dgm:cxn modelId="{4D1E1226-5755-4EC7-BF53-8E8192BA2EB6}" type="presOf" srcId="{F2E75B37-1EB0-46AB-80B6-25E3080964A1}" destId="{F9910F4A-3EA4-4CCE-9EE7-8F17C70559BF}" srcOrd="0" destOrd="0" presId="urn:microsoft.com/office/officeart/2016/7/layout/RepeatingBendingProcessNew"/>
    <dgm:cxn modelId="{40C80730-C382-4EBC-8589-27F977EE593A}" type="presOf" srcId="{0EE25C5D-1D2C-4669-8F95-7FF4D62CB2D0}" destId="{E6026AA6-4C89-4272-8B24-2E88E4A38A4D}" srcOrd="0" destOrd="0" presId="urn:microsoft.com/office/officeart/2016/7/layout/RepeatingBendingProcessNew"/>
    <dgm:cxn modelId="{D5C6E937-126B-4025-ABC0-AF67CB09B22E}" type="presOf" srcId="{A1F1CF9B-BA0A-4585-8256-C29BCE5D26E6}" destId="{8F5210DE-B973-4940-9559-2136E10107C6}" srcOrd="0" destOrd="0" presId="urn:microsoft.com/office/officeart/2016/7/layout/RepeatingBendingProcessNew"/>
    <dgm:cxn modelId="{B979E75B-E8B8-45F3-8321-73AA236EAD60}" type="presOf" srcId="{A1F1CF9B-BA0A-4585-8256-C29BCE5D26E6}" destId="{0548D658-E283-4159-9106-4E2FA9A91379}" srcOrd="1" destOrd="0" presId="urn:microsoft.com/office/officeart/2016/7/layout/RepeatingBendingProcessNew"/>
    <dgm:cxn modelId="{420A665D-BD7D-48DF-875E-7EA913CE3513}" type="presOf" srcId="{D28E3094-D586-4155-B807-638ADD629D99}" destId="{A4A35CEE-0E19-41D2-A08B-25CC803F3F3A}" srcOrd="1" destOrd="0" presId="urn:microsoft.com/office/officeart/2016/7/layout/RepeatingBendingProcessNew"/>
    <dgm:cxn modelId="{49A4176A-8A93-4444-9A7C-650D7542F09F}" srcId="{00008084-2E44-4CAF-AD8D-E963ED9EAF73}" destId="{87AF1743-421B-4C0D-ACA1-CB592D49DAAE}" srcOrd="6" destOrd="0" parTransId="{57544170-F410-41E0-B6B2-97142B1D9336}" sibTransId="{EE806FEA-D613-4C61-A07B-6C1645D4E335}"/>
    <dgm:cxn modelId="{E7DBFA4E-E7DF-4555-B316-1026DB949B55}" srcId="{00008084-2E44-4CAF-AD8D-E963ED9EAF73}" destId="{5F3F0C08-A50B-4E4A-9231-79F7B4DEAF98}" srcOrd="2" destOrd="0" parTransId="{C9570ACE-1E84-4B94-B694-34C6F5987728}" sibTransId="{0EE25C5D-1D2C-4669-8F95-7FF4D62CB2D0}"/>
    <dgm:cxn modelId="{B9319A7B-D5DC-4534-BECA-683C514B4617}" type="presOf" srcId="{3E44B791-EC68-4546-9AE3-5AEA60D66A48}" destId="{0A47DEC7-CF6D-4325-BE1A-9C997C93D37A}" srcOrd="0" destOrd="0" presId="urn:microsoft.com/office/officeart/2016/7/layout/RepeatingBendingProcessNew"/>
    <dgm:cxn modelId="{13254F84-C949-4B5B-A55D-55B0B749DA2D}" srcId="{00008084-2E44-4CAF-AD8D-E963ED9EAF73}" destId="{3B50578E-BDAB-4819-8260-61A3B1ADC592}" srcOrd="5" destOrd="0" parTransId="{2CCD5972-9FB2-4BE0-90F4-E188BE4FAAB3}" sibTransId="{A1F1CF9B-BA0A-4585-8256-C29BCE5D26E6}"/>
    <dgm:cxn modelId="{3F2F648D-E650-4DD3-8092-B4001CAD05B1}" type="presOf" srcId="{D28E3094-D586-4155-B807-638ADD629D99}" destId="{0BA9CD5B-A984-478A-AB60-918AE3F04C19}" srcOrd="0" destOrd="0" presId="urn:microsoft.com/office/officeart/2016/7/layout/RepeatingBendingProcessNew"/>
    <dgm:cxn modelId="{A2DD6D97-B972-4752-9C71-3C5B8AD0B219}" type="presOf" srcId="{87AF1743-421B-4C0D-ACA1-CB592D49DAAE}" destId="{AEBCA02A-A59F-47C8-989D-05098571E8F1}" srcOrd="0" destOrd="0" presId="urn:microsoft.com/office/officeart/2016/7/layout/RepeatingBendingProcessNew"/>
    <dgm:cxn modelId="{2A034E9C-C4AF-4519-B3D4-9D97BA0D8B0A}" type="presOf" srcId="{DC30C5A2-81B7-4FA0-8C3C-32FFF358543D}" destId="{EF8CCE69-F1BC-40FB-AEB3-83B0DA08AADB}" srcOrd="0" destOrd="0" presId="urn:microsoft.com/office/officeart/2016/7/layout/RepeatingBendingProcessNew"/>
    <dgm:cxn modelId="{518D169E-B7A7-4146-8A80-FA05B07E6519}" srcId="{00008084-2E44-4CAF-AD8D-E963ED9EAF73}" destId="{A6D05E02-DFEE-418E-BBD9-467CFFDF8862}" srcOrd="4" destOrd="0" parTransId="{00DC3EC0-24D5-4211-B4E0-A52B782F5576}" sibTransId="{9DE7481E-07C9-4495-BE71-70B7D98207D4}"/>
    <dgm:cxn modelId="{59AF8FA0-9711-421A-B305-BC12E0EF79AD}" type="presOf" srcId="{7F3E9D6A-85C9-42F0-B792-0A72EA27D77B}" destId="{DBEFDCE1-0827-4A2C-A718-997D280A4780}" srcOrd="1" destOrd="0" presId="urn:microsoft.com/office/officeart/2016/7/layout/RepeatingBendingProcessNew"/>
    <dgm:cxn modelId="{2965F2A1-A4D5-4320-8717-D2DD08EDBD30}" type="presOf" srcId="{3B50578E-BDAB-4819-8260-61A3B1ADC592}" destId="{03853173-9402-4DE5-97DF-D8F6635100A2}" srcOrd="0" destOrd="0" presId="urn:microsoft.com/office/officeart/2016/7/layout/RepeatingBendingProcessNew"/>
    <dgm:cxn modelId="{FC240BA3-AEBC-4074-BF7F-2DE55A0FF96A}" srcId="{00008084-2E44-4CAF-AD8D-E963ED9EAF73}" destId="{3E44B791-EC68-4546-9AE3-5AEA60D66A48}" srcOrd="0" destOrd="0" parTransId="{DD3CBFD9-9801-4384-B4E9-D028737AC604}" sibTransId="{D28E3094-D586-4155-B807-638ADD629D99}"/>
    <dgm:cxn modelId="{2EB62DA4-BA4A-4E82-976C-8918856377D9}" type="presOf" srcId="{9DE7481E-07C9-4495-BE71-70B7D98207D4}" destId="{BE941FB6-D278-480F-BC48-712BD57BDE1E}" srcOrd="1" destOrd="0" presId="urn:microsoft.com/office/officeart/2016/7/layout/RepeatingBendingProcessNew"/>
    <dgm:cxn modelId="{2D51DAA6-0BD4-45EC-9A47-FB80AD74F7D0}" type="presOf" srcId="{00008084-2E44-4CAF-AD8D-E963ED9EAF73}" destId="{C29AACE1-3330-4E74-AABC-7FB4EBD569AC}" srcOrd="0" destOrd="0" presId="urn:microsoft.com/office/officeart/2016/7/layout/RepeatingBendingProcessNew"/>
    <dgm:cxn modelId="{6CAB22AD-E7C5-4581-8940-866AF016317B}" srcId="{00008084-2E44-4CAF-AD8D-E963ED9EAF73}" destId="{F2E75B37-1EB0-46AB-80B6-25E3080964A1}" srcOrd="3" destOrd="0" parTransId="{778E3FE2-E6C9-4EE2-87F3-114415E25F1A}" sibTransId="{7F3E9D6A-85C9-42F0-B792-0A72EA27D77B}"/>
    <dgm:cxn modelId="{542999C1-1FD4-4E24-8957-6B8AD0DB274F}" type="presOf" srcId="{0EE25C5D-1D2C-4669-8F95-7FF4D62CB2D0}" destId="{D4136ACA-6B89-4F6F-A4AD-285817542C14}" srcOrd="1" destOrd="0" presId="urn:microsoft.com/office/officeart/2016/7/layout/RepeatingBendingProcessNew"/>
    <dgm:cxn modelId="{EC5E48FC-300E-4429-ADF9-097664E0A2EA}" type="presOf" srcId="{5F3F0C08-A50B-4E4A-9231-79F7B4DEAF98}" destId="{2A49419F-95C0-46AB-9C68-9D76CC3C3B6B}" srcOrd="0" destOrd="0" presId="urn:microsoft.com/office/officeart/2016/7/layout/RepeatingBendingProcessNew"/>
    <dgm:cxn modelId="{DDFC56FC-BD56-4DD1-BD9A-09ADA6F74719}" type="presOf" srcId="{9DE7481E-07C9-4495-BE71-70B7D98207D4}" destId="{701A61C9-B1E5-4035-8FF9-C7A8E8A8C904}" srcOrd="0" destOrd="0" presId="urn:microsoft.com/office/officeart/2016/7/layout/RepeatingBendingProcessNew"/>
    <dgm:cxn modelId="{7577A063-E5E2-41F9-8C65-BB786740CD4D}" type="presParOf" srcId="{C29AACE1-3330-4E74-AABC-7FB4EBD569AC}" destId="{0A47DEC7-CF6D-4325-BE1A-9C997C93D37A}" srcOrd="0" destOrd="0" presId="urn:microsoft.com/office/officeart/2016/7/layout/RepeatingBendingProcessNew"/>
    <dgm:cxn modelId="{395661D2-399D-445C-9605-56E375640213}" type="presParOf" srcId="{C29AACE1-3330-4E74-AABC-7FB4EBD569AC}" destId="{0BA9CD5B-A984-478A-AB60-918AE3F04C19}" srcOrd="1" destOrd="0" presId="urn:microsoft.com/office/officeart/2016/7/layout/RepeatingBendingProcessNew"/>
    <dgm:cxn modelId="{0F30A573-DB27-4B79-944A-FE260017967D}" type="presParOf" srcId="{0BA9CD5B-A984-478A-AB60-918AE3F04C19}" destId="{A4A35CEE-0E19-41D2-A08B-25CC803F3F3A}" srcOrd="0" destOrd="0" presId="urn:microsoft.com/office/officeart/2016/7/layout/RepeatingBendingProcessNew"/>
    <dgm:cxn modelId="{F8A7CBCA-36C6-4A44-ACEF-6CDA4382ED41}" type="presParOf" srcId="{C29AACE1-3330-4E74-AABC-7FB4EBD569AC}" destId="{CCDE2AFE-4EC1-4F97-B2C1-AF25C2BF4FAB}" srcOrd="2" destOrd="0" presId="urn:microsoft.com/office/officeart/2016/7/layout/RepeatingBendingProcessNew"/>
    <dgm:cxn modelId="{83719E10-D5B8-4588-9A1D-F111756D28DB}" type="presParOf" srcId="{C29AACE1-3330-4E74-AABC-7FB4EBD569AC}" destId="{EF8CCE69-F1BC-40FB-AEB3-83B0DA08AADB}" srcOrd="3" destOrd="0" presId="urn:microsoft.com/office/officeart/2016/7/layout/RepeatingBendingProcessNew"/>
    <dgm:cxn modelId="{6E3CBCBE-F8D5-4B4C-9CE0-E5D065D728C4}" type="presParOf" srcId="{EF8CCE69-F1BC-40FB-AEB3-83B0DA08AADB}" destId="{36836E10-5965-47B1-8423-131E44820CB6}" srcOrd="0" destOrd="0" presId="urn:microsoft.com/office/officeart/2016/7/layout/RepeatingBendingProcessNew"/>
    <dgm:cxn modelId="{552E7CAE-7CB8-42E5-A27E-80954F1AB69A}" type="presParOf" srcId="{C29AACE1-3330-4E74-AABC-7FB4EBD569AC}" destId="{2A49419F-95C0-46AB-9C68-9D76CC3C3B6B}" srcOrd="4" destOrd="0" presId="urn:microsoft.com/office/officeart/2016/7/layout/RepeatingBendingProcessNew"/>
    <dgm:cxn modelId="{1479E0F9-0568-4414-86CE-EFAD35B7C45E}" type="presParOf" srcId="{C29AACE1-3330-4E74-AABC-7FB4EBD569AC}" destId="{E6026AA6-4C89-4272-8B24-2E88E4A38A4D}" srcOrd="5" destOrd="0" presId="urn:microsoft.com/office/officeart/2016/7/layout/RepeatingBendingProcessNew"/>
    <dgm:cxn modelId="{E46883FF-72ED-4BF5-8331-D67DBFA817C6}" type="presParOf" srcId="{E6026AA6-4C89-4272-8B24-2E88E4A38A4D}" destId="{D4136ACA-6B89-4F6F-A4AD-285817542C14}" srcOrd="0" destOrd="0" presId="urn:microsoft.com/office/officeart/2016/7/layout/RepeatingBendingProcessNew"/>
    <dgm:cxn modelId="{443DD44F-EBE1-4036-8CE4-2558A550A72B}" type="presParOf" srcId="{C29AACE1-3330-4E74-AABC-7FB4EBD569AC}" destId="{F9910F4A-3EA4-4CCE-9EE7-8F17C70559BF}" srcOrd="6" destOrd="0" presId="urn:microsoft.com/office/officeart/2016/7/layout/RepeatingBendingProcessNew"/>
    <dgm:cxn modelId="{FF0CBC78-D101-41A1-B848-4A726CBB5388}" type="presParOf" srcId="{C29AACE1-3330-4E74-AABC-7FB4EBD569AC}" destId="{AD845FE9-CC30-467B-A2EF-9CDE2D7A48FE}" srcOrd="7" destOrd="0" presId="urn:microsoft.com/office/officeart/2016/7/layout/RepeatingBendingProcessNew"/>
    <dgm:cxn modelId="{301CF4B1-9CFD-4BB5-A4D5-D146D183B7E7}" type="presParOf" srcId="{AD845FE9-CC30-467B-A2EF-9CDE2D7A48FE}" destId="{DBEFDCE1-0827-4A2C-A718-997D280A4780}" srcOrd="0" destOrd="0" presId="urn:microsoft.com/office/officeart/2016/7/layout/RepeatingBendingProcessNew"/>
    <dgm:cxn modelId="{645D9F2F-872E-45D8-920C-F5C270996238}" type="presParOf" srcId="{C29AACE1-3330-4E74-AABC-7FB4EBD569AC}" destId="{8521C826-7A39-40C7-8C82-72C41772309F}" srcOrd="8" destOrd="0" presId="urn:microsoft.com/office/officeart/2016/7/layout/RepeatingBendingProcessNew"/>
    <dgm:cxn modelId="{FA715A74-6A05-4E2F-B08D-F71AD4FEFA9B}" type="presParOf" srcId="{C29AACE1-3330-4E74-AABC-7FB4EBD569AC}" destId="{701A61C9-B1E5-4035-8FF9-C7A8E8A8C904}" srcOrd="9" destOrd="0" presId="urn:microsoft.com/office/officeart/2016/7/layout/RepeatingBendingProcessNew"/>
    <dgm:cxn modelId="{0C28B4EE-3CDD-42E3-B674-BDEBFEBD4899}" type="presParOf" srcId="{701A61C9-B1E5-4035-8FF9-C7A8E8A8C904}" destId="{BE941FB6-D278-480F-BC48-712BD57BDE1E}" srcOrd="0" destOrd="0" presId="urn:microsoft.com/office/officeart/2016/7/layout/RepeatingBendingProcessNew"/>
    <dgm:cxn modelId="{40393214-E5BA-4657-A481-91CEC552C046}" type="presParOf" srcId="{C29AACE1-3330-4E74-AABC-7FB4EBD569AC}" destId="{03853173-9402-4DE5-97DF-D8F6635100A2}" srcOrd="10" destOrd="0" presId="urn:microsoft.com/office/officeart/2016/7/layout/RepeatingBendingProcessNew"/>
    <dgm:cxn modelId="{DE796728-6F17-4638-AAF3-34F2F5A83696}" type="presParOf" srcId="{C29AACE1-3330-4E74-AABC-7FB4EBD569AC}" destId="{8F5210DE-B973-4940-9559-2136E10107C6}" srcOrd="11" destOrd="0" presId="urn:microsoft.com/office/officeart/2016/7/layout/RepeatingBendingProcessNew"/>
    <dgm:cxn modelId="{395A68E0-CDD8-4DF0-A7C2-A4C661FCBDCD}" type="presParOf" srcId="{8F5210DE-B973-4940-9559-2136E10107C6}" destId="{0548D658-E283-4159-9106-4E2FA9A91379}" srcOrd="0" destOrd="0" presId="urn:microsoft.com/office/officeart/2016/7/layout/RepeatingBendingProcessNew"/>
    <dgm:cxn modelId="{63534D55-83D6-4130-A506-2F73A2B39E1A}" type="presParOf" srcId="{C29AACE1-3330-4E74-AABC-7FB4EBD569AC}" destId="{AEBCA02A-A59F-47C8-989D-05098571E8F1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214B7-F7AC-4D29-BB9C-8368F970684E}">
      <dsp:nvSpPr>
        <dsp:cNvPr id="0" name=""/>
        <dsp:cNvSpPr/>
      </dsp:nvSpPr>
      <dsp:spPr>
        <a:xfrm>
          <a:off x="79209" y="621072"/>
          <a:ext cx="828117" cy="8281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FDDF6-6161-4974-8BE5-40C37DB42664}">
      <dsp:nvSpPr>
        <dsp:cNvPr id="0" name=""/>
        <dsp:cNvSpPr/>
      </dsp:nvSpPr>
      <dsp:spPr>
        <a:xfrm>
          <a:off x="253114" y="794977"/>
          <a:ext cx="480308" cy="480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6272B-465A-4BFC-A84F-61F5C3A1CF37}">
      <dsp:nvSpPr>
        <dsp:cNvPr id="0" name=""/>
        <dsp:cNvSpPr/>
      </dsp:nvSpPr>
      <dsp:spPr>
        <a:xfrm>
          <a:off x="1084780" y="621072"/>
          <a:ext cx="1951990" cy="82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Synthetic Dataset Generation:</a:t>
          </a:r>
          <a:br>
            <a:rPr lang="en-IN" sz="1100" kern="1200"/>
          </a:br>
          <a:r>
            <a:rPr lang="en-IN" sz="1100" kern="1200"/>
            <a:t>Developed a comprehensive synthetic dataset with 8,000 records representing diverse user profiles. The data included demographic, financial, and behavioral variables critical for assessing loan eligibility.</a:t>
          </a:r>
          <a:endParaRPr lang="en-US" sz="1100" kern="1200"/>
        </a:p>
      </dsp:txBody>
      <dsp:txXfrm>
        <a:off x="1084780" y="621072"/>
        <a:ext cx="1951990" cy="828117"/>
      </dsp:txXfrm>
    </dsp:sp>
    <dsp:sp modelId="{D3AA1EB0-384D-4DC8-B05A-73C0A8E0D586}">
      <dsp:nvSpPr>
        <dsp:cNvPr id="0" name=""/>
        <dsp:cNvSpPr/>
      </dsp:nvSpPr>
      <dsp:spPr>
        <a:xfrm>
          <a:off x="3376891" y="621072"/>
          <a:ext cx="828117" cy="8281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B39EA-EBDA-426F-8471-498BA3A03288}">
      <dsp:nvSpPr>
        <dsp:cNvPr id="0" name=""/>
        <dsp:cNvSpPr/>
      </dsp:nvSpPr>
      <dsp:spPr>
        <a:xfrm>
          <a:off x="3550795" y="794977"/>
          <a:ext cx="480308" cy="480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92C9C-4D41-4714-BA87-EA6BF4205A63}">
      <dsp:nvSpPr>
        <dsp:cNvPr id="0" name=""/>
        <dsp:cNvSpPr/>
      </dsp:nvSpPr>
      <dsp:spPr>
        <a:xfrm>
          <a:off x="4382462" y="621072"/>
          <a:ext cx="1951990" cy="82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Feature Engineering and Data Preprocessing:</a:t>
          </a:r>
          <a:br>
            <a:rPr lang="en-IN" sz="1100" kern="1200"/>
          </a:br>
          <a:r>
            <a:rPr lang="en-IN" sz="1100" kern="1200"/>
            <a:t>Created derived features such as debt-to-income ratio and experience-to-age ratio to better capture financial stability and risk. Applied label encoding for categorical variables and standardized numerical features to ensure consistency.</a:t>
          </a:r>
          <a:endParaRPr lang="en-US" sz="1100" kern="1200"/>
        </a:p>
      </dsp:txBody>
      <dsp:txXfrm>
        <a:off x="4382462" y="621072"/>
        <a:ext cx="1951990" cy="828117"/>
      </dsp:txXfrm>
    </dsp:sp>
    <dsp:sp modelId="{620D01F7-A540-4CB1-B126-091C3A2AC787}">
      <dsp:nvSpPr>
        <dsp:cNvPr id="0" name=""/>
        <dsp:cNvSpPr/>
      </dsp:nvSpPr>
      <dsp:spPr>
        <a:xfrm>
          <a:off x="79209" y="2409045"/>
          <a:ext cx="828117" cy="8281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7260B-8F95-4BAA-B097-EBE643E569B9}">
      <dsp:nvSpPr>
        <dsp:cNvPr id="0" name=""/>
        <dsp:cNvSpPr/>
      </dsp:nvSpPr>
      <dsp:spPr>
        <a:xfrm>
          <a:off x="253114" y="2582949"/>
          <a:ext cx="480308" cy="480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E8D05-5269-4053-BEEF-406DCCCDE8C1}">
      <dsp:nvSpPr>
        <dsp:cNvPr id="0" name=""/>
        <dsp:cNvSpPr/>
      </dsp:nvSpPr>
      <dsp:spPr>
        <a:xfrm>
          <a:off x="1084780" y="2409045"/>
          <a:ext cx="1951990" cy="82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Model Training and Optimization:</a:t>
          </a:r>
          <a:br>
            <a:rPr lang="en-IN" sz="1100" kern="1200"/>
          </a:br>
          <a:r>
            <a:rPr lang="en-IN" sz="1100" kern="1200"/>
            <a:t>Trained an XGBoost classifier, performing extensive hyperparameter tuning with GridSearchCV and cross-validation to maximize predictive accuracy and generalization on unseen data.</a:t>
          </a:r>
          <a:endParaRPr lang="en-US" sz="1100" kern="1200"/>
        </a:p>
      </dsp:txBody>
      <dsp:txXfrm>
        <a:off x="1084780" y="2409045"/>
        <a:ext cx="1951990" cy="828117"/>
      </dsp:txXfrm>
    </dsp:sp>
    <dsp:sp modelId="{9936DFBA-7BD9-49B2-80B1-2DDD8A791948}">
      <dsp:nvSpPr>
        <dsp:cNvPr id="0" name=""/>
        <dsp:cNvSpPr/>
      </dsp:nvSpPr>
      <dsp:spPr>
        <a:xfrm>
          <a:off x="3376891" y="2409045"/>
          <a:ext cx="828117" cy="8281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1D5E1-EDF4-41AF-96AD-B1A313461406}">
      <dsp:nvSpPr>
        <dsp:cNvPr id="0" name=""/>
        <dsp:cNvSpPr/>
      </dsp:nvSpPr>
      <dsp:spPr>
        <a:xfrm>
          <a:off x="3550795" y="2582949"/>
          <a:ext cx="480308" cy="480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F24EF-AD81-4F08-91CE-662134A59732}">
      <dsp:nvSpPr>
        <dsp:cNvPr id="0" name=""/>
        <dsp:cNvSpPr/>
      </dsp:nvSpPr>
      <dsp:spPr>
        <a:xfrm>
          <a:off x="4382462" y="2409045"/>
          <a:ext cx="1951990" cy="82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Model Evaluation:</a:t>
          </a:r>
          <a:br>
            <a:rPr lang="en-IN" sz="1100" kern="1200"/>
          </a:br>
          <a:r>
            <a:rPr lang="en-IN" sz="1100" kern="1200"/>
            <a:t>Assessed the model using multiple evaluation metrics including accuracy, precision, recall, F1-score, and ROC-AUC. Performed detailed confusion matrix analysis to interpret classification outcomes and refine decision thresholds.</a:t>
          </a:r>
          <a:endParaRPr lang="en-US" sz="1100" kern="1200"/>
        </a:p>
      </dsp:txBody>
      <dsp:txXfrm>
        <a:off x="4382462" y="2409045"/>
        <a:ext cx="1951990" cy="828117"/>
      </dsp:txXfrm>
    </dsp:sp>
    <dsp:sp modelId="{E95B7A29-0525-4807-AF6E-489050D6898B}">
      <dsp:nvSpPr>
        <dsp:cNvPr id="0" name=""/>
        <dsp:cNvSpPr/>
      </dsp:nvSpPr>
      <dsp:spPr>
        <a:xfrm>
          <a:off x="79209" y="4197018"/>
          <a:ext cx="828117" cy="8281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EC251-8E5B-4F53-8A44-47F514FD54A4}">
      <dsp:nvSpPr>
        <dsp:cNvPr id="0" name=""/>
        <dsp:cNvSpPr/>
      </dsp:nvSpPr>
      <dsp:spPr>
        <a:xfrm>
          <a:off x="253114" y="4370922"/>
          <a:ext cx="480308" cy="480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4E9B6-A2C8-40FF-81AC-1FA556AC4442}">
      <dsp:nvSpPr>
        <dsp:cNvPr id="0" name=""/>
        <dsp:cNvSpPr/>
      </dsp:nvSpPr>
      <dsp:spPr>
        <a:xfrm>
          <a:off x="1084780" y="4197018"/>
          <a:ext cx="1951990" cy="828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Application Development and Deployment:</a:t>
          </a:r>
          <a:br>
            <a:rPr lang="en-IN" sz="1100" kern="1200"/>
          </a:br>
          <a:r>
            <a:rPr lang="en-IN" sz="1100" kern="1200"/>
            <a:t>Integrated the trained model into an interactive Streamlit application, enabling real-time loan eligibility prediction, dynamic loan recommendations, and automated EMI calculations through a user-friendly interface.</a:t>
          </a:r>
          <a:endParaRPr lang="en-US" sz="1100" kern="1200"/>
        </a:p>
      </dsp:txBody>
      <dsp:txXfrm>
        <a:off x="1084780" y="4197018"/>
        <a:ext cx="1951990" cy="8281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9CD5B-A984-478A-AB60-918AE3F04C19}">
      <dsp:nvSpPr>
        <dsp:cNvPr id="0" name=""/>
        <dsp:cNvSpPr/>
      </dsp:nvSpPr>
      <dsp:spPr>
        <a:xfrm>
          <a:off x="2143996" y="957645"/>
          <a:ext cx="4624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247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2905" y="1000899"/>
        <a:ext cx="24653" cy="4930"/>
      </dsp:txXfrm>
    </dsp:sp>
    <dsp:sp modelId="{0A47DEC7-CF6D-4325-BE1A-9C997C93D37A}">
      <dsp:nvSpPr>
        <dsp:cNvPr id="0" name=""/>
        <dsp:cNvSpPr/>
      </dsp:nvSpPr>
      <dsp:spPr>
        <a:xfrm>
          <a:off x="2001" y="360226"/>
          <a:ext cx="2143794" cy="12862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Integrate real-world banking datasets to validate and improve model generalizability.</a:t>
          </a:r>
          <a:endParaRPr lang="en-US" sz="1200" kern="1200"/>
        </a:p>
      </dsp:txBody>
      <dsp:txXfrm>
        <a:off x="2001" y="360226"/>
        <a:ext cx="2143794" cy="1286276"/>
      </dsp:txXfrm>
    </dsp:sp>
    <dsp:sp modelId="{EF8CCE69-F1BC-40FB-AEB3-83B0DA08AADB}">
      <dsp:nvSpPr>
        <dsp:cNvPr id="0" name=""/>
        <dsp:cNvSpPr/>
      </dsp:nvSpPr>
      <dsp:spPr>
        <a:xfrm>
          <a:off x="4780863" y="957645"/>
          <a:ext cx="4624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2472" y="45720"/>
              </a:lnTo>
            </a:path>
          </a:pathLst>
        </a:custGeom>
        <a:noFill/>
        <a:ln w="12700" cap="flat" cmpd="sng" algn="ctr">
          <a:solidFill>
            <a:schemeClr val="accent2">
              <a:hueOff val="7808"/>
              <a:satOff val="-5375"/>
              <a:lumOff val="-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99773" y="1000899"/>
        <a:ext cx="24653" cy="4930"/>
      </dsp:txXfrm>
    </dsp:sp>
    <dsp:sp modelId="{CCDE2AFE-4EC1-4F97-B2C1-AF25C2BF4FAB}">
      <dsp:nvSpPr>
        <dsp:cNvPr id="0" name=""/>
        <dsp:cNvSpPr/>
      </dsp:nvSpPr>
      <dsp:spPr>
        <a:xfrm>
          <a:off x="2638868" y="360226"/>
          <a:ext cx="2143794" cy="1286276"/>
        </a:xfrm>
        <a:prstGeom prst="rect">
          <a:avLst/>
        </a:prstGeom>
        <a:solidFill>
          <a:schemeClr val="accent2">
            <a:hueOff val="6506"/>
            <a:satOff val="-4479"/>
            <a:lumOff val="-114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Develop mobile apps and REST APIs to deliver real-time loan eligibility checks at scale.</a:t>
          </a:r>
          <a:endParaRPr lang="en-US" sz="1200" kern="1200"/>
        </a:p>
      </dsp:txBody>
      <dsp:txXfrm>
        <a:off x="2638868" y="360226"/>
        <a:ext cx="2143794" cy="1286276"/>
      </dsp:txXfrm>
    </dsp:sp>
    <dsp:sp modelId="{E6026AA6-4C89-4272-8B24-2E88E4A38A4D}">
      <dsp:nvSpPr>
        <dsp:cNvPr id="0" name=""/>
        <dsp:cNvSpPr/>
      </dsp:nvSpPr>
      <dsp:spPr>
        <a:xfrm>
          <a:off x="7417731" y="957645"/>
          <a:ext cx="4624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2472" y="45720"/>
              </a:lnTo>
            </a:path>
          </a:pathLst>
        </a:custGeom>
        <a:noFill/>
        <a:ln w="12700" cap="flat" cmpd="sng" algn="ctr">
          <a:solidFill>
            <a:schemeClr val="accent2">
              <a:hueOff val="15615"/>
              <a:satOff val="-10750"/>
              <a:lumOff val="-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36640" y="1000899"/>
        <a:ext cx="24653" cy="4930"/>
      </dsp:txXfrm>
    </dsp:sp>
    <dsp:sp modelId="{2A49419F-95C0-46AB-9C68-9D76CC3C3B6B}">
      <dsp:nvSpPr>
        <dsp:cNvPr id="0" name=""/>
        <dsp:cNvSpPr/>
      </dsp:nvSpPr>
      <dsp:spPr>
        <a:xfrm>
          <a:off x="5275736" y="360226"/>
          <a:ext cx="2143794" cy="1286276"/>
        </a:xfrm>
        <a:prstGeom prst="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Incorporate Explainable AI techniques like SHAP or LIME to improve model transparency and regulatory compliance.</a:t>
          </a:r>
          <a:endParaRPr lang="en-US" sz="1200" kern="1200"/>
        </a:p>
      </dsp:txBody>
      <dsp:txXfrm>
        <a:off x="5275736" y="360226"/>
        <a:ext cx="2143794" cy="1286276"/>
      </dsp:txXfrm>
    </dsp:sp>
    <dsp:sp modelId="{AD845FE9-CC30-467B-A2EF-9CDE2D7A48FE}">
      <dsp:nvSpPr>
        <dsp:cNvPr id="0" name=""/>
        <dsp:cNvSpPr/>
      </dsp:nvSpPr>
      <dsp:spPr>
        <a:xfrm>
          <a:off x="1073898" y="1644703"/>
          <a:ext cx="7910602" cy="462472"/>
        </a:xfrm>
        <a:custGeom>
          <a:avLst/>
          <a:gdLst/>
          <a:ahLst/>
          <a:cxnLst/>
          <a:rect l="0" t="0" r="0" b="0"/>
          <a:pathLst>
            <a:path>
              <a:moveTo>
                <a:pt x="7910602" y="0"/>
              </a:moveTo>
              <a:lnTo>
                <a:pt x="7910602" y="248336"/>
              </a:lnTo>
              <a:lnTo>
                <a:pt x="0" y="248336"/>
              </a:lnTo>
              <a:lnTo>
                <a:pt x="0" y="462472"/>
              </a:lnTo>
            </a:path>
          </a:pathLst>
        </a:custGeom>
        <a:noFill/>
        <a:ln w="12700" cap="flat" cmpd="sng" algn="ctr">
          <a:solidFill>
            <a:schemeClr val="accent2">
              <a:hueOff val="23423"/>
              <a:satOff val="-16126"/>
              <a:lumOff val="-41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31051" y="1873474"/>
        <a:ext cx="396297" cy="4930"/>
      </dsp:txXfrm>
    </dsp:sp>
    <dsp:sp modelId="{F9910F4A-3EA4-4CCE-9EE7-8F17C70559BF}">
      <dsp:nvSpPr>
        <dsp:cNvPr id="0" name=""/>
        <dsp:cNvSpPr/>
      </dsp:nvSpPr>
      <dsp:spPr>
        <a:xfrm>
          <a:off x="7912603" y="360226"/>
          <a:ext cx="2143794" cy="1286276"/>
        </a:xfrm>
        <a:prstGeom prst="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Expand to advanced risk modeling—predicting credit risk grades and default probabilities, leveraging more diverse data sources.</a:t>
          </a:r>
          <a:endParaRPr lang="en-US" sz="1200" kern="1200"/>
        </a:p>
      </dsp:txBody>
      <dsp:txXfrm>
        <a:off x="7912603" y="360226"/>
        <a:ext cx="2143794" cy="1286276"/>
      </dsp:txXfrm>
    </dsp:sp>
    <dsp:sp modelId="{701A61C9-B1E5-4035-8FF9-C7A8E8A8C904}">
      <dsp:nvSpPr>
        <dsp:cNvPr id="0" name=""/>
        <dsp:cNvSpPr/>
      </dsp:nvSpPr>
      <dsp:spPr>
        <a:xfrm>
          <a:off x="2143996" y="2736994"/>
          <a:ext cx="4624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2472" y="45720"/>
              </a:lnTo>
            </a:path>
          </a:pathLst>
        </a:custGeom>
        <a:noFill/>
        <a:ln w="12700" cap="flat" cmpd="sng" algn="ctr">
          <a:solidFill>
            <a:schemeClr val="accent2">
              <a:hueOff val="31230"/>
              <a:satOff val="-21501"/>
              <a:lumOff val="-5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2905" y="2780249"/>
        <a:ext cx="24653" cy="4930"/>
      </dsp:txXfrm>
    </dsp:sp>
    <dsp:sp modelId="{8521C826-7A39-40C7-8C82-72C41772309F}">
      <dsp:nvSpPr>
        <dsp:cNvPr id="0" name=""/>
        <dsp:cNvSpPr/>
      </dsp:nvSpPr>
      <dsp:spPr>
        <a:xfrm>
          <a:off x="2001" y="2139576"/>
          <a:ext cx="2143794" cy="1286276"/>
        </a:xfrm>
        <a:prstGeom prst="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Enable continuous learning pipelines to keep the model updated with new data dynamically.</a:t>
          </a:r>
          <a:endParaRPr lang="en-US" sz="1200" kern="1200"/>
        </a:p>
      </dsp:txBody>
      <dsp:txXfrm>
        <a:off x="2001" y="2139576"/>
        <a:ext cx="2143794" cy="1286276"/>
      </dsp:txXfrm>
    </dsp:sp>
    <dsp:sp modelId="{8F5210DE-B973-4940-9559-2136E10107C6}">
      <dsp:nvSpPr>
        <dsp:cNvPr id="0" name=""/>
        <dsp:cNvSpPr/>
      </dsp:nvSpPr>
      <dsp:spPr>
        <a:xfrm>
          <a:off x="4780863" y="2736994"/>
          <a:ext cx="4624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2472" y="45720"/>
              </a:lnTo>
            </a:path>
          </a:pathLst>
        </a:custGeom>
        <a:noFill/>
        <a:ln w="12700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99773" y="2780249"/>
        <a:ext cx="24653" cy="4930"/>
      </dsp:txXfrm>
    </dsp:sp>
    <dsp:sp modelId="{03853173-9402-4DE5-97DF-D8F6635100A2}">
      <dsp:nvSpPr>
        <dsp:cNvPr id="0" name=""/>
        <dsp:cNvSpPr/>
      </dsp:nvSpPr>
      <dsp:spPr>
        <a:xfrm>
          <a:off x="2638868" y="2139576"/>
          <a:ext cx="2143794" cy="1286276"/>
        </a:xfrm>
        <a:prstGeom prst="rect">
          <a:avLst/>
        </a:prstGeom>
        <a:solidFill>
          <a:schemeClr val="accent2">
            <a:hueOff val="32532"/>
            <a:satOff val="-22397"/>
            <a:lumOff val="-571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Automate the training, testing, and deployment with CI/CD pipelines and cloud/containerized environments for production readiness.</a:t>
          </a:r>
          <a:endParaRPr lang="en-US" sz="1200" kern="1200"/>
        </a:p>
      </dsp:txBody>
      <dsp:txXfrm>
        <a:off x="2638868" y="2139576"/>
        <a:ext cx="2143794" cy="1286276"/>
      </dsp:txXfrm>
    </dsp:sp>
    <dsp:sp modelId="{AEBCA02A-A59F-47C8-989D-05098571E8F1}">
      <dsp:nvSpPr>
        <dsp:cNvPr id="0" name=""/>
        <dsp:cNvSpPr/>
      </dsp:nvSpPr>
      <dsp:spPr>
        <a:xfrm>
          <a:off x="5275736" y="2139576"/>
          <a:ext cx="2143794" cy="1286276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048" tIns="110266" rIns="105048" bIns="11026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Extend to mobile platforms with Flutter or React Native for enhanced user accessibility and engagement.</a:t>
          </a:r>
          <a:endParaRPr lang="en-US" sz="1200" kern="1200"/>
        </a:p>
      </dsp:txBody>
      <dsp:txXfrm>
        <a:off x="5275736" y="2139576"/>
        <a:ext cx="2143794" cy="1286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5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0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4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38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0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3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3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2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1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8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7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06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nsa.pl/wiki/Problem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699" y="258254"/>
            <a:ext cx="9968230" cy="6546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STANLEY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TECHNOLGY</a:t>
            </a:r>
            <a:r>
              <a:rPr sz="18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Abids.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6200" y="900747"/>
            <a:ext cx="5638800" cy="447558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b="1" i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Osmania</a:t>
            </a:r>
            <a:r>
              <a:rPr sz="1200" b="1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sz="12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200" b="1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AICTE)</a:t>
            </a:r>
            <a:endParaRPr lang="en-GB" sz="1200" b="1" i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lang="en-GB"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eligible UGC courses are accredited by NBA &amp; NAAC with ‘A’ Grade)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675" y="1769998"/>
            <a:ext cx="8001000" cy="1005532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/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spc="-10" dirty="0">
                <a:latin typeface="Times New Roman"/>
                <a:cs typeface="Times New Roman"/>
              </a:rPr>
              <a:t>Department </a:t>
            </a:r>
            <a:r>
              <a:rPr lang="en-US" sz="1800" b="1" spc="-10" dirty="0">
                <a:latin typeface="Times New Roman"/>
                <a:cs typeface="Times New Roman"/>
              </a:rPr>
              <a:t> of Computer Science and Engineering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dirty="0">
                <a:latin typeface="Times New Roman"/>
                <a:cs typeface="Times New Roman"/>
              </a:rPr>
              <a:t>Academic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Year: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202</a:t>
            </a:r>
            <a:r>
              <a:rPr lang="en-US" sz="1800" b="1" dirty="0">
                <a:latin typeface="Times New Roman"/>
                <a:cs typeface="Times New Roman"/>
              </a:rPr>
              <a:t>5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0" dirty="0">
                <a:latin typeface="Times New Roman"/>
                <a:cs typeface="Times New Roman"/>
              </a:rPr>
              <a:t>202</a:t>
            </a:r>
            <a:r>
              <a:rPr lang="en-US" sz="1800" b="1" spc="-20" dirty="0">
                <a:latin typeface="Times New Roman"/>
                <a:cs typeface="Times New Roman"/>
              </a:rPr>
              <a:t>6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lang="en-US" b="1" spc="-20" dirty="0">
                <a:latin typeface="Times New Roman"/>
                <a:ea typeface="Calibri"/>
                <a:cs typeface="Calibri"/>
              </a:rPr>
              <a:t>   INTERNSHIP</a:t>
            </a:r>
            <a:r>
              <a:rPr lang="en-US" b="1" spc="-20" dirty="0">
                <a:latin typeface="Times New Roman"/>
                <a:ea typeface="+mn-lt"/>
                <a:cs typeface="+mn-lt"/>
              </a:rPr>
              <a:t> Presentation</a:t>
            </a:r>
            <a:r>
              <a:rPr lang="en-US" b="1" spc="-20" dirty="0">
                <a:latin typeface="Times New Roman"/>
                <a:cs typeface="Times New Roman"/>
              </a:rPr>
              <a:t> </a:t>
            </a:r>
            <a:endParaRPr sz="1800" b="1" spc="-2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2331" y="4643884"/>
            <a:ext cx="4304875" cy="786113"/>
          </a:xfrm>
          <a:prstGeom prst="rect">
            <a:avLst/>
          </a:prstGeom>
        </p:spPr>
        <p:txBody>
          <a:bodyPr vert="horz" wrap="square" lIns="0" tIns="41910" rIns="0" bIns="0" rtlCol="0" anchor="t">
            <a:spAutoFit/>
          </a:bodyPr>
          <a:lstStyle/>
          <a:p>
            <a:pPr marL="57150">
              <a:spcBef>
                <a:spcPts val="229"/>
              </a:spcBef>
            </a:pPr>
            <a:r>
              <a:rPr lang="en-US" sz="1500" b="1" dirty="0">
                <a:ea typeface="+mn-lt"/>
                <a:cs typeface="+mn-lt"/>
              </a:rPr>
              <a:t>Supervised by: </a:t>
            </a:r>
            <a:r>
              <a:rPr lang="en-US" sz="1500" b="1" dirty="0" err="1">
                <a:ea typeface="+mn-lt"/>
                <a:cs typeface="+mn-lt"/>
              </a:rPr>
              <a:t>Dr.M.Sowmya</a:t>
            </a:r>
            <a:r>
              <a:rPr lang="en-US" sz="1500" b="1" dirty="0">
                <a:ea typeface="+mn-lt"/>
                <a:cs typeface="+mn-lt"/>
              </a:rPr>
              <a:t>(</a:t>
            </a:r>
            <a:r>
              <a:rPr lang="en-US" sz="1500" dirty="0">
                <a:ea typeface="+mn-lt"/>
                <a:cs typeface="+mn-lt"/>
              </a:rPr>
              <a:t>Associate professor)</a:t>
            </a:r>
            <a:endParaRPr lang="en-US" dirty="0">
              <a:ea typeface="+mn-lt"/>
              <a:cs typeface="+mn-lt"/>
            </a:endParaRPr>
          </a:p>
          <a:p>
            <a:pPr marL="57150">
              <a:spcBef>
                <a:spcPts val="229"/>
              </a:spcBef>
            </a:pPr>
            <a:r>
              <a:rPr lang="en-US" sz="1500" b="1" dirty="0" err="1">
                <a:ea typeface="+mn-lt"/>
                <a:cs typeface="+mn-lt"/>
              </a:rPr>
              <a:t>MRS.Shadeda</a:t>
            </a:r>
            <a:r>
              <a:rPr lang="en-US" sz="1500" b="1" dirty="0">
                <a:ea typeface="+mn-lt"/>
                <a:cs typeface="+mn-lt"/>
              </a:rPr>
              <a:t> Begum(</a:t>
            </a:r>
            <a:r>
              <a:rPr lang="en-US" sz="1500" dirty="0">
                <a:ea typeface="+mn-lt"/>
                <a:cs typeface="+mn-lt"/>
              </a:rPr>
              <a:t>Assistant professor)</a:t>
            </a:r>
            <a:endParaRPr lang="en-US" dirty="0">
              <a:ea typeface="Calibri"/>
              <a:cs typeface="Calibri"/>
            </a:endParaRPr>
          </a:p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Department </a:t>
            </a:r>
            <a:r>
              <a:rPr lang="en-GB" sz="1500" b="1" dirty="0">
                <a:latin typeface="Times New Roman"/>
                <a:cs typeface="Times New Roman"/>
              </a:rPr>
              <a:t>of CSE</a:t>
            </a:r>
            <a:endParaRPr sz="15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4655" y="4524243"/>
            <a:ext cx="2633344" cy="784189"/>
          </a:xfrm>
          <a:prstGeom prst="rect">
            <a:avLst/>
          </a:prstGeom>
        </p:spPr>
        <p:txBody>
          <a:bodyPr vert="horz" wrap="square" lIns="0" tIns="419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b="1" dirty="0">
                <a:latin typeface="Times New Roman"/>
                <a:cs typeface="Times New Roman"/>
              </a:rPr>
              <a:t>PRESENTED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BY</a:t>
            </a:r>
            <a:endParaRPr sz="1500" dirty="0">
              <a:latin typeface="Times New Roman"/>
              <a:cs typeface="Times New Roman"/>
            </a:endParaRPr>
          </a:p>
          <a:p>
            <a:pPr marL="23495" marR="895985" indent="-1270">
              <a:lnSpc>
                <a:spcPct val="108500"/>
              </a:lnSpc>
              <a:spcBef>
                <a:spcPts val="75"/>
              </a:spcBef>
            </a:pPr>
            <a:r>
              <a:rPr lang="en-US" sz="1500" err="1">
                <a:latin typeface="Times New Roman"/>
                <a:cs typeface="Times New Roman"/>
              </a:rPr>
              <a:t>Basireddy</a:t>
            </a:r>
            <a:r>
              <a:rPr lang="en-US" sz="1500" dirty="0">
                <a:latin typeface="Times New Roman"/>
                <a:cs typeface="Times New Roman"/>
              </a:rPr>
              <a:t> Shivani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endParaRPr lang="en-US" sz="1500" dirty="0">
              <a:latin typeface="Times New Roman"/>
              <a:cs typeface="Times New Roman"/>
            </a:endParaRPr>
          </a:p>
          <a:p>
            <a:pPr marL="23495" marR="895985" indent="-1270">
              <a:lnSpc>
                <a:spcPct val="108500"/>
              </a:lnSpc>
              <a:spcBef>
                <a:spcPts val="75"/>
              </a:spcBef>
            </a:pPr>
            <a:r>
              <a:rPr lang="en-US" sz="1500" spc="-25" dirty="0">
                <a:latin typeface="Times New Roman"/>
                <a:cs typeface="Times New Roman"/>
              </a:rPr>
              <a:t>160622733074</a:t>
            </a:r>
            <a:endParaRPr sz="1500" spc="-25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4" y="234728"/>
            <a:ext cx="1356422" cy="1356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8D31E3-0186-3CF3-50EB-6231C1F1B9F4}"/>
              </a:ext>
            </a:extLst>
          </p:cNvPr>
          <p:cNvSpPr txBox="1"/>
          <p:nvPr/>
        </p:nvSpPr>
        <p:spPr>
          <a:xfrm>
            <a:off x="1380407" y="3425777"/>
            <a:ext cx="927256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/>
                <a:cs typeface="Times New Roman"/>
              </a:rPr>
              <a:t>        </a:t>
            </a:r>
            <a:r>
              <a:rPr lang="en-GB" sz="3200" b="1" dirty="0">
                <a:solidFill>
                  <a:srgbClr val="0070C0"/>
                </a:solidFill>
                <a:latin typeface="Times New Roman"/>
                <a:cs typeface="Times New Roman"/>
              </a:rPr>
              <a:t>Loan Eligibility and Recommendation Model</a:t>
            </a:r>
            <a:endParaRPr lang="en-US" sz="32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73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Problem Statement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Background &amp; Literature Review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Planning and Design of Work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Implementation &amp; Execution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Testing &amp; Validation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Results &amp; Analysis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 Challenges &amp; Solutions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Conclusion &amp; Future Scope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References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GB" sz="1800" dirty="0">
                <a:ea typeface="+mn-lt"/>
                <a:cs typeface="+mn-lt"/>
              </a:rPr>
              <a:t>Internship Certificates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70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/>
                <a:cs typeface="Times New Roman"/>
              </a:rPr>
              <a:t>Problem Statement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IN" dirty="0">
                <a:ea typeface="+mn-lt"/>
                <a:cs typeface="+mn-lt"/>
              </a:rPr>
              <a:t>Manual loan approval processes are often slow, inconsistent, and susceptible to human bias, resulting in inefficiencies and unfair outcomes.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r>
              <a:rPr lang="en-IN" dirty="0">
                <a:ea typeface="+mn-lt"/>
                <a:cs typeface="+mn-lt"/>
              </a:rPr>
              <a:t>Predictive analytics and machine learning offer powerful tools to streamline loan approvals, reduce manual workload, and minimize errors.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r>
              <a:rPr lang="en-IN" b="1" dirty="0">
                <a:ea typeface="+mn-lt"/>
                <a:cs typeface="+mn-lt"/>
              </a:rPr>
              <a:t>This project aims to build a machine learning model to:</a:t>
            </a:r>
            <a:endParaRPr lang="en-IN" b="1" dirty="0">
              <a:ea typeface="Calibri" panose="020F0502020204030204"/>
              <a:cs typeface="Calibri" panose="020F0502020204030204"/>
            </a:endParaRPr>
          </a:p>
          <a:p>
            <a:r>
              <a:rPr lang="en-IN" dirty="0">
                <a:ea typeface="+mn-lt"/>
                <a:cs typeface="+mn-lt"/>
              </a:rPr>
              <a:t>Accurately predict loan eligibility using applicant financial and demographic data.</a:t>
            </a:r>
          </a:p>
          <a:p>
            <a:r>
              <a:rPr lang="en-IN" dirty="0">
                <a:ea typeface="+mn-lt"/>
                <a:cs typeface="+mn-lt"/>
              </a:rPr>
              <a:t>Recommend suitable loan options based on eligibility and user profile.</a:t>
            </a:r>
            <a:endParaRPr lang="en-IN" dirty="0"/>
          </a:p>
          <a:p>
            <a:endParaRPr lang="en-IN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IN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person looking at a magnifying glass&#10;&#10;AI-generated content may be incorrect.">
            <a:extLst>
              <a:ext uri="{FF2B5EF4-FFF2-40B4-BE49-F238E27FC236}">
                <a16:creationId xmlns:a16="http://schemas.microsoft.com/office/drawing/2014/main" id="{457EEB9D-096E-EEB9-48EE-D66FA8204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409" r="7557" b="-2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2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 err="1">
                <a:latin typeface="Times New Roman"/>
                <a:ea typeface="Calibri"/>
                <a:cs typeface="Times New Roman"/>
              </a:rPr>
              <a:t>Background&amp;Literature</a:t>
            </a:r>
            <a:r>
              <a:rPr lang="en-GB" dirty="0">
                <a:latin typeface="Times New Roman"/>
                <a:ea typeface="Calibri"/>
                <a:cs typeface="Times New Roman"/>
              </a:rPr>
              <a:t>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FD1555-18C7-C5EC-674F-E76A6059D1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708658"/>
              </p:ext>
            </p:extLst>
          </p:nvPr>
        </p:nvGraphicFramePr>
        <p:xfrm>
          <a:off x="1393792" y="1943906"/>
          <a:ext cx="9464744" cy="4290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800">
                  <a:extLst>
                    <a:ext uri="{9D8B030D-6E8A-4147-A177-3AD203B41FA5}">
                      <a16:colId xmlns:a16="http://schemas.microsoft.com/office/drawing/2014/main" val="1213132930"/>
                    </a:ext>
                  </a:extLst>
                </a:gridCol>
                <a:gridCol w="1313007">
                  <a:extLst>
                    <a:ext uri="{9D8B030D-6E8A-4147-A177-3AD203B41FA5}">
                      <a16:colId xmlns:a16="http://schemas.microsoft.com/office/drawing/2014/main" val="1604994022"/>
                    </a:ext>
                  </a:extLst>
                </a:gridCol>
                <a:gridCol w="2868223">
                  <a:extLst>
                    <a:ext uri="{9D8B030D-6E8A-4147-A177-3AD203B41FA5}">
                      <a16:colId xmlns:a16="http://schemas.microsoft.com/office/drawing/2014/main" val="1930764303"/>
                    </a:ext>
                  </a:extLst>
                </a:gridCol>
                <a:gridCol w="2204714">
                  <a:extLst>
                    <a:ext uri="{9D8B030D-6E8A-4147-A177-3AD203B41FA5}">
                      <a16:colId xmlns:a16="http://schemas.microsoft.com/office/drawing/2014/main" val="745160960"/>
                    </a:ext>
                  </a:extLst>
                </a:gridCol>
              </a:tblGrid>
              <a:tr h="28955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1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Paper Name</a:t>
                      </a:r>
                      <a:r>
                        <a:rPr lang="en-GB" sz="1200" b="0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1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Author(s)</a:t>
                      </a:r>
                      <a:r>
                        <a:rPr lang="en-GB" sz="1200" b="0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1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Key Findings</a:t>
                      </a:r>
                      <a:r>
                        <a:rPr lang="en-GB" sz="1200" b="0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1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Relation to Our Project</a:t>
                      </a:r>
                      <a:r>
                        <a:rPr lang="en-GB" sz="1200" b="0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024307"/>
                  </a:ext>
                </a:extLst>
              </a:tr>
              <a:tr h="8483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Machine Learning for an Enhanced Credit Risk Analysis: A Comparative Study of Loan Approval Prediction Models Integrating Mental Health Data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A. Alagic et al.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Integrated financial and mental health data using 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 and Random Forest, improving accuracy of loan approval prediction.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Supports use of 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 for high prediction accuracy in financial risk analysis.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761001"/>
                  </a:ext>
                </a:extLst>
              </a:tr>
              <a:tr h="6620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Loan Forecast by Using Machine Learning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A. Kulothungan et al.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Used Decision Tree and Logistic Regression for loan forecasting, achieving ~77% accuracy.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Highlights the need for data preprocessing and ML-based automation for better predictions.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684428"/>
                  </a:ext>
                </a:extLst>
              </a:tr>
              <a:tr h="6620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Loan Default Prediction Using Decision Trees and Random Forest: A Comparative Study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M. Madaan et al.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Found Random Forest more accurate (87% recall) than Decision Tree in predicting non-defaulters.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Supports use of ensemble learning for improved accuracy and reduced overfitting.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508420"/>
                  </a:ext>
                </a:extLst>
              </a:tr>
              <a:tr h="6620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Loan Approval Prediction Based on Machine Learning Approach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N. A. Azeez and A. O. Emmanuel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Compared Decision Tree and Random Forest for loan approvals; Random Forest showed superior results.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Validates use of classification algorithms like Random Forest in loan eligibility systems.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965697"/>
                  </a:ext>
                </a:extLst>
              </a:tr>
              <a:tr h="6620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A Machine Learning–Based Credit Risk Prediction Engine Using a Stacked Classifier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E. 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Ileberi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Proposed a stacked ensemble model improving credit risk prediction accuracy and efficiency.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Encourages use of ensemble and stacked models for robust prediction. </a:t>
                      </a:r>
                    </a:p>
                  </a:txBody>
                  <a:tcPr marL="61113" marR="61113" marT="41906" marB="4190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88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49A7-5E72-93F1-9876-C9C7EDBA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5D8D-7026-0D5A-1318-5AB8E9A9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latin typeface="Times New Roman"/>
                <a:ea typeface="Calibri Light"/>
                <a:cs typeface="Times New Roman"/>
              </a:rPr>
              <a:t>Background&amp;Literature</a:t>
            </a:r>
            <a:r>
              <a:rPr lang="en-GB" dirty="0">
                <a:latin typeface="Times New Roman"/>
                <a:ea typeface="Calibri Light"/>
                <a:cs typeface="Times New Roman"/>
              </a:rPr>
              <a:t> Survey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C0EFE5-BF35-2B7D-069A-83DB8C18B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48305"/>
              </p:ext>
            </p:extLst>
          </p:nvPr>
        </p:nvGraphicFramePr>
        <p:xfrm>
          <a:off x="1096963" y="1846263"/>
          <a:ext cx="10058398" cy="34332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80917">
                  <a:extLst>
                    <a:ext uri="{9D8B030D-6E8A-4147-A177-3AD203B41FA5}">
                      <a16:colId xmlns:a16="http://schemas.microsoft.com/office/drawing/2014/main" val="591172421"/>
                    </a:ext>
                  </a:extLst>
                </a:gridCol>
                <a:gridCol w="1432513">
                  <a:extLst>
                    <a:ext uri="{9D8B030D-6E8A-4147-A177-3AD203B41FA5}">
                      <a16:colId xmlns:a16="http://schemas.microsoft.com/office/drawing/2014/main" val="1957796386"/>
                    </a:ext>
                  </a:extLst>
                </a:gridCol>
                <a:gridCol w="3034463">
                  <a:extLst>
                    <a:ext uri="{9D8B030D-6E8A-4147-A177-3AD203B41FA5}">
                      <a16:colId xmlns:a16="http://schemas.microsoft.com/office/drawing/2014/main" val="4288904016"/>
                    </a:ext>
                  </a:extLst>
                </a:gridCol>
                <a:gridCol w="2310505">
                  <a:extLst>
                    <a:ext uri="{9D8B030D-6E8A-4147-A177-3AD203B41FA5}">
                      <a16:colId xmlns:a16="http://schemas.microsoft.com/office/drawing/2014/main" val="1073102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Data-Driven Loan Default Prediction: A Machine Learning Approach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  <a:endParaRPr lang="en-GB" b="0" i="0">
                        <a:effectLst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Systems Editorial Board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Implemented data-driven ML techniques to achieve &gt;90% accuracy in default prediction.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Reinforces importance of data preprocessing and parameter tuning.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59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Machine Learning for Credit Risk Prediction: A Systematic Literature Review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R. Rahman et al.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Reviewed ML algorithms for credit risk; highlighted 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 and Random Forest as most reliable.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Confirms that 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 is widely adopted for financial classification tasks.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124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A Secure Bank Loan Prediction System by Bridging Differential Privacy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J. Zhang et al.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Focused on data privacy while predicting loan approvals using ML.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Emphasizes importance of data security and privacy in financial ML models.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28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Credit Risk Prediction Using Machine Learning and Deep Learning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M. Patel et al.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Compared ML and DL models; found ML models faster and equally accurate for credit risk prediction.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Justifies use of ML (</a:t>
                      </a:r>
                      <a:r>
                        <a:rPr lang="en-GB" sz="1200" b="0" i="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GB" sz="1200" b="0" i="0" dirty="0">
                          <a:effectLst/>
                          <a:latin typeface="Times New Roman"/>
                        </a:rPr>
                        <a:t>) over complex DL models for efficiency.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1125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An Ensemble Machine Learning–Based Bank Loan Approval Prediction System </a:t>
                      </a:r>
                      <a:r>
                        <a:rPr lang="en-GB" sz="1200" b="0" i="0" dirty="0"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n-GB" sz="1200" b="0" i="0" dirty="0">
                          <a:effectLst/>
                          <a:latin typeface="WordVisiCarriageReturn_MSFontService"/>
                        </a:rPr>
                      </a:br>
                      <a:r>
                        <a:rPr lang="en-GB" sz="1200" b="0" i="0" dirty="0">
                          <a:effectLst/>
                          <a:latin typeface="Times New Roman"/>
                        </a:rPr>
                        <a:t>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K. Bansal et al.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Developed ensemble ML system achieving 93% accuracy for loan approval prediction.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GB" sz="1200" b="0" i="0" dirty="0">
                          <a:effectLst/>
                          <a:latin typeface="Times New Roman"/>
                        </a:rPr>
                        <a:t>Directly aligns with our loan eligibility model using ensemble algorithms. </a:t>
                      </a:r>
                      <a:endParaRPr lang="en-GB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667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71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B9E59-CDC2-6885-3C8B-75302C27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77A19-DBFB-C1E9-CED5-B79944B5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Planning And Design Of Work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DD1A38A9-3A44-DD60-F0B6-C01377A5D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CF7673FC-E4B7-2E40-8F36-BCE522B14E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566778"/>
              </p:ext>
            </p:extLst>
          </p:nvPr>
        </p:nvGraphicFramePr>
        <p:xfrm>
          <a:off x="4669936" y="518140"/>
          <a:ext cx="6798083" cy="5451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109">
                  <a:extLst>
                    <a:ext uri="{9D8B030D-6E8A-4147-A177-3AD203B41FA5}">
                      <a16:colId xmlns:a16="http://schemas.microsoft.com/office/drawing/2014/main" val="4151151858"/>
                    </a:ext>
                  </a:extLst>
                </a:gridCol>
                <a:gridCol w="3576070">
                  <a:extLst>
                    <a:ext uri="{9D8B030D-6E8A-4147-A177-3AD203B41FA5}">
                      <a16:colId xmlns:a16="http://schemas.microsoft.com/office/drawing/2014/main" val="2419478594"/>
                    </a:ext>
                  </a:extLst>
                </a:gridCol>
                <a:gridCol w="2684904">
                  <a:extLst>
                    <a:ext uri="{9D8B030D-6E8A-4147-A177-3AD203B41FA5}">
                      <a16:colId xmlns:a16="http://schemas.microsoft.com/office/drawing/2014/main" val="1754349371"/>
                    </a:ext>
                  </a:extLst>
                </a:gridCol>
              </a:tblGrid>
              <a:tr h="28837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Week</a:t>
                      </a:r>
                    </a:p>
                  </a:txBody>
                  <a:tcPr marL="47028" marR="47028" marT="47028" marB="47028">
                    <a:lnL w="9525" cap="flat" cmpd="sng" algn="ctr">
                      <a:solidFill>
                        <a:srgbClr val="901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1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1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1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Task Overview</a:t>
                      </a:r>
                    </a:p>
                  </a:txBody>
                  <a:tcPr marL="47028" marR="47028" marT="47028" marB="47028">
                    <a:lnL w="9525" cap="flat" cmpd="sng" algn="ctr">
                      <a:solidFill>
                        <a:srgbClr val="401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1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1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2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Tools / Technologies</a:t>
                      </a:r>
                    </a:p>
                  </a:txBody>
                  <a:tcPr marL="47028" marR="47028" marT="47028" marB="47028">
                    <a:lnL w="9525" cap="flat" cmpd="sng" algn="ctr">
                      <a:solidFill>
                        <a:srgbClr val="801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1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1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3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541094"/>
                  </a:ext>
                </a:extLst>
              </a:tr>
              <a:tr h="89846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201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1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2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Understood loan eligibility problem and project scope.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Conducted domain research on credit scoring and predictive analytics.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Set up Python environment and version control system.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Installed key libraries and prepared project plan.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802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3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3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Python, </a:t>
                      </a:r>
                      <a:r>
                        <a:rPr lang="en-US" sz="1200" dirty="0" err="1">
                          <a:effectLst/>
                        </a:rPr>
                        <a:t>VSCode</a:t>
                      </a:r>
                      <a:r>
                        <a:rPr lang="en-US" sz="1200" dirty="0">
                          <a:effectLst/>
                        </a:rPr>
                        <a:t>, Git/GitHub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803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3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3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98807"/>
                  </a:ext>
                </a:extLst>
              </a:tr>
              <a:tr h="106038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502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2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2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Generated synthetic loan applicant data to simulate real-world scenarios.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Preprocessed data: cleansing, encoding categorical features, feature engineering.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Performed exploratory data analysis to identify patterns affecting loan approval.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603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3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pandas, </a:t>
                      </a:r>
                      <a:r>
                        <a:rPr lang="en-US" sz="1200" dirty="0" err="1">
                          <a:effectLst/>
                        </a:rPr>
                        <a:t>numpy</a:t>
                      </a:r>
                      <a:r>
                        <a:rPr lang="en-US" sz="1200" dirty="0">
                          <a:effectLst/>
                        </a:rPr>
                        <a:t>, scikit-learn, matplotlib, seaborn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0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6120"/>
                  </a:ext>
                </a:extLst>
              </a:tr>
              <a:tr h="138424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D02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3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2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3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Developed and fine-tuned machine learning models including advanced </a:t>
                      </a:r>
                      <a:r>
                        <a:rPr lang="en-US" sz="1200" dirty="0" err="1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 classifier.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Implemented hyperparameter tuning via grid search and cross-validation.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Evaluated models using multiple metrics including accuracy, precision, recall, F1-score, and ROC-AUC.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Saved trained models and preprocessing pipelines for deployment.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E03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3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4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scikit-learn, </a:t>
                      </a:r>
                      <a:r>
                        <a:rPr lang="en-US" sz="1200" dirty="0" err="1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joblib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Jupyter</a:t>
                      </a:r>
                      <a:r>
                        <a:rPr lang="en-US" sz="1200" dirty="0">
                          <a:effectLst/>
                        </a:rPr>
                        <a:t> Notebook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F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3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858197"/>
                  </a:ext>
                </a:extLst>
              </a:tr>
              <a:tr h="122231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903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4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3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3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>
                          <a:effectLst/>
                        </a:rPr>
                        <a:t>- Integrated the trained model into a user-friendly </a:t>
                      </a:r>
                      <a:r>
                        <a:rPr lang="en-US" sz="1200" dirty="0" err="1">
                          <a:effectLst/>
                        </a:rPr>
                        <a:t>Streamlit</a:t>
                      </a:r>
                      <a:r>
                        <a:rPr lang="en-US" sz="1200" dirty="0">
                          <a:effectLst/>
                        </a:rPr>
                        <a:t> app for real-time loan eligibility prediction.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Added dynamic bank loan offer recommendation feature based on synthetic/generated offers.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Enhanced UI with interactive visualizations and charts.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- Conducted user testing and finalized documentation and deployment processes.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A04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4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4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200" dirty="0" err="1">
                          <a:effectLst/>
                        </a:rPr>
                        <a:t>Streamlit</a:t>
                      </a:r>
                      <a:r>
                        <a:rPr lang="en-US" sz="1200" dirty="0">
                          <a:effectLst/>
                        </a:rPr>
                        <a:t>, matplotlib, </a:t>
                      </a:r>
                      <a:r>
                        <a:rPr lang="en-US" sz="1200" dirty="0" err="1">
                          <a:effectLst/>
                        </a:rPr>
                        <a:t>plotly</a:t>
                      </a:r>
                      <a:r>
                        <a:rPr lang="en-US" sz="1200" dirty="0">
                          <a:effectLst/>
                        </a:rPr>
                        <a:t>, Python, </a:t>
                      </a:r>
                      <a:r>
                        <a:rPr lang="en-US" sz="1200" dirty="0" err="1">
                          <a:effectLst/>
                        </a:rPr>
                        <a:t>joblib</a:t>
                      </a:r>
                      <a:r>
                        <a:rPr lang="en-US" sz="1200" dirty="0">
                          <a:effectLst/>
                        </a:rPr>
                        <a:t>, Git</a:t>
                      </a:r>
                    </a:p>
                  </a:txBody>
                  <a:tcPr marL="47028" marR="47028" marT="28217" marB="28217" anchor="ctr">
                    <a:lnL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06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5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10111-BF5F-61F5-6822-A8A59BBD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E0F3F-3466-5FBA-D307-614D3CFA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Times New Roman"/>
                <a:ea typeface="Calibri Light"/>
                <a:cs typeface="Calibri Light"/>
              </a:rPr>
              <a:t>Implementation &amp; Execution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46DC-2C85-2895-929E-1BD9CF0A7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IN" sz="1400">
                <a:latin typeface="Times New Roman"/>
                <a:ea typeface="+mn-lt"/>
                <a:cs typeface="+mn-lt"/>
              </a:rPr>
              <a:t>The loan eligibility prediction system was developed using a combination of advanced data science techniques and modern application frameworks.</a:t>
            </a:r>
          </a:p>
          <a:p>
            <a:r>
              <a:rPr lang="en-IN" sz="1400" b="1">
                <a:ea typeface="Calibri"/>
                <a:cs typeface="Calibri"/>
              </a:rPr>
              <a:t>TECH STACK:</a:t>
            </a:r>
          </a:p>
          <a:p>
            <a:r>
              <a:rPr lang="en-IN" sz="1400" dirty="0">
                <a:ea typeface="+mn-lt"/>
                <a:cs typeface="+mn-lt"/>
              </a:rPr>
              <a:t>Programming Language: Python 3.x, chosen for its rich ecosystem in machine learning and data analysis.</a:t>
            </a:r>
          </a:p>
          <a:p>
            <a:r>
              <a:rPr lang="en-IN" sz="1400" dirty="0">
                <a:ea typeface="+mn-lt"/>
                <a:cs typeface="+mn-lt"/>
              </a:rPr>
              <a:t>Data Science Tools:</a:t>
            </a:r>
          </a:p>
          <a:p>
            <a:r>
              <a:rPr lang="en-IN" sz="1400" dirty="0">
                <a:ea typeface="+mn-lt"/>
                <a:cs typeface="+mn-lt"/>
              </a:rPr>
              <a:t>Libraries: pandas, NumPy for data manipulation; scikit-learn and </a:t>
            </a:r>
            <a:r>
              <a:rPr lang="en-IN" sz="1400" err="1">
                <a:ea typeface="+mn-lt"/>
                <a:cs typeface="+mn-lt"/>
              </a:rPr>
              <a:t>XGBoost</a:t>
            </a:r>
            <a:r>
              <a:rPr lang="en-IN" sz="1400" dirty="0">
                <a:ea typeface="+mn-lt"/>
                <a:cs typeface="+mn-lt"/>
              </a:rPr>
              <a:t> for model training and evaluation.</a:t>
            </a:r>
          </a:p>
          <a:p>
            <a:r>
              <a:rPr lang="en-IN" sz="1400" dirty="0">
                <a:ea typeface="+mn-lt"/>
                <a:cs typeface="+mn-lt"/>
              </a:rPr>
              <a:t>Hyperparameter Tuning: </a:t>
            </a:r>
            <a:r>
              <a:rPr lang="en-IN" sz="1400" err="1">
                <a:ea typeface="+mn-lt"/>
                <a:cs typeface="+mn-lt"/>
              </a:rPr>
              <a:t>GridSearchCV</a:t>
            </a:r>
            <a:r>
              <a:rPr lang="en-IN" sz="1400" dirty="0">
                <a:ea typeface="+mn-lt"/>
                <a:cs typeface="+mn-lt"/>
              </a:rPr>
              <a:t> implemented for optimizing model parameters.</a:t>
            </a:r>
          </a:p>
          <a:p>
            <a:r>
              <a:rPr lang="en-IN" sz="1400" dirty="0">
                <a:ea typeface="+mn-lt"/>
                <a:cs typeface="+mn-lt"/>
              </a:rPr>
              <a:t>Data Visualization: </a:t>
            </a:r>
            <a:r>
              <a:rPr lang="en-IN" sz="1400" err="1">
                <a:ea typeface="+mn-lt"/>
                <a:cs typeface="+mn-lt"/>
              </a:rPr>
              <a:t>plotly</a:t>
            </a:r>
            <a:r>
              <a:rPr lang="en-IN" sz="1400" dirty="0">
                <a:ea typeface="+mn-lt"/>
                <a:cs typeface="+mn-lt"/>
              </a:rPr>
              <a:t> and matplotlib for interactive visualizations in the app and reports.</a:t>
            </a:r>
          </a:p>
          <a:p>
            <a:r>
              <a:rPr lang="en-IN" sz="1400" dirty="0">
                <a:ea typeface="+mn-lt"/>
                <a:cs typeface="+mn-lt"/>
              </a:rPr>
              <a:t>Application Framework: </a:t>
            </a:r>
            <a:r>
              <a:rPr lang="en-IN" sz="1400" err="1">
                <a:ea typeface="+mn-lt"/>
                <a:cs typeface="+mn-lt"/>
              </a:rPr>
              <a:t>Streamlit</a:t>
            </a:r>
            <a:r>
              <a:rPr lang="en-IN" sz="1400" dirty="0">
                <a:ea typeface="+mn-lt"/>
                <a:cs typeface="+mn-lt"/>
              </a:rPr>
              <a:t> for rapid UI development and deployment of the interactive loan eligibility dashboard.</a:t>
            </a:r>
          </a:p>
          <a:p>
            <a:r>
              <a:rPr lang="en-IN" sz="1400" dirty="0">
                <a:ea typeface="+mn-lt"/>
                <a:cs typeface="+mn-lt"/>
              </a:rPr>
              <a:t>Model Persistence: </a:t>
            </a:r>
            <a:r>
              <a:rPr lang="en-IN" sz="1400" err="1">
                <a:ea typeface="+mn-lt"/>
                <a:cs typeface="+mn-lt"/>
              </a:rPr>
              <a:t>joblib</a:t>
            </a:r>
            <a:r>
              <a:rPr lang="en-IN" sz="1400" dirty="0">
                <a:ea typeface="+mn-lt"/>
                <a:cs typeface="+mn-lt"/>
              </a:rPr>
              <a:t> used to serialize and load the trained model, scaler, and encoders for consistent preprocessing and predictions.</a:t>
            </a:r>
          </a:p>
          <a:p>
            <a:r>
              <a:rPr lang="en-IN" sz="1400" dirty="0">
                <a:ea typeface="+mn-lt"/>
                <a:cs typeface="+mn-lt"/>
              </a:rPr>
              <a:t>Environment &amp; Dependency Management: All dependencies managed and installed via requirements.txt.</a:t>
            </a:r>
          </a:p>
          <a:p>
            <a:endParaRPr lang="en-IN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9879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CCD75-61F8-BC12-9817-9A026800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46CC135-4632-A38A-E85D-FF825D407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57172F-7373-7AA3-C8A5-E3787042B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8F0FA-2CD8-661B-ABC8-6C89F37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Times New Roman"/>
                <a:ea typeface="Calibri Light"/>
                <a:cs typeface="Calibri Light"/>
              </a:rPr>
              <a:t>Process flow 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4D967D-FB39-0875-4CAB-6AFC2F9E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DD1CBB1B-2398-7F8D-E989-917E2D7C52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42016" y="605896"/>
          <a:ext cx="6413663" cy="5646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7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37E74-B615-88D8-CF80-00F904AD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85A00-991C-5BDA-C7E7-7A1667CB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Testing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0139B-E4E9-297E-ECFE-CA24253C7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IN" sz="1400" dirty="0">
                <a:ea typeface="+mn-lt"/>
                <a:cs typeface="+mn-lt"/>
              </a:rPr>
              <a:t>Functional Testing: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dirty="0">
                <a:ea typeface="+mn-lt"/>
                <a:cs typeface="+mn-lt"/>
              </a:rPr>
              <a:t>Verified validity and range of user inputs such as CIBIL score, income, loan amount, and EMI to ensure input correctness and display of appropriate error messages.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dirty="0">
                <a:ea typeface="+mn-lt"/>
                <a:cs typeface="+mn-lt"/>
              </a:rPr>
              <a:t>Confirmed that loan eligibility predictions, EMI calculations, and bank recommendation logic functioned accurately across different user scenarios.</a:t>
            </a:r>
            <a:endParaRPr lang="en-IN" sz="1400" dirty="0">
              <a:ea typeface="Calibri" panose="020F0502020204030204"/>
              <a:cs typeface="Calibri" panose="020F0502020204030204"/>
            </a:endParaRPr>
          </a:p>
          <a:p>
            <a:r>
              <a:rPr lang="en-IN" sz="1400" dirty="0">
                <a:ea typeface="+mn-lt"/>
                <a:cs typeface="+mn-lt"/>
              </a:rPr>
              <a:t>Model Validation: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dirty="0">
                <a:ea typeface="+mn-lt"/>
                <a:cs typeface="+mn-lt"/>
              </a:rPr>
              <a:t>Employed an 80-20 train-test split to evaluate model performance using metrics like accuracy (90.8%), precision (88.4%), recall (87.9%), and F1 score (88.1%).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err="1">
                <a:ea typeface="+mn-lt"/>
                <a:cs typeface="+mn-lt"/>
              </a:rPr>
              <a:t>Analyzed</a:t>
            </a:r>
            <a:r>
              <a:rPr lang="en-IN" sz="1400" dirty="0">
                <a:ea typeface="+mn-lt"/>
                <a:cs typeface="+mn-lt"/>
              </a:rPr>
              <a:t> confusion matrix results to assess the model’s classification capability and identify areas for fine-tuning.</a:t>
            </a:r>
            <a:endParaRPr lang="en-IN" sz="1400" dirty="0">
              <a:ea typeface="Calibri"/>
              <a:cs typeface="Calibri"/>
            </a:endParaRPr>
          </a:p>
          <a:p>
            <a:r>
              <a:rPr lang="en-IN" sz="1400" dirty="0">
                <a:ea typeface="+mn-lt"/>
                <a:cs typeface="+mn-lt"/>
              </a:rPr>
              <a:t>User Testing: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dirty="0">
                <a:ea typeface="+mn-lt"/>
                <a:cs typeface="+mn-lt"/>
              </a:rPr>
              <a:t>Conducted manual tests on the </a:t>
            </a:r>
            <a:r>
              <a:rPr lang="en-IN" sz="1400" err="1">
                <a:ea typeface="+mn-lt"/>
                <a:cs typeface="+mn-lt"/>
              </a:rPr>
              <a:t>Streamlit</a:t>
            </a:r>
            <a:r>
              <a:rPr lang="en-IN" sz="1400" dirty="0">
                <a:ea typeface="+mn-lt"/>
                <a:cs typeface="+mn-lt"/>
              </a:rPr>
              <a:t> interface to validate prediction response time and clarity of displayed information such as approval status and EMI breakdowns.</a:t>
            </a:r>
            <a:br>
              <a:rPr lang="en-IN" sz="1400" dirty="0">
                <a:ea typeface="+mn-lt"/>
                <a:cs typeface="+mn-lt"/>
              </a:rPr>
            </a:br>
            <a:r>
              <a:rPr lang="en-IN" sz="1400" dirty="0">
                <a:ea typeface="+mn-lt"/>
                <a:cs typeface="+mn-lt"/>
              </a:rPr>
              <a:t>Collected peer feedback on UI design for improved user experience, layout, and messaging clarity.</a:t>
            </a:r>
            <a:endParaRPr lang="en-IN" sz="1400" dirty="0">
              <a:ea typeface="Calibri"/>
              <a:cs typeface="Calibri"/>
            </a:endParaRPr>
          </a:p>
          <a:p>
            <a:r>
              <a:rPr lang="en-IN" sz="1400" dirty="0">
                <a:ea typeface="+mn-lt"/>
                <a:cs typeface="+mn-lt"/>
              </a:rPr>
              <a:t>Confusion matrix analysis was used to identify true positives, false positives, and false negatives, allowing fine-tuning of decision thresholds to improve prediction accuracy and reduce misclassification errors.</a:t>
            </a:r>
            <a:endParaRPr lang="en-IN" sz="1400" dirty="0">
              <a:ea typeface="Calibri"/>
              <a:cs typeface="Calibri"/>
            </a:endParaRPr>
          </a:p>
          <a:p>
            <a:endParaRPr lang="en-IN" sz="1300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8769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B0AA3-F4B1-4E99-C1EE-9A31EB2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410E41AE-C9A4-F056-9543-DE01A3742C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5390" r="-2" b="102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7B9267-7B9D-788F-54A5-CE6DC565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Result &amp; Analysis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2820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AD6E6-F9F5-6DB5-38FA-CB47792D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79D12-8C6B-E842-27DA-9843976D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/>
                <a:ea typeface="Calibri"/>
                <a:cs typeface="Times New Roman"/>
              </a:rPr>
              <a:t>Result &amp; 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C6ADE-C623-9F9D-CDBA-4B2C0CE64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IN">
                <a:ea typeface="+mn-lt"/>
                <a:cs typeface="+mn-lt"/>
              </a:rPr>
              <a:t>The Loan Recommendation System was successfully developed and thoroughly tested to meet the core objectives of predicting loan eligibility, recommending suitable bank options</a:t>
            </a:r>
          </a:p>
          <a:p>
            <a:endParaRPr lang="en-IN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02901B-6FDD-B21F-3995-66ACA230EFD2}"/>
              </a:ext>
            </a:extLst>
          </p:cNvPr>
          <p:cNvGraphicFramePr>
            <a:graphicFrameLocks noGrp="1"/>
          </p:cNvGraphicFramePr>
          <p:nvPr/>
        </p:nvGraphicFramePr>
        <p:xfrm>
          <a:off x="643192" y="907840"/>
          <a:ext cx="5451628" cy="472228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82112">
                  <a:extLst>
                    <a:ext uri="{9D8B030D-6E8A-4147-A177-3AD203B41FA5}">
                      <a16:colId xmlns:a16="http://schemas.microsoft.com/office/drawing/2014/main" val="322222064"/>
                    </a:ext>
                  </a:extLst>
                </a:gridCol>
                <a:gridCol w="1008192">
                  <a:extLst>
                    <a:ext uri="{9D8B030D-6E8A-4147-A177-3AD203B41FA5}">
                      <a16:colId xmlns:a16="http://schemas.microsoft.com/office/drawing/2014/main" val="1759347205"/>
                    </a:ext>
                  </a:extLst>
                </a:gridCol>
                <a:gridCol w="3161324">
                  <a:extLst>
                    <a:ext uri="{9D8B030D-6E8A-4147-A177-3AD203B41FA5}">
                      <a16:colId xmlns:a16="http://schemas.microsoft.com/office/drawing/2014/main" val="536466964"/>
                    </a:ext>
                  </a:extLst>
                </a:gridCol>
              </a:tblGrid>
              <a:tr h="47411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21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Metric </a:t>
                      </a:r>
                      <a:endParaRPr lang="en-GB" sz="21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21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Value </a:t>
                      </a:r>
                      <a:endParaRPr lang="en-GB" sz="21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21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Interpretation </a:t>
                      </a:r>
                      <a:endParaRPr lang="en-GB" sz="21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689896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Training Accuracy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95%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Model performs well on training data (good fit).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997563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Testing Accuracy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92%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Model generalizes effectively on unseen data.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36055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Precision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91%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91% of approved loans were truly eligible.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993552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Recall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88%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88% of eligible applicants were correctly identified.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218538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F1-Score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89%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Balanced performance between precision and recall.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15891"/>
                  </a:ext>
                </a:extLst>
              </a:tr>
              <a:tr h="7080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ROC-AUC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1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600" b="0" i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Strong ability to separate approvals and rejections. </a:t>
                      </a:r>
                      <a:endParaRPr lang="en-GB" sz="16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154" marR="61154" marT="61154" marB="12230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08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9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C2E02-4174-90DD-8D02-3C138593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ontent Placeholder 12">
            <a:extLst>
              <a:ext uri="{FF2B5EF4-FFF2-40B4-BE49-F238E27FC236}">
                <a16:creationId xmlns:a16="http://schemas.microsoft.com/office/drawing/2014/main" id="{CAC057D5-A396-D910-ED8D-4420C51F72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3356" y="927477"/>
          <a:ext cx="10337293" cy="499664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734618">
                  <a:extLst>
                    <a:ext uri="{9D8B030D-6E8A-4147-A177-3AD203B41FA5}">
                      <a16:colId xmlns:a16="http://schemas.microsoft.com/office/drawing/2014/main" val="2972168425"/>
                    </a:ext>
                  </a:extLst>
                </a:gridCol>
                <a:gridCol w="3837493">
                  <a:extLst>
                    <a:ext uri="{9D8B030D-6E8A-4147-A177-3AD203B41FA5}">
                      <a16:colId xmlns:a16="http://schemas.microsoft.com/office/drawing/2014/main" val="1899986128"/>
                    </a:ext>
                  </a:extLst>
                </a:gridCol>
                <a:gridCol w="4765182">
                  <a:extLst>
                    <a:ext uri="{9D8B030D-6E8A-4147-A177-3AD203B41FA5}">
                      <a16:colId xmlns:a16="http://schemas.microsoft.com/office/drawing/2014/main" val="2655902449"/>
                    </a:ext>
                  </a:extLst>
                </a:gridCol>
              </a:tblGrid>
              <a:tr h="520408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</a:p>
                  </a:txBody>
                  <a:tcPr marL="76423" marR="90980" marT="21835" marB="16376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76423" marR="90980" marT="21835" marB="16376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Impact on Eligibility</a:t>
                      </a:r>
                    </a:p>
                  </a:txBody>
                  <a:tcPr marL="76423" marR="90980" marT="21835" marB="16376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901626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CIBIL Score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Highest positive influence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21012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Annual Income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Strong predictor of approval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92459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Debt-to-Income Ratio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Negative impact if high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18927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Loan-to-Income Ratio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Moderate negative effect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138499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Work Experience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Positive contribution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93956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Property Ownership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Moderate influence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694581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Education Level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Moderate influence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082121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Credit History Length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Minor positive effect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402147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Age-Income Product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Minor effect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103017"/>
                  </a:ext>
                </a:extLst>
              </a:tr>
              <a:tr h="44762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76423" marR="90980" marT="21835" marB="16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Existing Loans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Slight negative impact</a:t>
                      </a:r>
                    </a:p>
                  </a:txBody>
                  <a:tcPr marL="76423" marR="90980" marT="21835" marB="163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27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06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4967F-4942-8A1E-D196-D7AC4DF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0289B0-464A-F9DE-142C-7A0092950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356" y="996533"/>
            <a:ext cx="10337292" cy="485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6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F2B78-F301-86B9-3697-D1852300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Inserting image...">
            <a:extLst>
              <a:ext uri="{FF2B5EF4-FFF2-40B4-BE49-F238E27FC236}">
                <a16:creationId xmlns:a16="http://schemas.microsoft.com/office/drawing/2014/main" id="{40A0CFE9-7C8D-650B-59BB-CFBC9B7A0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356" y="1061142"/>
            <a:ext cx="10337292" cy="472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61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7BC07-5AF0-DB66-814F-67CFC88E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redit score&#10;&#10;AI-generated content may be incorrect.">
            <a:extLst>
              <a:ext uri="{FF2B5EF4-FFF2-40B4-BE49-F238E27FC236}">
                <a16:creationId xmlns:a16="http://schemas.microsoft.com/office/drawing/2014/main" id="{F3551E93-A0F4-A152-D955-1BD5209A6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356" y="1099907"/>
            <a:ext cx="10337292" cy="465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72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BCD3A-6CBC-B4BF-83B4-AC842DA6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B620FF-DDAA-62D4-32C6-82D79E4A9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613" r="322" b="5157"/>
          <a:stretch>
            <a:fillRect/>
          </a:stretch>
        </p:blipFill>
        <p:spPr>
          <a:xfrm>
            <a:off x="943356" y="1085685"/>
            <a:ext cx="10337292" cy="468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0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764A6-DA0D-D1BC-7529-9E9E827B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4C81D-A41F-054F-C35C-6809586C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GB" sz="36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Challenges And Solutions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5C37-07E8-A794-5B39-361A83D82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endParaRPr lang="en-IN" sz="1200" dirty="0">
              <a:ea typeface="Calibri" panose="020F0502020204030204"/>
              <a:cs typeface="Calibri" panose="020F0502020204030204"/>
            </a:endParaRPr>
          </a:p>
          <a:p>
            <a:r>
              <a:rPr lang="en-IN" sz="1200" b="1" dirty="0">
                <a:ea typeface="+mn-lt"/>
                <a:cs typeface="+mn-lt"/>
              </a:rPr>
              <a:t>Data Scarcity and Quality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Challenge: Lack of access to extensive real-world loan datasets and presence of missing or inconsistent data.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Solution: Generated a large synthetic dataset simulating realistic loan applicant profiles. Applied rigorous data preprocessing techniques including handling missing values, encoding categorical variables, and feature scaling to ensure data quality.</a:t>
            </a:r>
            <a:endParaRPr lang="en-IN" sz="1200">
              <a:ea typeface="Calibri"/>
              <a:cs typeface="Calibri"/>
            </a:endParaRPr>
          </a:p>
          <a:p>
            <a:r>
              <a:rPr lang="en-IN" sz="1200" b="1" dirty="0">
                <a:ea typeface="+mn-lt"/>
                <a:cs typeface="+mn-lt"/>
              </a:rPr>
              <a:t>Model Selection and Optimization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Challenge: Identifying an accurate and reliable model for binary loan eligibility classification.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Solution: Compared multiple machine learning algorithms including Logistic Regression, Decision Trees, Random Forest, and </a:t>
            </a:r>
            <a:r>
              <a:rPr lang="en-IN" sz="1200" err="1">
                <a:ea typeface="+mn-lt"/>
                <a:cs typeface="+mn-lt"/>
              </a:rPr>
              <a:t>XGBoost</a:t>
            </a:r>
            <a:r>
              <a:rPr lang="en-IN" sz="1200" dirty="0">
                <a:ea typeface="+mn-lt"/>
                <a:cs typeface="+mn-lt"/>
              </a:rPr>
              <a:t>. Selected </a:t>
            </a:r>
            <a:r>
              <a:rPr lang="en-IN" sz="1200" err="1">
                <a:ea typeface="+mn-lt"/>
                <a:cs typeface="+mn-lt"/>
              </a:rPr>
              <a:t>XGBoost</a:t>
            </a:r>
            <a:r>
              <a:rPr lang="en-IN" sz="1200" dirty="0">
                <a:ea typeface="+mn-lt"/>
                <a:cs typeface="+mn-lt"/>
              </a:rPr>
              <a:t> for its superior accuracy and regularization capabilities. Fine-tuned hyperparameters via </a:t>
            </a:r>
            <a:r>
              <a:rPr lang="en-IN" sz="1200" err="1">
                <a:ea typeface="+mn-lt"/>
                <a:cs typeface="+mn-lt"/>
              </a:rPr>
              <a:t>GridSearchCV</a:t>
            </a:r>
            <a:r>
              <a:rPr lang="en-IN" sz="1200" dirty="0">
                <a:ea typeface="+mn-lt"/>
                <a:cs typeface="+mn-lt"/>
              </a:rPr>
              <a:t> and cross-validation to optimize performance.</a:t>
            </a:r>
            <a:endParaRPr lang="en-IN" sz="1200">
              <a:ea typeface="Calibri"/>
              <a:cs typeface="Calibri"/>
            </a:endParaRPr>
          </a:p>
          <a:p>
            <a:r>
              <a:rPr lang="en-IN" sz="1200" b="1" dirty="0">
                <a:ea typeface="+mn-lt"/>
                <a:cs typeface="+mn-lt"/>
              </a:rPr>
              <a:t>Integration and Deployment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Challenge: Seamlessly integrating the complex trained model into an interactive user interface.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Solution: Developed a </a:t>
            </a:r>
            <a:r>
              <a:rPr lang="en-IN" sz="1200" err="1">
                <a:ea typeface="+mn-lt"/>
                <a:cs typeface="+mn-lt"/>
              </a:rPr>
              <a:t>Streamlit</a:t>
            </a:r>
            <a:r>
              <a:rPr lang="en-IN" sz="1200" dirty="0">
                <a:ea typeface="+mn-lt"/>
                <a:cs typeface="+mn-lt"/>
              </a:rPr>
              <a:t> application that loads trained models and preprocessing objects, accepting user inputs and providing real-time eligibility predictions and bank offer recommendations with dynamic visualizations.</a:t>
            </a:r>
            <a:endParaRPr lang="en-IN" sz="1200">
              <a:ea typeface="Calibri"/>
              <a:cs typeface="Calibri"/>
            </a:endParaRPr>
          </a:p>
          <a:p>
            <a:r>
              <a:rPr lang="en-IN" sz="1200" b="1" dirty="0">
                <a:ea typeface="+mn-lt"/>
                <a:cs typeface="+mn-lt"/>
              </a:rPr>
              <a:t>Handling No-Match Scenarios in Recommendations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Challenge: Sometimes filtered bank offers fail to meet user criteria, resulting in empty recommendations.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Solution: Implemented user input validation, fallback messaging, and ensured filtering logic matches realistic salary and loan amount ranges from the bank offers data.</a:t>
            </a:r>
            <a:endParaRPr lang="en-IN" sz="1200">
              <a:ea typeface="Calibri"/>
              <a:cs typeface="Calibri"/>
            </a:endParaRPr>
          </a:p>
          <a:p>
            <a:r>
              <a:rPr lang="en-IN" sz="1200" b="1" dirty="0">
                <a:ea typeface="+mn-lt"/>
                <a:cs typeface="+mn-lt"/>
              </a:rPr>
              <a:t>User Experience and Interpretability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Challenge: Conveying model outputs and recommendations transparently and understandably to users.</a:t>
            </a:r>
            <a:br>
              <a:rPr lang="en-IN" sz="1200" dirty="0">
                <a:ea typeface="+mn-lt"/>
                <a:cs typeface="+mn-lt"/>
              </a:rPr>
            </a:br>
            <a:r>
              <a:rPr lang="en-IN" sz="1200" dirty="0">
                <a:ea typeface="+mn-lt"/>
                <a:cs typeface="+mn-lt"/>
              </a:rPr>
              <a:t>Solution: Added interpretable analytics with feature importance charts, confidence scores, and clear explanations in the application dashboard to build trust and clarity.</a:t>
            </a:r>
            <a:endParaRPr lang="en-IN" sz="1200" dirty="0"/>
          </a:p>
          <a:p>
            <a:endParaRPr lang="en-IN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9138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B6C1C-EF31-DE0F-1540-CDA6FF68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lose up of binoculars on a table looking at sunset">
            <a:extLst>
              <a:ext uri="{FF2B5EF4-FFF2-40B4-BE49-F238E27FC236}">
                <a16:creationId xmlns:a16="http://schemas.microsoft.com/office/drawing/2014/main" id="{F829AEA5-B674-B214-30B7-B7FD5FCA05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622" r="-2" b="79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522D7-97D8-8DA3-F5C2-CEB70FBA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Conclusion And Future Scope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0235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1B8E4-8EA4-174B-85E7-7C0F28B9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70267-2245-3D5E-8D0C-7AD475C5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Conclusion And Future 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9880D-0C21-3D8D-1DE1-B65308DAC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endParaRPr lang="en-IN">
              <a:latin typeface="Times New Roman"/>
              <a:ea typeface="+mn-lt"/>
              <a:cs typeface="+mn-lt"/>
            </a:endParaRPr>
          </a:p>
          <a:p>
            <a:endParaRPr lang="en-IN">
              <a:latin typeface="Times New Roman"/>
              <a:ea typeface="+mn-lt"/>
              <a:cs typeface="+mn-lt"/>
            </a:endParaRPr>
          </a:p>
          <a:p>
            <a:r>
              <a:rPr lang="en-IN">
                <a:latin typeface="Times New Roman"/>
                <a:ea typeface="+mn-lt"/>
                <a:cs typeface="+mn-lt"/>
              </a:rPr>
              <a:t>The internship successfully developed a robust AI-based loan eligibility prediction system using </a:t>
            </a:r>
            <a:r>
              <a:rPr lang="en-IN" err="1">
                <a:latin typeface="Times New Roman"/>
                <a:ea typeface="+mn-lt"/>
                <a:cs typeface="+mn-lt"/>
              </a:rPr>
              <a:t>XGBoost</a:t>
            </a:r>
            <a:r>
              <a:rPr lang="en-IN">
                <a:latin typeface="Times New Roman"/>
                <a:ea typeface="+mn-lt"/>
                <a:cs typeface="+mn-lt"/>
              </a:rPr>
              <a:t> and extensive feature engineering.</a:t>
            </a:r>
            <a:endParaRPr lang="en-IN">
              <a:latin typeface="Times New Roman"/>
              <a:ea typeface="Calibri" panose="020F0502020204030204"/>
              <a:cs typeface="Calibri" panose="020F0502020204030204"/>
            </a:endParaRPr>
          </a:p>
          <a:p>
            <a:r>
              <a:rPr lang="en-IN">
                <a:latin typeface="Times New Roman"/>
                <a:ea typeface="+mn-lt"/>
                <a:cs typeface="+mn-lt"/>
              </a:rPr>
              <a:t>The model achieved high accuracy (~91.88%) with excellent precision, recall, and ROC-AUC scores, showcasing its practical viability in financial decision-making.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+mn-lt"/>
              </a:rPr>
              <a:t>The work provided deep exposure to the end-to-end ML lifecycle: from synthetic data generation, preprocessing, tuning, and evaluation to deploying an interactive </a:t>
            </a:r>
            <a:r>
              <a:rPr lang="en-IN" err="1">
                <a:latin typeface="Times New Roman"/>
                <a:ea typeface="+mn-lt"/>
                <a:cs typeface="+mn-lt"/>
              </a:rPr>
              <a:t>Streamlit</a:t>
            </a:r>
            <a:r>
              <a:rPr lang="en-IN">
                <a:latin typeface="Times New Roman"/>
                <a:ea typeface="+mn-lt"/>
                <a:cs typeface="+mn-lt"/>
              </a:rPr>
              <a:t> application.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+mn-lt"/>
              </a:rPr>
              <a:t>The internship enhanced technical skills in Python programming, machine learning frameworks, model optimization, and full-stack integration, also fostering teamwork and problem-solving abilities.</a:t>
            </a:r>
            <a:endParaRPr lang="en-IN">
              <a:latin typeface="Times New Roman"/>
            </a:endParaRPr>
          </a:p>
          <a:p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269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BADF8-A48A-EFAF-3B19-544274E1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236C-8B9A-2EE0-E29F-CDD551AE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 Future Scope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1F59668-972D-B8BE-8FA2-18A407B3BA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62734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3737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GB" sz="3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GB" sz="1400" dirty="0">
                <a:latin typeface="Times New Roman"/>
                <a:cs typeface="Times New Roman"/>
              </a:rPr>
              <a:t>[1] A. Alagic </a:t>
            </a:r>
            <a:r>
              <a:rPr lang="en-GB" sz="1400" i="1" dirty="0">
                <a:latin typeface="Times New Roman"/>
                <a:cs typeface="Times New Roman"/>
              </a:rPr>
              <a:t>et al.</a:t>
            </a:r>
            <a:r>
              <a:rPr lang="en-GB" sz="1400" dirty="0">
                <a:latin typeface="Times New Roman"/>
                <a:cs typeface="Times New Roman"/>
              </a:rPr>
              <a:t>, "Machine Learning for an Enhanced Credit Risk Analysis: A Comparative Study of Loan Approval Prediction Models Integrating Mental Health Data," </a:t>
            </a:r>
            <a:r>
              <a:rPr lang="en-GB" sz="1400" i="1" dirty="0">
                <a:latin typeface="Times New Roman"/>
                <a:cs typeface="Times New Roman"/>
              </a:rPr>
              <a:t>Mach. Learn. </a:t>
            </a:r>
            <a:r>
              <a:rPr lang="en-GB" sz="1400" i="1" dirty="0" err="1">
                <a:latin typeface="Times New Roman"/>
                <a:cs typeface="Times New Roman"/>
              </a:rPr>
              <a:t>Knowl</a:t>
            </a:r>
            <a:r>
              <a:rPr lang="en-GB" sz="1400" i="1" dirty="0">
                <a:latin typeface="Times New Roman"/>
                <a:cs typeface="Times New Roman"/>
              </a:rPr>
              <a:t>. </a:t>
            </a:r>
            <a:r>
              <a:rPr lang="en-GB" sz="1400" i="1" dirty="0" err="1">
                <a:latin typeface="Times New Roman"/>
                <a:cs typeface="Times New Roman"/>
              </a:rPr>
              <a:t>Extr</a:t>
            </a:r>
            <a:r>
              <a:rPr lang="en-GB" sz="1400" i="1" dirty="0">
                <a:latin typeface="Times New Roman"/>
                <a:cs typeface="Times New Roman"/>
              </a:rPr>
              <a:t>.</a:t>
            </a:r>
            <a:r>
              <a:rPr lang="en-GB" sz="1400" dirty="0">
                <a:latin typeface="Times New Roman"/>
                <a:cs typeface="Times New Roman"/>
              </a:rPr>
              <a:t>, vol. 6, no. 1, pp. 53-77, 2024, </a:t>
            </a:r>
            <a:r>
              <a:rPr lang="en-GB" sz="1400" dirty="0" err="1">
                <a:latin typeface="Times New Roman"/>
                <a:cs typeface="Times New Roman"/>
              </a:rPr>
              <a:t>doi</a:t>
            </a:r>
            <a:r>
              <a:rPr lang="en-GB" sz="1400" dirty="0">
                <a:latin typeface="Times New Roman"/>
                <a:cs typeface="Times New Roman"/>
              </a:rPr>
              <a:t>: 10.3390/make6010004</a:t>
            </a:r>
            <a:endParaRPr lang="en-IN" sz="140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[2] A. Kulothungan, N. b, H. c, and K. Gupta, "Loan Forecast by Using Machine Learning," </a:t>
            </a:r>
            <a:r>
              <a:rPr lang="en-GB" sz="1400" i="1" dirty="0">
                <a:latin typeface="Times New Roman"/>
                <a:cs typeface="Times New Roman"/>
              </a:rPr>
              <a:t>Turkish J. </a:t>
            </a:r>
            <a:r>
              <a:rPr lang="en-GB" sz="1400" i="1" dirty="0" err="1">
                <a:latin typeface="Times New Roman"/>
                <a:cs typeface="Times New Roman"/>
              </a:rPr>
              <a:t>Comput</a:t>
            </a:r>
            <a:r>
              <a:rPr lang="en-GB" sz="1400" i="1" dirty="0">
                <a:latin typeface="Times New Roman"/>
                <a:cs typeface="Times New Roman"/>
              </a:rPr>
              <a:t>. Math. Educ.</a:t>
            </a:r>
            <a:r>
              <a:rPr lang="en-GB" sz="1400" dirty="0">
                <a:latin typeface="Times New Roman"/>
                <a:cs typeface="Times New Roman"/>
              </a:rPr>
              <a:t>, vol. 12, no. 7, pp. 894–900, 2021.</a:t>
            </a:r>
            <a:endParaRPr lang="en-IN" sz="140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[3] M. Madaan </a:t>
            </a:r>
            <a:r>
              <a:rPr lang="en-GB" sz="1400" i="1" dirty="0">
                <a:latin typeface="Times New Roman"/>
                <a:cs typeface="Times New Roman"/>
              </a:rPr>
              <a:t>et al.</a:t>
            </a:r>
            <a:r>
              <a:rPr lang="en-GB" sz="1400" dirty="0">
                <a:latin typeface="Times New Roman"/>
                <a:cs typeface="Times New Roman"/>
              </a:rPr>
              <a:t>, "Loan default prediction using decision trees and random forest: A comparative study," </a:t>
            </a:r>
            <a:r>
              <a:rPr lang="en-GB" sz="1400" i="1" dirty="0">
                <a:latin typeface="Times New Roman"/>
                <a:cs typeface="Times New Roman"/>
              </a:rPr>
              <a:t>IOP Conf. Ser.: Mater. Sci. Eng.</a:t>
            </a:r>
            <a:r>
              <a:rPr lang="en-GB" sz="1400" dirty="0">
                <a:latin typeface="Times New Roman"/>
                <a:cs typeface="Times New Roman"/>
              </a:rPr>
              <a:t>, vol. 1022, no. 1, p. 012042, 2021, </a:t>
            </a:r>
            <a:r>
              <a:rPr lang="en-GB" sz="1400" dirty="0" err="1">
                <a:latin typeface="Times New Roman"/>
                <a:cs typeface="Times New Roman"/>
              </a:rPr>
              <a:t>doi</a:t>
            </a:r>
            <a:r>
              <a:rPr lang="en-GB" sz="1400" dirty="0">
                <a:latin typeface="Times New Roman"/>
                <a:cs typeface="Times New Roman"/>
              </a:rPr>
              <a:t>: 10.1088/1757-899X/1022/1/012042.</a:t>
            </a:r>
            <a:endParaRPr lang="en-IN" sz="140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[4] N. A. Azeez and A. O. Emmanuel, "LOAN APPROVAL PREDICTION BASED ON MACHINE LEARNING APPROACH," </a:t>
            </a:r>
            <a:r>
              <a:rPr lang="en-GB" sz="1400" i="1" dirty="0">
                <a:latin typeface="Times New Roman"/>
                <a:cs typeface="Times New Roman"/>
              </a:rPr>
              <a:t>FUDMA J. Sci.</a:t>
            </a:r>
            <a:r>
              <a:rPr lang="en-GB" sz="1400" dirty="0">
                <a:latin typeface="Times New Roman"/>
                <a:cs typeface="Times New Roman"/>
              </a:rPr>
              <a:t>, vol. 6, no. 3, pp. 41–50, 2022, </a:t>
            </a:r>
            <a:r>
              <a:rPr lang="en-GB" sz="1400" dirty="0" err="1">
                <a:latin typeface="Times New Roman"/>
                <a:cs typeface="Times New Roman"/>
              </a:rPr>
              <a:t>doi</a:t>
            </a:r>
            <a:r>
              <a:rPr lang="en-GB" sz="1400" dirty="0">
                <a:latin typeface="Times New Roman"/>
                <a:cs typeface="Times New Roman"/>
              </a:rPr>
              <a:t>: 10.33003/fjs-2022-0603-830.</a:t>
            </a:r>
            <a:endParaRPr lang="en-IN" sz="140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[5] I. Emmanuel, Y. Sun, and Z. Wang, “A machine learning-based credit risk prediction engine system using a stacked classifier and a filter-based feature selection method,” </a:t>
            </a:r>
            <a:r>
              <a:rPr lang="en-GB" sz="1400" i="1" dirty="0">
                <a:latin typeface="Times New Roman"/>
                <a:cs typeface="Times New Roman"/>
              </a:rPr>
              <a:t>J. Big Data</a:t>
            </a:r>
            <a:r>
              <a:rPr lang="en-GB" sz="1400" dirty="0">
                <a:latin typeface="Times New Roman"/>
                <a:cs typeface="Times New Roman"/>
              </a:rPr>
              <a:t>, vol. 11, 2024, no. 1, Art. 23, </a:t>
            </a:r>
            <a:r>
              <a:rPr lang="en-GB" sz="1400" dirty="0" err="1">
                <a:latin typeface="Times New Roman"/>
                <a:cs typeface="Times New Roman"/>
              </a:rPr>
              <a:t>doi</a:t>
            </a:r>
            <a:r>
              <a:rPr lang="en-GB" sz="1400" dirty="0">
                <a:latin typeface="Times New Roman"/>
                <a:cs typeface="Times New Roman"/>
              </a:rPr>
              <a:t>: 10.1186/s40537-024-00882-0.</a:t>
            </a:r>
            <a:endParaRPr lang="en-IN" sz="140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[6] M. Patel, P. Bhardwaj, and Y. Arora, “Credit risk prediction using machine learning and deep learning,” </a:t>
            </a:r>
            <a:r>
              <a:rPr lang="en-GB" sz="1400" i="1" dirty="0">
                <a:latin typeface="Times New Roman"/>
                <a:cs typeface="Times New Roman"/>
              </a:rPr>
              <a:t>Risks</a:t>
            </a:r>
            <a:r>
              <a:rPr lang="en-GB" sz="1400" dirty="0">
                <a:latin typeface="Times New Roman"/>
                <a:cs typeface="Times New Roman"/>
              </a:rPr>
              <a:t>, vol. 12, no. 11, p. 174, 2024, </a:t>
            </a:r>
            <a:r>
              <a:rPr lang="en-GB" sz="1400" dirty="0" err="1">
                <a:latin typeface="Times New Roman"/>
                <a:cs typeface="Times New Roman"/>
              </a:rPr>
              <a:t>doi</a:t>
            </a:r>
            <a:r>
              <a:rPr lang="en-GB" sz="1400" dirty="0">
                <a:latin typeface="Times New Roman"/>
                <a:cs typeface="Times New Roman"/>
              </a:rPr>
              <a:t>: 10.3390/risks12110174.</a:t>
            </a:r>
            <a:endParaRPr lang="en-IN" sz="1400">
              <a:latin typeface="Times New Roman"/>
              <a:cs typeface="Times New Roman"/>
            </a:endParaRPr>
          </a:p>
          <a:p>
            <a:endParaRPr lang="en-GB" sz="1400" dirty="0">
              <a:latin typeface="Times New Roman"/>
              <a:cs typeface="Times New Roman"/>
            </a:endParaRPr>
          </a:p>
          <a:p>
            <a:r>
              <a:rPr lang="en-GB" sz="1400" dirty="0">
                <a:latin typeface="Times New Roman"/>
                <a:cs typeface="Times New Roman"/>
              </a:rPr>
              <a:t> </a:t>
            </a:r>
            <a:br>
              <a:rPr lang="en-GB" sz="1400" dirty="0">
                <a:latin typeface="Times New Roman"/>
                <a:cs typeface="Times New Roman"/>
              </a:rPr>
            </a:br>
            <a:endParaRPr lang="en-IN" sz="1400">
              <a:latin typeface="Times New Roman"/>
              <a:cs typeface="Times New Roman"/>
            </a:endParaRPr>
          </a:p>
          <a:p>
            <a:endParaRPr lang="en-IN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78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1A801-FC20-4BE6-B265-A86E8705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7475F-BAB5-A5F0-FA49-A7BA9DF1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Internship Certificate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3CED89-8FE3-705F-88BA-E295C1F1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67"/>
          <a:stretch>
            <a:fillRect/>
          </a:stretch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230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318</Words>
  <Application>Microsoft Office PowerPoint</Application>
  <PresentationFormat>Widescreen</PresentationFormat>
  <Paragraphs>105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Retrospect</vt:lpstr>
      <vt:lpstr>STANLEY COLLEGE OF ENGINEERING AND TECHNOLGY FOR WOMEN (AUTONOMOUS) Abids. Hyderabad – 500 001</vt:lpstr>
      <vt:lpstr>Contents</vt:lpstr>
      <vt:lpstr>Problem Statement</vt:lpstr>
      <vt:lpstr>Background&amp;Literature Survey</vt:lpstr>
      <vt:lpstr>Background&amp;Literature Survey</vt:lpstr>
      <vt:lpstr>Planning And Design Of Work</vt:lpstr>
      <vt:lpstr>Implementation &amp; Execution</vt:lpstr>
      <vt:lpstr>Process flow </vt:lpstr>
      <vt:lpstr>Testing And Validation</vt:lpstr>
      <vt:lpstr>Result &amp; Analysis</vt:lpstr>
      <vt:lpstr>Result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And Solutions</vt:lpstr>
      <vt:lpstr>Conclusion And Future Scope</vt:lpstr>
      <vt:lpstr>Conclusion And Future Scope</vt:lpstr>
      <vt:lpstr> Future Scope</vt:lpstr>
      <vt:lpstr>References</vt:lpstr>
      <vt:lpstr>Internship Certificate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STANLEY COLLEGE OF ENGINEERING AND TECHNOLGY FOR WOMEN (AUTONOMOUS) , Abids. Hyderabad – 500 001</dc:title>
  <dc:creator>Microsoft account</dc:creator>
  <cp:lastModifiedBy>Microsoft account</cp:lastModifiedBy>
  <cp:revision>334</cp:revision>
  <dcterms:created xsi:type="dcterms:W3CDTF">2025-11-09T15:30:20Z</dcterms:created>
  <dcterms:modified xsi:type="dcterms:W3CDTF">2025-11-14T09:57:42Z</dcterms:modified>
</cp:coreProperties>
</file>